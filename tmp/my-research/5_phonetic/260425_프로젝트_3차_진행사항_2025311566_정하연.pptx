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76" r:id="rId16"/>
    <p:sldId id="277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embeddedFontLst>
    <p:embeddedFont>
      <p:font typeface="Play" pitchFamily="2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c1zGZSCxaLq/a31CWAST+8V5f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719660-2E74-4A61-AF9B-304DE7005CE8}">
  <a:tblStyle styleId="{4E719660-2E74-4A61-AF9B-304DE7005C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986DE05-51DD-4686-8079-D606EDF6B2B9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2534"/>
  </p:normalViewPr>
  <p:slideViewPr>
    <p:cSldViewPr snapToGrid="0">
      <p:cViewPr varScale="1">
        <p:scale>
          <a:sx n="117" d="100"/>
          <a:sy n="117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인코더만 or 디코더만 or 전체 학습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전체 or Fine-Tuning</a:t>
            </a: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US" b="1"/>
              <a:t>place / manner / laryngeal (자음)</a:t>
            </a:r>
            <a:r>
              <a:rPr lang="en-US"/>
              <a:t>, </a:t>
            </a:r>
            <a:r>
              <a:rPr lang="en-US" b="1"/>
              <a:t>height / backness / rounding (모음)</a:t>
            </a:r>
            <a:r>
              <a:rPr lang="en-US"/>
              <a:t> 같은 것은 </a:t>
            </a:r>
            <a:r>
              <a:rPr lang="en-US" b="1"/>
              <a:t>음성학에서 쓰는 기본 articulatory feature 개념</a:t>
            </a:r>
            <a:endParaRPr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US"/>
              <a:t>즉 </a:t>
            </a:r>
            <a:r>
              <a:rPr lang="en-US" b="1"/>
              <a:t>사람이 정의한 단순화된 feature 체계</a:t>
            </a:r>
            <a:endParaRPr/>
          </a:p>
        </p:txBody>
      </p:sp>
      <p:sp>
        <p:nvSpPr>
          <p:cNvPr id="174" name="Google Shape;17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/>
          <p:nvPr/>
        </p:nvSpPr>
        <p:spPr>
          <a:xfrm>
            <a:off x="120072" y="6522511"/>
            <a:ext cx="1100695" cy="24220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18" name="Google Shape;18;p21"/>
          <p:cNvSpPr txBox="1">
            <a:spLocks noGrp="1"/>
          </p:cNvSpPr>
          <p:nvPr>
            <p:ph type="ctrTitle"/>
          </p:nvPr>
        </p:nvSpPr>
        <p:spPr>
          <a:xfrm>
            <a:off x="1524000" y="134084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subTitle" idx="1"/>
          </p:nvPr>
        </p:nvSpPr>
        <p:spPr>
          <a:xfrm>
            <a:off x="1524000" y="3728448"/>
            <a:ext cx="9144000" cy="156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body" idx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5" name="Google Shape;65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2" name="Google Shape;72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/>
          <p:nvPr/>
        </p:nvSpPr>
        <p:spPr>
          <a:xfrm>
            <a:off x="9328728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0"/>
          <p:cNvSpPr/>
          <p:nvPr/>
        </p:nvSpPr>
        <p:spPr>
          <a:xfrm>
            <a:off x="120072" y="6522511"/>
            <a:ext cx="1100695" cy="24220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K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183931" y="1340848"/>
            <a:ext cx="11824138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Phonetic-Aware Encoder Tuning:</a:t>
            </a:r>
            <a:br>
              <a:rPr lang="en-US" sz="2200" b="1"/>
            </a:br>
            <a:r>
              <a:rPr lang="en-US" sz="2200" b="1"/>
              <a:t>Boosting Robustness against L2 Pronunciation Variations via CTC Supervision</a:t>
            </a:r>
            <a:endParaRPr sz="2200" b="1"/>
          </a:p>
        </p:txBody>
      </p:sp>
      <p:sp>
        <p:nvSpPr>
          <p:cNvPr id="88" name="Google Shape;88;p1"/>
          <p:cNvSpPr txBox="1">
            <a:spLocks noGrp="1"/>
          </p:cNvSpPr>
          <p:nvPr>
            <p:ph type="subTitle" idx="1"/>
          </p:nvPr>
        </p:nvSpPr>
        <p:spPr>
          <a:xfrm>
            <a:off x="1524000" y="3728448"/>
            <a:ext cx="9144000" cy="156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None/>
            </a:pPr>
            <a:r>
              <a:rPr lang="en-US">
                <a:solidFill>
                  <a:srgbClr val="BFBFBF"/>
                </a:solidFill>
              </a:rPr>
              <a:t>Project Update 2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2026.03.26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Hayeon Jeong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1. Problem Statement</a:t>
            </a:r>
            <a:endParaRPr/>
          </a:p>
        </p:txBody>
      </p:sp>
      <p:pic>
        <p:nvPicPr>
          <p:cNvPr id="94" name="Google Shape;94;p2" descr="OpenAI rolls out Advanced Voice Mode with more voices and a new look |  TechCrunch"/>
          <p:cNvPicPr preferRelativeResize="0"/>
          <p:nvPr/>
        </p:nvPicPr>
        <p:blipFill rotWithShape="1">
          <a:blip r:embed="rId3">
            <a:alphaModFix/>
          </a:blip>
          <a:srcRect l="31915" t="4965" r="31649"/>
          <a:stretch/>
        </p:blipFill>
        <p:spPr>
          <a:xfrm>
            <a:off x="9181190" y="2717530"/>
            <a:ext cx="2192191" cy="3216279"/>
          </a:xfrm>
          <a:prstGeom prst="roundRect">
            <a:avLst>
              <a:gd name="adj" fmla="val 14843"/>
            </a:avLst>
          </a:prstGeom>
          <a:noFill/>
          <a:ln>
            <a:noFill/>
          </a:ln>
        </p:spPr>
      </p:pic>
      <p:sp>
        <p:nvSpPr>
          <p:cNvPr id="95" name="Google Shape;95;p2"/>
          <p:cNvSpPr/>
          <p:nvPr/>
        </p:nvSpPr>
        <p:spPr>
          <a:xfrm>
            <a:off x="2763133" y="2253022"/>
            <a:ext cx="5162550" cy="1066800"/>
          </a:xfrm>
          <a:prstGeom prst="wedgeRoundRectCallout">
            <a:avLst>
              <a:gd name="adj1" fmla="val -54446"/>
              <a:gd name="adj2" fmla="val 37635"/>
              <a:gd name="adj3" fmla="val 16667"/>
            </a:avLst>
          </a:prstGeom>
          <a:solidFill>
            <a:srgbClr val="D3FF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한국인들만 알아볼 수 있게 작성하겠습니다. 역에선 30초</a:t>
            </a:r>
            <a:r>
              <a:rPr lang="en-US" sz="11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도 안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걸릴 만큼 가깝지만 숙소가 많이 낙후되어 </a:t>
            </a:r>
            <a:r>
              <a:rPr lang="en-US" sz="11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있고, 엘베 없고,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4층이라 집 많으면 고생합니다. </a:t>
            </a:r>
            <a:r>
              <a:rPr lang="en-US" sz="11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바퀴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벌레 나왔고 화장실 많이 낡았습니다. 절대 </a:t>
            </a:r>
            <a:r>
              <a:rPr lang="en-US" sz="11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여기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 오지 마세요.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3449330" y="3581432"/>
            <a:ext cx="5162550" cy="1066800"/>
          </a:xfrm>
          <a:prstGeom prst="wedgeRoundRectCallout">
            <a:avLst>
              <a:gd name="adj1" fmla="val 68667"/>
              <a:gd name="adj2" fmla="val 43703"/>
              <a:gd name="adj3" fmla="val 16667"/>
            </a:avLst>
          </a:prstGeom>
          <a:solidFill>
            <a:srgbClr val="FFE8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한국인들만 알아볼 수 있게 작성하겠습니다. 역에선 30초 </a:t>
            </a:r>
            <a:r>
              <a:rPr lang="en-US" sz="11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또한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걸릴 만큼 가깝지만 숙소가 많이 낙후되어 </a:t>
            </a:r>
            <a:r>
              <a:rPr lang="en-US" sz="11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입구에 배 없고 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4층이라 집 많으면 고생합니다. </a:t>
            </a:r>
            <a:r>
              <a:rPr lang="en-US" sz="11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밖에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벌레 나왔고 화장실 많이 낡았습니다. 절대 </a:t>
            </a:r>
            <a:r>
              <a:rPr lang="en-US" sz="11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역기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로 오지 마세요.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6635057" y="4648232"/>
            <a:ext cx="197682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*Result of Whisper by OpenAI</a:t>
            </a:r>
            <a:endParaRPr sz="1100" i="1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 descr="Smiling face outline with solid fill"/>
          <p:cNvSpPr/>
          <p:nvPr/>
        </p:nvSpPr>
        <p:spPr>
          <a:xfrm>
            <a:off x="844021" y="2800474"/>
            <a:ext cx="780958" cy="78095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99" name="Google Shape;99;p2" descr="Voice with solid fill"/>
          <p:cNvSpPr/>
          <p:nvPr/>
        </p:nvSpPr>
        <p:spPr>
          <a:xfrm>
            <a:off x="1609705" y="2800474"/>
            <a:ext cx="780958" cy="78095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100" name="Google Shape;100;p2"/>
          <p:cNvSpPr txBox="1"/>
          <p:nvPr/>
        </p:nvSpPr>
        <p:spPr>
          <a:xfrm>
            <a:off x="3881156" y="1374010"/>
            <a:ext cx="44566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“Automatic Speech Recognition (ASR)”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3. Background and Related Works</a:t>
            </a:r>
            <a:endParaRPr/>
          </a:p>
        </p:txBody>
      </p:sp>
      <p:pic>
        <p:nvPicPr>
          <p:cNvPr id="107" name="Google Shape;107;p3" descr="OpenAI's Most Recent Model: Whisper (explained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01722" y="1942242"/>
            <a:ext cx="4170401" cy="341469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237006" y="6492875"/>
            <a:ext cx="665919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* [Whisper] Robust speech recognition via large-scale weak Supervision (ICML, 2023)</a:t>
            </a:r>
            <a:endParaRPr sz="1400" i="1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 descr="Smiling face outline with solid fill"/>
          <p:cNvSpPr/>
          <p:nvPr/>
        </p:nvSpPr>
        <p:spPr>
          <a:xfrm>
            <a:off x="2650808" y="4716969"/>
            <a:ext cx="562912" cy="5629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110" name="Google Shape;110;p3" descr="Voice with solid fill"/>
          <p:cNvSpPr/>
          <p:nvPr/>
        </p:nvSpPr>
        <p:spPr>
          <a:xfrm>
            <a:off x="3213720" y="4716969"/>
            <a:ext cx="562912" cy="5629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111" name="Google Shape;111;p3"/>
          <p:cNvSpPr/>
          <p:nvPr/>
        </p:nvSpPr>
        <p:spPr>
          <a:xfrm>
            <a:off x="3876085" y="2298138"/>
            <a:ext cx="1642683" cy="289213"/>
          </a:xfrm>
          <a:prstGeom prst="rect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3876085" y="2635452"/>
            <a:ext cx="1642683" cy="289213"/>
          </a:xfrm>
          <a:prstGeom prst="rect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3876085" y="3218704"/>
            <a:ext cx="1642683" cy="289213"/>
          </a:xfrm>
          <a:prstGeom prst="rect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3876085" y="3556018"/>
            <a:ext cx="1642683" cy="289213"/>
          </a:xfrm>
          <a:prstGeom prst="rect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261886" y="2661405"/>
            <a:ext cx="1642683" cy="289213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261886" y="2998719"/>
            <a:ext cx="1642683" cy="289213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261886" y="3669781"/>
            <a:ext cx="1642683" cy="289213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6261886" y="4007095"/>
            <a:ext cx="1642683" cy="289213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3"/>
          <p:cNvCxnSpPr/>
          <p:nvPr/>
        </p:nvCxnSpPr>
        <p:spPr>
          <a:xfrm rot="10800000">
            <a:off x="5316467" y="1804524"/>
            <a:ext cx="0" cy="2832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0" name="Google Shape;120;p3"/>
          <p:cNvSpPr txBox="1"/>
          <p:nvPr/>
        </p:nvSpPr>
        <p:spPr>
          <a:xfrm>
            <a:off x="4697426" y="1342859"/>
            <a:ext cx="1292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Hidden States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(Representation)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2530253" y="2907606"/>
            <a:ext cx="105670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Audio Model</a:t>
            </a:r>
            <a:endParaRPr sz="12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8124403" y="3333507"/>
            <a:ext cx="131959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Language Model</a:t>
            </a:r>
            <a:endParaRPr sz="1200" b="1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7928845" y="2661405"/>
            <a:ext cx="195558" cy="1634903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 flipH="1">
            <a:off x="3649442" y="2298138"/>
            <a:ext cx="226643" cy="1547093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rgbClr val="80110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8459338" y="4655890"/>
            <a:ext cx="3192970" cy="556336"/>
          </a:xfrm>
          <a:prstGeom prst="wedgeRoundRectCallout">
            <a:avLst>
              <a:gd name="adj1" fmla="val -62437"/>
              <a:gd name="adj2" fmla="val 10529"/>
              <a:gd name="adj3" fmla="val 16667"/>
            </a:avLst>
          </a:prstGeom>
          <a:solidFill>
            <a:srgbClr val="FFE8D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한국인들만 알아볼 수 있게 작성하겠습니다. 역에선 30초 </a:t>
            </a:r>
            <a:r>
              <a:rPr lang="en-US" sz="7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또한</a:t>
            </a: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걸릴 만큼 가깝지만 숙소가 많이 낙후되어 </a:t>
            </a:r>
            <a:r>
              <a:rPr lang="en-US" sz="7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입구에 배 없고 </a:t>
            </a: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4층이라 집 많으면 고생합니다. </a:t>
            </a:r>
            <a:r>
              <a:rPr lang="en-US" sz="7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밖에</a:t>
            </a: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벌레 나왔고 화장실 많이 낡았습니다. 절대 </a:t>
            </a:r>
            <a:r>
              <a:rPr lang="en-US" sz="7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역기</a:t>
            </a: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로 오지 마세요.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-&gt; Timeline</a:t>
            </a:r>
            <a:endParaRPr/>
          </a:p>
        </p:txBody>
      </p:sp>
      <p:cxnSp>
        <p:nvCxnSpPr>
          <p:cNvPr id="131" name="Google Shape;131;p4"/>
          <p:cNvCxnSpPr/>
          <p:nvPr/>
        </p:nvCxnSpPr>
        <p:spPr>
          <a:xfrm>
            <a:off x="1383737" y="1917813"/>
            <a:ext cx="8520913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" name="Google Shape;132;p4"/>
          <p:cNvCxnSpPr/>
          <p:nvPr/>
        </p:nvCxnSpPr>
        <p:spPr>
          <a:xfrm>
            <a:off x="1383737" y="4039956"/>
            <a:ext cx="8452944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3" name="Google Shape;133;p4"/>
          <p:cNvSpPr/>
          <p:nvPr/>
        </p:nvSpPr>
        <p:spPr>
          <a:xfrm>
            <a:off x="9124737" y="1916465"/>
            <a:ext cx="1543643" cy="2183493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 rot="10800000" flipH="1">
            <a:off x="9015361" y="1856461"/>
            <a:ext cx="1653019" cy="2183494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1446687" y="2154992"/>
            <a:ext cx="12041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3-4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3441537" y="2154914"/>
            <a:ext cx="12314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strike="sng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Week 5-7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5676602" y="2154992"/>
            <a:ext cx="11961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7-9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2374912" y="4209683"/>
            <a:ext cx="1059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16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4853565" y="4200779"/>
            <a:ext cx="10679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15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2091181" y="4579015"/>
            <a:ext cx="14879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Final Paper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4342334" y="4561010"/>
            <a:ext cx="237892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Ablation Experiments</a:t>
            </a:r>
            <a:endParaRPr sz="1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Final quantitative results</a:t>
            </a:r>
            <a:endParaRPr sz="1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7338917" y="4220550"/>
            <a:ext cx="14173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13-14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7899781" y="2538323"/>
            <a:ext cx="124745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Hypothesis 3</a:t>
            </a:r>
            <a:endParaRPr dirty="0"/>
          </a:p>
        </p:txBody>
      </p:sp>
      <p:sp>
        <p:nvSpPr>
          <p:cNvPr id="144" name="Google Shape;144;p4"/>
          <p:cNvSpPr txBox="1"/>
          <p:nvPr/>
        </p:nvSpPr>
        <p:spPr>
          <a:xfrm>
            <a:off x="1232685" y="2548444"/>
            <a:ext cx="169309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Related Works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Change Data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IPA/G2P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7839566" y="2154914"/>
            <a:ext cx="14782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Week 10-12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3455870" y="2538324"/>
            <a:ext cx="12715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trike="sng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Hypothesis 1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5645751" y="2548444"/>
            <a:ext cx="12426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Hypothesis 2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7054568" y="4552600"/>
            <a:ext cx="196079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New Idea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specifically for Korean</a:t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1976638" y="1828799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948014" y="1826465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144557" y="1826465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8451842" y="1826465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2791765" y="3972015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5308341" y="3965219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7944965" y="3963642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H1: Layers</a:t>
            </a:r>
            <a:endParaRPr/>
          </a:p>
        </p:txBody>
      </p:sp>
      <p:pic>
        <p:nvPicPr>
          <p:cNvPr id="161" name="Google Shape;16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04999"/>
            <a:ext cx="12192000" cy="304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H1: Layers</a:t>
            </a:r>
            <a:endParaRPr/>
          </a:p>
        </p:txBody>
      </p:sp>
      <p:sp>
        <p:nvSpPr>
          <p:cNvPr id="167" name="Google Shape;167;p6"/>
          <p:cNvSpPr txBox="1">
            <a:spLocks noGrp="1"/>
          </p:cNvSpPr>
          <p:nvPr>
            <p:ph type="body" idx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레이어별 mean CER 차이가 작다 (X)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late-layer에서 instability가 커진다 (O)</a:t>
            </a:r>
            <a:endParaRPr sz="1800"/>
          </a:p>
        </p:txBody>
      </p:sp>
      <p:pic>
        <p:nvPicPr>
          <p:cNvPr id="168" name="Google Shape;16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8601" y="2723605"/>
            <a:ext cx="3886200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247" y="2723605"/>
            <a:ext cx="3814354" cy="214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60697" y="2723605"/>
            <a:ext cx="3921307" cy="2205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H3: Articulatory Feature</a:t>
            </a:r>
            <a:endParaRPr/>
          </a:p>
        </p:txBody>
      </p:sp>
      <p:sp>
        <p:nvSpPr>
          <p:cNvPr id="177" name="Google Shape;177;p7"/>
          <p:cNvSpPr txBox="1">
            <a:spLocks noGrp="1"/>
          </p:cNvSpPr>
          <p:nvPr>
            <p:ph type="body" idx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b="1"/>
              <a:t>Articulatory(조음(</a:t>
            </a:r>
            <a:r>
              <a:rPr lang="en-US" sz="1600" b="1">
                <a:latin typeface="Play"/>
                <a:ea typeface="Play"/>
                <a:cs typeface="Play"/>
                <a:sym typeface="Play"/>
              </a:rPr>
              <a:t>調音</a:t>
            </a:r>
            <a:r>
              <a:rPr lang="en-US" sz="1800" b="1"/>
              <a:t>)) Feature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</p:txBody>
      </p:sp>
      <p:graphicFrame>
        <p:nvGraphicFramePr>
          <p:cNvPr id="178" name="Google Shape;178;p7"/>
          <p:cNvGraphicFramePr/>
          <p:nvPr/>
        </p:nvGraphicFramePr>
        <p:xfrm>
          <a:off x="1342876" y="1797907"/>
          <a:ext cx="3872600" cy="4351500"/>
        </p:xfrm>
        <a:graphic>
          <a:graphicData uri="http://schemas.openxmlformats.org/drawingml/2006/table">
            <a:tbl>
              <a:tblPr>
                <a:noFill/>
                <a:tableStyleId>{4E719660-2E74-4A61-AF9B-304DE7005CE8}</a:tableStyleId>
              </a:tblPr>
              <a:tblGrid>
                <a:gridCol w="96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phoneme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place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manner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laryngeal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ㅂ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ㅃ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ㅍ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ㅁ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nasal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voiced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ㄷ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ㄸ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ㅌ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ㄴ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nasal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voiced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ㅅ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fricative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ㅆ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fricative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ㅈ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affricate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ㅉ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affricate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ㅊ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affricate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ㄹ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liquid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voiced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ㄱ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ㄲ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ㅋ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ㅇ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glottal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nasal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voiced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ㅎ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glottal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fricative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179" name="Google Shape;179;p7"/>
          <p:cNvGraphicFramePr/>
          <p:nvPr/>
        </p:nvGraphicFramePr>
        <p:xfrm>
          <a:off x="6073565" y="1797907"/>
          <a:ext cx="3872600" cy="2194650"/>
        </p:xfrm>
        <a:graphic>
          <a:graphicData uri="http://schemas.openxmlformats.org/drawingml/2006/table">
            <a:tbl>
              <a:tblPr>
                <a:noFill/>
                <a:tableStyleId>{4E719660-2E74-4A61-AF9B-304DE7005CE8}</a:tableStyleId>
              </a:tblPr>
              <a:tblGrid>
                <a:gridCol w="96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vowel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height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backness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rounding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ㅣ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front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ㅔ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front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ㅐ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low-mid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front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ㅏ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front-central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ㅡ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central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ㅓ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back-central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ㅗ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back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rounded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ㅜ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back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rounded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80" name="Google Shape;180;p7"/>
          <p:cNvGrpSpPr/>
          <p:nvPr/>
        </p:nvGrpSpPr>
        <p:grpSpPr>
          <a:xfrm>
            <a:off x="6016614" y="4223795"/>
            <a:ext cx="5516306" cy="1936518"/>
            <a:chOff x="566058" y="1920087"/>
            <a:chExt cx="11293735" cy="3569528"/>
          </a:xfrm>
        </p:grpSpPr>
        <p:grpSp>
          <p:nvGrpSpPr>
            <p:cNvPr id="181" name="Google Shape;181;p7"/>
            <p:cNvGrpSpPr/>
            <p:nvPr/>
          </p:nvGrpSpPr>
          <p:grpSpPr>
            <a:xfrm>
              <a:off x="566058" y="1920087"/>
              <a:ext cx="10764955" cy="3569528"/>
              <a:chOff x="1791308" y="3943698"/>
              <a:chExt cx="9202250" cy="2673830"/>
            </a:xfrm>
          </p:grpSpPr>
          <p:pic>
            <p:nvPicPr>
              <p:cNvPr id="182" name="Google Shape;182;p7" descr="OpenAI's Most Recent Model: Whisper (explained)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405969" y="4059680"/>
                <a:ext cx="3565001" cy="25578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3" name="Google Shape;183;p7"/>
              <p:cNvSpPr/>
              <p:nvPr/>
            </p:nvSpPr>
            <p:spPr>
              <a:xfrm>
                <a:off x="1925011" y="4338357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184" name="Google Shape;184;p7"/>
              <p:cNvSpPr txBox="1"/>
              <p:nvPr/>
            </p:nvSpPr>
            <p:spPr>
              <a:xfrm>
                <a:off x="1797155" y="4266437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185" name="Google Shape;185;p7"/>
              <p:cNvSpPr/>
              <p:nvPr/>
            </p:nvSpPr>
            <p:spPr>
              <a:xfrm>
                <a:off x="1925011" y="4582865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>
                <a:off x="1925011" y="5007719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187" name="Google Shape;187;p7"/>
              <p:cNvSpPr/>
              <p:nvPr/>
            </p:nvSpPr>
            <p:spPr>
              <a:xfrm>
                <a:off x="1925011" y="5269420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188" name="Google Shape;188;p7"/>
              <p:cNvSpPr txBox="1"/>
              <p:nvPr/>
            </p:nvSpPr>
            <p:spPr>
              <a:xfrm>
                <a:off x="1791308" y="4510808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189" name="Google Shape;189;p7"/>
              <p:cNvSpPr txBox="1"/>
              <p:nvPr/>
            </p:nvSpPr>
            <p:spPr>
              <a:xfrm>
                <a:off x="1791308" y="4935796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190" name="Google Shape;190;p7"/>
              <p:cNvSpPr txBox="1"/>
              <p:nvPr/>
            </p:nvSpPr>
            <p:spPr>
              <a:xfrm>
                <a:off x="1791308" y="5198103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191" name="Google Shape;191;p7"/>
              <p:cNvSpPr txBox="1"/>
              <p:nvPr/>
            </p:nvSpPr>
            <p:spPr>
              <a:xfrm>
                <a:off x="5660332" y="4542912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sp>
            <p:nvSpPr>
              <p:cNvPr id="192" name="Google Shape;192;p7"/>
              <p:cNvSpPr txBox="1"/>
              <p:nvPr/>
            </p:nvSpPr>
            <p:spPr>
              <a:xfrm>
                <a:off x="5660332" y="4797394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sp>
            <p:nvSpPr>
              <p:cNvPr id="193" name="Google Shape;193;p7"/>
              <p:cNvSpPr txBox="1"/>
              <p:nvPr/>
            </p:nvSpPr>
            <p:spPr>
              <a:xfrm>
                <a:off x="5660332" y="5308166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sp>
            <p:nvSpPr>
              <p:cNvPr id="194" name="Google Shape;194;p7"/>
              <p:cNvSpPr txBox="1"/>
              <p:nvPr/>
            </p:nvSpPr>
            <p:spPr>
              <a:xfrm>
                <a:off x="5660332" y="5562649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pic>
            <p:nvPicPr>
              <p:cNvPr id="195" name="Google Shape;195;p7"/>
              <p:cNvPicPr preferRelativeResize="0"/>
              <p:nvPr/>
            </p:nvPicPr>
            <p:blipFill rotWithShape="1">
              <a:blip r:embed="rId4">
                <a:alphaModFix/>
              </a:blip>
              <a:srcRect t="9879"/>
              <a:stretch/>
            </p:blipFill>
            <p:spPr>
              <a:xfrm>
                <a:off x="6451927" y="4658119"/>
                <a:ext cx="4541631" cy="1934034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96" name="Google Shape;196;p7"/>
              <p:cNvCxnSpPr/>
              <p:nvPr/>
            </p:nvCxnSpPr>
            <p:spPr>
              <a:xfrm>
                <a:off x="3693978" y="3943698"/>
                <a:ext cx="2805335" cy="1595015"/>
              </a:xfrm>
              <a:prstGeom prst="bentConnector3">
                <a:avLst>
                  <a:gd name="adj1" fmla="val 10422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7" name="Google Shape;197;p7"/>
              <p:cNvCxnSpPr/>
              <p:nvPr/>
            </p:nvCxnSpPr>
            <p:spPr>
              <a:xfrm>
                <a:off x="3693978" y="3943698"/>
                <a:ext cx="0" cy="21839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198" name="Google Shape;198;p7"/>
            <p:cNvSpPr txBox="1"/>
            <p:nvPr/>
          </p:nvSpPr>
          <p:spPr>
            <a:xfrm>
              <a:off x="9985180" y="2211646"/>
              <a:ext cx="1874613" cy="3403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Ground Truth G2P/IPA</a:t>
              </a:r>
              <a:endParaRPr/>
            </a:p>
          </p:txBody>
        </p:sp>
        <p:cxnSp>
          <p:nvCxnSpPr>
            <p:cNvPr id="199" name="Google Shape;199;p7"/>
            <p:cNvCxnSpPr/>
            <p:nvPr/>
          </p:nvCxnSpPr>
          <p:spPr>
            <a:xfrm>
              <a:off x="10913479" y="2578988"/>
              <a:ext cx="0" cy="98963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200" name="Google Shape;200;p7"/>
            <p:cNvSpPr txBox="1"/>
            <p:nvPr/>
          </p:nvSpPr>
          <p:spPr>
            <a:xfrm>
              <a:off x="10762609" y="2867245"/>
              <a:ext cx="717815" cy="34039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201" name="Google Shape;201;p7"/>
          <p:cNvSpPr txBox="1"/>
          <p:nvPr/>
        </p:nvSpPr>
        <p:spPr>
          <a:xfrm>
            <a:off x="8180628" y="6097885"/>
            <a:ext cx="80191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Remove at inference</a:t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10467703" y="4929051"/>
            <a:ext cx="381421" cy="943121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10467703" y="5835217"/>
            <a:ext cx="4106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x6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/>
        </p:nvSpPr>
        <p:spPr>
          <a:xfrm>
            <a:off x="3838016" y="2402648"/>
            <a:ext cx="4515980" cy="126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 Hypothesis 3</a:t>
            </a:r>
            <a:endParaRPr sz="2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“Articulatory Feature에 따른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N개의 Head를 훈련하면 성능이 향상될 것이다.”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3983081" y="4114799"/>
            <a:ext cx="427072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(또한, confusion matrix에 기반한 분석이 더 정교해지고,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그 분석 결과를 국소적 추가 개선에 활용할 수 있을 것이다.)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44338" y="4811287"/>
            <a:ext cx="6687751" cy="9387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905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2424799" y="4895286"/>
            <a:ext cx="204666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ㄱ → ㄲ</a:t>
            </a:r>
            <a:endParaRPr sz="11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 velar (correct)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manner: stop (correct)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laryngeal: </a:t>
            </a:r>
            <a:r>
              <a:rPr lang="en-US" sz="1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lax → tense (error)</a:t>
            </a:r>
            <a:endParaRPr/>
          </a:p>
        </p:txBody>
      </p:sp>
      <p:sp>
        <p:nvSpPr>
          <p:cNvPr id="212" name="Google Shape;212;p8"/>
          <p:cNvSpPr txBox="1"/>
          <p:nvPr/>
        </p:nvSpPr>
        <p:spPr>
          <a:xfrm>
            <a:off x="175649" y="4895286"/>
            <a:ext cx="2485033" cy="93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ㅍ → ㅃ</a:t>
            </a:r>
            <a:endParaRPr sz="11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 bilabial (correct)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manner: stop (correct)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laryngeal: </a:t>
            </a:r>
            <a:r>
              <a:rPr lang="en-US" sz="1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aspirated → tense (error)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4274952" y="4895286"/>
            <a:ext cx="276033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ㅓ → ㅗ</a:t>
            </a:r>
            <a:endParaRPr sz="11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height: mid → mid (correct)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backness</a:t>
            </a:r>
            <a:r>
              <a:rPr lang="en-US" sz="1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: central → back (error)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rounding: </a:t>
            </a:r>
            <a:r>
              <a:rPr lang="en-US" sz="1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unrounded → rounded (error)</a:t>
            </a:r>
            <a:endParaRPr sz="11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7432119" y="4811287"/>
            <a:ext cx="4598127" cy="9387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905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ANALYSIS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JP 화자는 laryngeal contrast를 많이 틀린다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CN 화자는 rounding/backness vowel feature에서 오류가 많다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VN 화자는 coda nasal place에서 오류가 많다</a:t>
            </a:r>
            <a:endParaRPr/>
          </a:p>
        </p:txBody>
      </p:sp>
      <p:cxnSp>
        <p:nvCxnSpPr>
          <p:cNvPr id="215" name="Google Shape;215;p8"/>
          <p:cNvCxnSpPr/>
          <p:nvPr/>
        </p:nvCxnSpPr>
        <p:spPr>
          <a:xfrm>
            <a:off x="2424799" y="4859629"/>
            <a:ext cx="0" cy="84075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6" name="Google Shape;216;p8"/>
          <p:cNvCxnSpPr/>
          <p:nvPr/>
        </p:nvCxnSpPr>
        <p:spPr>
          <a:xfrm>
            <a:off x="4274952" y="4859629"/>
            <a:ext cx="0" cy="84075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8"/>
          <p:cNvSpPr/>
          <p:nvPr/>
        </p:nvSpPr>
        <p:spPr>
          <a:xfrm rot="-5400000">
            <a:off x="6943164" y="5088104"/>
            <a:ext cx="377881" cy="38380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8D8D8"/>
          </a:solidFill>
          <a:ln w="1905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7432119" y="5750007"/>
            <a:ext cx="459812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symbol error 분석 🡪 phonological (음운론적인) feature error 분석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H3: Articulatory Feature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New Dataset Preprocessing</a:t>
            </a:r>
            <a:endParaRPr/>
          </a:p>
        </p:txBody>
      </p:sp>
      <p:pic>
        <p:nvPicPr>
          <p:cNvPr id="225" name="Google Shape;225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17970" y="1021976"/>
            <a:ext cx="9773957" cy="254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7970" y="3863424"/>
            <a:ext cx="9773957" cy="2545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New Dataset Preprocessing</a:t>
            </a:r>
            <a:endParaRPr/>
          </a:p>
        </p:txBody>
      </p:sp>
      <p:graphicFrame>
        <p:nvGraphicFramePr>
          <p:cNvPr id="232" name="Google Shape;232;p10"/>
          <p:cNvGraphicFramePr/>
          <p:nvPr/>
        </p:nvGraphicFramePr>
        <p:xfrm>
          <a:off x="530906" y="1542982"/>
          <a:ext cx="6183700" cy="1786450"/>
        </p:xfrm>
        <a:graphic>
          <a:graphicData uri="http://schemas.openxmlformats.org/drawingml/2006/table">
            <a:tbl>
              <a:tblPr firstRow="1" bandRow="1">
                <a:noFill/>
                <a:tableStyleId>{1986DE05-51DD-4686-8079-D606EDF6B2B9}</a:tableStyleId>
              </a:tblPr>
              <a:tblGrid>
                <a:gridCol w="111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기호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예시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의미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처리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어/, 음/, 뭐/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발화 중간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발화 망설임/간투사 마커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 제거</a:t>
                      </a:r>
                      <a:endParaRPr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sn/, un/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문장 앞뒤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noise/unintelligible 마커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토큰 통째로 제거</a:t>
                      </a:r>
                      <a:endParaRPr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오+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발화 중단/반복 마커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 제거</a:t>
                      </a:r>
                      <a:endParaRPr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\ufeff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파일 앞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BOM 문자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제거</a:t>
                      </a:r>
                      <a:endParaRPr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3" name="Google Shape;233;p10"/>
          <p:cNvSpPr txBox="1"/>
          <p:nvPr/>
        </p:nvSpPr>
        <p:spPr>
          <a:xfrm>
            <a:off x="530906" y="3646804"/>
            <a:ext cx="6073266" cy="1668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조음 GT 만들기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저는 중국에서 왔어요 한국 온 이유는 유학하려고 해요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"ㅈ", "ㅓ", "ㄴ", "ㅡ", "ㄴ", ＂ㅈ", ＂ㅜ", ＂ㅇ", ＂ㄱ", …</a:t>
            </a:r>
            <a:endParaRPr/>
          </a:p>
          <a:p>
            <a:pPr marL="742950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1935" y="4074511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New Dataset – Baseline Evaluation</a:t>
            </a:r>
            <a:endParaRPr/>
          </a:p>
        </p:txBody>
      </p:sp>
      <p:pic>
        <p:nvPicPr>
          <p:cNvPr id="240" name="Google Shape;24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497981"/>
            <a:ext cx="6031169" cy="247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31169" y="3497981"/>
            <a:ext cx="6115961" cy="2510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5389" y="1021976"/>
            <a:ext cx="9562645" cy="217332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 txBox="1"/>
          <p:nvPr/>
        </p:nvSpPr>
        <p:spPr>
          <a:xfrm>
            <a:off x="4944082" y="6185098"/>
            <a:ext cx="23038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🡪 새 데이터셋이 더 어렵다</a:t>
            </a:r>
            <a:endParaRPr sz="1400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H3: Articulatory Feature</a:t>
            </a:r>
            <a:endParaRPr/>
          </a:p>
        </p:txBody>
      </p:sp>
      <p:grpSp>
        <p:nvGrpSpPr>
          <p:cNvPr id="249" name="Google Shape;249;p12"/>
          <p:cNvGrpSpPr/>
          <p:nvPr/>
        </p:nvGrpSpPr>
        <p:grpSpPr>
          <a:xfrm>
            <a:off x="579694" y="2460741"/>
            <a:ext cx="5516306" cy="1936518"/>
            <a:chOff x="566058" y="1920087"/>
            <a:chExt cx="11293735" cy="3569528"/>
          </a:xfrm>
        </p:grpSpPr>
        <p:grpSp>
          <p:nvGrpSpPr>
            <p:cNvPr id="250" name="Google Shape;250;p12"/>
            <p:cNvGrpSpPr/>
            <p:nvPr/>
          </p:nvGrpSpPr>
          <p:grpSpPr>
            <a:xfrm>
              <a:off x="566058" y="1920087"/>
              <a:ext cx="10764955" cy="3569528"/>
              <a:chOff x="1791308" y="3943698"/>
              <a:chExt cx="9202250" cy="2673830"/>
            </a:xfrm>
          </p:grpSpPr>
          <p:pic>
            <p:nvPicPr>
              <p:cNvPr id="251" name="Google Shape;251;p12" descr="OpenAI's Most Recent Model: Whisper (explained)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405969" y="4059680"/>
                <a:ext cx="3565001" cy="25578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2" name="Google Shape;252;p12"/>
              <p:cNvSpPr/>
              <p:nvPr/>
            </p:nvSpPr>
            <p:spPr>
              <a:xfrm>
                <a:off x="1925011" y="4338357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253" name="Google Shape;253;p12"/>
              <p:cNvSpPr txBox="1"/>
              <p:nvPr/>
            </p:nvSpPr>
            <p:spPr>
              <a:xfrm>
                <a:off x="1797155" y="4266437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254" name="Google Shape;254;p12"/>
              <p:cNvSpPr/>
              <p:nvPr/>
            </p:nvSpPr>
            <p:spPr>
              <a:xfrm>
                <a:off x="1925011" y="4582865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255" name="Google Shape;255;p12"/>
              <p:cNvSpPr/>
              <p:nvPr/>
            </p:nvSpPr>
            <p:spPr>
              <a:xfrm>
                <a:off x="1925011" y="5007719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256" name="Google Shape;256;p12"/>
              <p:cNvSpPr/>
              <p:nvPr/>
            </p:nvSpPr>
            <p:spPr>
              <a:xfrm>
                <a:off x="1925011" y="5269420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257" name="Google Shape;257;p12"/>
              <p:cNvSpPr txBox="1"/>
              <p:nvPr/>
            </p:nvSpPr>
            <p:spPr>
              <a:xfrm>
                <a:off x="1791308" y="4510808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258" name="Google Shape;258;p12"/>
              <p:cNvSpPr txBox="1"/>
              <p:nvPr/>
            </p:nvSpPr>
            <p:spPr>
              <a:xfrm>
                <a:off x="1791308" y="4935796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259" name="Google Shape;259;p12"/>
              <p:cNvSpPr txBox="1"/>
              <p:nvPr/>
            </p:nvSpPr>
            <p:spPr>
              <a:xfrm>
                <a:off x="1791308" y="5198103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260" name="Google Shape;260;p12"/>
              <p:cNvSpPr txBox="1"/>
              <p:nvPr/>
            </p:nvSpPr>
            <p:spPr>
              <a:xfrm>
                <a:off x="5660332" y="4542912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sp>
            <p:nvSpPr>
              <p:cNvPr id="261" name="Google Shape;261;p12"/>
              <p:cNvSpPr txBox="1"/>
              <p:nvPr/>
            </p:nvSpPr>
            <p:spPr>
              <a:xfrm>
                <a:off x="5660332" y="4797394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sp>
            <p:nvSpPr>
              <p:cNvPr id="262" name="Google Shape;262;p12"/>
              <p:cNvSpPr txBox="1"/>
              <p:nvPr/>
            </p:nvSpPr>
            <p:spPr>
              <a:xfrm>
                <a:off x="5660332" y="5308166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sp>
            <p:nvSpPr>
              <p:cNvPr id="263" name="Google Shape;263;p12"/>
              <p:cNvSpPr txBox="1"/>
              <p:nvPr/>
            </p:nvSpPr>
            <p:spPr>
              <a:xfrm>
                <a:off x="5660332" y="5562649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pic>
            <p:nvPicPr>
              <p:cNvPr id="264" name="Google Shape;264;p12"/>
              <p:cNvPicPr preferRelativeResize="0"/>
              <p:nvPr/>
            </p:nvPicPr>
            <p:blipFill rotWithShape="1">
              <a:blip r:embed="rId4">
                <a:alphaModFix/>
              </a:blip>
              <a:srcRect t="9879"/>
              <a:stretch/>
            </p:blipFill>
            <p:spPr>
              <a:xfrm>
                <a:off x="6451927" y="4658119"/>
                <a:ext cx="4541631" cy="1934034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65" name="Google Shape;265;p12"/>
              <p:cNvCxnSpPr/>
              <p:nvPr/>
            </p:nvCxnSpPr>
            <p:spPr>
              <a:xfrm>
                <a:off x="3693978" y="3943698"/>
                <a:ext cx="2805335" cy="1595015"/>
              </a:xfrm>
              <a:prstGeom prst="bentConnector3">
                <a:avLst>
                  <a:gd name="adj1" fmla="val 10422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66" name="Google Shape;266;p12"/>
              <p:cNvCxnSpPr/>
              <p:nvPr/>
            </p:nvCxnSpPr>
            <p:spPr>
              <a:xfrm>
                <a:off x="3693978" y="3943698"/>
                <a:ext cx="0" cy="21839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267" name="Google Shape;267;p12"/>
            <p:cNvSpPr txBox="1"/>
            <p:nvPr/>
          </p:nvSpPr>
          <p:spPr>
            <a:xfrm>
              <a:off x="9985180" y="2211646"/>
              <a:ext cx="1874613" cy="3403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Ground Truth G2P/IPA</a:t>
              </a:r>
              <a:endParaRPr/>
            </a:p>
          </p:txBody>
        </p:sp>
        <p:cxnSp>
          <p:nvCxnSpPr>
            <p:cNvPr id="268" name="Google Shape;268;p12"/>
            <p:cNvCxnSpPr/>
            <p:nvPr/>
          </p:nvCxnSpPr>
          <p:spPr>
            <a:xfrm>
              <a:off x="10913479" y="2578988"/>
              <a:ext cx="0" cy="98963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269" name="Google Shape;269;p12"/>
            <p:cNvSpPr txBox="1"/>
            <p:nvPr/>
          </p:nvSpPr>
          <p:spPr>
            <a:xfrm>
              <a:off x="10762609" y="2867245"/>
              <a:ext cx="717815" cy="34039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270" name="Google Shape;270;p12"/>
          <p:cNvSpPr txBox="1"/>
          <p:nvPr/>
        </p:nvSpPr>
        <p:spPr>
          <a:xfrm>
            <a:off x="2743708" y="4334831"/>
            <a:ext cx="80191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Remove at inference</a:t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5030783" y="3165997"/>
            <a:ext cx="381421" cy="943121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2"/>
          <p:cNvSpPr txBox="1"/>
          <p:nvPr/>
        </p:nvSpPr>
        <p:spPr>
          <a:xfrm>
            <a:off x="5030783" y="4072163"/>
            <a:ext cx="4106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x6</a:t>
            </a:r>
            <a:endParaRPr/>
          </a:p>
        </p:txBody>
      </p:sp>
      <p:sp>
        <p:nvSpPr>
          <p:cNvPr id="273" name="Google Shape;273;p12"/>
          <p:cNvSpPr txBox="1"/>
          <p:nvPr/>
        </p:nvSpPr>
        <p:spPr>
          <a:xfrm>
            <a:off x="6679474" y="2257411"/>
            <a:ext cx="4781758" cy="341984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79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74" name="Google Shape;274;p12"/>
          <p:cNvSpPr txBox="1"/>
          <p:nvPr/>
        </p:nvSpPr>
        <p:spPr>
          <a:xfrm>
            <a:off x="4661705" y="4643374"/>
            <a:ext cx="1701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@layer 6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H3: Articulatory Feature</a:t>
            </a:r>
            <a:endParaRPr/>
          </a:p>
        </p:txBody>
      </p:sp>
      <p:sp>
        <p:nvSpPr>
          <p:cNvPr id="280" name="Google Shape;280;p13"/>
          <p:cNvSpPr txBox="1">
            <a:spLocks noGrp="1"/>
          </p:cNvSpPr>
          <p:nvPr>
            <p:ph type="body" idx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On Training…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D6848A-5EA4-53B5-4588-F970B2C19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26" y="1526559"/>
            <a:ext cx="10689948" cy="48139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E242A9-B105-31C0-ED1A-28BAEE5EE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324" y="1137958"/>
            <a:ext cx="5349680" cy="57200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EA8BE2-4D78-0434-B634-A429ABBCB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68722"/>
            <a:ext cx="6432324" cy="278734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C1AF346-9409-2DED-6F42-3B181EEF5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788219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9D26-736F-D4DF-39C4-E951BEE8A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F9485C-6BE7-D931-F2EF-80FD0F2AA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04" y="1375833"/>
            <a:ext cx="5627914" cy="50651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AC83D3-7C21-B8FF-03E8-0F85CA8E8BF8}"/>
              </a:ext>
            </a:extLst>
          </p:cNvPr>
          <p:cNvSpPr txBox="1"/>
          <p:nvPr/>
        </p:nvSpPr>
        <p:spPr>
          <a:xfrm>
            <a:off x="5884218" y="2841171"/>
            <a:ext cx="159851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NG-&gt;N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eo</a:t>
            </a:r>
            <a:r>
              <a:rPr lang="en-US" dirty="0"/>
              <a:t>-&gt;o, o-&gt;</a:t>
            </a:r>
            <a:r>
              <a:rPr lang="en-US" dirty="0" err="1"/>
              <a:t>eo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u-&gt;</a:t>
            </a:r>
            <a:r>
              <a:rPr lang="en-US" dirty="0" err="1"/>
              <a:t>eu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CH-&gt;J, J-&gt;CH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G-&gt;K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P-&gt;PP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166BA3-D2DE-C30E-58A9-11EB4735F27A}"/>
              </a:ext>
            </a:extLst>
          </p:cNvPr>
          <p:cNvSpPr txBox="1"/>
          <p:nvPr/>
        </p:nvSpPr>
        <p:spPr>
          <a:xfrm>
            <a:off x="8017818" y="2785252"/>
            <a:ext cx="15488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place (</a:t>
            </a:r>
            <a:r>
              <a:rPr lang="ko-KR" altLang="en-US" dirty="0"/>
              <a:t>조음 위치</a:t>
            </a:r>
            <a:r>
              <a:rPr lang="en-US" altLang="ko-KR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CA20CF-2A7B-7AB8-675A-7C005CC5A321}"/>
              </a:ext>
            </a:extLst>
          </p:cNvPr>
          <p:cNvSpPr txBox="1"/>
          <p:nvPr/>
        </p:nvSpPr>
        <p:spPr>
          <a:xfrm>
            <a:off x="8017818" y="3466867"/>
            <a:ext cx="27638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laryngeal (</a:t>
            </a:r>
            <a:r>
              <a:rPr lang="ko-KR" altLang="en-US" dirty="0"/>
              <a:t>후두 특성 </a:t>
            </a:r>
            <a:r>
              <a:rPr lang="en-US" altLang="ko-KR" dirty="0"/>
              <a:t>/ </a:t>
            </a:r>
            <a:r>
              <a:rPr lang="ko-KR" altLang="en-US" dirty="0"/>
              <a:t>발성 유형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A96975-3549-72E9-6283-308AE0A8C88F}"/>
              </a:ext>
            </a:extLst>
          </p:cNvPr>
          <p:cNvSpPr txBox="1"/>
          <p:nvPr/>
        </p:nvSpPr>
        <p:spPr>
          <a:xfrm>
            <a:off x="8017818" y="3919670"/>
            <a:ext cx="27638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laryngeal (</a:t>
            </a:r>
            <a:r>
              <a:rPr lang="ko-KR" altLang="en-US" dirty="0"/>
              <a:t>후두 특성 </a:t>
            </a:r>
            <a:r>
              <a:rPr lang="en-US" altLang="ko-KR" dirty="0"/>
              <a:t>/ </a:t>
            </a:r>
            <a:r>
              <a:rPr lang="ko-KR" altLang="en-US" dirty="0"/>
              <a:t>발성 유형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FC6ED4-190C-955D-6796-3B248600274A}"/>
              </a:ext>
            </a:extLst>
          </p:cNvPr>
          <p:cNvSpPr txBox="1"/>
          <p:nvPr/>
        </p:nvSpPr>
        <p:spPr>
          <a:xfrm>
            <a:off x="8017818" y="3014064"/>
            <a:ext cx="3809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backness</a:t>
            </a:r>
            <a:r>
              <a:rPr lang="en-US" dirty="0"/>
              <a:t> (</a:t>
            </a:r>
            <a:r>
              <a:rPr lang="ko-KR" altLang="en-US" dirty="0" err="1"/>
              <a:t>전후설성</a:t>
            </a:r>
            <a:r>
              <a:rPr lang="en-US" altLang="ko-KR" dirty="0"/>
              <a:t>)</a:t>
            </a:r>
            <a:r>
              <a:rPr lang="ko-KR" altLang="en-US" dirty="0"/>
              <a:t> </a:t>
            </a:r>
            <a:r>
              <a:rPr lang="en-US" altLang="ko-KR" dirty="0"/>
              <a:t>/ </a:t>
            </a:r>
            <a:r>
              <a:rPr lang="ko-KR" altLang="en-US" dirty="0"/>
              <a:t>일부 </a:t>
            </a:r>
            <a:r>
              <a:rPr lang="en-US" dirty="0"/>
              <a:t>height (</a:t>
            </a:r>
            <a:r>
              <a:rPr lang="ko-KR" altLang="en-US" dirty="0"/>
              <a:t>모음 높이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4400C8-5904-6D63-553B-5F519E498F31}"/>
              </a:ext>
            </a:extLst>
          </p:cNvPr>
          <p:cNvSpPr txBox="1"/>
          <p:nvPr/>
        </p:nvSpPr>
        <p:spPr>
          <a:xfrm>
            <a:off x="8017818" y="3232200"/>
            <a:ext cx="3809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backness</a:t>
            </a:r>
            <a:r>
              <a:rPr lang="en-US" dirty="0"/>
              <a:t> (</a:t>
            </a:r>
            <a:r>
              <a:rPr lang="ko-KR" altLang="en-US" dirty="0" err="1"/>
              <a:t>전후설성</a:t>
            </a:r>
            <a:r>
              <a:rPr lang="en-US" altLang="ko-KR" dirty="0"/>
              <a:t>)</a:t>
            </a:r>
            <a:r>
              <a:rPr lang="ko-KR" altLang="en-US" dirty="0"/>
              <a:t> </a:t>
            </a:r>
            <a:r>
              <a:rPr lang="en-US" altLang="ko-KR" dirty="0"/>
              <a:t>/ </a:t>
            </a:r>
            <a:r>
              <a:rPr lang="ko-KR" altLang="en-US" dirty="0"/>
              <a:t>일부 </a:t>
            </a:r>
            <a:r>
              <a:rPr lang="en-US" dirty="0"/>
              <a:t>height (</a:t>
            </a:r>
            <a:r>
              <a:rPr lang="ko-KR" altLang="en-US" dirty="0"/>
              <a:t>모음 높이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ED6190-8719-0420-8917-A8B8B33EB085}"/>
              </a:ext>
            </a:extLst>
          </p:cNvPr>
          <p:cNvSpPr txBox="1"/>
          <p:nvPr/>
        </p:nvSpPr>
        <p:spPr>
          <a:xfrm>
            <a:off x="8017818" y="3682383"/>
            <a:ext cx="3809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backness</a:t>
            </a:r>
            <a:r>
              <a:rPr lang="en-US" dirty="0"/>
              <a:t> (</a:t>
            </a:r>
            <a:r>
              <a:rPr lang="ko-KR" altLang="en-US" dirty="0" err="1"/>
              <a:t>전후설성</a:t>
            </a:r>
            <a:r>
              <a:rPr lang="en-US" altLang="ko-KR" dirty="0"/>
              <a:t>)</a:t>
            </a:r>
            <a:r>
              <a:rPr lang="ko-KR" altLang="en-US" dirty="0"/>
              <a:t> </a:t>
            </a:r>
            <a:r>
              <a:rPr lang="en-US" altLang="ko-KR" dirty="0"/>
              <a:t>/ </a:t>
            </a:r>
            <a:r>
              <a:rPr lang="ko-KR" altLang="en-US" dirty="0"/>
              <a:t>일부 </a:t>
            </a:r>
            <a:r>
              <a:rPr lang="en-US" dirty="0"/>
              <a:t>height (</a:t>
            </a:r>
            <a:r>
              <a:rPr lang="ko-KR" altLang="en-US" dirty="0"/>
              <a:t>모음 높이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B2ADAA-ABD9-89BA-888E-57E20F6A7E28}"/>
              </a:ext>
            </a:extLst>
          </p:cNvPr>
          <p:cNvSpPr txBox="1"/>
          <p:nvPr/>
        </p:nvSpPr>
        <p:spPr>
          <a:xfrm>
            <a:off x="6836228" y="5025783"/>
            <a:ext cx="1875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rounding (</a:t>
            </a:r>
            <a:r>
              <a:rPr lang="ko-KR" altLang="en-US" dirty="0" err="1">
                <a:solidFill>
                  <a:srgbClr val="FF0000"/>
                </a:solidFill>
              </a:rPr>
              <a:t>원순성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32547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78C80-8104-DB25-4ABB-F3A1F75F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6 heads needed?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FB424-94E4-BAAE-F04C-DF968A0D0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126" y="1137958"/>
            <a:ext cx="3902074" cy="5354917"/>
          </a:xfrm>
        </p:spPr>
        <p:txBody>
          <a:bodyPr/>
          <a:lstStyle/>
          <a:p>
            <a:r>
              <a:rPr lang="en-US" dirty="0"/>
              <a:t>No auxiliary</a:t>
            </a:r>
          </a:p>
          <a:p>
            <a:r>
              <a:rPr lang="en-US" dirty="0"/>
              <a:t>Single phoneme CTC</a:t>
            </a:r>
          </a:p>
          <a:p>
            <a:r>
              <a:rPr lang="en-US" dirty="0"/>
              <a:t>H3 full (6 heads)</a:t>
            </a:r>
          </a:p>
          <a:p>
            <a:r>
              <a:rPr lang="en-US" dirty="0"/>
              <a:t>H3 - place</a:t>
            </a:r>
          </a:p>
          <a:p>
            <a:r>
              <a:rPr lang="en-US" dirty="0"/>
              <a:t>H3 - manner</a:t>
            </a:r>
          </a:p>
          <a:p>
            <a:r>
              <a:rPr lang="en-US" dirty="0"/>
              <a:t>H3 - laryngeal</a:t>
            </a:r>
          </a:p>
          <a:p>
            <a:r>
              <a:rPr lang="en-US" dirty="0"/>
              <a:t>H3 - height</a:t>
            </a:r>
          </a:p>
          <a:p>
            <a:r>
              <a:rPr lang="en-US" dirty="0"/>
              <a:t>H3 - </a:t>
            </a:r>
            <a:r>
              <a:rPr lang="en-US" dirty="0" err="1"/>
              <a:t>backness</a:t>
            </a:r>
            <a:endParaRPr lang="en-US" dirty="0"/>
          </a:p>
          <a:p>
            <a:r>
              <a:rPr lang="en-US" dirty="0"/>
              <a:t>H3 - rounding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28AD2B-CF26-7076-1AE8-3B4D071B2815}"/>
              </a:ext>
            </a:extLst>
          </p:cNvPr>
          <p:cNvSpPr txBox="1"/>
          <p:nvPr/>
        </p:nvSpPr>
        <p:spPr>
          <a:xfrm>
            <a:off x="6226628" y="1219199"/>
            <a:ext cx="22749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Feature Error Rate</a:t>
            </a:r>
          </a:p>
          <a:p>
            <a:pPr lvl="6"/>
            <a:endParaRPr lang="en-US" altLang="ko-KR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88A8A-6F97-6167-C922-1DFC1C757DD4}"/>
              </a:ext>
            </a:extLst>
          </p:cNvPr>
          <p:cNvSpPr txBox="1"/>
          <p:nvPr/>
        </p:nvSpPr>
        <p:spPr>
          <a:xfrm>
            <a:off x="6542315" y="1611973"/>
            <a:ext cx="449995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7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정답 </a:t>
            </a:r>
            <a:r>
              <a:rPr lang="en-US" sz="1600" dirty="0"/>
              <a:t>place sequence: [velar, coronal, velar]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예측 </a:t>
            </a:r>
            <a:r>
              <a:rPr lang="en-US" sz="1600" dirty="0"/>
              <a:t>place sequence: [velar, coronal, glottal]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490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286" name="Google Shape;286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292" name="Google Shape;292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H3: Articulatory Feature</a:t>
            </a:r>
            <a:endParaRPr/>
          </a:p>
        </p:txBody>
      </p:sp>
      <p:sp>
        <p:nvSpPr>
          <p:cNvPr id="298" name="Google Shape;298;p16"/>
          <p:cNvSpPr txBox="1">
            <a:spLocks noGrp="1"/>
          </p:cNvSpPr>
          <p:nvPr>
            <p:ph type="body" idx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기존 H1/H2는 모두 "phoneme-level auxiliary CTC"를 전제로 한다.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하지만 learner speech 오류는 phoneme symbol 자체보다 더 낮은 수준의 articulatory contrast에서 반복되는 경우가 많다.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예를 들면: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일본어 화자는 laryngeal contrast에서 흔들릴 수 있다.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베트남어 화자는 종성 nasal의 place에서 흔들릴 수 있다.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중국어 화자는 모음 backness/rounding에서 흔들릴 수 있다.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따라서 H3의 직관은 다음과 같다.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phoneme symbol 하나를 한 번에 맞추라고 하기보다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encoder가 그 음소를 구성하는 articulatory dimension들을 따로 보게 만들면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learner speech variation을 더 잘 일반화할 수 있다.</a:t>
            </a:r>
            <a:endParaRPr/>
          </a:p>
          <a:p>
            <a:pPr marL="228600" lvl="0" indent="-127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Hypothesis</a:t>
            </a:r>
            <a:endParaRPr/>
          </a:p>
        </p:txBody>
      </p:sp>
      <p:sp>
        <p:nvSpPr>
          <p:cNvPr id="304" name="Google Shape;304;p17"/>
          <p:cNvSpPr txBox="1">
            <a:spLocks noGrp="1"/>
          </p:cNvSpPr>
          <p:nvPr>
            <p:ph type="body" idx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en-US" sz="1800"/>
              <a:t>Encoder의 Middle Layer만 사용하거나, 모두 사용하되 Middle Layer에 가중치를 더 준다면 성능이 향상될 것이다.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/>
              <a:t>Baseline A: </a:t>
            </a:r>
            <a:r>
              <a:rPr lang="en-US" sz="1400"/>
              <a:t>encoder-only LoRA</a:t>
            </a:r>
            <a:endParaRPr sz="1400"/>
          </a:p>
          <a:p>
            <a:pPr marL="742950" lvl="1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/>
              <a:t>Baseline B: </a:t>
            </a:r>
            <a:r>
              <a:rPr lang="en-US" sz="1400"/>
              <a:t>encoder-only LoRA </a:t>
            </a:r>
            <a:r>
              <a:rPr lang="en-US" sz="1400" b="1"/>
              <a:t>+ final-layer phonetic CTC (현재 방식)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400"/>
              <a:buChar char="•"/>
            </a:pPr>
            <a:r>
              <a:rPr lang="en-US" sz="1400" b="1">
                <a:solidFill>
                  <a:srgbClr val="0070C0"/>
                </a:solidFill>
              </a:rPr>
              <a:t>Proposed C:</a:t>
            </a:r>
            <a:r>
              <a:rPr lang="en-US" sz="1400" b="1"/>
              <a:t> </a:t>
            </a:r>
            <a:r>
              <a:rPr lang="en-US" sz="1400"/>
              <a:t>encoder-only LoRA </a:t>
            </a:r>
            <a:r>
              <a:rPr lang="en-US" sz="1400" b="1">
                <a:solidFill>
                  <a:srgbClr val="0070C0"/>
                </a:solidFill>
              </a:rPr>
              <a:t>+ single intermediate-layer phonetic CTC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400"/>
              <a:buChar char="•"/>
            </a:pPr>
            <a:r>
              <a:rPr lang="en-US" sz="1400" b="1">
                <a:solidFill>
                  <a:srgbClr val="0070C0"/>
                </a:solidFill>
              </a:rPr>
              <a:t>Proposed D: </a:t>
            </a:r>
            <a:r>
              <a:rPr lang="en-US" sz="1400"/>
              <a:t>encoder-only LoRA </a:t>
            </a:r>
            <a:r>
              <a:rPr lang="en-US" sz="1400" b="1">
                <a:solidFill>
                  <a:srgbClr val="0070C0"/>
                </a:solidFill>
              </a:rPr>
              <a:t>+ multi-layer phonetic CTC (예: mid + final)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Play"/>
              <a:buAutoNum type="arabicPeriod"/>
            </a:pPr>
            <a:r>
              <a:rPr lang="en-US" sz="1600">
                <a:solidFill>
                  <a:srgbClr val="BFBFBF"/>
                </a:solidFill>
              </a:rPr>
              <a:t>Regularization이나 Smoothing과 같은 완화 기법을 적용하면 보다 안정적인 정렬을 형성하고 L2 발음 변이에 대한 강건성을 개선할 수 있다.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1400"/>
              <a:buChar char="•"/>
            </a:pPr>
            <a:r>
              <a:rPr lang="en-US" sz="1400">
                <a:solidFill>
                  <a:srgbClr val="BFBFBF"/>
                </a:solidFill>
              </a:rPr>
              <a:t>Alignment Sharpness 정량화 (New Evaluation Metrics)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1400"/>
              <a:buChar char="•"/>
            </a:pPr>
            <a:r>
              <a:rPr lang="en-US" sz="1400">
                <a:solidFill>
                  <a:srgbClr val="BFBFBF"/>
                </a:solidFill>
              </a:rPr>
              <a:t>Entropy Regularization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Play"/>
              <a:buAutoNum type="arabicPeriod"/>
            </a:pPr>
            <a:r>
              <a:rPr lang="en-US" sz="1600">
                <a:solidFill>
                  <a:srgbClr val="BFBFBF"/>
                </a:solidFill>
              </a:rPr>
              <a:t>Articulatory Feature에 따른 N개의 Head를 훈련하면 성능이 향상될 것이다.</a:t>
            </a:r>
            <a:endParaRPr/>
          </a:p>
          <a:p>
            <a:pPr marL="742950" lvl="1" indent="-196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>
              <a:solidFill>
                <a:srgbClr val="BFBFBF"/>
              </a:solidFill>
            </a:endParaRPr>
          </a:p>
          <a:p>
            <a:pPr marL="28575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  <a:p>
            <a:pPr marL="228600" lvl="0" indent="-114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</p:txBody>
      </p:sp>
      <p:graphicFrame>
        <p:nvGraphicFramePr>
          <p:cNvPr id="305" name="Google Shape;305;p17"/>
          <p:cNvGraphicFramePr/>
          <p:nvPr/>
        </p:nvGraphicFramePr>
        <p:xfrm>
          <a:off x="916155" y="43199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{4E719660-2E74-4A61-AF9B-304DE7005CE8}</a:tableStyleId>
              </a:tblPr>
              <a:tblGrid>
                <a:gridCol w="36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phoneme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place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manner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laryngeal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ㅂ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ㅃ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ㅍ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ㅁ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nasal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voiced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ㄷ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ㄸ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ㅌ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ㄴ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nasal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voiced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ㅅ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fricative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ㅆ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fricative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ㅈ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affricate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ㅉ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affricate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ㅊ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affricate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ㄹ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liquid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voiced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ㄱ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ㄲ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ㅋ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ㅇ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glottal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nasal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voiced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ㅎ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glottal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fricative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306" name="Google Shape;306;p17"/>
          <p:cNvGraphicFramePr/>
          <p:nvPr/>
        </p:nvGraphicFramePr>
        <p:xfrm>
          <a:off x="2476925" y="43199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{4E719660-2E74-4A61-AF9B-304DE7005CE8}</a:tableStyleId>
              </a:tblPr>
              <a:tblGrid>
                <a:gridCol w="39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vowel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height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backness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rounding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ㅣ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front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ㅔ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front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ㅐ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low-mid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front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ㅏ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front-central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ㅡ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central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ㅓ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back-central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ㅗ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back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rounded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ㅜ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back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rounded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307" name="Google Shape;307;p17"/>
          <p:cNvGrpSpPr/>
          <p:nvPr/>
        </p:nvGrpSpPr>
        <p:grpSpPr>
          <a:xfrm>
            <a:off x="4400292" y="4319927"/>
            <a:ext cx="5516306" cy="1936518"/>
            <a:chOff x="566058" y="1920087"/>
            <a:chExt cx="11293735" cy="3569528"/>
          </a:xfrm>
        </p:grpSpPr>
        <p:grpSp>
          <p:nvGrpSpPr>
            <p:cNvPr id="308" name="Google Shape;308;p17"/>
            <p:cNvGrpSpPr/>
            <p:nvPr/>
          </p:nvGrpSpPr>
          <p:grpSpPr>
            <a:xfrm>
              <a:off x="566058" y="1920087"/>
              <a:ext cx="10764955" cy="3569528"/>
              <a:chOff x="1791308" y="3943698"/>
              <a:chExt cx="9202250" cy="2673830"/>
            </a:xfrm>
          </p:grpSpPr>
          <p:pic>
            <p:nvPicPr>
              <p:cNvPr id="309" name="Google Shape;309;p17" descr="OpenAI's Most Recent Model: Whisper (explained)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405969" y="4059680"/>
                <a:ext cx="3565001" cy="25578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0" name="Google Shape;310;p17"/>
              <p:cNvSpPr/>
              <p:nvPr/>
            </p:nvSpPr>
            <p:spPr>
              <a:xfrm>
                <a:off x="1925011" y="4338357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311" name="Google Shape;311;p17"/>
              <p:cNvSpPr txBox="1"/>
              <p:nvPr/>
            </p:nvSpPr>
            <p:spPr>
              <a:xfrm>
                <a:off x="1797155" y="4266437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312" name="Google Shape;312;p17"/>
              <p:cNvSpPr/>
              <p:nvPr/>
            </p:nvSpPr>
            <p:spPr>
              <a:xfrm>
                <a:off x="1925011" y="4582865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313" name="Google Shape;313;p17"/>
              <p:cNvSpPr/>
              <p:nvPr/>
            </p:nvSpPr>
            <p:spPr>
              <a:xfrm>
                <a:off x="1925011" y="5007719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314" name="Google Shape;314;p17"/>
              <p:cNvSpPr/>
              <p:nvPr/>
            </p:nvSpPr>
            <p:spPr>
              <a:xfrm>
                <a:off x="1925011" y="5269420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315" name="Google Shape;315;p17"/>
              <p:cNvSpPr txBox="1"/>
              <p:nvPr/>
            </p:nvSpPr>
            <p:spPr>
              <a:xfrm>
                <a:off x="1791308" y="4510808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316" name="Google Shape;316;p17"/>
              <p:cNvSpPr txBox="1"/>
              <p:nvPr/>
            </p:nvSpPr>
            <p:spPr>
              <a:xfrm>
                <a:off x="1791308" y="4935796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317" name="Google Shape;317;p17"/>
              <p:cNvSpPr txBox="1"/>
              <p:nvPr/>
            </p:nvSpPr>
            <p:spPr>
              <a:xfrm>
                <a:off x="1791308" y="5198103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318" name="Google Shape;318;p17"/>
              <p:cNvSpPr txBox="1"/>
              <p:nvPr/>
            </p:nvSpPr>
            <p:spPr>
              <a:xfrm>
                <a:off x="5660332" y="4542912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sp>
            <p:nvSpPr>
              <p:cNvPr id="319" name="Google Shape;319;p17"/>
              <p:cNvSpPr txBox="1"/>
              <p:nvPr/>
            </p:nvSpPr>
            <p:spPr>
              <a:xfrm>
                <a:off x="5660332" y="4797394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sp>
            <p:nvSpPr>
              <p:cNvPr id="320" name="Google Shape;320;p17"/>
              <p:cNvSpPr txBox="1"/>
              <p:nvPr/>
            </p:nvSpPr>
            <p:spPr>
              <a:xfrm>
                <a:off x="5660332" y="5308166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sp>
            <p:nvSpPr>
              <p:cNvPr id="321" name="Google Shape;321;p17"/>
              <p:cNvSpPr txBox="1"/>
              <p:nvPr/>
            </p:nvSpPr>
            <p:spPr>
              <a:xfrm>
                <a:off x="5660332" y="5562649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pic>
            <p:nvPicPr>
              <p:cNvPr id="322" name="Google Shape;322;p17"/>
              <p:cNvPicPr preferRelativeResize="0"/>
              <p:nvPr/>
            </p:nvPicPr>
            <p:blipFill rotWithShape="1">
              <a:blip r:embed="rId4">
                <a:alphaModFix/>
              </a:blip>
              <a:srcRect t="9879"/>
              <a:stretch/>
            </p:blipFill>
            <p:spPr>
              <a:xfrm>
                <a:off x="6451927" y="4658119"/>
                <a:ext cx="4541631" cy="1934034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23" name="Google Shape;323;p17"/>
              <p:cNvCxnSpPr/>
              <p:nvPr/>
            </p:nvCxnSpPr>
            <p:spPr>
              <a:xfrm>
                <a:off x="3693978" y="3943698"/>
                <a:ext cx="2805335" cy="1595015"/>
              </a:xfrm>
              <a:prstGeom prst="bentConnector3">
                <a:avLst>
                  <a:gd name="adj1" fmla="val 10422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24" name="Google Shape;324;p17"/>
              <p:cNvCxnSpPr/>
              <p:nvPr/>
            </p:nvCxnSpPr>
            <p:spPr>
              <a:xfrm>
                <a:off x="3693978" y="3943698"/>
                <a:ext cx="0" cy="21839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325" name="Google Shape;325;p17"/>
            <p:cNvSpPr txBox="1"/>
            <p:nvPr/>
          </p:nvSpPr>
          <p:spPr>
            <a:xfrm>
              <a:off x="9985180" y="2211646"/>
              <a:ext cx="1874613" cy="3403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Ground Truth G2P/IPA</a:t>
              </a:r>
              <a:endParaRPr/>
            </a:p>
          </p:txBody>
        </p:sp>
        <p:cxnSp>
          <p:nvCxnSpPr>
            <p:cNvPr id="326" name="Google Shape;326;p17"/>
            <p:cNvCxnSpPr/>
            <p:nvPr/>
          </p:nvCxnSpPr>
          <p:spPr>
            <a:xfrm>
              <a:off x="10913479" y="2578988"/>
              <a:ext cx="0" cy="98963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327" name="Google Shape;327;p17"/>
            <p:cNvSpPr txBox="1"/>
            <p:nvPr/>
          </p:nvSpPr>
          <p:spPr>
            <a:xfrm>
              <a:off x="10762609" y="2867245"/>
              <a:ext cx="717815" cy="34039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328" name="Google Shape;328;p17"/>
          <p:cNvSpPr/>
          <p:nvPr/>
        </p:nvSpPr>
        <p:spPr>
          <a:xfrm>
            <a:off x="8851381" y="5025183"/>
            <a:ext cx="381421" cy="943121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7"/>
          <p:cNvSpPr txBox="1"/>
          <p:nvPr/>
        </p:nvSpPr>
        <p:spPr>
          <a:xfrm>
            <a:off x="8851381" y="5931349"/>
            <a:ext cx="4106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x6</a:t>
            </a:r>
            <a:endParaRPr/>
          </a:p>
        </p:txBody>
      </p:sp>
      <p:sp>
        <p:nvSpPr>
          <p:cNvPr id="330" name="Google Shape;330;p17"/>
          <p:cNvSpPr txBox="1"/>
          <p:nvPr/>
        </p:nvSpPr>
        <p:spPr>
          <a:xfrm>
            <a:off x="8851381" y="6178628"/>
            <a:ext cx="5341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x10</a:t>
            </a:r>
            <a:endParaRPr/>
          </a:p>
        </p:txBody>
      </p:sp>
      <p:sp>
        <p:nvSpPr>
          <p:cNvPr id="331" name="Google Shape;331;p17"/>
          <p:cNvSpPr/>
          <p:nvPr/>
        </p:nvSpPr>
        <p:spPr>
          <a:xfrm>
            <a:off x="775063" y="4145280"/>
            <a:ext cx="9141535" cy="2281646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337" name="Google Shape;337;p18"/>
          <p:cNvSpPr txBox="1">
            <a:spLocks noGrp="1"/>
          </p:cNvSpPr>
          <p:nvPr>
            <p:ph type="body" idx="1"/>
          </p:nvPr>
        </p:nvSpPr>
        <p:spPr>
          <a:xfrm>
            <a:off x="365126" y="6035040"/>
            <a:ext cx="11416878" cy="45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초/중반 레이어들에서의 Jamo-CER 개선이 뒤쪽보다 낫다?</a:t>
            </a:r>
            <a:endParaRPr sz="1800"/>
          </a:p>
        </p:txBody>
      </p:sp>
      <p:pic>
        <p:nvPicPr>
          <p:cNvPr id="338" name="Google Shape;33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5927" y="3646027"/>
            <a:ext cx="9581341" cy="2235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6" y="1059136"/>
            <a:ext cx="11218816" cy="2549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* Additional Evaluation Methods</a:t>
            </a:r>
            <a:endParaRPr/>
          </a:p>
        </p:txBody>
      </p:sp>
      <p:sp>
        <p:nvSpPr>
          <p:cNvPr id="345" name="Google Shape;345;p19"/>
          <p:cNvSpPr txBox="1">
            <a:spLocks noGrp="1"/>
          </p:cNvSpPr>
          <p:nvPr>
            <p:ph type="body" idx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어려운 샘플을 고쳤는가</a:t>
            </a:r>
            <a:endParaRPr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원래 맞던 샘플까지 괜히 건드렸는가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1258</Words>
  <Application>Microsoft Macintosh PowerPoint</Application>
  <PresentationFormat>Widescreen</PresentationFormat>
  <Paragraphs>444</Paragraphs>
  <Slides>22</Slides>
  <Notes>19</Notes>
  <HiddenSlides>4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Play</vt:lpstr>
      <vt:lpstr>Arial</vt:lpstr>
      <vt:lpstr>Office Theme</vt:lpstr>
      <vt:lpstr>Phonetic-Aware Encoder Tuning: Boosting Robustness against L2 Pronunciation Variations via CTC Supervision</vt:lpstr>
      <vt:lpstr>1. Problem Statement</vt:lpstr>
      <vt:lpstr>3. Background and Related Works</vt:lpstr>
      <vt:lpstr>-&gt; Timeline</vt:lpstr>
      <vt:lpstr>H1: Layers</vt:lpstr>
      <vt:lpstr>H1: Layers</vt:lpstr>
      <vt:lpstr>H3: Articulatory Feature</vt:lpstr>
      <vt:lpstr>H3: Articulatory Feature</vt:lpstr>
      <vt:lpstr>New Dataset Preprocessing</vt:lpstr>
      <vt:lpstr>New Dataset Preprocessing</vt:lpstr>
      <vt:lpstr>New Dataset – Baseline Evaluation</vt:lpstr>
      <vt:lpstr>H3: Articulatory Feature</vt:lpstr>
      <vt:lpstr>H3: Articulatory Feature</vt:lpstr>
      <vt:lpstr>Results</vt:lpstr>
      <vt:lpstr>Confusion Matrix</vt:lpstr>
      <vt:lpstr>All 6 heads needed?</vt:lpstr>
      <vt:lpstr>Q&amp;A</vt:lpstr>
      <vt:lpstr>Appendix</vt:lpstr>
      <vt:lpstr>H3: Articulatory Feature</vt:lpstr>
      <vt:lpstr>Hypothesis</vt:lpstr>
      <vt:lpstr>Results</vt:lpstr>
      <vt:lpstr>* Additional Evaluation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정하연</dc:creator>
  <cp:lastModifiedBy>정하연</cp:lastModifiedBy>
  <cp:revision>12</cp:revision>
  <dcterms:created xsi:type="dcterms:W3CDTF">2025-07-25T04:06:09Z</dcterms:created>
  <dcterms:modified xsi:type="dcterms:W3CDTF">2026-04-30T05:38:17Z</dcterms:modified>
</cp:coreProperties>
</file>