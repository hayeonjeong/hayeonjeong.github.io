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Play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c1zGZSCxaLq/a31CWAST+8V5f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19660-2E74-4A61-AF9B-304DE7005CE8}">
  <a:tblStyle styleId="{4E719660-2E74-4A61-AF9B-304DE7005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86DE05-51DD-4686-8079-D606EDF6B2B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541"/>
  </p:normalViewPr>
  <p:slideViewPr>
    <p:cSldViewPr snapToGrid="0">
      <p:cViewPr varScale="1">
        <p:scale>
          <a:sx n="54" d="100"/>
          <a:sy n="5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인코더만 or 디코더만 or 전체 학습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전체 or Fine-Tuning</a:t>
            </a: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 b="1"/>
              <a:t>place / manner / laryngeal (자음)</a:t>
            </a:r>
            <a:r>
              <a:rPr lang="en-US"/>
              <a:t>, </a:t>
            </a:r>
            <a:r>
              <a:rPr lang="en-US" b="1"/>
              <a:t>height / backness / rounding (모음)</a:t>
            </a:r>
            <a:r>
              <a:rPr lang="en-US"/>
              <a:t> 같은 것은 </a:t>
            </a:r>
            <a:r>
              <a:rPr lang="en-US" b="1"/>
              <a:t>음성학에서 쓰는 기본 articulatory feature 개념</a:t>
            </a:r>
            <a:endParaRPr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/>
              <a:t>즉 </a:t>
            </a:r>
            <a:r>
              <a:rPr lang="en-US" b="1"/>
              <a:t>사람이 정의한 단순화된 feature 체계</a:t>
            </a: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8" name="Google Shape;18;p21"/>
          <p:cNvSpPr txBox="1">
            <a:spLocks noGrp="1"/>
          </p:cNvSpPr>
          <p:nvPr>
            <p:ph type="ctrTitle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/>
          <p:nvPr/>
        </p:nvSpPr>
        <p:spPr>
          <a:xfrm>
            <a:off x="9328728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83931" y="1340848"/>
            <a:ext cx="1182413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Phonetic-Aware Encoder Tuning:</a:t>
            </a:r>
            <a:br>
              <a:rPr lang="en-US" sz="2200" b="1"/>
            </a:br>
            <a:r>
              <a:rPr lang="en-US" sz="2200" b="1"/>
              <a:t>Boosting Robustness against L2 Pronunciation Variations via CTC Supervision</a:t>
            </a:r>
            <a:endParaRPr sz="2200" b="1"/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</a:pPr>
            <a:r>
              <a:rPr lang="en-US">
                <a:solidFill>
                  <a:srgbClr val="BFBFBF"/>
                </a:solidFill>
              </a:rPr>
              <a:t>Project Update 2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2026.03.26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Hayeon Jeong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1. Problem Statement</a:t>
            </a:r>
            <a:endParaRPr/>
          </a:p>
        </p:txBody>
      </p:sp>
      <p:pic>
        <p:nvPicPr>
          <p:cNvPr id="94" name="Google Shape;94;p2" descr="OpenAI rolls out Advanced Voice Mode with more voices and a new look |  TechCrunch"/>
          <p:cNvPicPr preferRelativeResize="0"/>
          <p:nvPr/>
        </p:nvPicPr>
        <p:blipFill rotWithShape="1">
          <a:blip r:embed="rId3">
            <a:alphaModFix/>
          </a:blip>
          <a:srcRect l="31915" t="4965" r="31649"/>
          <a:stretch/>
        </p:blipFill>
        <p:spPr>
          <a:xfrm>
            <a:off x="9181190" y="2717530"/>
            <a:ext cx="2192191" cy="3216279"/>
          </a:xfrm>
          <a:prstGeom prst="roundRect">
            <a:avLst>
              <a:gd name="adj" fmla="val 14843"/>
            </a:avLst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2763133" y="2253022"/>
            <a:ext cx="5162550" cy="1066800"/>
          </a:xfrm>
          <a:prstGeom prst="wedgeRoundRectCallout">
            <a:avLst>
              <a:gd name="adj1" fmla="val -54446"/>
              <a:gd name="adj2" fmla="val 37635"/>
              <a:gd name="adj3" fmla="val 16667"/>
            </a:avLst>
          </a:prstGeom>
          <a:solidFill>
            <a:srgbClr val="D3FF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도 안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걸릴 만큼 가깝지만 숙소가 많이 낙후되어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있고, 엘베 없고,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바퀴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벌레 나왔고 화장실 많이 낡았습니다. 절대 </a:t>
            </a:r>
            <a:r>
              <a:rPr lang="en-US" sz="11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여기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449330" y="3581432"/>
            <a:ext cx="5162550" cy="1066800"/>
          </a:xfrm>
          <a:prstGeom prst="wedgeRoundRectCallout">
            <a:avLst>
              <a:gd name="adj1" fmla="val 68667"/>
              <a:gd name="adj2" fmla="val 43703"/>
              <a:gd name="adj3" fmla="val 16667"/>
            </a:avLst>
          </a:prstGeom>
          <a:solidFill>
            <a:srgbClr val="FFE8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걸릴 만큼 가깝지만 숙소가 많이 낙후되어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입구에 배 없고 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밖에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벌레 나왔고 화장실 많이 낡았습니다. 절대 </a:t>
            </a:r>
            <a:r>
              <a:rPr lang="en-US" sz="11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역기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635057" y="4648232"/>
            <a:ext cx="19768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*Result of Whisper by OpenAI</a:t>
            </a:r>
            <a:endParaRPr sz="1100" i="1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 descr="Smiling face outline with solid fill"/>
          <p:cNvSpPr/>
          <p:nvPr/>
        </p:nvSpPr>
        <p:spPr>
          <a:xfrm>
            <a:off x="844021" y="2800474"/>
            <a:ext cx="780958" cy="7809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9" name="Google Shape;99;p2" descr="Voice with solid fill"/>
          <p:cNvSpPr/>
          <p:nvPr/>
        </p:nvSpPr>
        <p:spPr>
          <a:xfrm>
            <a:off x="1609705" y="2800474"/>
            <a:ext cx="780958" cy="7809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00" name="Google Shape;100;p2"/>
          <p:cNvSpPr txBox="1"/>
          <p:nvPr/>
        </p:nvSpPr>
        <p:spPr>
          <a:xfrm>
            <a:off x="3881156" y="1374010"/>
            <a:ext cx="44566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“Automatic Speech Recognition (ASR)”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3. Background and Related Works</a:t>
            </a:r>
            <a:endParaRPr/>
          </a:p>
        </p:txBody>
      </p:sp>
      <p:pic>
        <p:nvPicPr>
          <p:cNvPr id="107" name="Google Shape;107;p3" descr="OpenAI's Most Recent Model: Whisper (explained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1722" y="1942242"/>
            <a:ext cx="4170401" cy="341469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237006" y="6492875"/>
            <a:ext cx="6659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* [Whisper] Robust speech recognition via large-scale weak Supervision (ICML, 2023)</a:t>
            </a:r>
            <a:endParaRPr sz="1400" i="1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 descr="Smiling face outline with solid fill"/>
          <p:cNvSpPr/>
          <p:nvPr/>
        </p:nvSpPr>
        <p:spPr>
          <a:xfrm>
            <a:off x="2650808" y="4716969"/>
            <a:ext cx="562912" cy="5629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10" name="Google Shape;110;p3" descr="Voice with solid fill"/>
          <p:cNvSpPr/>
          <p:nvPr/>
        </p:nvSpPr>
        <p:spPr>
          <a:xfrm>
            <a:off x="3213720" y="4716969"/>
            <a:ext cx="562912" cy="5629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11" name="Google Shape;111;p3"/>
          <p:cNvSpPr/>
          <p:nvPr/>
        </p:nvSpPr>
        <p:spPr>
          <a:xfrm>
            <a:off x="3876085" y="2298138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876085" y="2635452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876085" y="3218704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876085" y="3556018"/>
            <a:ext cx="1642683" cy="289213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261886" y="2661405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261886" y="2998719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261886" y="3669781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261886" y="4007095"/>
            <a:ext cx="1642683" cy="289213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 rot="10800000">
            <a:off x="5316467" y="1804524"/>
            <a:ext cx="0" cy="2832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3"/>
          <p:cNvSpPr txBox="1"/>
          <p:nvPr/>
        </p:nvSpPr>
        <p:spPr>
          <a:xfrm>
            <a:off x="4697426" y="1342859"/>
            <a:ext cx="1292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States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(Representation)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530253" y="2907606"/>
            <a:ext cx="105670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Audio Model</a:t>
            </a:r>
            <a:endParaRPr sz="12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124403" y="3333507"/>
            <a:ext cx="13195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Language Model</a:t>
            </a:r>
            <a:endParaRPr sz="1200" b="1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928845" y="2661405"/>
            <a:ext cx="195558" cy="1634903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flipH="1">
            <a:off x="3649442" y="2298138"/>
            <a:ext cx="226643" cy="1547093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80110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459338" y="4655890"/>
            <a:ext cx="3192970" cy="556336"/>
          </a:xfrm>
          <a:prstGeom prst="wedgeRoundRectCallout">
            <a:avLst>
              <a:gd name="adj1" fmla="val -62437"/>
              <a:gd name="adj2" fmla="val 10529"/>
              <a:gd name="adj3" fmla="val 16667"/>
            </a:avLst>
          </a:prstGeom>
          <a:solidFill>
            <a:srgbClr val="FFE8D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한국인들만 알아볼 수 있게 작성하겠습니다. 역에선 30초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또한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걸릴 만큼 가깝지만 숙소가 많이 낙후되어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입구에 배 없고 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4층이라 집 많으면 고생합니다.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밖에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벌레 나왔고 화장실 많이 낡았습니다. 절대 </a:t>
            </a:r>
            <a:r>
              <a:rPr lang="en-US" sz="7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역기</a:t>
            </a: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 오지 마세요.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-&gt; Timeline</a:t>
            </a:r>
            <a:endParaRPr/>
          </a:p>
        </p:txBody>
      </p:sp>
      <p:cxnSp>
        <p:nvCxnSpPr>
          <p:cNvPr id="131" name="Google Shape;131;p4"/>
          <p:cNvCxnSpPr/>
          <p:nvPr/>
        </p:nvCxnSpPr>
        <p:spPr>
          <a:xfrm>
            <a:off x="1383737" y="1917813"/>
            <a:ext cx="852091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4"/>
          <p:cNvCxnSpPr/>
          <p:nvPr/>
        </p:nvCxnSpPr>
        <p:spPr>
          <a:xfrm>
            <a:off x="1383737" y="4039956"/>
            <a:ext cx="845294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4"/>
          <p:cNvSpPr/>
          <p:nvPr/>
        </p:nvSpPr>
        <p:spPr>
          <a:xfrm>
            <a:off x="9124737" y="1916465"/>
            <a:ext cx="1543643" cy="2183493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 rot="10800000" flipH="1">
            <a:off x="9015361" y="1856461"/>
            <a:ext cx="1653019" cy="2183494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446687" y="2154992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3-4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3441537" y="2154914"/>
            <a:ext cx="12314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trike="sng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Week 5-7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5676602" y="2154992"/>
            <a:ext cx="11961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7-9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2374912" y="4209683"/>
            <a:ext cx="1059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16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853565" y="4200779"/>
            <a:ext cx="10679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15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091181" y="4579015"/>
            <a:ext cx="14879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Final Paper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4342334" y="4561010"/>
            <a:ext cx="23789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Ablation Experiments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Final quantitative results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338917" y="4220550"/>
            <a:ext cx="1417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13-14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7899781" y="2538323"/>
            <a:ext cx="12474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Hypothesis 3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232685" y="2548444"/>
            <a:ext cx="169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Related Works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Change Data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IPA/G2P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839566" y="2154914"/>
            <a:ext cx="14782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Week 10-12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3455870" y="2538324"/>
            <a:ext cx="12715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trike="sng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Hypothesis 1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5645751" y="2548444"/>
            <a:ext cx="12426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Hypothesis 2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7054568" y="4552600"/>
            <a:ext cx="196079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New Idea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specifically for Korean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976638" y="182879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948014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44557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451842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791765" y="397201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308341" y="396521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944965" y="3963642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H1: Layers</a:t>
            </a: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04999"/>
            <a:ext cx="12192000" cy="30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H1: Layers</a:t>
            </a:r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레이어별 mean CER 차이가 작다 (X)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late-layer에서 instability가 커진다 (O)</a:t>
            </a:r>
            <a:endParaRPr sz="1800"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1" y="2723605"/>
            <a:ext cx="3886200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247" y="2723605"/>
            <a:ext cx="3814354" cy="214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0697" y="2723605"/>
            <a:ext cx="3921307" cy="2205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/>
              <a:t>Articulatory(조음(</a:t>
            </a:r>
            <a:r>
              <a:rPr lang="en-US" sz="1600" b="1">
                <a:latin typeface="Play"/>
                <a:ea typeface="Play"/>
                <a:cs typeface="Play"/>
                <a:sym typeface="Play"/>
              </a:rPr>
              <a:t>調音</a:t>
            </a:r>
            <a:r>
              <a:rPr lang="en-US" sz="1800" b="1"/>
              <a:t>)) Feature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graphicFrame>
        <p:nvGraphicFramePr>
          <p:cNvPr id="178" name="Google Shape;178;p7"/>
          <p:cNvGraphicFramePr/>
          <p:nvPr/>
        </p:nvGraphicFramePr>
        <p:xfrm>
          <a:off x="1342876" y="1797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phoneme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place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manner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laryngeal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ㅂ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ㅃ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ㅍ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ㅁ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ㄷ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ㄸ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ㅌ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ㄴ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ㅅ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ㅆ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ㅈ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ㅉ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ㅊ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ㄹ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liquid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ㄱ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ㄲ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ㅋ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ㅇ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7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ㅎ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54400" marR="54400" marT="27200" marB="27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79" name="Google Shape;179;p7"/>
          <p:cNvGraphicFramePr/>
          <p:nvPr/>
        </p:nvGraphicFramePr>
        <p:xfrm>
          <a:off x="6073565" y="1797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96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vowel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backness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ㅣ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ㅔ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low-mid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ㅏ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front-central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ㅡ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ㅓ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back-central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ㅗ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ㅜ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0" name="Google Shape;180;p7"/>
          <p:cNvGrpSpPr/>
          <p:nvPr/>
        </p:nvGrpSpPr>
        <p:grpSpPr>
          <a:xfrm>
            <a:off x="6016614" y="4223795"/>
            <a:ext cx="5516306" cy="1936518"/>
            <a:chOff x="566058" y="1920087"/>
            <a:chExt cx="11293735" cy="3569528"/>
          </a:xfrm>
        </p:grpSpPr>
        <p:grpSp>
          <p:nvGrpSpPr>
            <p:cNvPr id="181" name="Google Shape;181;p7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182" name="Google Shape;182;p7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7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4" name="Google Shape;184;p7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188" name="Google Shape;188;p7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89" name="Google Shape;189;p7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90" name="Google Shape;190;p7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191" name="Google Shape;191;p7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2" name="Google Shape;192;p7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3" name="Google Shape;193;p7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194" name="Google Shape;194;p7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195" name="Google Shape;195;p7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6" name="Google Shape;196;p7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7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98" name="Google Shape;198;p7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199" name="Google Shape;199;p7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200" name="Google Shape;200;p7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201" name="Google Shape;201;p7"/>
          <p:cNvSpPr txBox="1"/>
          <p:nvPr/>
        </p:nvSpPr>
        <p:spPr>
          <a:xfrm>
            <a:off x="8180628" y="6097885"/>
            <a:ext cx="80191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Remove at inference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0467703" y="4929051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0467703" y="5835217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3838016" y="2402648"/>
            <a:ext cx="4515980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Hypothesis 3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“Articulatory Feature에 따른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N개의 Head를 훈련하면 성능이 향상될 것이다.”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3983081" y="4114799"/>
            <a:ext cx="42707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(또한, confusion matrix에 기반한 분석이 더 정교해지고,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 분석 결과를 국소적 추가 개선에 활용할 수 있을 것이다.)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44338" y="4811287"/>
            <a:ext cx="6687751" cy="9387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2424799" y="4895286"/>
            <a:ext cx="204666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ㄱ → ㄲ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velar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manner: stop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laryngeal: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lax → tense (error)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75649" y="4895286"/>
            <a:ext cx="2485033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ㅍ → ㅃ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bilabial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manner: stop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laryngeal: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aspirated → tense (error)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274952" y="4895286"/>
            <a:ext cx="276033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ㅓ → ㅗ</a:t>
            </a: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 mid → mid (correct)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backness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: central → back (error)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rounding: </a:t>
            </a:r>
            <a:r>
              <a:rPr lang="en-US" sz="1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unrounded → rounded (error)</a:t>
            </a:r>
            <a:endParaRPr sz="11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432119" y="4811287"/>
            <a:ext cx="4598127" cy="9387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ANALYSIS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 화자는 laryngeal contrast를 많이 틀린다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 화자는 rounding/backness vowel feature에서 오류가 많다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VN 화자는 coda nasal place에서 오류가 많다</a:t>
            </a:r>
            <a:endParaRPr/>
          </a:p>
        </p:txBody>
      </p:sp>
      <p:cxnSp>
        <p:nvCxnSpPr>
          <p:cNvPr id="215" name="Google Shape;215;p8"/>
          <p:cNvCxnSpPr/>
          <p:nvPr/>
        </p:nvCxnSpPr>
        <p:spPr>
          <a:xfrm>
            <a:off x="2424799" y="4859629"/>
            <a:ext cx="0" cy="8407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6" name="Google Shape;216;p8"/>
          <p:cNvCxnSpPr/>
          <p:nvPr/>
        </p:nvCxnSpPr>
        <p:spPr>
          <a:xfrm>
            <a:off x="4274952" y="4859629"/>
            <a:ext cx="0" cy="8407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8"/>
          <p:cNvSpPr/>
          <p:nvPr/>
        </p:nvSpPr>
        <p:spPr>
          <a:xfrm rot="-5400000">
            <a:off x="6943164" y="5088104"/>
            <a:ext cx="377881" cy="38380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D8D8"/>
          </a:solidFill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432119" y="5750007"/>
            <a:ext cx="459812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 error 분석 🡪 phonological (음운론적인) feature error 분석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Preprocessing</a:t>
            </a:r>
            <a:endParaRPr/>
          </a:p>
        </p:txBody>
      </p:sp>
      <p:pic>
        <p:nvPicPr>
          <p:cNvPr id="225" name="Google Shape;225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17970" y="1021976"/>
            <a:ext cx="9773957" cy="254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970" y="3863424"/>
            <a:ext cx="9773957" cy="2545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Preprocessing</a:t>
            </a:r>
            <a:endParaRPr/>
          </a:p>
        </p:txBody>
      </p:sp>
      <p:graphicFrame>
        <p:nvGraphicFramePr>
          <p:cNvPr id="232" name="Google Shape;232;p10"/>
          <p:cNvGraphicFramePr/>
          <p:nvPr/>
        </p:nvGraphicFramePr>
        <p:xfrm>
          <a:off x="530906" y="154298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{1986DE05-51DD-4686-8079-D606EDF6B2B9}</a:tableStyleId>
              </a:tblPr>
              <a:tblGrid>
                <a:gridCol w="111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기호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예시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의미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처리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어/, 음/, 뭐/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중간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망설임/간투사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sn/, un/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문장 앞뒤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noise/unintelligible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토큰 통째로 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오+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발화 중단/반복 마커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 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\ufeff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파일 앞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BOM 문자</a:t>
                      </a:r>
                      <a:endParaRPr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제거</a:t>
                      </a:r>
                      <a:endParaRPr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3" name="Google Shape;233;p10"/>
          <p:cNvSpPr txBox="1"/>
          <p:nvPr/>
        </p:nvSpPr>
        <p:spPr>
          <a:xfrm>
            <a:off x="530906" y="3646804"/>
            <a:ext cx="6073266" cy="166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조음 GT 만들기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저는 중국에서 왔어요 한국 온 이유는 유학하려고 해요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"ㅈ", "ㅓ", "ㄴ", "ㅡ", "ㄴ", ＂ㅈ", ＂ㅜ", ＂ㅇ", ＂ㄱ", …</a:t>
            </a:r>
            <a:endParaRPr/>
          </a:p>
          <a:p>
            <a:pPr marL="7429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1935" y="4074511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New Dataset – Baseline Evaluation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497981"/>
            <a:ext cx="6031169" cy="247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1169" y="3497981"/>
            <a:ext cx="6115961" cy="2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389" y="1021976"/>
            <a:ext cx="9562645" cy="2173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4944082" y="6185098"/>
            <a:ext cx="23038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새 데이터셋이 더 어렵다</a:t>
            </a:r>
            <a:endParaRPr sz="14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grpSp>
        <p:nvGrpSpPr>
          <p:cNvPr id="249" name="Google Shape;249;p12"/>
          <p:cNvGrpSpPr/>
          <p:nvPr/>
        </p:nvGrpSpPr>
        <p:grpSpPr>
          <a:xfrm>
            <a:off x="579694" y="2460741"/>
            <a:ext cx="5516306" cy="1936518"/>
            <a:chOff x="566058" y="1920087"/>
            <a:chExt cx="11293735" cy="3569528"/>
          </a:xfrm>
        </p:grpSpPr>
        <p:grpSp>
          <p:nvGrpSpPr>
            <p:cNvPr id="250" name="Google Shape;250;p12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251" name="Google Shape;251;p12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12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3" name="Google Shape;253;p12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6" name="Google Shape;256;p12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257" name="Google Shape;257;p12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8" name="Google Shape;258;p12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59" name="Google Shape;259;p12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260" name="Google Shape;260;p12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1" name="Google Shape;261;p12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2" name="Google Shape;262;p12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263" name="Google Shape;263;p12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264" name="Google Shape;264;p12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5" name="Google Shape;265;p12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6" name="Google Shape;266;p12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67" name="Google Shape;267;p12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268" name="Google Shape;268;p12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269" name="Google Shape;269;p12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270" name="Google Shape;270;p12"/>
          <p:cNvSpPr txBox="1"/>
          <p:nvPr/>
        </p:nvSpPr>
        <p:spPr>
          <a:xfrm>
            <a:off x="2743708" y="4334831"/>
            <a:ext cx="80191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Remove at inference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5030783" y="3165997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030783" y="4072163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6679474" y="2257411"/>
            <a:ext cx="4781758" cy="341984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79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4590299" y="4529503"/>
            <a:ext cx="1180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@layer 6!!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On Training…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292" name="Google Shape;292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H3: Articulatory Feature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기존 H1/H2는 모두 "phoneme-level auxiliary CTC"를 전제로 한다.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하지만 learner speech 오류는 phoneme symbol 자체보다 더 낮은 수준의 articulatory contrast에서 반복되는 경우가 많다.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예를 들면: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일본어 화자는 laryngeal contrast에서 흔들릴 수 있다.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베트남어 화자는 종성 nasal의 place에서 흔들릴 수 있다.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중국어 화자는 모음 backness/rounding에서 흔들릴 수 있다.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따라서 H3의 직관은 다음과 같다.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phoneme symbol 하나를 한 번에 맞추라고 하기보다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encoder가 그 음소를 구성하는 articulatory dimension들을 따로 보게 만들면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learner speech variation을 더 잘 일반화할 수 있다.</a:t>
            </a:r>
            <a:endParaRPr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Hypothesis</a:t>
            </a:r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en-US" sz="1800"/>
              <a:t>Encoder의 Middle Layer만 사용하거나, 모두 사용하되 Middle Layer에 가중치를 더 준다면 성능이 향상될 것이다.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/>
              <a:t>Baseline A: </a:t>
            </a:r>
            <a:r>
              <a:rPr lang="en-US" sz="1400"/>
              <a:t>encoder-only LoRA</a:t>
            </a:r>
            <a:endParaRPr sz="1400"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b="1"/>
              <a:t>Baseline B: </a:t>
            </a:r>
            <a:r>
              <a:rPr lang="en-US" sz="1400"/>
              <a:t>encoder-only LoRA </a:t>
            </a:r>
            <a:r>
              <a:rPr lang="en-US" sz="1400" b="1"/>
              <a:t>+ final-layer phonetic CTC (현재 방식)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Char char="•"/>
            </a:pPr>
            <a:r>
              <a:rPr lang="en-US" sz="1400" b="1">
                <a:solidFill>
                  <a:srgbClr val="0070C0"/>
                </a:solidFill>
              </a:rPr>
              <a:t>Proposed C:</a:t>
            </a:r>
            <a:r>
              <a:rPr lang="en-US" sz="1400" b="1"/>
              <a:t> </a:t>
            </a:r>
            <a:r>
              <a:rPr lang="en-US" sz="1400"/>
              <a:t>encoder-only LoRA </a:t>
            </a:r>
            <a:r>
              <a:rPr lang="en-US" sz="1400" b="1">
                <a:solidFill>
                  <a:srgbClr val="0070C0"/>
                </a:solidFill>
              </a:rPr>
              <a:t>+ single intermediate-layer phonetic CTC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Char char="•"/>
            </a:pPr>
            <a:r>
              <a:rPr lang="en-US" sz="1400" b="1">
                <a:solidFill>
                  <a:srgbClr val="0070C0"/>
                </a:solidFill>
              </a:rPr>
              <a:t>Proposed D: </a:t>
            </a:r>
            <a:r>
              <a:rPr lang="en-US" sz="1400"/>
              <a:t>encoder-only LoRA </a:t>
            </a:r>
            <a:r>
              <a:rPr lang="en-US" sz="1400" b="1">
                <a:solidFill>
                  <a:srgbClr val="0070C0"/>
                </a:solidFill>
              </a:rPr>
              <a:t>+ multi-layer phonetic CTC (예: mid + final)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Play"/>
              <a:buAutoNum type="arabicPeriod"/>
            </a:pPr>
            <a:r>
              <a:rPr lang="en-US" sz="1600">
                <a:solidFill>
                  <a:srgbClr val="BFBFBF"/>
                </a:solidFill>
              </a:rPr>
              <a:t>Regularization이나 Smoothing과 같은 완화 기법을 적용하면 보다 안정적인 정렬을 형성하고 L2 발음 변이에 대한 강건성을 개선할 수 있다.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</a:pPr>
            <a:r>
              <a:rPr lang="en-US" sz="1400">
                <a:solidFill>
                  <a:srgbClr val="BFBFBF"/>
                </a:solidFill>
              </a:rPr>
              <a:t>Alignment Sharpness 정량화 (New Evaluation Metrics)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•"/>
            </a:pPr>
            <a:r>
              <a:rPr lang="en-US" sz="1400">
                <a:solidFill>
                  <a:srgbClr val="BFBFBF"/>
                </a:solidFill>
              </a:rPr>
              <a:t>Entropy Regularization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Play"/>
              <a:buAutoNum type="arabicPeriod"/>
            </a:pPr>
            <a:r>
              <a:rPr lang="en-US" sz="1600">
                <a:solidFill>
                  <a:srgbClr val="BFBFBF"/>
                </a:solidFill>
              </a:rPr>
              <a:t>Articulatory Feature에 따른 N개의 Head를 훈련하면 성능이 향상될 것이다.</a:t>
            </a:r>
            <a:endParaRPr/>
          </a:p>
          <a:p>
            <a:pPr marL="742950" lvl="1" indent="-196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solidFill>
                <a:srgbClr val="BFBFBF"/>
              </a:solidFill>
            </a:endParaRP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graphicFrame>
        <p:nvGraphicFramePr>
          <p:cNvPr id="305" name="Google Shape;305;p17"/>
          <p:cNvGraphicFramePr/>
          <p:nvPr/>
        </p:nvGraphicFramePr>
        <p:xfrm>
          <a:off x="916155" y="4319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36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phoneme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place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manner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laryngeal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ㅂ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ㅃ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ㅍ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ㅁ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bilabial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ㄷ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ㄸ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ㅌ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ㄴ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ㅅ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ㅆ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ㅈ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ㅉ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ㅊ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affricate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ㄹ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alveolar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liquid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ㄱ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lax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ㄲ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tense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ㅋ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velar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stop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ㅇ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nasal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voiced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90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ㅎ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glottal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fricative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aspirated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306" name="Google Shape;306;p17"/>
          <p:cNvGraphicFramePr/>
          <p:nvPr/>
        </p:nvGraphicFramePr>
        <p:xfrm>
          <a:off x="2476925" y="43199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{4E719660-2E74-4A61-AF9B-304DE7005CE8}</a:tableStyleId>
              </a:tblPr>
              <a:tblGrid>
                <a:gridCol w="3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vowel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height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backness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rounding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ㅣ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ㅔ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ㅐ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low-mid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ㅏ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front-central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ㅡ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ㅓ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back-central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ㅗ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ㅜ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back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00"/>
                        <a:buFont typeface="Arial"/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rounded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07" name="Google Shape;307;p17"/>
          <p:cNvGrpSpPr/>
          <p:nvPr/>
        </p:nvGrpSpPr>
        <p:grpSpPr>
          <a:xfrm>
            <a:off x="4400292" y="4319927"/>
            <a:ext cx="5516306" cy="1936518"/>
            <a:chOff x="566058" y="1920087"/>
            <a:chExt cx="11293735" cy="3569528"/>
          </a:xfrm>
        </p:grpSpPr>
        <p:grpSp>
          <p:nvGrpSpPr>
            <p:cNvPr id="308" name="Google Shape;308;p17"/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309" name="Google Shape;309;p17" descr="OpenAI's Most Recent Model: Whisper (explained)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0" name="Google Shape;310;p17"/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1" name="Google Shape;311;p17"/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2" name="Google Shape;312;p17"/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3" name="Google Shape;313;p17"/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>
                  <a:gd name="adj" fmla="val 16667"/>
                </a:avLst>
              </a:prstGeom>
              <a:solidFill>
                <a:srgbClr val="BE0E00">
                  <a:alpha val="30980"/>
                </a:srgbClr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lora</a:t>
                </a:r>
                <a:endParaRPr/>
              </a:p>
            </p:txBody>
          </p:sp>
          <p:sp>
            <p:nvSpPr>
              <p:cNvPr id="315" name="Google Shape;315;p17"/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6" name="Google Shape;316;p17"/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7" name="Google Shape;317;p17"/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🔥</a:t>
                </a:r>
                <a:endParaRPr/>
              </a:p>
            </p:txBody>
          </p:sp>
          <p:sp>
            <p:nvSpPr>
              <p:cNvPr id="318" name="Google Shape;318;p17"/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19" name="Google Shape;319;p17"/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20" name="Google Shape;320;p17"/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sp>
            <p:nvSpPr>
              <p:cNvPr id="321" name="Google Shape;321;p17"/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❄️</a:t>
                </a:r>
                <a:endParaRPr/>
              </a:p>
            </p:txBody>
          </p:sp>
          <p:pic>
            <p:nvPicPr>
              <p:cNvPr id="322" name="Google Shape;322;p17"/>
              <p:cNvPicPr preferRelativeResize="0"/>
              <p:nvPr/>
            </p:nvPicPr>
            <p:blipFill rotWithShape="1">
              <a:blip r:embed="rId4">
                <a:alphaModFix/>
              </a:blip>
              <a:srcRect t="9879"/>
              <a:stretch/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23" name="Google Shape;323;p17"/>
              <p:cNvCxnSpPr/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1042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24" name="Google Shape;324;p17"/>
              <p:cNvCxnSpPr/>
              <p:nvPr/>
            </p:nvCxnSpPr>
            <p:spPr>
              <a:xfrm>
                <a:off x="3693978" y="3943698"/>
                <a:ext cx="0" cy="2183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325" name="Google Shape;325;p17"/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Ground Truth G2P/IPA</a:t>
              </a:r>
              <a:endParaRPr/>
            </a:p>
          </p:txBody>
        </p:sp>
        <p:cxnSp>
          <p:nvCxnSpPr>
            <p:cNvPr id="326" name="Google Shape;326;p17"/>
            <p:cNvCxnSpPr/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327" name="Google Shape;327;p17"/>
            <p:cNvSpPr txBox="1"/>
            <p:nvPr/>
          </p:nvSpPr>
          <p:spPr>
            <a:xfrm>
              <a:off x="10762609" y="2867245"/>
              <a:ext cx="717815" cy="3403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328" name="Google Shape;328;p17"/>
          <p:cNvSpPr/>
          <p:nvPr/>
        </p:nvSpPr>
        <p:spPr>
          <a:xfrm>
            <a:off x="8851381" y="5025183"/>
            <a:ext cx="381421" cy="94312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8851381" y="5931349"/>
            <a:ext cx="410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x6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8851381" y="6178628"/>
            <a:ext cx="5341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775063" y="4145280"/>
            <a:ext cx="9141535" cy="228164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body" idx="1"/>
          </p:nvPr>
        </p:nvSpPr>
        <p:spPr>
          <a:xfrm>
            <a:off x="365126" y="6035040"/>
            <a:ext cx="11416878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초/중반 레이어들에서의 Jamo-CER 개선이 뒤쪽보다 낫다?</a:t>
            </a:r>
            <a:endParaRPr sz="1800"/>
          </a:p>
        </p:txBody>
      </p:sp>
      <p:pic>
        <p:nvPicPr>
          <p:cNvPr id="338" name="Google Shape;3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5927" y="3646027"/>
            <a:ext cx="9581341" cy="2235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126" y="1059136"/>
            <a:ext cx="11218816" cy="254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* Additional Evaluation Methods</a:t>
            </a:r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어려운 샘플을 고쳤는가</a:t>
            </a: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원래 맞던 샘플까지 괜히 건드렸는가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Macintosh PowerPoint</Application>
  <PresentationFormat>Widescreen</PresentationFormat>
  <Paragraphs>416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Play</vt:lpstr>
      <vt:lpstr>Office Theme</vt:lpstr>
      <vt:lpstr>Phonetic-Aware Encoder Tuning: Boosting Robustness against L2 Pronunciation Variations via CTC Supervision</vt:lpstr>
      <vt:lpstr>1. Problem Statement</vt:lpstr>
      <vt:lpstr>3. Background and Related Works</vt:lpstr>
      <vt:lpstr>-&gt; Timeline</vt:lpstr>
      <vt:lpstr>H1: Layers</vt:lpstr>
      <vt:lpstr>H1: Layers</vt:lpstr>
      <vt:lpstr>H3: Articulatory Feature</vt:lpstr>
      <vt:lpstr>H3: Articulatory Feature</vt:lpstr>
      <vt:lpstr>New Dataset Preprocessing</vt:lpstr>
      <vt:lpstr>New Dataset Preprocessing</vt:lpstr>
      <vt:lpstr>New Dataset – Baseline Evaluation</vt:lpstr>
      <vt:lpstr>H3: Articulatory Feature</vt:lpstr>
      <vt:lpstr>H3: Articulatory Feature</vt:lpstr>
      <vt:lpstr>Q&amp;A</vt:lpstr>
      <vt:lpstr>Appendix</vt:lpstr>
      <vt:lpstr>H3: Articulatory Feature</vt:lpstr>
      <vt:lpstr>Hypothesis</vt:lpstr>
      <vt:lpstr>Results</vt:lpstr>
      <vt:lpstr>* Additional Evaluation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정하연</dc:creator>
  <cp:lastModifiedBy>정하연</cp:lastModifiedBy>
  <cp:revision>1</cp:revision>
  <dcterms:created xsi:type="dcterms:W3CDTF">2025-07-25T04:06:09Z</dcterms:created>
  <dcterms:modified xsi:type="dcterms:W3CDTF">2026-04-10T06:11:40Z</dcterms:modified>
</cp:coreProperties>
</file>