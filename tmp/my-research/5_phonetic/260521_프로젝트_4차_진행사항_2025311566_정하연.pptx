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81" r:id="rId2"/>
    <p:sldId id="291" r:id="rId3"/>
    <p:sldId id="278" r:id="rId4"/>
    <p:sldId id="279" r:id="rId5"/>
    <p:sldId id="280" r:id="rId6"/>
    <p:sldId id="283" r:id="rId7"/>
    <p:sldId id="284" r:id="rId8"/>
    <p:sldId id="285" r:id="rId9"/>
    <p:sldId id="289" r:id="rId10"/>
    <p:sldId id="288" r:id="rId11"/>
    <p:sldId id="287" r:id="rId12"/>
    <p:sldId id="292" r:id="rId13"/>
    <p:sldId id="293" r:id="rId14"/>
    <p:sldId id="294" r:id="rId15"/>
    <p:sldId id="295" r:id="rId16"/>
    <p:sldId id="296" r:id="rId17"/>
    <p:sldId id="290" r:id="rId18"/>
  </p:sldIdLst>
  <p:sldSz cx="12192000" cy="6858000"/>
  <p:notesSz cx="6858000" cy="9144000"/>
  <p:embeddedFontLst>
    <p:embeddedFont>
      <p:font typeface="Cambria Math" panose="02040503050406030204" pitchFamily="18" charset="0"/>
      <p:regular r:id="rId20"/>
    </p:embeddedFont>
    <p:embeddedFont>
      <p:font typeface="Play" pitchFamily="2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6" roundtripDataSignature="AMtx7mhc1zGZSCxaLq/a31CWAST+8V5f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657E"/>
    <a:srgbClr val="98B3C2"/>
    <a:srgbClr val="82AD5B"/>
    <a:srgbClr val="88A1AD"/>
    <a:srgbClr val="C3E0A5"/>
    <a:srgbClr val="F4ADAD"/>
    <a:srgbClr val="BE989B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E719660-2E74-4A61-AF9B-304DE7005CE8}">
  <a:tblStyle styleId="{4E719660-2E74-4A61-AF9B-304DE7005CE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986DE05-51DD-4686-8079-D606EDF6B2B9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84"/>
    <p:restoredTop sz="92497"/>
  </p:normalViewPr>
  <p:slideViewPr>
    <p:cSldViewPr snapToGrid="0">
      <p:cViewPr varScale="1">
        <p:scale>
          <a:sx n="112" d="100"/>
          <a:sy n="112" d="100"/>
        </p:scale>
        <p:origin x="208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46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4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F758309F-93BC-BBF3-B435-328E17D52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>
            <a:extLst>
              <a:ext uri="{FF2B5EF4-FFF2-40B4-BE49-F238E27FC236}">
                <a16:creationId xmlns:a16="http://schemas.microsoft.com/office/drawing/2014/main" id="{814AC628-9CF5-E1B1-7D45-D613F97602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1:notes">
            <a:extLst>
              <a:ext uri="{FF2B5EF4-FFF2-40B4-BE49-F238E27FC236}">
                <a16:creationId xmlns:a16="http://schemas.microsoft.com/office/drawing/2014/main" id="{E570DE21-13EC-B557-FE6F-730C27F746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69447DBE-203C-C8A2-E2B8-6CB6BD06033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44634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모음</a:t>
            </a:r>
            <a:r>
              <a:rPr lang="en-US" dirty="0"/>
              <a:t> '</a:t>
            </a:r>
            <a:r>
              <a:rPr lang="en-US" dirty="0" err="1"/>
              <a:t>ㅟ</a:t>
            </a:r>
            <a:r>
              <a:rPr lang="en-US" dirty="0"/>
              <a:t>, </a:t>
            </a:r>
            <a:r>
              <a:rPr lang="en-US" dirty="0" err="1"/>
              <a:t>ㅚ'는</a:t>
            </a:r>
            <a:r>
              <a:rPr lang="en-US" dirty="0"/>
              <a:t> </a:t>
            </a:r>
            <a:r>
              <a:rPr lang="en-US" dirty="0" err="1"/>
              <a:t>현대인들의</a:t>
            </a:r>
            <a:r>
              <a:rPr lang="en-US" dirty="0"/>
              <a:t> </a:t>
            </a:r>
            <a:r>
              <a:rPr lang="en-US" dirty="0" err="1"/>
              <a:t>발음</a:t>
            </a:r>
            <a:r>
              <a:rPr lang="en-US" dirty="0"/>
              <a:t> </a:t>
            </a:r>
            <a:r>
              <a:rPr lang="en-US" dirty="0" err="1"/>
              <a:t>붕괴</a:t>
            </a:r>
            <a:r>
              <a:rPr lang="en-US" dirty="0"/>
              <a:t>(</a:t>
            </a:r>
            <a:r>
              <a:rPr lang="en-US" dirty="0" err="1"/>
              <a:t>이중모음화</a:t>
            </a:r>
            <a:r>
              <a:rPr lang="en-US" dirty="0"/>
              <a:t>) </a:t>
            </a:r>
            <a:r>
              <a:rPr lang="en-US" dirty="0" err="1"/>
              <a:t>때문에</a:t>
            </a:r>
            <a:r>
              <a:rPr lang="en-US" dirty="0"/>
              <a:t> </a:t>
            </a:r>
            <a:r>
              <a:rPr lang="en-US" dirty="0" err="1"/>
              <a:t>전산상에서</a:t>
            </a:r>
            <a:r>
              <a:rPr lang="en-US" dirty="0"/>
              <a:t> 8개로 </a:t>
            </a:r>
            <a:r>
              <a:rPr lang="en-US" dirty="0" err="1"/>
              <a:t>합치는</a:t>
            </a:r>
            <a:r>
              <a:rPr lang="en-US" dirty="0"/>
              <a:t> </a:t>
            </a:r>
            <a:r>
              <a:rPr lang="en-US" dirty="0" err="1"/>
              <a:t>것이</a:t>
            </a:r>
            <a:r>
              <a:rPr lang="en-US" dirty="0"/>
              <a:t> </a:t>
            </a:r>
            <a:r>
              <a:rPr lang="en-US" dirty="0" err="1"/>
              <a:t>이득이지만</a:t>
            </a:r>
            <a:r>
              <a:rPr lang="en-US" dirty="0"/>
              <a:t>, </a:t>
            </a:r>
            <a:r>
              <a:rPr lang="en-US" b="1" dirty="0" err="1"/>
              <a:t>자음은</a:t>
            </a:r>
            <a:r>
              <a:rPr lang="en-US" b="1" dirty="0"/>
              <a:t> </a:t>
            </a:r>
            <a:r>
              <a:rPr lang="en-US" b="1" dirty="0" err="1"/>
              <a:t>물리적</a:t>
            </a:r>
            <a:r>
              <a:rPr lang="en-US" b="1" dirty="0"/>
              <a:t> </a:t>
            </a:r>
            <a:r>
              <a:rPr lang="en-US" b="1" dirty="0" err="1"/>
              <a:t>파형과</a:t>
            </a:r>
            <a:r>
              <a:rPr lang="en-US" b="1" dirty="0"/>
              <a:t> </a:t>
            </a:r>
            <a:r>
              <a:rPr lang="en-US" b="1" dirty="0" err="1"/>
              <a:t>조음</a:t>
            </a:r>
            <a:r>
              <a:rPr lang="en-US" b="1" dirty="0"/>
              <a:t> </a:t>
            </a:r>
            <a:r>
              <a:rPr lang="en-US" b="1" dirty="0" err="1"/>
              <a:t>위치가</a:t>
            </a:r>
            <a:r>
              <a:rPr lang="en-US" b="1" dirty="0"/>
              <a:t> </a:t>
            </a:r>
            <a:r>
              <a:rPr lang="en-US" b="1" dirty="0" err="1"/>
              <a:t>아주</a:t>
            </a:r>
            <a:r>
              <a:rPr lang="en-US" b="1" dirty="0"/>
              <a:t> </a:t>
            </a:r>
            <a:r>
              <a:rPr lang="en-US" b="1" dirty="0" err="1"/>
              <a:t>뚜렷하므로</a:t>
            </a:r>
            <a:r>
              <a:rPr lang="en-US" b="1" dirty="0"/>
              <a:t> </a:t>
            </a:r>
            <a:r>
              <a:rPr lang="en-US" b="1" dirty="0" err="1"/>
              <a:t>지금</a:t>
            </a:r>
            <a:r>
              <a:rPr lang="en-US" b="1" dirty="0"/>
              <a:t> </a:t>
            </a:r>
            <a:r>
              <a:rPr lang="en-US" b="1" dirty="0" err="1"/>
              <a:t>만드신</a:t>
            </a:r>
            <a:r>
              <a:rPr lang="en-US" b="1" dirty="0"/>
              <a:t> </a:t>
            </a:r>
            <a:r>
              <a:rPr lang="en-US" b="1" dirty="0" err="1"/>
              <a:t>표처럼</a:t>
            </a:r>
            <a:r>
              <a:rPr lang="en-US" b="1" dirty="0"/>
              <a:t> </a:t>
            </a:r>
            <a:r>
              <a:rPr lang="en-US" b="1" dirty="0" err="1"/>
              <a:t>디테일하게</a:t>
            </a:r>
            <a:r>
              <a:rPr lang="en-US" b="1" dirty="0"/>
              <a:t> </a:t>
            </a:r>
            <a:r>
              <a:rPr lang="en-US" b="1" dirty="0" err="1"/>
              <a:t>나누는</a:t>
            </a:r>
            <a:r>
              <a:rPr lang="en-US" b="1" dirty="0"/>
              <a:t> </a:t>
            </a:r>
            <a:r>
              <a:rPr lang="en-US" b="1" dirty="0" err="1"/>
              <a:t>것이</a:t>
            </a:r>
            <a:r>
              <a:rPr lang="en-US" b="1" dirty="0"/>
              <a:t> </a:t>
            </a:r>
            <a:r>
              <a:rPr lang="en-US" b="1" dirty="0" err="1"/>
              <a:t>무조건</a:t>
            </a:r>
            <a:r>
              <a:rPr lang="en-US" b="1" dirty="0"/>
              <a:t> </a:t>
            </a:r>
            <a:r>
              <a:rPr lang="en-US" b="1" dirty="0" err="1"/>
              <a:t>맞습니다</a:t>
            </a:r>
            <a:r>
              <a:rPr lang="en-US" altLang="ko-KR" b="1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94563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i="1" dirty="0">
                <a:solidFill>
                  <a:schemeClr val="bg1">
                    <a:lumMod val="50000"/>
                  </a:schemeClr>
                </a:solidFill>
              </a:rPr>
              <a:t>Chen &amp; Alwan (2000), 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place-of-articulation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cue는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자음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자체만이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아니라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following vowel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context와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manner에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따라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달라질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수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있음을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보여줌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sz="1200" b="0" i="0" u="none" strike="noStrike" cap="none" dirty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i="1" dirty="0">
                <a:solidFill>
                  <a:schemeClr val="bg1">
                    <a:lumMod val="50000"/>
                  </a:schemeClr>
                </a:solidFill>
              </a:rPr>
              <a:t>Pasad et al. (2023), 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acoustic/phonetic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property는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speech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model의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lower/intermediate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layer에서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더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잘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드러날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수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있다는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일반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근거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58835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1"/>
          <p:cNvSpPr/>
          <p:nvPr/>
        </p:nvSpPr>
        <p:spPr>
          <a:xfrm>
            <a:off x="120072" y="6522511"/>
            <a:ext cx="1100695" cy="24220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KR"/>
          </a:p>
        </p:txBody>
      </p:sp>
      <p:sp>
        <p:nvSpPr>
          <p:cNvPr id="18" name="Google Shape;18;p21"/>
          <p:cNvSpPr txBox="1">
            <a:spLocks noGrp="1"/>
          </p:cNvSpPr>
          <p:nvPr>
            <p:ph type="ctrTitle"/>
          </p:nvPr>
        </p:nvSpPr>
        <p:spPr>
          <a:xfrm>
            <a:off x="1524000" y="1340848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subTitle" idx="1"/>
          </p:nvPr>
        </p:nvSpPr>
        <p:spPr>
          <a:xfrm>
            <a:off x="1524000" y="3728448"/>
            <a:ext cx="9144000" cy="156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body" idx="1"/>
          </p:nvPr>
        </p:nvSpPr>
        <p:spPr>
          <a:xfrm>
            <a:off x="365126" y="1137958"/>
            <a:ext cx="11416878" cy="5354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3" name="Google Shape;33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0" name="Google Shape;40;p2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9" name="Google Shape;4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8" name="Google Shape;58;p2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2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5" name="Google Shape;65;p2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2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2" name="Google Shape;72;p3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8" name="Google Shape;78;p3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/>
          <p:nvPr/>
        </p:nvSpPr>
        <p:spPr>
          <a:xfrm>
            <a:off x="9328728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0"/>
          <p:cNvSpPr/>
          <p:nvPr/>
        </p:nvSpPr>
        <p:spPr>
          <a:xfrm>
            <a:off x="120072" y="6522511"/>
            <a:ext cx="1100695" cy="24220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K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5.png"/><Relationship Id="rId7" Type="http://schemas.openxmlformats.org/officeDocument/2006/relationships/image" Target="../media/image2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5.png"/><Relationship Id="rId7" Type="http://schemas.openxmlformats.org/officeDocument/2006/relationships/image" Target="../media/image3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5.png"/><Relationship Id="rId7" Type="http://schemas.openxmlformats.org/officeDocument/2006/relationships/image" Target="../media/image4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EE6EFFAA-67AE-3B6D-3038-3AC0D584E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">
            <a:extLst>
              <a:ext uri="{FF2B5EF4-FFF2-40B4-BE49-F238E27FC236}">
                <a16:creationId xmlns:a16="http://schemas.microsoft.com/office/drawing/2014/main" id="{A360CFF0-F976-DD75-06A2-5759FF13DB1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83931" y="1340848"/>
            <a:ext cx="11824138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b="1"/>
              <a:t>Phonetic-Aware Encoder Tuning:</a:t>
            </a:r>
            <a:br>
              <a:rPr lang="en-US" sz="2200" b="1"/>
            </a:br>
            <a:r>
              <a:rPr lang="en-US" sz="2200" b="1"/>
              <a:t>Boosting Robustness against L2 Pronunciation Variations via CTC Supervision</a:t>
            </a:r>
            <a:endParaRPr sz="2200" b="1"/>
          </a:p>
        </p:txBody>
      </p:sp>
      <p:sp>
        <p:nvSpPr>
          <p:cNvPr id="88" name="Google Shape;88;p1">
            <a:extLst>
              <a:ext uri="{FF2B5EF4-FFF2-40B4-BE49-F238E27FC236}">
                <a16:creationId xmlns:a16="http://schemas.microsoft.com/office/drawing/2014/main" id="{7F5E1307-9CDF-8734-B570-6F02E5C8814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0" y="3728448"/>
            <a:ext cx="9144000" cy="156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None/>
            </a:pPr>
            <a:r>
              <a:rPr lang="en-US" dirty="0">
                <a:solidFill>
                  <a:srgbClr val="BFBFBF"/>
                </a:solidFill>
              </a:rPr>
              <a:t>Project Update 4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dirty="0"/>
              <a:t>2026.05.21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dirty="0"/>
              <a:t>Hayeon Jeong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0903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6C391-13CF-8530-11B7-E2DE9504A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pic>
        <p:nvPicPr>
          <p:cNvPr id="4" name="Google Shape;94;p2" descr="OpenAI rolls out Advanced Voice Mode with more voices and a new look |  TechCrunch">
            <a:extLst>
              <a:ext uri="{FF2B5EF4-FFF2-40B4-BE49-F238E27FC236}">
                <a16:creationId xmlns:a16="http://schemas.microsoft.com/office/drawing/2014/main" id="{471A227F-796A-C9E8-25B5-76BA8423B40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31915" t="4965" r="31649"/>
          <a:stretch/>
        </p:blipFill>
        <p:spPr>
          <a:xfrm>
            <a:off x="3280476" y="4785662"/>
            <a:ext cx="982313" cy="1465587"/>
          </a:xfrm>
          <a:prstGeom prst="roundRect">
            <a:avLst>
              <a:gd name="adj" fmla="val 14843"/>
            </a:avLst>
          </a:prstGeom>
          <a:noFill/>
          <a:ln>
            <a:noFill/>
          </a:ln>
        </p:spPr>
      </p:pic>
      <p:sp>
        <p:nvSpPr>
          <p:cNvPr id="5" name="Google Shape;95;p2">
            <a:extLst>
              <a:ext uri="{FF2B5EF4-FFF2-40B4-BE49-F238E27FC236}">
                <a16:creationId xmlns:a16="http://schemas.microsoft.com/office/drawing/2014/main" id="{4CB80FFD-BDFF-371D-ADBB-04EF18F57FBE}"/>
              </a:ext>
            </a:extLst>
          </p:cNvPr>
          <p:cNvSpPr/>
          <p:nvPr/>
        </p:nvSpPr>
        <p:spPr>
          <a:xfrm>
            <a:off x="755657" y="1937712"/>
            <a:ext cx="3109125" cy="1066800"/>
          </a:xfrm>
          <a:prstGeom prst="wedgeRoundRectCallout">
            <a:avLst>
              <a:gd name="adj1" fmla="val -54446"/>
              <a:gd name="adj2" fmla="val 37635"/>
              <a:gd name="adj3" fmla="val 16667"/>
            </a:avLst>
          </a:prstGeom>
          <a:solidFill>
            <a:srgbClr val="D3FF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한국인들만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알아볼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수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있게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작성하겠습니다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역에선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30초</a:t>
            </a:r>
            <a:r>
              <a:rPr lang="en-US" sz="1100" b="1" i="0" u="none" strike="noStrike" cap="none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도 </a:t>
            </a:r>
            <a:r>
              <a:rPr lang="en-US" sz="1100" b="1" i="0" u="none" strike="noStrike" cap="none" dirty="0" err="1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안</a:t>
            </a:r>
            <a:r>
              <a:rPr lang="en-US" sz="1100" b="1" i="0" u="none" strike="noStrike" cap="none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걸릴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만큼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가깝지만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숙소가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많이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낙후되어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1" i="0" u="none" strike="noStrike" cap="none" dirty="0" err="1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있고</a:t>
            </a:r>
            <a:r>
              <a:rPr lang="en-US" sz="1100" b="1" i="0" u="none" strike="noStrike" cap="none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1" i="0" u="none" strike="noStrike" cap="none" dirty="0" err="1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엘베</a:t>
            </a:r>
            <a:r>
              <a:rPr lang="en-US" sz="1100" b="1" i="0" u="none" strike="noStrike" cap="none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1" i="0" u="none" strike="noStrike" cap="none" dirty="0" err="1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없고</a:t>
            </a:r>
            <a:r>
              <a:rPr lang="en-US" sz="1100" b="1" i="0" u="none" strike="noStrike" cap="none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4층이라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집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많으면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고생합니다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100" b="1" i="0" u="none" strike="noStrike" cap="none" dirty="0" err="1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바퀴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벌레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나왔고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화장실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많이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낡았습니다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절대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1" i="0" u="none" strike="noStrike" cap="none" dirty="0" err="1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여기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로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오지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마세요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96;p2">
            <a:extLst>
              <a:ext uri="{FF2B5EF4-FFF2-40B4-BE49-F238E27FC236}">
                <a16:creationId xmlns:a16="http://schemas.microsoft.com/office/drawing/2014/main" id="{C0647B0F-E6EF-3D03-5B2F-AE6588340DD2}"/>
              </a:ext>
            </a:extLst>
          </p:cNvPr>
          <p:cNvSpPr/>
          <p:nvPr/>
        </p:nvSpPr>
        <p:spPr>
          <a:xfrm>
            <a:off x="1441854" y="3266122"/>
            <a:ext cx="3109125" cy="1066800"/>
          </a:xfrm>
          <a:prstGeom prst="wedgeRoundRectCallout">
            <a:avLst>
              <a:gd name="adj1" fmla="val 23369"/>
              <a:gd name="adj2" fmla="val 84097"/>
              <a:gd name="adj3" fmla="val 16667"/>
            </a:avLst>
          </a:prstGeom>
          <a:solidFill>
            <a:srgbClr val="FFE8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한국인들만 알아볼 수 있게 작성하겠습니다. 역에선 30초 </a:t>
            </a:r>
            <a:r>
              <a:rPr lang="en-US" sz="11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또한</a:t>
            </a: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걸릴 만큼 가깝지만 숙소가 많이 낙후되어 </a:t>
            </a:r>
            <a:r>
              <a:rPr lang="en-US" sz="11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입구에 배 없고 </a:t>
            </a: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4층이라 집 많으면 고생합니다. </a:t>
            </a:r>
            <a:r>
              <a:rPr lang="en-US" sz="11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밖에</a:t>
            </a: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벌레 나왔고 화장실 많이 낡았습니다. 절대 </a:t>
            </a:r>
            <a:r>
              <a:rPr lang="en-US" sz="11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역기</a:t>
            </a: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로 오지 마세요.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97;p2">
            <a:extLst>
              <a:ext uri="{FF2B5EF4-FFF2-40B4-BE49-F238E27FC236}">
                <a16:creationId xmlns:a16="http://schemas.microsoft.com/office/drawing/2014/main" id="{F2985EE1-0862-9B2B-FDEB-338B3C5E93E9}"/>
              </a:ext>
            </a:extLst>
          </p:cNvPr>
          <p:cNvSpPr txBox="1"/>
          <p:nvPr/>
        </p:nvSpPr>
        <p:spPr>
          <a:xfrm>
            <a:off x="1318583" y="4357063"/>
            <a:ext cx="219219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*Result of Whisper by OpenAI</a:t>
            </a:r>
            <a:endParaRPr sz="1100" i="1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0;p2">
            <a:extLst>
              <a:ext uri="{FF2B5EF4-FFF2-40B4-BE49-F238E27FC236}">
                <a16:creationId xmlns:a16="http://schemas.microsoft.com/office/drawing/2014/main" id="{75F3819F-90C9-E607-518E-1B4555D548D7}"/>
              </a:ext>
            </a:extLst>
          </p:cNvPr>
          <p:cNvSpPr txBox="1"/>
          <p:nvPr/>
        </p:nvSpPr>
        <p:spPr>
          <a:xfrm>
            <a:off x="365126" y="1357227"/>
            <a:ext cx="541594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“Automatic Speech Recognition (ASR)”</a:t>
            </a:r>
            <a:endParaRPr sz="18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5009130-DCA1-749A-6B24-614808472645}"/>
              </a:ext>
            </a:extLst>
          </p:cNvPr>
          <p:cNvGrpSpPr/>
          <p:nvPr/>
        </p:nvGrpSpPr>
        <p:grpSpPr>
          <a:xfrm>
            <a:off x="5444359" y="1737676"/>
            <a:ext cx="6201103" cy="3575375"/>
            <a:chOff x="2530253" y="1355302"/>
            <a:chExt cx="6913743" cy="4001634"/>
          </a:xfrm>
        </p:grpSpPr>
        <p:pic>
          <p:nvPicPr>
            <p:cNvPr id="11" name="Google Shape;107;p3" descr="OpenAI's Most Recent Model: Whisper (explained)">
              <a:extLst>
                <a:ext uri="{FF2B5EF4-FFF2-40B4-BE49-F238E27FC236}">
                  <a16:creationId xmlns:a16="http://schemas.microsoft.com/office/drawing/2014/main" id="{92DE2073-F013-B236-0F07-ABF4DF26F9D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801722" y="1942242"/>
              <a:ext cx="4170401" cy="34146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09;p3" descr="Smiling face outline with solid fill">
              <a:extLst>
                <a:ext uri="{FF2B5EF4-FFF2-40B4-BE49-F238E27FC236}">
                  <a16:creationId xmlns:a16="http://schemas.microsoft.com/office/drawing/2014/main" id="{5BB5BCB0-1943-1698-86F7-8FC465EBE16B}"/>
                </a:ext>
              </a:extLst>
            </p:cNvPr>
            <p:cNvSpPr/>
            <p:nvPr/>
          </p:nvSpPr>
          <p:spPr>
            <a:xfrm>
              <a:off x="2650808" y="4716969"/>
              <a:ext cx="562912" cy="562912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/>
            <a:p>
              <a:endParaRPr lang="en-KR" sz="1050"/>
            </a:p>
          </p:txBody>
        </p:sp>
        <p:sp>
          <p:nvSpPr>
            <p:cNvPr id="13" name="Google Shape;110;p3" descr="Voice with solid fill">
              <a:extLst>
                <a:ext uri="{FF2B5EF4-FFF2-40B4-BE49-F238E27FC236}">
                  <a16:creationId xmlns:a16="http://schemas.microsoft.com/office/drawing/2014/main" id="{97B49FAF-D491-DF1A-5967-0E28912924D2}"/>
                </a:ext>
              </a:extLst>
            </p:cNvPr>
            <p:cNvSpPr/>
            <p:nvPr/>
          </p:nvSpPr>
          <p:spPr>
            <a:xfrm>
              <a:off x="3213720" y="4716969"/>
              <a:ext cx="562912" cy="562912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/>
            <a:p>
              <a:endParaRPr lang="en-KR" sz="1050"/>
            </a:p>
          </p:txBody>
        </p:sp>
        <p:sp>
          <p:nvSpPr>
            <p:cNvPr id="14" name="Google Shape;111;p3">
              <a:extLst>
                <a:ext uri="{FF2B5EF4-FFF2-40B4-BE49-F238E27FC236}">
                  <a16:creationId xmlns:a16="http://schemas.microsoft.com/office/drawing/2014/main" id="{7A442F50-F046-DED8-68DA-398756D14B18}"/>
                </a:ext>
              </a:extLst>
            </p:cNvPr>
            <p:cNvSpPr/>
            <p:nvPr/>
          </p:nvSpPr>
          <p:spPr>
            <a:xfrm>
              <a:off x="3876085" y="2298138"/>
              <a:ext cx="1642683" cy="289213"/>
            </a:xfrm>
            <a:prstGeom prst="rect">
              <a:avLst/>
            </a:prstGeom>
            <a:noFill/>
            <a:ln w="38100" cap="flat" cmpd="sng">
              <a:solidFill>
                <a:srgbClr val="C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12;p3">
              <a:extLst>
                <a:ext uri="{FF2B5EF4-FFF2-40B4-BE49-F238E27FC236}">
                  <a16:creationId xmlns:a16="http://schemas.microsoft.com/office/drawing/2014/main" id="{964B531D-DBEB-3711-9A3D-70B991CBC2BD}"/>
                </a:ext>
              </a:extLst>
            </p:cNvPr>
            <p:cNvSpPr/>
            <p:nvPr/>
          </p:nvSpPr>
          <p:spPr>
            <a:xfrm>
              <a:off x="3876085" y="2635452"/>
              <a:ext cx="1642683" cy="289213"/>
            </a:xfrm>
            <a:prstGeom prst="rect">
              <a:avLst/>
            </a:prstGeom>
            <a:noFill/>
            <a:ln w="38100" cap="flat" cmpd="sng">
              <a:solidFill>
                <a:srgbClr val="C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13;p3">
              <a:extLst>
                <a:ext uri="{FF2B5EF4-FFF2-40B4-BE49-F238E27FC236}">
                  <a16:creationId xmlns:a16="http://schemas.microsoft.com/office/drawing/2014/main" id="{2BD30A75-6307-44AA-B28F-3238137C6F59}"/>
                </a:ext>
              </a:extLst>
            </p:cNvPr>
            <p:cNvSpPr/>
            <p:nvPr/>
          </p:nvSpPr>
          <p:spPr>
            <a:xfrm>
              <a:off x="3876085" y="3218704"/>
              <a:ext cx="1642683" cy="289213"/>
            </a:xfrm>
            <a:prstGeom prst="rect">
              <a:avLst/>
            </a:prstGeom>
            <a:noFill/>
            <a:ln w="38100" cap="flat" cmpd="sng">
              <a:solidFill>
                <a:srgbClr val="C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14;p3">
              <a:extLst>
                <a:ext uri="{FF2B5EF4-FFF2-40B4-BE49-F238E27FC236}">
                  <a16:creationId xmlns:a16="http://schemas.microsoft.com/office/drawing/2014/main" id="{E9500C2C-8A03-517E-101E-634B44B1B7BE}"/>
                </a:ext>
              </a:extLst>
            </p:cNvPr>
            <p:cNvSpPr/>
            <p:nvPr/>
          </p:nvSpPr>
          <p:spPr>
            <a:xfrm>
              <a:off x="3876085" y="3556018"/>
              <a:ext cx="1642683" cy="289213"/>
            </a:xfrm>
            <a:prstGeom prst="rect">
              <a:avLst/>
            </a:prstGeom>
            <a:noFill/>
            <a:ln w="38100" cap="flat" cmpd="sng">
              <a:solidFill>
                <a:srgbClr val="C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15;p3">
              <a:extLst>
                <a:ext uri="{FF2B5EF4-FFF2-40B4-BE49-F238E27FC236}">
                  <a16:creationId xmlns:a16="http://schemas.microsoft.com/office/drawing/2014/main" id="{44465E6F-0F9B-BC75-B849-D5CDC024C6EE}"/>
                </a:ext>
              </a:extLst>
            </p:cNvPr>
            <p:cNvSpPr/>
            <p:nvPr/>
          </p:nvSpPr>
          <p:spPr>
            <a:xfrm>
              <a:off x="6261886" y="2661405"/>
              <a:ext cx="1642683" cy="289213"/>
            </a:xfrm>
            <a:prstGeom prst="rect">
              <a:avLst/>
            </a:prstGeom>
            <a:noFill/>
            <a:ln w="38100" cap="flat" cmpd="sng">
              <a:solidFill>
                <a:srgbClr val="00B0F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16;p3">
              <a:extLst>
                <a:ext uri="{FF2B5EF4-FFF2-40B4-BE49-F238E27FC236}">
                  <a16:creationId xmlns:a16="http://schemas.microsoft.com/office/drawing/2014/main" id="{DCF45CFF-F835-4E8F-13BC-44ED7E34D00F}"/>
                </a:ext>
              </a:extLst>
            </p:cNvPr>
            <p:cNvSpPr/>
            <p:nvPr/>
          </p:nvSpPr>
          <p:spPr>
            <a:xfrm>
              <a:off x="6261886" y="2998719"/>
              <a:ext cx="1642683" cy="289213"/>
            </a:xfrm>
            <a:prstGeom prst="rect">
              <a:avLst/>
            </a:prstGeom>
            <a:noFill/>
            <a:ln w="38100" cap="flat" cmpd="sng">
              <a:solidFill>
                <a:srgbClr val="00B0F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117;p3">
              <a:extLst>
                <a:ext uri="{FF2B5EF4-FFF2-40B4-BE49-F238E27FC236}">
                  <a16:creationId xmlns:a16="http://schemas.microsoft.com/office/drawing/2014/main" id="{4AB67BD2-E21D-F522-F978-A9B5F21060D9}"/>
                </a:ext>
              </a:extLst>
            </p:cNvPr>
            <p:cNvSpPr/>
            <p:nvPr/>
          </p:nvSpPr>
          <p:spPr>
            <a:xfrm>
              <a:off x="6261886" y="3669781"/>
              <a:ext cx="1642683" cy="289213"/>
            </a:xfrm>
            <a:prstGeom prst="rect">
              <a:avLst/>
            </a:prstGeom>
            <a:noFill/>
            <a:ln w="38100" cap="flat" cmpd="sng">
              <a:solidFill>
                <a:srgbClr val="00B0F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118;p3">
              <a:extLst>
                <a:ext uri="{FF2B5EF4-FFF2-40B4-BE49-F238E27FC236}">
                  <a16:creationId xmlns:a16="http://schemas.microsoft.com/office/drawing/2014/main" id="{1F9CBD0F-6683-1172-C221-5EE0782680EB}"/>
                </a:ext>
              </a:extLst>
            </p:cNvPr>
            <p:cNvSpPr/>
            <p:nvPr/>
          </p:nvSpPr>
          <p:spPr>
            <a:xfrm>
              <a:off x="6261886" y="4007095"/>
              <a:ext cx="1642683" cy="289213"/>
            </a:xfrm>
            <a:prstGeom prst="rect">
              <a:avLst/>
            </a:prstGeom>
            <a:noFill/>
            <a:ln w="38100" cap="flat" cmpd="sng">
              <a:solidFill>
                <a:srgbClr val="00B0F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" name="Google Shape;119;p3">
              <a:extLst>
                <a:ext uri="{FF2B5EF4-FFF2-40B4-BE49-F238E27FC236}">
                  <a16:creationId xmlns:a16="http://schemas.microsoft.com/office/drawing/2014/main" id="{4597912B-30BB-DE5C-BACF-436416F7EFC0}"/>
                </a:ext>
              </a:extLst>
            </p:cNvPr>
            <p:cNvCxnSpPr/>
            <p:nvPr/>
          </p:nvCxnSpPr>
          <p:spPr>
            <a:xfrm rot="10800000">
              <a:off x="5316467" y="1804524"/>
              <a:ext cx="0" cy="283221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3" name="Google Shape;120;p3">
              <a:extLst>
                <a:ext uri="{FF2B5EF4-FFF2-40B4-BE49-F238E27FC236}">
                  <a16:creationId xmlns:a16="http://schemas.microsoft.com/office/drawing/2014/main" id="{D2A10DAA-526B-BBE8-46E3-A45F30974CF1}"/>
                </a:ext>
              </a:extLst>
            </p:cNvPr>
            <p:cNvSpPr txBox="1"/>
            <p:nvPr/>
          </p:nvSpPr>
          <p:spPr>
            <a:xfrm>
              <a:off x="4592021" y="1355302"/>
              <a:ext cx="1448890" cy="4477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Hidden States</a:t>
              </a:r>
              <a:endParaRPr sz="1050" dirty="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(Representation)</a:t>
              </a:r>
              <a:endParaRPr sz="1050" dirty="0"/>
            </a:p>
          </p:txBody>
        </p:sp>
        <p:sp>
          <p:nvSpPr>
            <p:cNvPr id="24" name="Google Shape;121;p3">
              <a:extLst>
                <a:ext uri="{FF2B5EF4-FFF2-40B4-BE49-F238E27FC236}">
                  <a16:creationId xmlns:a16="http://schemas.microsoft.com/office/drawing/2014/main" id="{293694B9-03D7-FA7D-121A-43242303AF8D}"/>
                </a:ext>
              </a:extLst>
            </p:cNvPr>
            <p:cNvSpPr txBox="1"/>
            <p:nvPr/>
          </p:nvSpPr>
          <p:spPr>
            <a:xfrm>
              <a:off x="2530253" y="2907606"/>
              <a:ext cx="1056701" cy="4477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Audio Model</a:t>
              </a:r>
              <a:endParaRPr sz="10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122;p3">
              <a:extLst>
                <a:ext uri="{FF2B5EF4-FFF2-40B4-BE49-F238E27FC236}">
                  <a16:creationId xmlns:a16="http://schemas.microsoft.com/office/drawing/2014/main" id="{05BBC4AE-1391-6870-145E-638D5B4BC38B}"/>
                </a:ext>
              </a:extLst>
            </p:cNvPr>
            <p:cNvSpPr txBox="1"/>
            <p:nvPr/>
          </p:nvSpPr>
          <p:spPr>
            <a:xfrm>
              <a:off x="8124403" y="3333507"/>
              <a:ext cx="1319593" cy="4477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00B0F0"/>
                  </a:solidFill>
                  <a:latin typeface="Arial"/>
                  <a:ea typeface="Arial"/>
                  <a:cs typeface="Arial"/>
                  <a:sym typeface="Arial"/>
                </a:rPr>
                <a:t>Language Model</a:t>
              </a:r>
              <a:endParaRPr sz="1000" b="1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123;p3">
              <a:extLst>
                <a:ext uri="{FF2B5EF4-FFF2-40B4-BE49-F238E27FC236}">
                  <a16:creationId xmlns:a16="http://schemas.microsoft.com/office/drawing/2014/main" id="{1D6F726C-EFB8-566E-BB81-3F9CE325E4D8}"/>
                </a:ext>
              </a:extLst>
            </p:cNvPr>
            <p:cNvSpPr/>
            <p:nvPr/>
          </p:nvSpPr>
          <p:spPr>
            <a:xfrm>
              <a:off x="7928845" y="2661405"/>
              <a:ext cx="195558" cy="1634903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24;p3">
              <a:extLst>
                <a:ext uri="{FF2B5EF4-FFF2-40B4-BE49-F238E27FC236}">
                  <a16:creationId xmlns:a16="http://schemas.microsoft.com/office/drawing/2014/main" id="{0AA9772F-2E15-17A8-86D1-7CA622B0F454}"/>
                </a:ext>
              </a:extLst>
            </p:cNvPr>
            <p:cNvSpPr/>
            <p:nvPr/>
          </p:nvSpPr>
          <p:spPr>
            <a:xfrm flipH="1">
              <a:off x="3649442" y="2298138"/>
              <a:ext cx="226643" cy="1547093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19050" cap="flat" cmpd="sng">
              <a:solidFill>
                <a:srgbClr val="80110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DD324B-F8BB-9601-3716-E8491A896A50}"/>
              </a:ext>
            </a:extLst>
          </p:cNvPr>
          <p:cNvCxnSpPr/>
          <p:nvPr/>
        </p:nvCxnSpPr>
        <p:spPr>
          <a:xfrm>
            <a:off x="5231060" y="1274218"/>
            <a:ext cx="0" cy="50627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4080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34E69-7F5F-220D-2E0D-235343FBD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한국어 조음 위치</a:t>
            </a:r>
            <a:endParaRPr lang="en-US" dirty="0"/>
          </a:p>
        </p:txBody>
      </p:sp>
      <p:graphicFrame>
        <p:nvGraphicFramePr>
          <p:cNvPr id="5" name="Google Shape;178;p7">
            <a:extLst>
              <a:ext uri="{FF2B5EF4-FFF2-40B4-BE49-F238E27FC236}">
                <a16:creationId xmlns:a16="http://schemas.microsoft.com/office/drawing/2014/main" id="{00B277AE-4D3B-7C28-C36E-A5649A5E38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3848947"/>
              </p:ext>
            </p:extLst>
          </p:nvPr>
        </p:nvGraphicFramePr>
        <p:xfrm>
          <a:off x="278534" y="1211399"/>
          <a:ext cx="3872600" cy="4758004"/>
        </p:xfrm>
        <a:graphic>
          <a:graphicData uri="http://schemas.openxmlformats.org/drawingml/2006/table">
            <a:tbl>
              <a:tblPr>
                <a:noFill/>
                <a:tableStyleId>{4E719660-2E74-4A61-AF9B-304DE7005CE8}</a:tableStyleId>
              </a:tblPr>
              <a:tblGrid>
                <a:gridCol w="96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151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phoneme</a:t>
                      </a:r>
                      <a:endParaRPr sz="1000"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Place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altLang="ko-KR" sz="1000" u="none" strike="noStrike" cap="none" dirty="0">
                          <a:latin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ko-KR" altLang="en-US" sz="1000" u="none" strike="noStrike" cap="none" dirty="0">
                          <a:latin typeface="Arial"/>
                          <a:cs typeface="Arial"/>
                          <a:sym typeface="Arial"/>
                        </a:rPr>
                        <a:t>조음 위치</a:t>
                      </a:r>
                      <a:r>
                        <a:rPr lang="en-US" altLang="ko-KR" sz="1000" u="none" strike="noStrike" cap="none" dirty="0">
                          <a:latin typeface="Arial"/>
                          <a:cs typeface="Arial"/>
                          <a:sym typeface="Arial"/>
                        </a:rPr>
                        <a:t>)</a:t>
                      </a:r>
                      <a:endParaRPr sz="1000" dirty="0"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Manner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altLang="ko-KR" sz="1000" u="none" strike="noStrike" cap="none" dirty="0">
                          <a:latin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ko-KR" altLang="en-US" sz="1000" u="none" strike="noStrike" cap="none" dirty="0">
                          <a:latin typeface="Arial"/>
                          <a:cs typeface="Arial"/>
                          <a:sym typeface="Arial"/>
                        </a:rPr>
                        <a:t>조음 방법</a:t>
                      </a:r>
                      <a:r>
                        <a:rPr lang="en-US" altLang="ko-KR" sz="1000" u="none" strike="noStrike" cap="none" dirty="0">
                          <a:latin typeface="Arial"/>
                          <a:cs typeface="Arial"/>
                          <a:sym typeface="Arial"/>
                        </a:rPr>
                        <a:t>)</a:t>
                      </a:r>
                      <a:endParaRPr sz="1000" dirty="0"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Laryngeal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altLang="ko-KR" sz="1000" u="none" strike="noStrike" cap="none" dirty="0">
                          <a:latin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ko-KR" altLang="en-US" sz="1000" u="none" strike="noStrike" cap="none" dirty="0">
                          <a:latin typeface="Arial"/>
                          <a:cs typeface="Arial"/>
                          <a:sym typeface="Arial"/>
                        </a:rPr>
                        <a:t>후두 특성</a:t>
                      </a:r>
                      <a:r>
                        <a:rPr lang="en-US" altLang="ko-KR" sz="1000" u="none" strike="noStrike" cap="none" dirty="0">
                          <a:latin typeface="Arial"/>
                          <a:cs typeface="Arial"/>
                          <a:sym typeface="Arial"/>
                        </a:rPr>
                        <a:t>)</a:t>
                      </a:r>
                      <a:endParaRPr sz="1000" dirty="0"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51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 err="1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ㅂ</a:t>
                      </a:r>
                      <a:endParaRPr sz="1000" u="none" strike="noStrike" cap="none" dirty="0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bilabial</a:t>
                      </a:r>
                      <a:endParaRPr sz="1000" dirty="0">
                        <a:solidFill>
                          <a:srgbClr val="FF0000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 sz="1000" dirty="0">
                        <a:solidFill>
                          <a:srgbClr val="FF0000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lenis</a:t>
                      </a:r>
                      <a:endParaRPr sz="1000" dirty="0">
                        <a:solidFill>
                          <a:srgbClr val="FF0000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51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 err="1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ㅃ</a:t>
                      </a:r>
                      <a:endParaRPr sz="1000" dirty="0">
                        <a:solidFill>
                          <a:srgbClr val="FF0000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bilabial</a:t>
                      </a:r>
                      <a:endParaRPr sz="1000">
                        <a:solidFill>
                          <a:srgbClr val="FF0000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 sz="1000" dirty="0">
                        <a:solidFill>
                          <a:srgbClr val="FF0000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tense</a:t>
                      </a:r>
                      <a:endParaRPr sz="1000" dirty="0">
                        <a:solidFill>
                          <a:srgbClr val="FF0000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51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 err="1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ㅍ</a:t>
                      </a:r>
                      <a:endParaRPr sz="1000" dirty="0">
                        <a:solidFill>
                          <a:srgbClr val="FF0000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bilabial</a:t>
                      </a:r>
                      <a:endParaRPr sz="1000" dirty="0">
                        <a:solidFill>
                          <a:srgbClr val="FF0000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 sz="1000" dirty="0">
                        <a:solidFill>
                          <a:srgbClr val="FF0000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aspirated</a:t>
                      </a:r>
                      <a:endParaRPr sz="1000" dirty="0">
                        <a:solidFill>
                          <a:srgbClr val="FF0000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1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 err="1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ㄷ</a:t>
                      </a:r>
                      <a:endParaRPr sz="1000" dirty="0">
                        <a:solidFill>
                          <a:schemeClr val="accent2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 sz="1000" dirty="0">
                        <a:solidFill>
                          <a:schemeClr val="accent2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 sz="1000">
                        <a:solidFill>
                          <a:schemeClr val="accent2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</a:rPr>
                        <a:t>lenis</a:t>
                      </a:r>
                      <a:endParaRPr sz="1000" dirty="0">
                        <a:solidFill>
                          <a:schemeClr val="accent2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51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 err="1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ㄸ</a:t>
                      </a:r>
                      <a:endParaRPr sz="1000" dirty="0">
                        <a:solidFill>
                          <a:schemeClr val="accent2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 sz="1000" dirty="0">
                        <a:solidFill>
                          <a:schemeClr val="accent2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 sz="1000" dirty="0">
                        <a:solidFill>
                          <a:schemeClr val="accent2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tense</a:t>
                      </a:r>
                      <a:endParaRPr sz="1000">
                        <a:solidFill>
                          <a:schemeClr val="accent2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151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 err="1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ㅌ</a:t>
                      </a:r>
                      <a:endParaRPr sz="1000" dirty="0">
                        <a:solidFill>
                          <a:schemeClr val="accent2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 sz="1000" dirty="0">
                        <a:solidFill>
                          <a:schemeClr val="accent2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 sz="1000" dirty="0">
                        <a:solidFill>
                          <a:schemeClr val="accent2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aspirated</a:t>
                      </a:r>
                      <a:endParaRPr sz="1000" dirty="0">
                        <a:solidFill>
                          <a:schemeClr val="accent2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151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 err="1">
                          <a:solidFill>
                            <a:srgbClr val="CA657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ㄱ</a:t>
                      </a:r>
                      <a:endParaRPr sz="1000" dirty="0">
                        <a:solidFill>
                          <a:srgbClr val="CA657E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CA657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velar</a:t>
                      </a:r>
                      <a:endParaRPr sz="1000" dirty="0">
                        <a:solidFill>
                          <a:srgbClr val="CA657E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CA657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 sz="1000">
                        <a:solidFill>
                          <a:srgbClr val="CA657E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dirty="0">
                          <a:solidFill>
                            <a:srgbClr val="CA657E"/>
                          </a:solidFill>
                        </a:rPr>
                        <a:t>lenis</a:t>
                      </a:r>
                      <a:endParaRPr sz="1000" dirty="0">
                        <a:solidFill>
                          <a:srgbClr val="CA657E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028833"/>
                  </a:ext>
                </a:extLst>
              </a:tr>
              <a:tr h="23151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CA657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ㄲ</a:t>
                      </a:r>
                      <a:endParaRPr sz="1000">
                        <a:solidFill>
                          <a:srgbClr val="CA657E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CA657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velar</a:t>
                      </a:r>
                      <a:endParaRPr sz="1000" dirty="0">
                        <a:solidFill>
                          <a:srgbClr val="CA657E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CA657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 sz="1000">
                        <a:solidFill>
                          <a:srgbClr val="CA657E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CA657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tense</a:t>
                      </a:r>
                      <a:endParaRPr sz="1000">
                        <a:solidFill>
                          <a:srgbClr val="CA657E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8401031"/>
                  </a:ext>
                </a:extLst>
              </a:tr>
              <a:tr h="23151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CA657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ㅋ</a:t>
                      </a:r>
                      <a:endParaRPr sz="1000">
                        <a:solidFill>
                          <a:srgbClr val="CA657E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CA657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velar</a:t>
                      </a:r>
                      <a:endParaRPr sz="1000">
                        <a:solidFill>
                          <a:srgbClr val="CA657E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CA657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 sz="1000" dirty="0">
                        <a:solidFill>
                          <a:srgbClr val="CA657E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CA657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aspirated</a:t>
                      </a:r>
                      <a:endParaRPr sz="1000" dirty="0">
                        <a:solidFill>
                          <a:srgbClr val="CA657E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7769952"/>
                  </a:ext>
                </a:extLst>
              </a:tr>
              <a:tr h="23151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 err="1">
                          <a:solidFill>
                            <a:srgbClr val="82AD5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ㅈ</a:t>
                      </a:r>
                      <a:endParaRPr sz="1000" dirty="0">
                        <a:solidFill>
                          <a:srgbClr val="82AD5B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dirty="0">
                          <a:solidFill>
                            <a:srgbClr val="82AD5B"/>
                          </a:solidFill>
                        </a:rPr>
                        <a:t>alveolo-palatal</a:t>
                      </a:r>
                      <a:endParaRPr sz="1000" dirty="0">
                        <a:solidFill>
                          <a:srgbClr val="82AD5B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82AD5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affricate</a:t>
                      </a:r>
                      <a:endParaRPr sz="1000" dirty="0">
                        <a:solidFill>
                          <a:srgbClr val="82AD5B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dirty="0">
                          <a:solidFill>
                            <a:srgbClr val="82AD5B"/>
                          </a:solidFill>
                        </a:rPr>
                        <a:t>lenis</a:t>
                      </a:r>
                      <a:endParaRPr sz="1000" dirty="0">
                        <a:solidFill>
                          <a:srgbClr val="82AD5B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151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82AD5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ㅉ</a:t>
                      </a:r>
                      <a:endParaRPr sz="1000">
                        <a:solidFill>
                          <a:srgbClr val="82AD5B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dirty="0">
                          <a:solidFill>
                            <a:srgbClr val="82AD5B"/>
                          </a:solidFill>
                        </a:rPr>
                        <a:t>alveolo-palatal</a:t>
                      </a:r>
                      <a:endParaRPr sz="1000" dirty="0">
                        <a:solidFill>
                          <a:srgbClr val="82AD5B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82AD5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affricate</a:t>
                      </a:r>
                      <a:endParaRPr sz="1000" dirty="0">
                        <a:solidFill>
                          <a:srgbClr val="82AD5B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82AD5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tense</a:t>
                      </a:r>
                      <a:endParaRPr sz="1000" dirty="0">
                        <a:solidFill>
                          <a:srgbClr val="82AD5B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151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 err="1">
                          <a:solidFill>
                            <a:srgbClr val="82AD5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ㅊ</a:t>
                      </a:r>
                      <a:endParaRPr sz="1000" dirty="0">
                        <a:solidFill>
                          <a:srgbClr val="82AD5B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dirty="0">
                          <a:solidFill>
                            <a:srgbClr val="82AD5B"/>
                          </a:solidFill>
                        </a:rPr>
                        <a:t>alveolo-palatal</a:t>
                      </a:r>
                      <a:endParaRPr sz="1000" dirty="0">
                        <a:solidFill>
                          <a:srgbClr val="82AD5B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82AD5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affricate</a:t>
                      </a:r>
                      <a:endParaRPr sz="1000" dirty="0">
                        <a:solidFill>
                          <a:srgbClr val="82AD5B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82AD5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aspirated</a:t>
                      </a:r>
                      <a:endParaRPr sz="1000" dirty="0">
                        <a:solidFill>
                          <a:srgbClr val="82AD5B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15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 err="1">
                          <a:solidFill>
                            <a:srgbClr val="0070C0"/>
                          </a:solidFill>
                        </a:rPr>
                        <a:t>ㅅ</a:t>
                      </a:r>
                      <a:endParaRPr lang="en-US" sz="1000" dirty="0">
                        <a:solidFill>
                          <a:srgbClr val="0070C0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dirty="0">
                          <a:solidFill>
                            <a:srgbClr val="0070C0"/>
                          </a:solidFill>
                        </a:rPr>
                        <a:t>alveolar</a:t>
                      </a:r>
                      <a:endParaRPr sz="1000" dirty="0">
                        <a:solidFill>
                          <a:srgbClr val="0070C0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dirty="0">
                          <a:solidFill>
                            <a:srgbClr val="0070C0"/>
                          </a:solidFill>
                        </a:rPr>
                        <a:t>fricative</a:t>
                      </a:r>
                      <a:endParaRPr sz="1000" dirty="0">
                        <a:solidFill>
                          <a:srgbClr val="0070C0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dirty="0">
                          <a:solidFill>
                            <a:srgbClr val="0070C0"/>
                          </a:solidFill>
                        </a:rPr>
                        <a:t>lenis</a:t>
                      </a:r>
                      <a:endParaRPr sz="1000" dirty="0">
                        <a:solidFill>
                          <a:srgbClr val="0070C0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15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 err="1">
                          <a:solidFill>
                            <a:srgbClr val="0070C0"/>
                          </a:solidFill>
                        </a:rPr>
                        <a:t>ㅆ</a:t>
                      </a:r>
                      <a:endParaRPr lang="en-US" sz="1000" dirty="0">
                        <a:solidFill>
                          <a:srgbClr val="0070C0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dirty="0">
                          <a:solidFill>
                            <a:srgbClr val="0070C0"/>
                          </a:solidFill>
                        </a:rPr>
                        <a:t>alveolar</a:t>
                      </a:r>
                      <a:endParaRPr sz="1000" dirty="0">
                        <a:solidFill>
                          <a:srgbClr val="0070C0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dirty="0">
                          <a:solidFill>
                            <a:srgbClr val="0070C0"/>
                          </a:solidFill>
                        </a:rPr>
                        <a:t>fricative</a:t>
                      </a:r>
                      <a:endParaRPr sz="1000" dirty="0">
                        <a:solidFill>
                          <a:srgbClr val="0070C0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dirty="0">
                          <a:solidFill>
                            <a:srgbClr val="0070C0"/>
                          </a:solidFill>
                        </a:rPr>
                        <a:t>tense</a:t>
                      </a:r>
                      <a:endParaRPr sz="1000" dirty="0">
                        <a:solidFill>
                          <a:srgbClr val="0070C0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151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ㅎ</a:t>
                      </a:r>
                      <a:endParaRPr sz="1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glottal</a:t>
                      </a:r>
                      <a:endParaRPr sz="1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fricative</a:t>
                      </a:r>
                      <a:endParaRPr sz="1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sng" strike="noStrike" cap="none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None</a:t>
                      </a:r>
                      <a:endParaRPr sz="1000" b="1" u="sng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151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 err="1">
                          <a:solidFill>
                            <a:srgbClr val="98B3C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ㅁ</a:t>
                      </a:r>
                      <a:endParaRPr sz="1000" dirty="0">
                        <a:solidFill>
                          <a:srgbClr val="98B3C2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98B3C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bilabial</a:t>
                      </a:r>
                      <a:endParaRPr sz="1000" dirty="0">
                        <a:solidFill>
                          <a:srgbClr val="98B3C2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98B3C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nasal</a:t>
                      </a:r>
                      <a:endParaRPr sz="1000" dirty="0">
                        <a:solidFill>
                          <a:srgbClr val="98B3C2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98B3C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None</a:t>
                      </a:r>
                      <a:endParaRPr sz="1000" dirty="0">
                        <a:solidFill>
                          <a:srgbClr val="98B3C2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265720"/>
                  </a:ext>
                </a:extLst>
              </a:tr>
              <a:tr h="23151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 err="1">
                          <a:solidFill>
                            <a:srgbClr val="98B3C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ㄴ</a:t>
                      </a:r>
                      <a:endParaRPr sz="1000" dirty="0">
                        <a:solidFill>
                          <a:srgbClr val="98B3C2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98B3C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 sz="1000" dirty="0">
                        <a:solidFill>
                          <a:srgbClr val="98B3C2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98B3C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nasal</a:t>
                      </a:r>
                      <a:endParaRPr sz="1000" dirty="0">
                        <a:solidFill>
                          <a:srgbClr val="98B3C2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98B3C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None</a:t>
                      </a:r>
                      <a:endParaRPr sz="1000" dirty="0">
                        <a:solidFill>
                          <a:srgbClr val="98B3C2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6181939"/>
                  </a:ext>
                </a:extLst>
              </a:tr>
              <a:tr h="2315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 err="1">
                          <a:solidFill>
                            <a:srgbClr val="98B3C2"/>
                          </a:solidFill>
                        </a:rPr>
                        <a:t>ㅇ</a:t>
                      </a:r>
                      <a:endParaRPr lang="en-US" sz="1000" dirty="0">
                        <a:solidFill>
                          <a:srgbClr val="98B3C2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dirty="0">
                          <a:solidFill>
                            <a:srgbClr val="98B3C2"/>
                          </a:solidFill>
                        </a:rPr>
                        <a:t>velar</a:t>
                      </a:r>
                      <a:endParaRPr sz="1000" dirty="0">
                        <a:solidFill>
                          <a:srgbClr val="98B3C2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dirty="0">
                          <a:solidFill>
                            <a:srgbClr val="98B3C2"/>
                          </a:solidFill>
                        </a:rPr>
                        <a:t>nasal</a:t>
                      </a:r>
                      <a:endParaRPr sz="1000" dirty="0">
                        <a:solidFill>
                          <a:srgbClr val="98B3C2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98B3C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None</a:t>
                      </a:r>
                      <a:endParaRPr sz="1000" dirty="0">
                        <a:solidFill>
                          <a:srgbClr val="98B3C2"/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5855788"/>
                  </a:ext>
                </a:extLst>
              </a:tr>
              <a:tr h="23151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ㄹ</a:t>
                      </a:r>
                      <a:endParaRPr sz="10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 sz="10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liquid</a:t>
                      </a:r>
                      <a:endParaRPr sz="10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None</a:t>
                      </a:r>
                      <a:endParaRPr sz="10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54400" marR="54400" marT="27200" marB="272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0568126"/>
                  </a:ext>
                </a:extLst>
              </a:tr>
            </a:tbl>
          </a:graphicData>
        </a:graphic>
      </p:graphicFrame>
      <p:graphicFrame>
        <p:nvGraphicFramePr>
          <p:cNvPr id="6" name="Google Shape;179;p7">
            <a:extLst>
              <a:ext uri="{FF2B5EF4-FFF2-40B4-BE49-F238E27FC236}">
                <a16:creationId xmlns:a16="http://schemas.microsoft.com/office/drawing/2014/main" id="{BEF617A7-B10D-AC07-F518-27C116A1B9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3972636"/>
              </p:ext>
            </p:extLst>
          </p:nvPr>
        </p:nvGraphicFramePr>
        <p:xfrm>
          <a:off x="7763758" y="1189560"/>
          <a:ext cx="3872600" cy="2347050"/>
        </p:xfrm>
        <a:graphic>
          <a:graphicData uri="http://schemas.openxmlformats.org/drawingml/2006/table">
            <a:tbl>
              <a:tblPr>
                <a:noFill/>
                <a:tableStyleId>{4E719660-2E74-4A61-AF9B-304DE7005CE8}</a:tableStyleId>
              </a:tblPr>
              <a:tblGrid>
                <a:gridCol w="96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8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vowel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Height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altLang="ko-KR" sz="1000" u="none" strike="noStrike" cap="none" dirty="0">
                          <a:latin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ko-KR" altLang="en-US" sz="1000" u="none" strike="noStrike" cap="none" dirty="0">
                          <a:latin typeface="Arial"/>
                          <a:cs typeface="Arial"/>
                          <a:sym typeface="Arial"/>
                        </a:rPr>
                        <a:t>모음 높이</a:t>
                      </a:r>
                      <a:r>
                        <a:rPr lang="en-US" altLang="ko-KR" sz="1000" u="none" strike="noStrike" cap="none" dirty="0">
                          <a:latin typeface="Arial"/>
                          <a:cs typeface="Arial"/>
                          <a:sym typeface="Arial"/>
                        </a:rPr>
                        <a:t>)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 err="1">
                          <a:latin typeface="Arial"/>
                          <a:ea typeface="Arial"/>
                          <a:cs typeface="Arial"/>
                          <a:sym typeface="Arial"/>
                        </a:rPr>
                        <a:t>Backness</a:t>
                      </a:r>
                      <a:endParaRPr lang="en-US" sz="10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altLang="ko-KR" sz="10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ko-KR" altLang="en-US" sz="1000" u="none" strike="noStrike" cap="none" dirty="0" err="1">
                          <a:latin typeface="Arial"/>
                          <a:ea typeface="Arial"/>
                          <a:cs typeface="Arial"/>
                          <a:sym typeface="Arial"/>
                        </a:rPr>
                        <a:t>전후설성</a:t>
                      </a:r>
                      <a:r>
                        <a:rPr lang="en-US" altLang="ko-KR" sz="10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0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Rounding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altLang="ko-KR" sz="1000" u="none" strike="noStrike" cap="none" dirty="0">
                          <a:latin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ko-KR" altLang="en-US" sz="1000" u="none" strike="noStrike" cap="none" dirty="0" err="1">
                          <a:latin typeface="Arial"/>
                          <a:cs typeface="Arial"/>
                          <a:sym typeface="Arial"/>
                        </a:rPr>
                        <a:t>원순성</a:t>
                      </a:r>
                      <a:r>
                        <a:rPr lang="en-US" altLang="ko-KR" sz="1000" u="none" strike="noStrike" cap="none" dirty="0">
                          <a:latin typeface="Arial"/>
                          <a:cs typeface="Arial"/>
                          <a:sym typeface="Arial"/>
                        </a:rPr>
                        <a:t>)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 err="1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ㅣ</a:t>
                      </a:r>
                      <a:endParaRPr dirty="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 dirty="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front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unrounded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8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ㅔ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mid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front</a:t>
                      </a:r>
                      <a:endParaRPr dirty="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unrounded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8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ㅐ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low-mid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front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unrounded</a:t>
                      </a:r>
                      <a:endParaRPr dirty="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 err="1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ㅏ</a:t>
                      </a:r>
                      <a:endParaRPr dirty="0">
                        <a:solidFill>
                          <a:srgbClr val="00B0F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dirty="0">
                        <a:solidFill>
                          <a:srgbClr val="00B0F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front-central</a:t>
                      </a:r>
                      <a:endParaRPr>
                        <a:solidFill>
                          <a:srgbClr val="00B0F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unrounded</a:t>
                      </a:r>
                      <a:endParaRPr>
                        <a:solidFill>
                          <a:srgbClr val="00B0F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8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 err="1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ㅡ</a:t>
                      </a:r>
                      <a:endParaRPr dirty="0">
                        <a:solidFill>
                          <a:srgbClr val="00B0F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 dirty="0">
                        <a:solidFill>
                          <a:srgbClr val="00B0F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central</a:t>
                      </a:r>
                      <a:endParaRPr dirty="0">
                        <a:solidFill>
                          <a:srgbClr val="00B0F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unrounded</a:t>
                      </a:r>
                      <a:endParaRPr>
                        <a:solidFill>
                          <a:srgbClr val="00B0F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8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ㅓ</a:t>
                      </a:r>
                      <a:endParaRPr>
                        <a:solidFill>
                          <a:srgbClr val="00B0F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mid</a:t>
                      </a:r>
                      <a:endParaRPr dirty="0">
                        <a:solidFill>
                          <a:srgbClr val="00B0F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back-central</a:t>
                      </a:r>
                      <a:endParaRPr dirty="0">
                        <a:solidFill>
                          <a:srgbClr val="00B0F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unrounded</a:t>
                      </a:r>
                      <a:endParaRPr dirty="0">
                        <a:solidFill>
                          <a:srgbClr val="00B0F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8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altLang="en-US" sz="1000" dirty="0" err="1">
                          <a:solidFill>
                            <a:srgbClr val="CA657E"/>
                          </a:solidFill>
                        </a:rPr>
                        <a:t>ㅜ</a:t>
                      </a:r>
                      <a:endParaRPr sz="1000" dirty="0">
                        <a:solidFill>
                          <a:srgbClr val="CA657E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dirty="0">
                          <a:solidFill>
                            <a:srgbClr val="CA657E"/>
                          </a:solidFill>
                        </a:rPr>
                        <a:t>high</a:t>
                      </a:r>
                      <a:endParaRPr sz="1000" dirty="0">
                        <a:solidFill>
                          <a:srgbClr val="CA657E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dirty="0">
                          <a:solidFill>
                            <a:srgbClr val="CA657E"/>
                          </a:solidFill>
                        </a:rPr>
                        <a:t>back</a:t>
                      </a:r>
                      <a:endParaRPr sz="1000" dirty="0">
                        <a:solidFill>
                          <a:srgbClr val="CA657E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dirty="0">
                          <a:solidFill>
                            <a:srgbClr val="CA657E"/>
                          </a:solidFill>
                        </a:rPr>
                        <a:t>rounded</a:t>
                      </a:r>
                      <a:endParaRPr sz="1000" dirty="0">
                        <a:solidFill>
                          <a:srgbClr val="CA657E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 err="1">
                          <a:solidFill>
                            <a:srgbClr val="CA657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ㅗ</a:t>
                      </a:r>
                      <a:endParaRPr sz="1000" dirty="0">
                        <a:solidFill>
                          <a:srgbClr val="CA657E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CA657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mid</a:t>
                      </a:r>
                      <a:endParaRPr sz="1000" dirty="0">
                        <a:solidFill>
                          <a:srgbClr val="CA657E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CA657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</a:t>
                      </a:r>
                      <a:endParaRPr sz="1000" dirty="0">
                        <a:solidFill>
                          <a:srgbClr val="CA657E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CA657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rounded</a:t>
                      </a:r>
                      <a:endParaRPr sz="1000" dirty="0">
                        <a:solidFill>
                          <a:srgbClr val="CA657E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3F5C1AF9-9F89-342F-9ABC-71C39A0C32A9}"/>
              </a:ext>
            </a:extLst>
          </p:cNvPr>
          <p:cNvGrpSpPr/>
          <p:nvPr/>
        </p:nvGrpSpPr>
        <p:grpSpPr>
          <a:xfrm>
            <a:off x="4240163" y="1158714"/>
            <a:ext cx="2752702" cy="2479349"/>
            <a:chOff x="6046914" y="3078303"/>
            <a:chExt cx="3899251" cy="3685721"/>
          </a:xfrm>
        </p:grpSpPr>
        <p:pic>
          <p:nvPicPr>
            <p:cNvPr id="1026" name="Picture 2" descr="자음동화의 종류, 조음위치 동화와 조음방법 동화 : 네이버 블로그">
              <a:extLst>
                <a:ext uri="{FF2B5EF4-FFF2-40B4-BE49-F238E27FC236}">
                  <a16:creationId xmlns:a16="http://schemas.microsoft.com/office/drawing/2014/main" id="{7E7085C7-F36C-7C16-2458-63BC3FC248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46914" y="3078303"/>
              <a:ext cx="3899251" cy="36857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743AA1E-DFE0-A65A-7EF2-E4A767AA728D}"/>
                </a:ext>
              </a:extLst>
            </p:cNvPr>
            <p:cNvSpPr/>
            <p:nvPr/>
          </p:nvSpPr>
          <p:spPr>
            <a:xfrm>
              <a:off x="7342632" y="3803904"/>
              <a:ext cx="438912" cy="868680"/>
            </a:xfrm>
            <a:prstGeom prst="rect">
              <a:avLst/>
            </a:prstGeom>
            <a:solidFill>
              <a:srgbClr val="C00000">
                <a:alpha val="4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6063309-1CF4-2300-F98B-E2FA996F1271}"/>
                </a:ext>
              </a:extLst>
            </p:cNvPr>
            <p:cNvSpPr/>
            <p:nvPr/>
          </p:nvSpPr>
          <p:spPr>
            <a:xfrm>
              <a:off x="7781544" y="3803904"/>
              <a:ext cx="438912" cy="868680"/>
            </a:xfrm>
            <a:prstGeom prst="rect">
              <a:avLst/>
            </a:prstGeom>
            <a:solidFill>
              <a:schemeClr val="accent2">
                <a:alpha val="4902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7D5E401-AE07-C886-0563-6E55876144E2}"/>
                </a:ext>
              </a:extLst>
            </p:cNvPr>
            <p:cNvSpPr/>
            <p:nvPr/>
          </p:nvSpPr>
          <p:spPr>
            <a:xfrm>
              <a:off x="7772902" y="5522976"/>
              <a:ext cx="438912" cy="629668"/>
            </a:xfrm>
            <a:prstGeom prst="rect">
              <a:avLst/>
            </a:prstGeom>
            <a:solidFill>
              <a:srgbClr val="0070C0">
                <a:alpha val="4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E15A5EE-70A4-37DC-E4C6-F218944D3992}"/>
              </a:ext>
            </a:extLst>
          </p:cNvPr>
          <p:cNvGrpSpPr/>
          <p:nvPr/>
        </p:nvGrpSpPr>
        <p:grpSpPr>
          <a:xfrm>
            <a:off x="7745828" y="3638063"/>
            <a:ext cx="3890530" cy="1865910"/>
            <a:chOff x="7745828" y="3638063"/>
            <a:chExt cx="3890530" cy="1865910"/>
          </a:xfrm>
        </p:grpSpPr>
        <p:pic>
          <p:nvPicPr>
            <p:cNvPr id="1028" name="Picture 4" descr="모음체계(단모음)">
              <a:extLst>
                <a:ext uri="{FF2B5EF4-FFF2-40B4-BE49-F238E27FC236}">
                  <a16:creationId xmlns:a16="http://schemas.microsoft.com/office/drawing/2014/main" id="{6E1B17BE-C901-62F4-1F28-19DE7A5D67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45828" y="3638063"/>
              <a:ext cx="3890530" cy="18659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C1F8AEE-162D-DB1E-9C2C-9C5FDC250D7C}"/>
                </a:ext>
              </a:extLst>
            </p:cNvPr>
            <p:cNvSpPr/>
            <p:nvPr/>
          </p:nvSpPr>
          <p:spPr>
            <a:xfrm>
              <a:off x="8929025" y="4546348"/>
              <a:ext cx="663211" cy="948660"/>
            </a:xfrm>
            <a:prstGeom prst="rect">
              <a:avLst/>
            </a:prstGeom>
            <a:solidFill>
              <a:srgbClr val="C00000">
                <a:alpha val="4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2442277-4E11-6D99-7C07-24C6A6588499}"/>
                </a:ext>
              </a:extLst>
            </p:cNvPr>
            <p:cNvSpPr/>
            <p:nvPr/>
          </p:nvSpPr>
          <p:spPr>
            <a:xfrm>
              <a:off x="9606033" y="4553088"/>
              <a:ext cx="663211" cy="623475"/>
            </a:xfrm>
            <a:prstGeom prst="rect">
              <a:avLst/>
            </a:prstGeom>
            <a:solidFill>
              <a:schemeClr val="accent2">
                <a:alpha val="4902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B995920-9062-37B9-EFD0-9D403B8715AD}"/>
                </a:ext>
              </a:extLst>
            </p:cNvPr>
            <p:cNvSpPr/>
            <p:nvPr/>
          </p:nvSpPr>
          <p:spPr>
            <a:xfrm>
              <a:off x="10278209" y="4553088"/>
              <a:ext cx="663211" cy="948660"/>
            </a:xfrm>
            <a:prstGeom prst="rect">
              <a:avLst/>
            </a:prstGeom>
            <a:solidFill>
              <a:srgbClr val="00B0F0">
                <a:alpha val="4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14A99A4-361D-9FFE-30CB-8CC057136BE9}"/>
                </a:ext>
              </a:extLst>
            </p:cNvPr>
            <p:cNvSpPr/>
            <p:nvPr/>
          </p:nvSpPr>
          <p:spPr>
            <a:xfrm>
              <a:off x="10950385" y="4553088"/>
              <a:ext cx="663211" cy="62347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4902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</a:endParaRPr>
            </a:p>
          </p:txBody>
        </p: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4FAE593-3CB9-5865-4617-080084A08685}"/>
              </a:ext>
            </a:extLst>
          </p:cNvPr>
          <p:cNvCxnSpPr/>
          <p:nvPr/>
        </p:nvCxnSpPr>
        <p:spPr>
          <a:xfrm>
            <a:off x="7333129" y="1158714"/>
            <a:ext cx="0" cy="50627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5135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E2CDA-0F7C-A9D6-4DDC-E14FCE642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03CADD9-D112-474C-4704-94A363D2B8B5}"/>
              </a:ext>
            </a:extLst>
          </p:cNvPr>
          <p:cNvGrpSpPr/>
          <p:nvPr/>
        </p:nvGrpSpPr>
        <p:grpSpPr>
          <a:xfrm>
            <a:off x="6356369" y="2380041"/>
            <a:ext cx="3248235" cy="3596907"/>
            <a:chOff x="8686503" y="1409612"/>
            <a:chExt cx="3248235" cy="3596907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0EEC2852-AAFB-7F75-BDC3-EDFA6620128A}"/>
                </a:ext>
              </a:extLst>
            </p:cNvPr>
            <p:cNvGrpSpPr/>
            <p:nvPr/>
          </p:nvGrpSpPr>
          <p:grpSpPr>
            <a:xfrm>
              <a:off x="8686503" y="2759822"/>
              <a:ext cx="3248235" cy="2246697"/>
              <a:chOff x="7715600" y="2966010"/>
              <a:chExt cx="3248235" cy="2246697"/>
            </a:xfrm>
          </p:grpSpPr>
          <p:pic>
            <p:nvPicPr>
              <p:cNvPr id="9" name="Google Shape;251;p12" descr="OpenAI's Most Recent Model: Whisper (explained)">
                <a:extLst>
                  <a:ext uri="{FF2B5EF4-FFF2-40B4-BE49-F238E27FC236}">
                    <a16:creationId xmlns:a16="http://schemas.microsoft.com/office/drawing/2014/main" id="{98D4FF44-453F-F194-2D51-30F4BB779A29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8177033" y="2966010"/>
                <a:ext cx="2676287" cy="224669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" name="Google Shape;252;p12">
                <a:extLst>
                  <a:ext uri="{FF2B5EF4-FFF2-40B4-BE49-F238E27FC236}">
                    <a16:creationId xmlns:a16="http://schemas.microsoft.com/office/drawing/2014/main" id="{7840B4A9-424C-B99B-2901-81F6C5EFB4EA}"/>
                  </a:ext>
                </a:extLst>
              </p:cNvPr>
              <p:cNvSpPr/>
              <p:nvPr/>
            </p:nvSpPr>
            <p:spPr>
              <a:xfrm>
                <a:off x="7815972" y="3210787"/>
                <a:ext cx="361060" cy="173747"/>
              </a:xfrm>
              <a:prstGeom prst="roundRect">
                <a:avLst>
                  <a:gd name="adj" fmla="val 16667"/>
                </a:avLst>
              </a:prstGeom>
              <a:solidFill>
                <a:srgbClr val="BE0E00">
                  <a:alpha val="30980"/>
                </a:srgbClr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lora</a:t>
                </a:r>
                <a:endParaRPr sz="2000"/>
              </a:p>
            </p:txBody>
          </p:sp>
          <p:sp>
            <p:nvSpPr>
              <p:cNvPr id="11" name="Google Shape;253;p12">
                <a:extLst>
                  <a:ext uri="{FF2B5EF4-FFF2-40B4-BE49-F238E27FC236}">
                    <a16:creationId xmlns:a16="http://schemas.microsoft.com/office/drawing/2014/main" id="{251F6F34-6A4C-3A05-8E04-DDAD43AB1498}"/>
                  </a:ext>
                </a:extLst>
              </p:cNvPr>
              <p:cNvSpPr txBox="1"/>
              <p:nvPr/>
            </p:nvSpPr>
            <p:spPr>
              <a:xfrm>
                <a:off x="7719990" y="3147615"/>
                <a:ext cx="343715" cy="2307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🔥</a:t>
                </a:r>
                <a:endParaRPr sz="2000"/>
              </a:p>
            </p:txBody>
          </p:sp>
          <p:sp>
            <p:nvSpPr>
              <p:cNvPr id="12" name="Google Shape;254;p12">
                <a:extLst>
                  <a:ext uri="{FF2B5EF4-FFF2-40B4-BE49-F238E27FC236}">
                    <a16:creationId xmlns:a16="http://schemas.microsoft.com/office/drawing/2014/main" id="{C3EB9A52-67D6-76DE-373C-2FC8D7E808DB}"/>
                  </a:ext>
                </a:extLst>
              </p:cNvPr>
              <p:cNvSpPr/>
              <p:nvPr/>
            </p:nvSpPr>
            <p:spPr>
              <a:xfrm>
                <a:off x="7815972" y="3425552"/>
                <a:ext cx="361060" cy="173747"/>
              </a:xfrm>
              <a:prstGeom prst="roundRect">
                <a:avLst>
                  <a:gd name="adj" fmla="val 16667"/>
                </a:avLst>
              </a:prstGeom>
              <a:solidFill>
                <a:srgbClr val="BE0E00">
                  <a:alpha val="30980"/>
                </a:srgbClr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lora</a:t>
                </a:r>
                <a:endParaRPr sz="2000"/>
              </a:p>
            </p:txBody>
          </p:sp>
          <p:sp>
            <p:nvSpPr>
              <p:cNvPr id="13" name="Google Shape;255;p12">
                <a:extLst>
                  <a:ext uri="{FF2B5EF4-FFF2-40B4-BE49-F238E27FC236}">
                    <a16:creationId xmlns:a16="http://schemas.microsoft.com/office/drawing/2014/main" id="{D36AEB36-8D39-CC79-8515-83BF043A88FA}"/>
                  </a:ext>
                </a:extLst>
              </p:cNvPr>
              <p:cNvSpPr/>
              <p:nvPr/>
            </p:nvSpPr>
            <p:spPr>
              <a:xfrm>
                <a:off x="7815972" y="3798724"/>
                <a:ext cx="361060" cy="173747"/>
              </a:xfrm>
              <a:prstGeom prst="roundRect">
                <a:avLst>
                  <a:gd name="adj" fmla="val 16667"/>
                </a:avLst>
              </a:prstGeom>
              <a:solidFill>
                <a:srgbClr val="BE0E00">
                  <a:alpha val="30980"/>
                </a:srgbClr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lora</a:t>
                </a:r>
                <a:endParaRPr sz="2000"/>
              </a:p>
            </p:txBody>
          </p:sp>
          <p:sp>
            <p:nvSpPr>
              <p:cNvPr id="14" name="Google Shape;256;p12">
                <a:extLst>
                  <a:ext uri="{FF2B5EF4-FFF2-40B4-BE49-F238E27FC236}">
                    <a16:creationId xmlns:a16="http://schemas.microsoft.com/office/drawing/2014/main" id="{4BEB5D7D-6983-2EEA-4FA6-E125F953F2E6}"/>
                  </a:ext>
                </a:extLst>
              </p:cNvPr>
              <p:cNvSpPr/>
              <p:nvPr/>
            </p:nvSpPr>
            <p:spPr>
              <a:xfrm>
                <a:off x="7815972" y="4028590"/>
                <a:ext cx="361060" cy="173747"/>
              </a:xfrm>
              <a:prstGeom prst="roundRect">
                <a:avLst>
                  <a:gd name="adj" fmla="val 16667"/>
                </a:avLst>
              </a:prstGeom>
              <a:solidFill>
                <a:srgbClr val="BE0E00">
                  <a:alpha val="30980"/>
                </a:srgbClr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lora</a:t>
                </a:r>
                <a:endParaRPr sz="2000"/>
              </a:p>
            </p:txBody>
          </p:sp>
          <p:sp>
            <p:nvSpPr>
              <p:cNvPr id="15" name="Google Shape;257;p12">
                <a:extLst>
                  <a:ext uri="{FF2B5EF4-FFF2-40B4-BE49-F238E27FC236}">
                    <a16:creationId xmlns:a16="http://schemas.microsoft.com/office/drawing/2014/main" id="{095A5477-6C19-0D3A-4F88-0383C6743DD0}"/>
                  </a:ext>
                </a:extLst>
              </p:cNvPr>
              <p:cNvSpPr txBox="1"/>
              <p:nvPr/>
            </p:nvSpPr>
            <p:spPr>
              <a:xfrm>
                <a:off x="7715600" y="3362260"/>
                <a:ext cx="343715" cy="2307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🔥</a:t>
                </a:r>
                <a:endParaRPr sz="2000"/>
              </a:p>
            </p:txBody>
          </p:sp>
          <p:sp>
            <p:nvSpPr>
              <p:cNvPr id="16" name="Google Shape;258;p12">
                <a:extLst>
                  <a:ext uri="{FF2B5EF4-FFF2-40B4-BE49-F238E27FC236}">
                    <a16:creationId xmlns:a16="http://schemas.microsoft.com/office/drawing/2014/main" id="{148E972D-37E4-A686-EF33-2CEA54F4532C}"/>
                  </a:ext>
                </a:extLst>
              </p:cNvPr>
              <p:cNvSpPr txBox="1"/>
              <p:nvPr/>
            </p:nvSpPr>
            <p:spPr>
              <a:xfrm>
                <a:off x="7715600" y="3735551"/>
                <a:ext cx="343715" cy="2307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🔥</a:t>
                </a:r>
                <a:endParaRPr sz="2000"/>
              </a:p>
            </p:txBody>
          </p:sp>
          <p:sp>
            <p:nvSpPr>
              <p:cNvPr id="17" name="Google Shape;259;p12">
                <a:extLst>
                  <a:ext uri="{FF2B5EF4-FFF2-40B4-BE49-F238E27FC236}">
                    <a16:creationId xmlns:a16="http://schemas.microsoft.com/office/drawing/2014/main" id="{5CCDDEDA-2567-BE99-3708-3E4540E47C33}"/>
                  </a:ext>
                </a:extLst>
              </p:cNvPr>
              <p:cNvSpPr txBox="1"/>
              <p:nvPr/>
            </p:nvSpPr>
            <p:spPr>
              <a:xfrm>
                <a:off x="7715600" y="3965948"/>
                <a:ext cx="343715" cy="2307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🔥</a:t>
                </a:r>
                <a:endParaRPr sz="2000"/>
              </a:p>
            </p:txBody>
          </p:sp>
          <p:sp>
            <p:nvSpPr>
              <p:cNvPr id="18" name="Google Shape;260;p12">
                <a:extLst>
                  <a:ext uri="{FF2B5EF4-FFF2-40B4-BE49-F238E27FC236}">
                    <a16:creationId xmlns:a16="http://schemas.microsoft.com/office/drawing/2014/main" id="{D6139289-C7B1-6F3C-9921-3C158CB4EF15}"/>
                  </a:ext>
                </a:extLst>
              </p:cNvPr>
              <p:cNvSpPr txBox="1"/>
              <p:nvPr/>
            </p:nvSpPr>
            <p:spPr>
              <a:xfrm>
                <a:off x="10620120" y="3390459"/>
                <a:ext cx="343715" cy="2307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❄️</a:t>
                </a:r>
                <a:endParaRPr sz="2000"/>
              </a:p>
            </p:txBody>
          </p:sp>
          <p:sp>
            <p:nvSpPr>
              <p:cNvPr id="19" name="Google Shape;261;p12">
                <a:extLst>
                  <a:ext uri="{FF2B5EF4-FFF2-40B4-BE49-F238E27FC236}">
                    <a16:creationId xmlns:a16="http://schemas.microsoft.com/office/drawing/2014/main" id="{093AE585-CC8C-F248-8011-5A19809E98A9}"/>
                  </a:ext>
                </a:extLst>
              </p:cNvPr>
              <p:cNvSpPr txBox="1"/>
              <p:nvPr/>
            </p:nvSpPr>
            <p:spPr>
              <a:xfrm>
                <a:off x="10620120" y="3613984"/>
                <a:ext cx="343715" cy="2307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❄️</a:t>
                </a:r>
                <a:endParaRPr sz="2000"/>
              </a:p>
            </p:txBody>
          </p:sp>
          <p:sp>
            <p:nvSpPr>
              <p:cNvPr id="20" name="Google Shape;262;p12">
                <a:extLst>
                  <a:ext uri="{FF2B5EF4-FFF2-40B4-BE49-F238E27FC236}">
                    <a16:creationId xmlns:a16="http://schemas.microsoft.com/office/drawing/2014/main" id="{E20BB0C5-EB00-AA8B-4DCE-2DF58F6DDD35}"/>
                  </a:ext>
                </a:extLst>
              </p:cNvPr>
              <p:cNvSpPr txBox="1"/>
              <p:nvPr/>
            </p:nvSpPr>
            <p:spPr>
              <a:xfrm>
                <a:off x="10620120" y="4062623"/>
                <a:ext cx="343715" cy="2307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❄️</a:t>
                </a:r>
                <a:endParaRPr sz="2000"/>
              </a:p>
            </p:txBody>
          </p:sp>
          <p:sp>
            <p:nvSpPr>
              <p:cNvPr id="21" name="Google Shape;263;p12">
                <a:extLst>
                  <a:ext uri="{FF2B5EF4-FFF2-40B4-BE49-F238E27FC236}">
                    <a16:creationId xmlns:a16="http://schemas.microsoft.com/office/drawing/2014/main" id="{C949C96F-1D45-43C2-90C8-C06B047FB46F}"/>
                  </a:ext>
                </a:extLst>
              </p:cNvPr>
              <p:cNvSpPr txBox="1"/>
              <p:nvPr/>
            </p:nvSpPr>
            <p:spPr>
              <a:xfrm>
                <a:off x="10620120" y="4286149"/>
                <a:ext cx="343715" cy="2307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❄️</a:t>
                </a:r>
                <a:endParaRPr sz="2000"/>
              </a:p>
            </p:txBody>
          </p:sp>
        </p:grpSp>
        <p:pic>
          <p:nvPicPr>
            <p:cNvPr id="22" name="Google Shape;264;p12">
              <a:extLst>
                <a:ext uri="{FF2B5EF4-FFF2-40B4-BE49-F238E27FC236}">
                  <a16:creationId xmlns:a16="http://schemas.microsoft.com/office/drawing/2014/main" id="{850E86CB-29F3-4BF2-86F0-6D262ED80A9D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t="9879"/>
            <a:stretch/>
          </p:blipFill>
          <p:spPr>
            <a:xfrm>
              <a:off x="9527773" y="1409612"/>
              <a:ext cx="2223105" cy="115518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3" name="Google Shape;265;p12">
              <a:extLst>
                <a:ext uri="{FF2B5EF4-FFF2-40B4-BE49-F238E27FC236}">
                  <a16:creationId xmlns:a16="http://schemas.microsoft.com/office/drawing/2014/main" id="{1BB06722-0165-490B-B1A8-127B25EE0133}"/>
                </a:ext>
              </a:extLst>
            </p:cNvPr>
            <p:cNvCxnSpPr>
              <a:cxnSpLocks/>
              <a:stCxn id="22" idx="1"/>
            </p:cNvCxnSpPr>
            <p:nvPr/>
          </p:nvCxnSpPr>
          <p:spPr>
            <a:xfrm rot="10800000" flipH="1" flipV="1">
              <a:off x="9527772" y="1987205"/>
              <a:ext cx="530787" cy="689355"/>
            </a:xfrm>
            <a:prstGeom prst="bentConnector4">
              <a:avLst>
                <a:gd name="adj1" fmla="val -43068"/>
                <a:gd name="adj2" fmla="val 91894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" name="Google Shape;266;p12">
              <a:extLst>
                <a:ext uri="{FF2B5EF4-FFF2-40B4-BE49-F238E27FC236}">
                  <a16:creationId xmlns:a16="http://schemas.microsoft.com/office/drawing/2014/main" id="{C1461AD6-B20A-B4EB-AFBD-9BEA4CF97945}"/>
                </a:ext>
              </a:extLst>
            </p:cNvPr>
            <p:cNvCxnSpPr>
              <a:cxnSpLocks/>
            </p:cNvCxnSpPr>
            <p:nvPr/>
          </p:nvCxnSpPr>
          <p:spPr>
            <a:xfrm>
              <a:off x="10058562" y="2676563"/>
              <a:ext cx="0" cy="16651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98DB7-5636-E4D8-5A31-55B183DB80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126" y="1073237"/>
            <a:ext cx="11172450" cy="535491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sz="1400" dirty="0"/>
              <a:t>이번 실험에서 제외한 레이어</a:t>
            </a:r>
            <a:endParaRPr lang="en-US" altLang="ko-KR" sz="1400" dirty="0"/>
          </a:p>
          <a:p>
            <a:pPr lvl="1">
              <a:lnSpc>
                <a:spcPct val="100000"/>
              </a:lnSpc>
            </a:pPr>
            <a:r>
              <a:rPr lang="en-US" altLang="ko-KR" sz="1200" dirty="0"/>
              <a:t>0-2:</a:t>
            </a:r>
            <a:r>
              <a:rPr lang="ko-KR" altLang="en-US" sz="1200" dirty="0"/>
              <a:t> </a:t>
            </a:r>
            <a:r>
              <a:rPr lang="en-US" altLang="ko-KR" sz="1200" dirty="0"/>
              <a:t>raw acoustic</a:t>
            </a:r>
            <a:r>
              <a:rPr lang="ko-KR" altLang="en-US" sz="1200" dirty="0"/>
              <a:t> 비중이 너무 크고 </a:t>
            </a:r>
            <a:r>
              <a:rPr lang="en-US" altLang="ko-KR" sz="1200" dirty="0"/>
              <a:t>class </a:t>
            </a:r>
            <a:r>
              <a:rPr lang="ko-KR" altLang="en-US" sz="1200" dirty="0"/>
              <a:t>분리가 불안정할 수 있음</a:t>
            </a:r>
            <a:endParaRPr lang="en-US" altLang="ko-KR" sz="1200" dirty="0"/>
          </a:p>
          <a:p>
            <a:pPr lvl="1">
              <a:lnSpc>
                <a:spcPct val="100000"/>
              </a:lnSpc>
            </a:pPr>
            <a:r>
              <a:rPr lang="en-US" altLang="ko-KR" sz="1200" dirty="0"/>
              <a:t>11-12: late/final CTC</a:t>
            </a:r>
            <a:r>
              <a:rPr lang="ko-KR" altLang="en-US" sz="1200" dirty="0"/>
              <a:t>가 언어에 따라 </a:t>
            </a:r>
            <a:r>
              <a:rPr lang="ko-KR" altLang="en-US" sz="1200" dirty="0" err="1"/>
              <a:t>불안정했었음</a:t>
            </a:r>
            <a:r>
              <a:rPr lang="ko-KR" altLang="en-US" sz="1200" dirty="0"/>
              <a:t> </a:t>
            </a:r>
            <a:r>
              <a:rPr lang="en-US" altLang="ko-KR" sz="1200" dirty="0"/>
              <a:t>+</a:t>
            </a:r>
            <a:r>
              <a:rPr lang="ko-KR" altLang="en-US" sz="1200" dirty="0"/>
              <a:t> </a:t>
            </a:r>
            <a:r>
              <a:rPr lang="en-US" altLang="ko-KR" sz="1200" dirty="0"/>
              <a:t>text alignment bias</a:t>
            </a:r>
            <a:r>
              <a:rPr lang="ko-KR" altLang="en-US" sz="1200" dirty="0"/>
              <a:t>가 클 수 있음</a:t>
            </a:r>
            <a:endParaRPr lang="en-US" altLang="ko-KR" sz="1200" dirty="0"/>
          </a:p>
          <a:p>
            <a:pPr lvl="1">
              <a:lnSpc>
                <a:spcPct val="100000"/>
              </a:lnSpc>
            </a:pPr>
            <a:endParaRPr lang="en-US" altLang="ko-KR" sz="1200" dirty="0"/>
          </a:p>
          <a:p>
            <a:pPr lvl="1">
              <a:lnSpc>
                <a:spcPct val="100000"/>
              </a:lnSpc>
            </a:pPr>
            <a:endParaRPr lang="en-US" sz="1200" dirty="0"/>
          </a:p>
        </p:txBody>
      </p:sp>
      <p:pic>
        <p:nvPicPr>
          <p:cNvPr id="4" name="Google Shape;168;p6">
            <a:extLst>
              <a:ext uri="{FF2B5EF4-FFF2-40B4-BE49-F238E27FC236}">
                <a16:creationId xmlns:a16="http://schemas.microsoft.com/office/drawing/2014/main" id="{ECE1CACB-878C-695C-7A5B-78E7859CF42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1028" y="3527171"/>
            <a:ext cx="3279699" cy="1462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9;p6">
            <a:extLst>
              <a:ext uri="{FF2B5EF4-FFF2-40B4-BE49-F238E27FC236}">
                <a16:creationId xmlns:a16="http://schemas.microsoft.com/office/drawing/2014/main" id="{9A0AEB6B-F36B-5540-BCB2-1D04631CFCC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1661" y="1996697"/>
            <a:ext cx="3219066" cy="1435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70;p6">
            <a:extLst>
              <a:ext uri="{FF2B5EF4-FFF2-40B4-BE49-F238E27FC236}">
                <a16:creationId xmlns:a16="http://schemas.microsoft.com/office/drawing/2014/main" id="{5EA6F71A-71BB-1B0D-6683-F2331C8B931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51400" y="5084683"/>
            <a:ext cx="3309327" cy="14757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9589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DA735-6969-0777-464C-981A727BD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buSzPts val="1000"/>
            </a:pPr>
            <a:r>
              <a:rPr lang="en-US" altLang="ko-KR" dirty="0"/>
              <a:t>1.</a:t>
            </a:r>
            <a:r>
              <a:rPr lang="ko-KR" altLang="en-US" dirty="0"/>
              <a:t> </a:t>
            </a:r>
            <a:r>
              <a:rPr lang="en-US" dirty="0"/>
              <a:t>Laryngeal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후두 특성</a:t>
            </a:r>
            <a:r>
              <a:rPr lang="en-US" altLang="ko-KR" dirty="0"/>
              <a:t>):</a:t>
            </a:r>
            <a:r>
              <a:rPr lang="ko-KR" altLang="en-US" dirty="0"/>
              <a:t> </a:t>
            </a:r>
            <a:r>
              <a:rPr lang="en-US" altLang="ko-KR" dirty="0"/>
              <a:t>early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DAC7D-6FFD-7B56-82AA-777A1C30F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125" y="786522"/>
            <a:ext cx="11172450" cy="535491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sz="1400" dirty="0"/>
              <a:t>예사소리</a:t>
            </a:r>
            <a:r>
              <a:rPr lang="en-US" altLang="ko-KR" sz="1400" dirty="0"/>
              <a:t>/</a:t>
            </a:r>
            <a:r>
              <a:rPr lang="ko-KR" altLang="en-US" sz="1400" dirty="0"/>
              <a:t>된소리</a:t>
            </a:r>
            <a:r>
              <a:rPr lang="en-US" altLang="ko-KR" sz="1400" dirty="0"/>
              <a:t>/</a:t>
            </a:r>
            <a:r>
              <a:rPr lang="ko-KR" altLang="en-US" sz="1400" dirty="0" err="1"/>
              <a:t>거친소리</a:t>
            </a:r>
            <a:r>
              <a:rPr lang="en-US" altLang="ko-KR" sz="1400" dirty="0"/>
              <a:t>:</a:t>
            </a:r>
            <a:r>
              <a:rPr lang="ko-KR" altLang="en-US" sz="1400" dirty="0"/>
              <a:t> </a:t>
            </a:r>
            <a:r>
              <a:rPr lang="en-US" sz="1400" dirty="0" err="1"/>
              <a:t>ㄱ</a:t>
            </a:r>
            <a:r>
              <a:rPr lang="en-US" sz="1400" dirty="0"/>
              <a:t>/</a:t>
            </a:r>
            <a:r>
              <a:rPr lang="en-US" sz="1400" dirty="0" err="1"/>
              <a:t>ㄲ</a:t>
            </a:r>
            <a:r>
              <a:rPr lang="en-US" sz="1400" dirty="0"/>
              <a:t>/</a:t>
            </a:r>
            <a:r>
              <a:rPr lang="en-US" sz="1400" dirty="0" err="1"/>
              <a:t>ㅋ</a:t>
            </a:r>
            <a:r>
              <a:rPr lang="en-US" sz="1400" dirty="0"/>
              <a:t>, </a:t>
            </a:r>
            <a:r>
              <a:rPr lang="en-US" sz="1400" dirty="0" err="1"/>
              <a:t>ㄷ</a:t>
            </a:r>
            <a:r>
              <a:rPr lang="en-US" sz="1400" dirty="0"/>
              <a:t>/</a:t>
            </a:r>
            <a:r>
              <a:rPr lang="en-US" sz="1400" dirty="0" err="1"/>
              <a:t>ㄸ</a:t>
            </a:r>
            <a:r>
              <a:rPr lang="en-US" sz="1400" dirty="0"/>
              <a:t>/</a:t>
            </a:r>
            <a:r>
              <a:rPr lang="en-US" sz="1400" dirty="0" err="1"/>
              <a:t>ㅌ처럼</a:t>
            </a:r>
            <a:r>
              <a:rPr lang="en-US" sz="1400" dirty="0"/>
              <a:t> </a:t>
            </a:r>
            <a:r>
              <a:rPr lang="en-US" sz="1400" dirty="0" err="1"/>
              <a:t>평음</a:t>
            </a:r>
            <a:r>
              <a:rPr lang="en-US" sz="1400" dirty="0"/>
              <a:t>/</a:t>
            </a:r>
            <a:r>
              <a:rPr lang="en-US" sz="1400" dirty="0" err="1"/>
              <a:t>경음</a:t>
            </a:r>
            <a:r>
              <a:rPr lang="en-US" sz="1400" dirty="0"/>
              <a:t>/</a:t>
            </a:r>
            <a:r>
              <a:rPr lang="en-US" sz="1400" dirty="0" err="1"/>
              <a:t>격음을</a:t>
            </a:r>
            <a:r>
              <a:rPr lang="en-US" sz="1400" dirty="0"/>
              <a:t> </a:t>
            </a:r>
            <a:r>
              <a:rPr lang="en-US" sz="1400" dirty="0" err="1"/>
              <a:t>가르는</a:t>
            </a:r>
            <a:r>
              <a:rPr lang="en-US" sz="1400" dirty="0"/>
              <a:t> </a:t>
            </a:r>
            <a:r>
              <a:rPr lang="en-US" sz="1400" dirty="0" err="1"/>
              <a:t>정보</a:t>
            </a:r>
            <a:endParaRPr lang="en-US" sz="1400" dirty="0"/>
          </a:p>
          <a:p>
            <a:pPr>
              <a:lnSpc>
                <a:spcPct val="100000"/>
              </a:lnSpc>
            </a:pPr>
            <a:r>
              <a:rPr lang="ko-KR" altLang="en-US" sz="1400" dirty="0"/>
              <a:t>이러한 차이는 </a:t>
            </a:r>
            <a:r>
              <a:rPr lang="ko-KR" altLang="en-US" sz="1400" u="sng" dirty="0"/>
              <a:t>자음이 터지는 순간</a:t>
            </a:r>
            <a:r>
              <a:rPr lang="ko-KR" altLang="en-US" sz="1400" dirty="0"/>
              <a:t>과 </a:t>
            </a:r>
            <a:r>
              <a:rPr lang="ko-KR" altLang="en-US" sz="1400" u="sng" dirty="0"/>
              <a:t>그 직후의 아주 짧은 구간</a:t>
            </a:r>
            <a:r>
              <a:rPr lang="ko-KR" altLang="en-US" sz="1400" dirty="0"/>
              <a:t>에 많이 들어 있음</a:t>
            </a:r>
            <a:endParaRPr lang="en-US" altLang="ko-KR" sz="1400" dirty="0"/>
          </a:p>
          <a:p>
            <a:pPr lvl="1">
              <a:lnSpc>
                <a:spcPct val="100000"/>
              </a:lnSpc>
            </a:pPr>
            <a:r>
              <a:rPr lang="ko-KR" altLang="en-US" sz="1200" dirty="0"/>
              <a:t>언제 성대 진동이 시작되는지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</a:rPr>
              <a:t>VOT)</a:t>
            </a:r>
          </a:p>
          <a:p>
            <a:pPr lvl="1">
              <a:lnSpc>
                <a:spcPct val="100000"/>
              </a:lnSpc>
            </a:pPr>
            <a:r>
              <a:rPr lang="ko-KR" altLang="en-US" sz="1200" dirty="0"/>
              <a:t>숨이 얼마나 세게 빠지는지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</a:rPr>
              <a:t>aspiration)</a:t>
            </a:r>
          </a:p>
          <a:p>
            <a:pPr lvl="1">
              <a:lnSpc>
                <a:spcPct val="100000"/>
              </a:lnSpc>
            </a:pPr>
            <a:r>
              <a:rPr lang="ko-KR" altLang="en-US" sz="1200" dirty="0"/>
              <a:t>바로 뒤 모음이 어떤 </a:t>
            </a:r>
            <a:r>
              <a:rPr lang="en-US" sz="1200" dirty="0"/>
              <a:t>pitch</a:t>
            </a:r>
            <a:r>
              <a:rPr lang="ko-KR" altLang="en-US" sz="1200" dirty="0"/>
              <a:t>로 시작하는지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</a:rPr>
              <a:t>onset F0)</a:t>
            </a:r>
          </a:p>
          <a:p>
            <a:pPr>
              <a:lnSpc>
                <a:spcPct val="100000"/>
              </a:lnSpc>
            </a:pPr>
            <a:r>
              <a:rPr lang="ko-KR" altLang="en-US" sz="1400" dirty="0"/>
              <a:t>이런 신호는 소리 초반의 짧은 구간에 몰려 있기 때문에</a:t>
            </a:r>
            <a:r>
              <a:rPr lang="en-US" altLang="ko-KR" sz="1400" dirty="0"/>
              <a:t>,</a:t>
            </a:r>
            <a:br>
              <a:rPr lang="en-US" altLang="ko-KR" sz="1400" dirty="0"/>
            </a:br>
            <a:r>
              <a:rPr lang="ko-KR" altLang="en-US" sz="1400" dirty="0"/>
              <a:t>모델 안에서도 입력 음향에 더 가까운 이른 레이어가 이 정보를 더 직접적으로 갖고 있을 가능성이 크다</a:t>
            </a:r>
            <a:r>
              <a:rPr lang="en-US" altLang="ko-KR" sz="1400" dirty="0"/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1400" dirty="0"/>
              <a:t>Aspiration (</a:t>
            </a:r>
            <a:r>
              <a:rPr lang="ko-KR" altLang="en-US" sz="1400" dirty="0"/>
              <a:t>거센소리</a:t>
            </a:r>
            <a:r>
              <a:rPr lang="en-US" altLang="ko-KR" sz="1400" dirty="0"/>
              <a:t>)</a:t>
            </a:r>
            <a:r>
              <a:rPr lang="ko-KR" altLang="en-US" sz="1400" dirty="0"/>
              <a:t> 관련 논문으로부터 얻을 수 있는 보조 근거*</a:t>
            </a:r>
            <a:endParaRPr lang="en-US" altLang="ko-KR" sz="1400" dirty="0"/>
          </a:p>
          <a:p>
            <a:pPr lvl="1">
              <a:lnSpc>
                <a:spcPct val="100000"/>
              </a:lnSpc>
            </a:pPr>
            <a:r>
              <a:rPr lang="en-US" altLang="ko-KR" sz="1200" dirty="0" err="1"/>
              <a:t>HuBERT</a:t>
            </a:r>
            <a:r>
              <a:rPr lang="ko-KR" altLang="en-US" sz="1200" dirty="0"/>
              <a:t>의 초반 레이어에서 </a:t>
            </a:r>
            <a:r>
              <a:rPr lang="en-US" altLang="ko-KR" sz="1200" dirty="0"/>
              <a:t>Aspiration </a:t>
            </a:r>
            <a:r>
              <a:rPr lang="ko-KR" altLang="en-US" sz="1200" dirty="0"/>
              <a:t>구분이 이미 끝난다</a:t>
            </a:r>
            <a:r>
              <a:rPr lang="en-US" altLang="ko-KR" sz="1200" dirty="0"/>
              <a:t>.</a:t>
            </a:r>
          </a:p>
          <a:p>
            <a:pPr lvl="1">
              <a:lnSpc>
                <a:spcPct val="100000"/>
              </a:lnSpc>
            </a:pPr>
            <a:endParaRPr lang="en-US" altLang="ko-KR" sz="1200" dirty="0"/>
          </a:p>
          <a:p>
            <a:pPr lvl="1">
              <a:lnSpc>
                <a:spcPct val="100000"/>
              </a:lnSpc>
            </a:pPr>
            <a:endParaRPr lang="en-US" altLang="ko-KR" sz="1000" dirty="0"/>
          </a:p>
          <a:p>
            <a:pPr lvl="1">
              <a:lnSpc>
                <a:spcPct val="100000"/>
              </a:lnSpc>
            </a:pPr>
            <a:endParaRPr lang="en-US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631E20-D41F-1D96-517C-A4C57B06C3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35"/>
          <a:stretch>
            <a:fillRect/>
          </a:stretch>
        </p:blipFill>
        <p:spPr>
          <a:xfrm>
            <a:off x="1164714" y="3463980"/>
            <a:ext cx="4294094" cy="27539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0F3825-0468-92F6-B301-84F2DDF054C1}"/>
              </a:ext>
            </a:extLst>
          </p:cNvPr>
          <p:cNvSpPr txBox="1"/>
          <p:nvPr/>
        </p:nvSpPr>
        <p:spPr>
          <a:xfrm>
            <a:off x="0" y="6304002"/>
            <a:ext cx="755206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>
                <a:solidFill>
                  <a:schemeClr val="bg1">
                    <a:lumMod val="50000"/>
                  </a:schemeClr>
                </a:solidFill>
              </a:rPr>
              <a:t>Cho et al. (2002), Acoustic and aerodynamic correlates of Korean stops and fricatives</a:t>
            </a:r>
          </a:p>
          <a:p>
            <a:r>
              <a:rPr lang="en-US" sz="1000" i="1" dirty="0">
                <a:solidFill>
                  <a:schemeClr val="bg1">
                    <a:lumMod val="50000"/>
                  </a:schemeClr>
                </a:solidFill>
              </a:rPr>
              <a:t>Kang (2022), The Phonology and Phonetics of Korean Stop Laryngeal Contrasts</a:t>
            </a:r>
          </a:p>
          <a:p>
            <a:r>
              <a:rPr lang="ko-KR" altLang="en-US" sz="1000" i="1" dirty="0">
                <a:solidFill>
                  <a:schemeClr val="bg1">
                    <a:lumMod val="50000"/>
                  </a:schemeClr>
                </a:solidFill>
              </a:rPr>
              <a:t>*</a:t>
            </a:r>
            <a:r>
              <a:rPr lang="en-US" sz="1000" i="1" dirty="0">
                <a:solidFill>
                  <a:schemeClr val="bg1">
                    <a:lumMod val="50000"/>
                  </a:schemeClr>
                </a:solidFill>
              </a:rPr>
              <a:t>Martin et al. (2023), Probing self-supervised speech models for phonetic and phonemic information: a case study in aspiration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1D17D13-2DF7-B25D-00AC-9E1F4B381C78}"/>
              </a:ext>
            </a:extLst>
          </p:cNvPr>
          <p:cNvGrpSpPr/>
          <p:nvPr/>
        </p:nvGrpSpPr>
        <p:grpSpPr>
          <a:xfrm>
            <a:off x="9914963" y="1"/>
            <a:ext cx="2231136" cy="2052918"/>
            <a:chOff x="6046914" y="3078303"/>
            <a:chExt cx="3899251" cy="3685721"/>
          </a:xfrm>
        </p:grpSpPr>
        <p:pic>
          <p:nvPicPr>
            <p:cNvPr id="8" name="Picture 2" descr="자음동화의 종류, 조음위치 동화와 조음방법 동화 : 네이버 블로그">
              <a:extLst>
                <a:ext uri="{FF2B5EF4-FFF2-40B4-BE49-F238E27FC236}">
                  <a16:creationId xmlns:a16="http://schemas.microsoft.com/office/drawing/2014/main" id="{D9A87B8E-94AD-16CC-7DAF-57912CE1B2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46914" y="3078303"/>
              <a:ext cx="3899251" cy="36857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502AC36-75F2-BBDA-5C27-B96E420336A7}"/>
                </a:ext>
              </a:extLst>
            </p:cNvPr>
            <p:cNvSpPr/>
            <p:nvPr/>
          </p:nvSpPr>
          <p:spPr>
            <a:xfrm>
              <a:off x="7342632" y="3803904"/>
              <a:ext cx="438912" cy="868680"/>
            </a:xfrm>
            <a:prstGeom prst="rect">
              <a:avLst/>
            </a:prstGeom>
            <a:solidFill>
              <a:srgbClr val="C00000">
                <a:alpha val="4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B6ADF76-D604-C096-A418-917549264A58}"/>
                </a:ext>
              </a:extLst>
            </p:cNvPr>
            <p:cNvSpPr/>
            <p:nvPr/>
          </p:nvSpPr>
          <p:spPr>
            <a:xfrm>
              <a:off x="7781544" y="3803904"/>
              <a:ext cx="438912" cy="868680"/>
            </a:xfrm>
            <a:prstGeom prst="rect">
              <a:avLst/>
            </a:prstGeom>
            <a:solidFill>
              <a:schemeClr val="accent2">
                <a:alpha val="4902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F53E15B-CCA0-89FC-54AD-6430A8BD0220}"/>
                </a:ext>
              </a:extLst>
            </p:cNvPr>
            <p:cNvSpPr/>
            <p:nvPr/>
          </p:nvSpPr>
          <p:spPr>
            <a:xfrm>
              <a:off x="7772902" y="5522976"/>
              <a:ext cx="438912" cy="629668"/>
            </a:xfrm>
            <a:prstGeom prst="rect">
              <a:avLst/>
            </a:prstGeom>
            <a:solidFill>
              <a:srgbClr val="0070C0">
                <a:alpha val="4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D6FA155-696F-182E-A94E-2828F2FABC8C}"/>
              </a:ext>
            </a:extLst>
          </p:cNvPr>
          <p:cNvGrpSpPr/>
          <p:nvPr/>
        </p:nvGrpSpPr>
        <p:grpSpPr>
          <a:xfrm>
            <a:off x="9923927" y="2048541"/>
            <a:ext cx="2198607" cy="1006951"/>
            <a:chOff x="7745828" y="3638063"/>
            <a:chExt cx="3890530" cy="1865910"/>
          </a:xfrm>
        </p:grpSpPr>
        <p:pic>
          <p:nvPicPr>
            <p:cNvPr id="13" name="Picture 4" descr="모음체계(단모음)">
              <a:extLst>
                <a:ext uri="{FF2B5EF4-FFF2-40B4-BE49-F238E27FC236}">
                  <a16:creationId xmlns:a16="http://schemas.microsoft.com/office/drawing/2014/main" id="{BFB931FF-A41B-BD40-5E78-5E6CF71F77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45828" y="3638063"/>
              <a:ext cx="3890530" cy="18659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6FB294E-2B7D-5D49-E307-9C52CE1BB296}"/>
                </a:ext>
              </a:extLst>
            </p:cNvPr>
            <p:cNvSpPr/>
            <p:nvPr/>
          </p:nvSpPr>
          <p:spPr>
            <a:xfrm>
              <a:off x="8929025" y="4546348"/>
              <a:ext cx="663211" cy="948660"/>
            </a:xfrm>
            <a:prstGeom prst="rect">
              <a:avLst/>
            </a:prstGeom>
            <a:solidFill>
              <a:srgbClr val="C00000">
                <a:alpha val="4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AF76D89-BBD9-4759-E38D-BA072DCEFFB9}"/>
                </a:ext>
              </a:extLst>
            </p:cNvPr>
            <p:cNvSpPr/>
            <p:nvPr/>
          </p:nvSpPr>
          <p:spPr>
            <a:xfrm>
              <a:off x="9606033" y="4553088"/>
              <a:ext cx="663211" cy="623475"/>
            </a:xfrm>
            <a:prstGeom prst="rect">
              <a:avLst/>
            </a:prstGeom>
            <a:solidFill>
              <a:schemeClr val="accent2">
                <a:alpha val="4902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CDFB906-090B-6290-7C4A-23D73AFB9EC3}"/>
                </a:ext>
              </a:extLst>
            </p:cNvPr>
            <p:cNvSpPr/>
            <p:nvPr/>
          </p:nvSpPr>
          <p:spPr>
            <a:xfrm>
              <a:off x="10278209" y="4553088"/>
              <a:ext cx="663211" cy="948660"/>
            </a:xfrm>
            <a:prstGeom prst="rect">
              <a:avLst/>
            </a:prstGeom>
            <a:solidFill>
              <a:srgbClr val="00B0F0">
                <a:alpha val="4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5E8C9C2-13A3-D483-09C2-28006190DEB0}"/>
                </a:ext>
              </a:extLst>
            </p:cNvPr>
            <p:cNvSpPr/>
            <p:nvPr/>
          </p:nvSpPr>
          <p:spPr>
            <a:xfrm>
              <a:off x="10950385" y="4553088"/>
              <a:ext cx="663211" cy="62347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4902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</a:endParaRPr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80D85DC-CFDF-ED74-50FA-D3323C05F0E3}"/>
              </a:ext>
            </a:extLst>
          </p:cNvPr>
          <p:cNvCxnSpPr/>
          <p:nvPr/>
        </p:nvCxnSpPr>
        <p:spPr>
          <a:xfrm>
            <a:off x="10656368" y="404155"/>
            <a:ext cx="0" cy="483848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9551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CA03A-F42F-8F0D-E69A-99C46224F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2. place(</a:t>
            </a:r>
            <a:r>
              <a:rPr lang="en-US" dirty="0" err="1"/>
              <a:t>조음</a:t>
            </a:r>
            <a:r>
              <a:rPr lang="en-US" dirty="0"/>
              <a:t> </a:t>
            </a:r>
            <a:r>
              <a:rPr lang="en-US" dirty="0" err="1"/>
              <a:t>위치</a:t>
            </a:r>
            <a:r>
              <a:rPr lang="en-US" dirty="0"/>
              <a:t>): early-mid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4AB990-6E8E-D08F-26D7-74737E711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125" y="1137958"/>
            <a:ext cx="9459931" cy="535491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400" dirty="0" err="1"/>
              <a:t>어디에서</a:t>
            </a:r>
            <a:r>
              <a:rPr lang="en-US" sz="1400" dirty="0"/>
              <a:t> </a:t>
            </a:r>
            <a:r>
              <a:rPr lang="en-US" sz="1400" dirty="0" err="1"/>
              <a:t>막고</a:t>
            </a:r>
            <a:r>
              <a:rPr lang="en-US" sz="1400" dirty="0"/>
              <a:t> </a:t>
            </a:r>
            <a:r>
              <a:rPr lang="en-US" sz="1400" dirty="0" err="1"/>
              <a:t>터뜨렸는가를</a:t>
            </a:r>
            <a:r>
              <a:rPr lang="en-US" sz="1400" dirty="0"/>
              <a:t> </a:t>
            </a:r>
            <a:r>
              <a:rPr lang="en-US" sz="1400" dirty="0" err="1"/>
              <a:t>구분하는</a:t>
            </a:r>
            <a:r>
              <a:rPr lang="en-US" sz="1400" dirty="0"/>
              <a:t> </a:t>
            </a:r>
            <a:r>
              <a:rPr lang="en-US" sz="1400" dirty="0" err="1"/>
              <a:t>정보</a:t>
            </a:r>
            <a:endParaRPr lang="en-US" sz="1400" dirty="0"/>
          </a:p>
          <a:p>
            <a:pPr lvl="1">
              <a:lnSpc>
                <a:spcPct val="100000"/>
              </a:lnSpc>
            </a:pPr>
            <a:r>
              <a:rPr lang="ko-KR" altLang="en-US" sz="1200" dirty="0"/>
              <a:t>입술 소리 </a:t>
            </a:r>
            <a:r>
              <a:rPr lang="en-US" altLang="ko-KR" sz="1200" dirty="0"/>
              <a:t>(</a:t>
            </a:r>
            <a:r>
              <a:rPr lang="en-US" sz="1200" dirty="0"/>
              <a:t>bilabial</a:t>
            </a:r>
            <a:r>
              <a:rPr lang="en-US" altLang="ko-KR" sz="1200" dirty="0"/>
              <a:t>)</a:t>
            </a:r>
          </a:p>
          <a:p>
            <a:pPr lvl="1">
              <a:lnSpc>
                <a:spcPct val="100000"/>
              </a:lnSpc>
            </a:pPr>
            <a:r>
              <a:rPr lang="ko-KR" altLang="en-US" sz="1200" dirty="0"/>
              <a:t>혀끝 소리 </a:t>
            </a:r>
            <a:r>
              <a:rPr lang="en-US" altLang="ko-KR" sz="1200" dirty="0"/>
              <a:t>(</a:t>
            </a:r>
            <a:r>
              <a:rPr lang="en-US" sz="1200" dirty="0"/>
              <a:t>alveolar</a:t>
            </a:r>
            <a:r>
              <a:rPr lang="en-US" altLang="ko-KR" sz="1200" dirty="0"/>
              <a:t>)</a:t>
            </a:r>
          </a:p>
          <a:p>
            <a:pPr lvl="1">
              <a:lnSpc>
                <a:spcPct val="100000"/>
              </a:lnSpc>
            </a:pPr>
            <a:r>
              <a:rPr lang="ko-KR" altLang="en-US" sz="1200" dirty="0" err="1"/>
              <a:t>센입천장</a:t>
            </a:r>
            <a:r>
              <a:rPr lang="ko-KR" altLang="en-US" sz="1200" dirty="0"/>
              <a:t> 소리 </a:t>
            </a:r>
            <a:r>
              <a:rPr lang="en-US" altLang="ko-KR" sz="1200" dirty="0"/>
              <a:t>(</a:t>
            </a:r>
            <a:r>
              <a:rPr lang="en-US" sz="1200" dirty="0"/>
              <a:t>alveolo-palatal</a:t>
            </a:r>
            <a:r>
              <a:rPr lang="en-US" altLang="ko-KR" sz="1200" dirty="0"/>
              <a:t>)</a:t>
            </a:r>
          </a:p>
          <a:p>
            <a:pPr lvl="1">
              <a:lnSpc>
                <a:spcPct val="100000"/>
              </a:lnSpc>
            </a:pPr>
            <a:r>
              <a:rPr lang="ko-KR" altLang="en-US" sz="1200" dirty="0"/>
              <a:t>여린입천장 소리 </a:t>
            </a:r>
            <a:r>
              <a:rPr lang="en-US" altLang="ko-KR" sz="1200" dirty="0"/>
              <a:t>(</a:t>
            </a:r>
            <a:r>
              <a:rPr lang="en-US" sz="1200" dirty="0"/>
              <a:t>velar</a:t>
            </a:r>
            <a:r>
              <a:rPr lang="en-US" altLang="ko-KR" sz="1200" dirty="0"/>
              <a:t>)</a:t>
            </a:r>
          </a:p>
          <a:p>
            <a:pPr lvl="1">
              <a:lnSpc>
                <a:spcPct val="100000"/>
              </a:lnSpc>
            </a:pPr>
            <a:r>
              <a:rPr lang="ko-KR" altLang="en-US" sz="1200" dirty="0"/>
              <a:t>목청 소리 </a:t>
            </a:r>
            <a:r>
              <a:rPr lang="en-US" altLang="ko-KR" sz="1200" dirty="0"/>
              <a:t>(</a:t>
            </a:r>
            <a:r>
              <a:rPr lang="en-US" sz="1200" dirty="0"/>
              <a:t>glottal</a:t>
            </a:r>
            <a:r>
              <a:rPr lang="en-US" altLang="ko-KR" sz="1200" dirty="0"/>
              <a:t>)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place</a:t>
            </a:r>
            <a:r>
              <a:rPr lang="ko-KR" altLang="en-US" sz="1400" dirty="0"/>
              <a:t>는 </a:t>
            </a:r>
            <a:r>
              <a:rPr lang="en-US" sz="1400" dirty="0"/>
              <a:t>laryngeal</a:t>
            </a:r>
            <a:r>
              <a:rPr lang="ko-KR" altLang="en-US" sz="1400" dirty="0" err="1"/>
              <a:t>처럼</a:t>
            </a:r>
            <a:r>
              <a:rPr lang="ko-KR" altLang="en-US" sz="1400" dirty="0"/>
              <a:t> 아주 순간적인 정보만 보는 것도 아니고</a:t>
            </a:r>
            <a:r>
              <a:rPr lang="en-US" altLang="ko-KR" sz="1400" dirty="0"/>
              <a:t>, </a:t>
            </a:r>
            <a:r>
              <a:rPr lang="ko-KR" altLang="en-US" sz="1400" dirty="0"/>
              <a:t>반대로 모음처럼 긴 안정 구간을 보는 것도 아님*</a:t>
            </a:r>
            <a:endParaRPr lang="en-US" altLang="ko-KR" sz="1400" dirty="0"/>
          </a:p>
          <a:p>
            <a:pPr lvl="1">
              <a:lnSpc>
                <a:spcPct val="100000"/>
              </a:lnSpc>
            </a:pPr>
            <a:r>
              <a:rPr lang="en-US" sz="1200" dirty="0"/>
              <a:t>Burst: </a:t>
            </a:r>
            <a:r>
              <a:rPr lang="ko-KR" altLang="en-US" sz="1200" dirty="0"/>
              <a:t>자음이 터질 때 나는 아주 짧은 소리</a:t>
            </a:r>
            <a:endParaRPr lang="en-US" altLang="ko-KR" sz="1200" dirty="0"/>
          </a:p>
          <a:p>
            <a:pPr lvl="1">
              <a:lnSpc>
                <a:spcPct val="100000"/>
              </a:lnSpc>
            </a:pPr>
            <a:r>
              <a:rPr lang="en-US" altLang="ko-KR" sz="1200" dirty="0"/>
              <a:t>release noise: </a:t>
            </a:r>
            <a:r>
              <a:rPr lang="ko-KR" altLang="en-US" sz="1200" dirty="0"/>
              <a:t>터진 직후 잠깐 나는 잡음</a:t>
            </a:r>
          </a:p>
          <a:p>
            <a:pPr lvl="1">
              <a:lnSpc>
                <a:spcPct val="100000"/>
              </a:lnSpc>
            </a:pPr>
            <a:r>
              <a:rPr lang="en-US" sz="1200" dirty="0"/>
              <a:t>spectral shape: </a:t>
            </a:r>
            <a:r>
              <a:rPr lang="ko-KR" altLang="en-US" sz="1200" dirty="0"/>
              <a:t>그 짧은 소리의 주파수 모양</a:t>
            </a:r>
          </a:p>
          <a:p>
            <a:pPr lvl="1">
              <a:lnSpc>
                <a:spcPct val="100000"/>
              </a:lnSpc>
            </a:pPr>
            <a:r>
              <a:rPr lang="en-US" sz="1200" dirty="0"/>
              <a:t>formant transition</a:t>
            </a:r>
            <a:r>
              <a:rPr lang="en-US" altLang="ko-KR" sz="1200" dirty="0"/>
              <a:t>(</a:t>
            </a:r>
            <a:r>
              <a:rPr lang="en-US" sz="1200" dirty="0"/>
              <a:t>following-vowel</a:t>
            </a:r>
            <a:r>
              <a:rPr lang="en-US" altLang="ko-KR" sz="1200" dirty="0"/>
              <a:t>)</a:t>
            </a:r>
            <a:r>
              <a:rPr lang="en-US" sz="1200" dirty="0"/>
              <a:t>: </a:t>
            </a:r>
            <a:r>
              <a:rPr lang="ko-KR" altLang="en-US" sz="1200" dirty="0"/>
              <a:t>자음 다음 모음으로 넘어갈 때 소리 모양이 어떻게 변하는지</a:t>
            </a:r>
            <a:endParaRPr lang="en-US" altLang="ko-KR" sz="1200" dirty="0"/>
          </a:p>
          <a:p>
            <a:pPr>
              <a:lnSpc>
                <a:spcPct val="100000"/>
              </a:lnSpc>
            </a:pPr>
            <a:r>
              <a:rPr lang="ko-KR" altLang="en-US" sz="1400" dirty="0"/>
              <a:t>예시</a:t>
            </a:r>
            <a:r>
              <a:rPr lang="en-US" altLang="ko-KR" sz="1400" dirty="0"/>
              <a:t>:</a:t>
            </a:r>
          </a:p>
          <a:p>
            <a:pPr lvl="1">
              <a:lnSpc>
                <a:spcPct val="100000"/>
              </a:lnSpc>
            </a:pPr>
            <a:r>
              <a:rPr lang="ko-KR" altLang="en-US" sz="1200" dirty="0" err="1"/>
              <a:t>ㄱ</a:t>
            </a:r>
            <a:r>
              <a:rPr lang="ko-KR" altLang="en-US" sz="1200" dirty="0"/>
              <a:t> 같은 연구개음은 뒤쪽에서 만들어져서 </a:t>
            </a:r>
            <a:r>
              <a:rPr lang="en-US" altLang="ko-KR" sz="1200" dirty="0">
                <a:sym typeface="Wingdings" pitchFamily="2" charset="2"/>
              </a:rPr>
              <a:t></a:t>
            </a:r>
            <a:r>
              <a:rPr lang="ko-KR" altLang="en-US" sz="1200" dirty="0">
                <a:sym typeface="Wingdings" pitchFamily="2" charset="2"/>
              </a:rPr>
              <a:t> </a:t>
            </a:r>
            <a:r>
              <a:rPr lang="ko-KR" altLang="en-US" sz="1200" dirty="0"/>
              <a:t>뒤따르는 모음으로 넘어갈 때 </a:t>
            </a:r>
            <a:r>
              <a:rPr lang="en-US" altLang="ko-KR" sz="1200" dirty="0"/>
              <a:t>transition </a:t>
            </a:r>
            <a:r>
              <a:rPr lang="ko-KR" altLang="en-US" sz="1200" dirty="0"/>
              <a:t>패턴이 다르고</a:t>
            </a:r>
          </a:p>
          <a:p>
            <a:pPr lvl="1">
              <a:lnSpc>
                <a:spcPct val="100000"/>
              </a:lnSpc>
            </a:pPr>
            <a:r>
              <a:rPr lang="ko-KR" altLang="en-US" sz="1200" dirty="0" err="1"/>
              <a:t>ㄷ</a:t>
            </a:r>
            <a:r>
              <a:rPr lang="ko-KR" altLang="en-US" sz="1200" dirty="0"/>
              <a:t> 같은 치조음은 앞쪽에서 만들어져서 </a:t>
            </a:r>
            <a:r>
              <a:rPr lang="en-US" altLang="ko-KR" sz="1200" dirty="0">
                <a:sym typeface="Wingdings" pitchFamily="2" charset="2"/>
              </a:rPr>
              <a:t></a:t>
            </a:r>
            <a:r>
              <a:rPr lang="ko-KR" altLang="en-US" sz="1200" dirty="0">
                <a:sym typeface="Wingdings" pitchFamily="2" charset="2"/>
              </a:rPr>
              <a:t> </a:t>
            </a:r>
            <a:r>
              <a:rPr lang="ko-KR" altLang="en-US" sz="1200" dirty="0"/>
              <a:t>또 다른 </a:t>
            </a:r>
            <a:r>
              <a:rPr lang="en-US" altLang="ko-KR" sz="1200" dirty="0"/>
              <a:t>transition </a:t>
            </a:r>
            <a:r>
              <a:rPr lang="ko-KR" altLang="en-US" sz="1200" dirty="0"/>
              <a:t>패턴이 나옴</a:t>
            </a:r>
          </a:p>
          <a:p>
            <a:pPr>
              <a:lnSpc>
                <a:spcPct val="100000"/>
              </a:lnSpc>
            </a:pPr>
            <a:r>
              <a:rPr lang="en-US" altLang="ko-KR" sz="1400" i="1" dirty="0"/>
              <a:t>“</a:t>
            </a:r>
            <a:r>
              <a:rPr lang="ko-KR" altLang="en-US" sz="1400" i="1" dirty="0"/>
              <a:t>자음 터지는 순간 </a:t>
            </a:r>
            <a:r>
              <a:rPr lang="en-US" altLang="ko-KR" sz="1400" i="1" dirty="0"/>
              <a:t>+</a:t>
            </a:r>
            <a:r>
              <a:rPr lang="ko-KR" altLang="en-US" sz="1400" i="1" dirty="0"/>
              <a:t> 그 다음 모음으로 넘어가는 짧은 변화</a:t>
            </a:r>
            <a:r>
              <a:rPr lang="en-US" altLang="ko-KR" sz="1400" i="1" dirty="0"/>
              <a:t>”</a:t>
            </a:r>
            <a:r>
              <a:rPr lang="ko-KR" altLang="en-US" sz="1400" i="1" dirty="0"/>
              <a:t> </a:t>
            </a:r>
            <a:r>
              <a:rPr lang="ko-KR" altLang="en-US" sz="1400" dirty="0"/>
              <a:t>까지 같이 봐야 잘 구분되는 경우가 많음</a:t>
            </a:r>
          </a:p>
          <a:p>
            <a:pPr>
              <a:lnSpc>
                <a:spcPct val="100000"/>
              </a:lnSpc>
            </a:pPr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FD46BF-149F-CFB8-1B07-B8AF6D5BCA88}"/>
              </a:ext>
            </a:extLst>
          </p:cNvPr>
          <p:cNvSpPr txBox="1"/>
          <p:nvPr/>
        </p:nvSpPr>
        <p:spPr>
          <a:xfrm>
            <a:off x="0" y="6304002"/>
            <a:ext cx="622638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i="1" dirty="0">
                <a:solidFill>
                  <a:schemeClr val="bg1">
                    <a:lumMod val="50000"/>
                  </a:schemeClr>
                </a:solidFill>
              </a:rPr>
              <a:t>*</a:t>
            </a:r>
            <a:r>
              <a:rPr lang="en-US" sz="1000" i="1" dirty="0">
                <a:solidFill>
                  <a:schemeClr val="bg1">
                    <a:lumMod val="50000"/>
                  </a:schemeClr>
                </a:solidFill>
              </a:rPr>
              <a:t>Chen &amp; Alwan (2000), Place of articulation cues for voiced and voiceless fricatives in syllable-initial position</a:t>
            </a:r>
          </a:p>
          <a:p>
            <a:r>
              <a:rPr lang="en-US" sz="1000" i="1" dirty="0">
                <a:solidFill>
                  <a:schemeClr val="bg1">
                    <a:lumMod val="50000"/>
                  </a:schemeClr>
                </a:solidFill>
              </a:rPr>
              <a:t>Cho, Jun, Ladefoged (2002), Acoustic and aerodynamic correlates of Korean stops and fricatives</a:t>
            </a:r>
          </a:p>
          <a:p>
            <a:r>
              <a:rPr lang="en-US" sz="1000" i="1" dirty="0">
                <a:solidFill>
                  <a:schemeClr val="bg1">
                    <a:lumMod val="50000"/>
                  </a:schemeClr>
                </a:solidFill>
              </a:rPr>
              <a:t>Pasad et al. (2023), Comparative layer-wise analysis of self-supervised speech models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4A95E39-A32C-B8AB-4A80-6E950D94CB2B}"/>
              </a:ext>
            </a:extLst>
          </p:cNvPr>
          <p:cNvGrpSpPr/>
          <p:nvPr/>
        </p:nvGrpSpPr>
        <p:grpSpPr>
          <a:xfrm>
            <a:off x="9914963" y="1"/>
            <a:ext cx="2231136" cy="2052918"/>
            <a:chOff x="6046914" y="3078303"/>
            <a:chExt cx="3899251" cy="3685721"/>
          </a:xfrm>
        </p:grpSpPr>
        <p:pic>
          <p:nvPicPr>
            <p:cNvPr id="6" name="Picture 2" descr="자음동화의 종류, 조음위치 동화와 조음방법 동화 : 네이버 블로그">
              <a:extLst>
                <a:ext uri="{FF2B5EF4-FFF2-40B4-BE49-F238E27FC236}">
                  <a16:creationId xmlns:a16="http://schemas.microsoft.com/office/drawing/2014/main" id="{C0B6888F-CFD3-DCA4-5CFD-7FA7F0B4BB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46914" y="3078303"/>
              <a:ext cx="3899251" cy="36857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80E9102-947A-2FDD-8FF7-5C05CF2C44B4}"/>
                </a:ext>
              </a:extLst>
            </p:cNvPr>
            <p:cNvSpPr/>
            <p:nvPr/>
          </p:nvSpPr>
          <p:spPr>
            <a:xfrm>
              <a:off x="7342632" y="3803904"/>
              <a:ext cx="438912" cy="868680"/>
            </a:xfrm>
            <a:prstGeom prst="rect">
              <a:avLst/>
            </a:prstGeom>
            <a:solidFill>
              <a:srgbClr val="C00000">
                <a:alpha val="4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AF8B5E9-8C4E-717C-4FD3-56589C0909FC}"/>
                </a:ext>
              </a:extLst>
            </p:cNvPr>
            <p:cNvSpPr/>
            <p:nvPr/>
          </p:nvSpPr>
          <p:spPr>
            <a:xfrm>
              <a:off x="7781544" y="3803904"/>
              <a:ext cx="438912" cy="868680"/>
            </a:xfrm>
            <a:prstGeom prst="rect">
              <a:avLst/>
            </a:prstGeom>
            <a:solidFill>
              <a:schemeClr val="accent2">
                <a:alpha val="4902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88E0AD0-53DD-176E-AF2F-523C92BE92D6}"/>
                </a:ext>
              </a:extLst>
            </p:cNvPr>
            <p:cNvSpPr/>
            <p:nvPr/>
          </p:nvSpPr>
          <p:spPr>
            <a:xfrm>
              <a:off x="7772902" y="5522976"/>
              <a:ext cx="438912" cy="629668"/>
            </a:xfrm>
            <a:prstGeom prst="rect">
              <a:avLst/>
            </a:prstGeom>
            <a:solidFill>
              <a:srgbClr val="0070C0">
                <a:alpha val="4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DFA0E9-B816-85D0-0C6B-A1BF2AD6B405}"/>
              </a:ext>
            </a:extLst>
          </p:cNvPr>
          <p:cNvGrpSpPr/>
          <p:nvPr/>
        </p:nvGrpSpPr>
        <p:grpSpPr>
          <a:xfrm>
            <a:off x="9923927" y="2048541"/>
            <a:ext cx="2198607" cy="1006951"/>
            <a:chOff x="7745828" y="3638063"/>
            <a:chExt cx="3890530" cy="1865910"/>
          </a:xfrm>
        </p:grpSpPr>
        <p:pic>
          <p:nvPicPr>
            <p:cNvPr id="11" name="Picture 4" descr="모음체계(단모음)">
              <a:extLst>
                <a:ext uri="{FF2B5EF4-FFF2-40B4-BE49-F238E27FC236}">
                  <a16:creationId xmlns:a16="http://schemas.microsoft.com/office/drawing/2014/main" id="{4456A443-DDEE-7EFB-5F43-E6C7C7CC8A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45828" y="3638063"/>
              <a:ext cx="3890530" cy="18659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4E71F9E-5C90-7237-68BF-811A3DB3E762}"/>
                </a:ext>
              </a:extLst>
            </p:cNvPr>
            <p:cNvSpPr/>
            <p:nvPr/>
          </p:nvSpPr>
          <p:spPr>
            <a:xfrm>
              <a:off x="8929025" y="4546348"/>
              <a:ext cx="663211" cy="948660"/>
            </a:xfrm>
            <a:prstGeom prst="rect">
              <a:avLst/>
            </a:prstGeom>
            <a:solidFill>
              <a:srgbClr val="C00000">
                <a:alpha val="4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B79C591-DE43-52B5-4649-7C0D0A814CD1}"/>
                </a:ext>
              </a:extLst>
            </p:cNvPr>
            <p:cNvSpPr/>
            <p:nvPr/>
          </p:nvSpPr>
          <p:spPr>
            <a:xfrm>
              <a:off x="9606033" y="4553088"/>
              <a:ext cx="663211" cy="623475"/>
            </a:xfrm>
            <a:prstGeom prst="rect">
              <a:avLst/>
            </a:prstGeom>
            <a:solidFill>
              <a:schemeClr val="accent2">
                <a:alpha val="4902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EAF9324-DFDB-4163-C93A-9524EAE2F36F}"/>
                </a:ext>
              </a:extLst>
            </p:cNvPr>
            <p:cNvSpPr/>
            <p:nvPr/>
          </p:nvSpPr>
          <p:spPr>
            <a:xfrm>
              <a:off x="10278209" y="4553088"/>
              <a:ext cx="663211" cy="948660"/>
            </a:xfrm>
            <a:prstGeom prst="rect">
              <a:avLst/>
            </a:prstGeom>
            <a:solidFill>
              <a:srgbClr val="00B0F0">
                <a:alpha val="4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E4A244E-0142-BC60-EDD4-409A7E511888}"/>
                </a:ext>
              </a:extLst>
            </p:cNvPr>
            <p:cNvSpPr/>
            <p:nvPr/>
          </p:nvSpPr>
          <p:spPr>
            <a:xfrm>
              <a:off x="10950385" y="4553088"/>
              <a:ext cx="663211" cy="62347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4902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</a:endParaRPr>
            </a:p>
          </p:txBody>
        </p: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53C54F9-E476-CB75-6E15-AF8695C66F9A}"/>
              </a:ext>
            </a:extLst>
          </p:cNvPr>
          <p:cNvCxnSpPr>
            <a:cxnSpLocks/>
          </p:cNvCxnSpPr>
          <p:nvPr/>
        </p:nvCxnSpPr>
        <p:spPr>
          <a:xfrm>
            <a:off x="10656368" y="404155"/>
            <a:ext cx="1453303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258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F99B8-FEAD-4981-1279-95432FFE3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</a:t>
            </a:r>
            <a:r>
              <a:rPr lang="ko-KR" altLang="en-US" dirty="0"/>
              <a:t> </a:t>
            </a:r>
            <a:r>
              <a:rPr lang="en-US" dirty="0"/>
              <a:t>manner(</a:t>
            </a:r>
            <a:r>
              <a:rPr lang="en-US" dirty="0" err="1"/>
              <a:t>조음</a:t>
            </a:r>
            <a:r>
              <a:rPr lang="en-US" dirty="0"/>
              <a:t> </a:t>
            </a:r>
            <a:r>
              <a:rPr lang="en-US" dirty="0" err="1"/>
              <a:t>방법</a:t>
            </a:r>
            <a:r>
              <a:rPr lang="en-US" dirty="0"/>
              <a:t>): mid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CF5B5B-D347-7731-9E55-9E518BAB36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Manner: </a:t>
            </a:r>
            <a:r>
              <a:rPr lang="en-US" sz="1400" dirty="0" err="1"/>
              <a:t>어떻게</a:t>
            </a:r>
            <a:r>
              <a:rPr lang="en-US" sz="1400" dirty="0"/>
              <a:t> </a:t>
            </a:r>
            <a:r>
              <a:rPr lang="en-US" sz="1400" dirty="0" err="1"/>
              <a:t>냈는가를</a:t>
            </a:r>
            <a:r>
              <a:rPr lang="en-US" sz="1400" dirty="0"/>
              <a:t> </a:t>
            </a:r>
            <a:r>
              <a:rPr lang="en-US" sz="1400" dirty="0" err="1"/>
              <a:t>보는</a:t>
            </a:r>
            <a:r>
              <a:rPr lang="en-US" sz="1400" dirty="0"/>
              <a:t> </a:t>
            </a:r>
            <a:r>
              <a:rPr lang="en-US" sz="1400" dirty="0" err="1"/>
              <a:t>정보</a:t>
            </a:r>
            <a:endParaRPr lang="en-US" sz="1400" dirty="0"/>
          </a:p>
          <a:p>
            <a:pPr lvl="1">
              <a:lnSpc>
                <a:spcPct val="100000"/>
              </a:lnSpc>
            </a:pPr>
            <a:r>
              <a:rPr lang="en-US" sz="1200" dirty="0"/>
              <a:t>stop(</a:t>
            </a:r>
            <a:r>
              <a:rPr lang="en-US" sz="1200" dirty="0" err="1"/>
              <a:t>파열음</a:t>
            </a:r>
            <a:r>
              <a:rPr lang="en-US" sz="1200" dirty="0"/>
              <a:t>): </a:t>
            </a:r>
            <a:r>
              <a:rPr lang="en-US" sz="1200" dirty="0" err="1"/>
              <a:t>막았다가</a:t>
            </a:r>
            <a:r>
              <a:rPr lang="en-US" sz="1200" dirty="0"/>
              <a:t> </a:t>
            </a:r>
            <a:r>
              <a:rPr lang="en-US" sz="1200" dirty="0" err="1"/>
              <a:t>터뜨림</a:t>
            </a:r>
            <a:endParaRPr lang="en-US" sz="1200" dirty="0"/>
          </a:p>
          <a:p>
            <a:pPr lvl="1">
              <a:lnSpc>
                <a:spcPct val="100000"/>
              </a:lnSpc>
            </a:pPr>
            <a:r>
              <a:rPr lang="en-US" sz="1200" dirty="0"/>
              <a:t>fricative(</a:t>
            </a:r>
            <a:r>
              <a:rPr lang="en-US" sz="1200" dirty="0" err="1"/>
              <a:t>마찰음</a:t>
            </a:r>
            <a:r>
              <a:rPr lang="en-US" sz="1200" dirty="0"/>
              <a:t>): </a:t>
            </a:r>
            <a:r>
              <a:rPr lang="en-US" sz="1200" dirty="0" err="1"/>
              <a:t>좁은</a:t>
            </a:r>
            <a:r>
              <a:rPr lang="en-US" sz="1200" dirty="0"/>
              <a:t> </a:t>
            </a:r>
            <a:r>
              <a:rPr lang="en-US" sz="1200" dirty="0" err="1"/>
              <a:t>틈으로</a:t>
            </a:r>
            <a:r>
              <a:rPr lang="en-US" sz="1200" dirty="0"/>
              <a:t> </a:t>
            </a:r>
            <a:r>
              <a:rPr lang="en-US" sz="1200" dirty="0" err="1"/>
              <a:t>계속</a:t>
            </a:r>
            <a:r>
              <a:rPr lang="en-US" sz="1200" dirty="0"/>
              <a:t> </a:t>
            </a:r>
            <a:r>
              <a:rPr lang="en-US" sz="1200" dirty="0" err="1"/>
              <a:t>마찰냄</a:t>
            </a:r>
            <a:endParaRPr lang="en-US" sz="1200" dirty="0"/>
          </a:p>
          <a:p>
            <a:pPr lvl="1">
              <a:lnSpc>
                <a:spcPct val="100000"/>
              </a:lnSpc>
            </a:pPr>
            <a:r>
              <a:rPr lang="en-US" sz="1200" dirty="0"/>
              <a:t>affricate(</a:t>
            </a:r>
            <a:r>
              <a:rPr lang="en-US" sz="1200" dirty="0" err="1"/>
              <a:t>파찰음</a:t>
            </a:r>
            <a:r>
              <a:rPr lang="en-US" sz="1200" dirty="0"/>
              <a:t>): </a:t>
            </a:r>
            <a:r>
              <a:rPr lang="en-US" sz="1200" dirty="0" err="1"/>
              <a:t>터뜨린</a:t>
            </a:r>
            <a:r>
              <a:rPr lang="en-US" sz="1200" dirty="0"/>
              <a:t> </a:t>
            </a:r>
            <a:r>
              <a:rPr lang="en-US" sz="1200" dirty="0" err="1"/>
              <a:t>뒤</a:t>
            </a:r>
            <a:r>
              <a:rPr lang="en-US" sz="1200" dirty="0"/>
              <a:t> </a:t>
            </a:r>
            <a:r>
              <a:rPr lang="en-US" sz="1200" dirty="0" err="1"/>
              <a:t>바로</a:t>
            </a:r>
            <a:r>
              <a:rPr lang="en-US" sz="1200" dirty="0"/>
              <a:t> </a:t>
            </a:r>
            <a:r>
              <a:rPr lang="en-US" sz="1200" dirty="0" err="1"/>
              <a:t>마찰이</a:t>
            </a:r>
            <a:r>
              <a:rPr lang="en-US" sz="1200" dirty="0"/>
              <a:t> </a:t>
            </a:r>
            <a:r>
              <a:rPr lang="en-US" sz="1200" dirty="0" err="1"/>
              <a:t>이어짐</a:t>
            </a:r>
            <a:endParaRPr lang="en-US" sz="1200" dirty="0"/>
          </a:p>
          <a:p>
            <a:pPr lvl="1">
              <a:lnSpc>
                <a:spcPct val="100000"/>
              </a:lnSpc>
            </a:pPr>
            <a:r>
              <a:rPr lang="en-US" sz="1200" dirty="0"/>
              <a:t>nasal(</a:t>
            </a:r>
            <a:r>
              <a:rPr lang="en-US" sz="1200" dirty="0" err="1"/>
              <a:t>비음</a:t>
            </a:r>
            <a:r>
              <a:rPr lang="en-US" sz="1200" dirty="0"/>
              <a:t>): </a:t>
            </a:r>
            <a:r>
              <a:rPr lang="en-US" sz="1200" dirty="0" err="1"/>
              <a:t>코로</a:t>
            </a:r>
            <a:r>
              <a:rPr lang="en-US" sz="1200" dirty="0"/>
              <a:t> </a:t>
            </a:r>
            <a:r>
              <a:rPr lang="en-US" sz="1200" dirty="0" err="1"/>
              <a:t>울림</a:t>
            </a:r>
            <a:endParaRPr lang="en-US" sz="1200" dirty="0"/>
          </a:p>
          <a:p>
            <a:pPr lvl="1">
              <a:lnSpc>
                <a:spcPct val="100000"/>
              </a:lnSpc>
            </a:pPr>
            <a:r>
              <a:rPr lang="en-US" sz="1200" dirty="0"/>
              <a:t>liquid(</a:t>
            </a:r>
            <a:r>
              <a:rPr lang="en-US" sz="1200" dirty="0" err="1"/>
              <a:t>유음</a:t>
            </a:r>
            <a:r>
              <a:rPr lang="en-US" sz="1200" dirty="0"/>
              <a:t>): </a:t>
            </a:r>
            <a:r>
              <a:rPr lang="en-US" sz="1200" dirty="0" err="1"/>
              <a:t>ㄹ</a:t>
            </a:r>
            <a:r>
              <a:rPr lang="en-US" sz="1200" dirty="0"/>
              <a:t> </a:t>
            </a:r>
            <a:r>
              <a:rPr lang="en-US" sz="1200" dirty="0" err="1"/>
              <a:t>같은</a:t>
            </a:r>
            <a:r>
              <a:rPr lang="en-US" sz="1200" dirty="0"/>
              <a:t> </a:t>
            </a:r>
            <a:r>
              <a:rPr lang="en-US" sz="1200" dirty="0" err="1"/>
              <a:t>흐르는</a:t>
            </a:r>
            <a:r>
              <a:rPr lang="en-US" sz="1200" dirty="0"/>
              <a:t> </a:t>
            </a:r>
            <a:r>
              <a:rPr lang="en-US" sz="1200" dirty="0" err="1"/>
              <a:t>패턴</a:t>
            </a:r>
            <a:endParaRPr lang="en-US" sz="1200" dirty="0"/>
          </a:p>
          <a:p>
            <a:pPr>
              <a:lnSpc>
                <a:spcPct val="100000"/>
              </a:lnSpc>
            </a:pPr>
            <a:r>
              <a:rPr lang="ko-KR" altLang="en-US" sz="1400" dirty="0"/>
              <a:t>소리가 </a:t>
            </a:r>
            <a:r>
              <a:rPr lang="ko-KR" altLang="en-US" sz="1400" dirty="0" err="1"/>
              <a:t>짧게라도</a:t>
            </a:r>
            <a:r>
              <a:rPr lang="ko-KR" altLang="en-US" sz="1400" dirty="0"/>
              <a:t> 어떻게 흘렀는지를 조금 </a:t>
            </a:r>
            <a:r>
              <a:rPr lang="ko-KR" altLang="en-US" sz="1400" dirty="0" err="1"/>
              <a:t>봐야함</a:t>
            </a:r>
            <a:endParaRPr lang="en-US" altLang="ko-KR" sz="1400" dirty="0"/>
          </a:p>
          <a:p>
            <a:pPr>
              <a:lnSpc>
                <a:spcPct val="100000"/>
              </a:lnSpc>
            </a:pPr>
            <a:r>
              <a:rPr lang="ko-KR" altLang="en-US" sz="1400" dirty="0"/>
              <a:t>예시</a:t>
            </a:r>
            <a:endParaRPr lang="en-US" altLang="ko-KR" sz="1400" dirty="0"/>
          </a:p>
          <a:p>
            <a:pPr lvl="1">
              <a:lnSpc>
                <a:spcPct val="100000"/>
              </a:lnSpc>
            </a:pPr>
            <a:r>
              <a:rPr lang="ko-KR" altLang="en-US" sz="1200" dirty="0" err="1"/>
              <a:t>ㅈ은</a:t>
            </a:r>
            <a:r>
              <a:rPr lang="ko-KR" altLang="en-US" sz="1200" dirty="0"/>
              <a:t> 막았다가 </a:t>
            </a:r>
            <a:r>
              <a:rPr lang="en-US" altLang="ko-KR" sz="1200" dirty="0"/>
              <a:t>+ </a:t>
            </a:r>
            <a:r>
              <a:rPr lang="ko-KR" altLang="en-US" sz="1200" dirty="0"/>
              <a:t>마찰</a:t>
            </a:r>
          </a:p>
          <a:p>
            <a:pPr lvl="1">
              <a:lnSpc>
                <a:spcPct val="100000"/>
              </a:lnSpc>
            </a:pPr>
            <a:r>
              <a:rPr lang="ko-KR" altLang="en-US" sz="1200" dirty="0" err="1"/>
              <a:t>ㅅ은</a:t>
            </a:r>
            <a:r>
              <a:rPr lang="ko-KR" altLang="en-US" sz="1200" dirty="0"/>
              <a:t> 처음부터 마찰</a:t>
            </a:r>
          </a:p>
          <a:p>
            <a:pPr lvl="1">
              <a:lnSpc>
                <a:spcPct val="100000"/>
              </a:lnSpc>
            </a:pPr>
            <a:endParaRPr lang="en-US" sz="1200" dirty="0"/>
          </a:p>
          <a:p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3EB266-8258-6467-316B-119AFF7C983D}"/>
              </a:ext>
            </a:extLst>
          </p:cNvPr>
          <p:cNvSpPr txBox="1"/>
          <p:nvPr/>
        </p:nvSpPr>
        <p:spPr>
          <a:xfrm>
            <a:off x="0" y="6304002"/>
            <a:ext cx="755206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>
                <a:solidFill>
                  <a:schemeClr val="bg1">
                    <a:lumMod val="50000"/>
                  </a:schemeClr>
                </a:solidFill>
              </a:rPr>
              <a:t>Cho et al. (2002), Acoustic and aerodynamic correlates of Korean stops and fricatives</a:t>
            </a:r>
          </a:p>
          <a:p>
            <a:r>
              <a:rPr lang="en-US" sz="1000" i="1" dirty="0">
                <a:solidFill>
                  <a:schemeClr val="bg1">
                    <a:lumMod val="50000"/>
                  </a:schemeClr>
                </a:solidFill>
              </a:rPr>
              <a:t>Kang (2022), The Phonology and Phonetics of Korean Stop Laryngeal Contrasts</a:t>
            </a:r>
          </a:p>
          <a:p>
            <a:r>
              <a:rPr lang="en-US" sz="1000" i="1" dirty="0">
                <a:solidFill>
                  <a:schemeClr val="bg1">
                    <a:lumMod val="50000"/>
                  </a:schemeClr>
                </a:solidFill>
              </a:rPr>
              <a:t>Martin et al. (2023), Probing self-supervised speech models for phonetic and phonemic information: a case study in aspiration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C38F57C-0132-D1B4-279F-9C3FE8C7D253}"/>
              </a:ext>
            </a:extLst>
          </p:cNvPr>
          <p:cNvGrpSpPr/>
          <p:nvPr/>
        </p:nvGrpSpPr>
        <p:grpSpPr>
          <a:xfrm>
            <a:off x="9914963" y="1"/>
            <a:ext cx="2231136" cy="2052918"/>
            <a:chOff x="6046914" y="3078303"/>
            <a:chExt cx="3899251" cy="3685721"/>
          </a:xfrm>
        </p:grpSpPr>
        <p:pic>
          <p:nvPicPr>
            <p:cNvPr id="6" name="Picture 2" descr="자음동화의 종류, 조음위치 동화와 조음방법 동화 : 네이버 블로그">
              <a:extLst>
                <a:ext uri="{FF2B5EF4-FFF2-40B4-BE49-F238E27FC236}">
                  <a16:creationId xmlns:a16="http://schemas.microsoft.com/office/drawing/2014/main" id="{F5FB7298-BDB8-DDAA-7C5E-9E2FA98917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46914" y="3078303"/>
              <a:ext cx="3899251" cy="36857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BE8CCD2-256F-1119-538C-0D9A1C65C390}"/>
                </a:ext>
              </a:extLst>
            </p:cNvPr>
            <p:cNvSpPr/>
            <p:nvPr/>
          </p:nvSpPr>
          <p:spPr>
            <a:xfrm>
              <a:off x="7342632" y="3803904"/>
              <a:ext cx="438912" cy="868680"/>
            </a:xfrm>
            <a:prstGeom prst="rect">
              <a:avLst/>
            </a:prstGeom>
            <a:solidFill>
              <a:srgbClr val="C00000">
                <a:alpha val="4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D09AF58-136F-FF33-2451-33C7634B0FE8}"/>
                </a:ext>
              </a:extLst>
            </p:cNvPr>
            <p:cNvSpPr/>
            <p:nvPr/>
          </p:nvSpPr>
          <p:spPr>
            <a:xfrm>
              <a:off x="7781544" y="3803904"/>
              <a:ext cx="438912" cy="868680"/>
            </a:xfrm>
            <a:prstGeom prst="rect">
              <a:avLst/>
            </a:prstGeom>
            <a:solidFill>
              <a:schemeClr val="accent2">
                <a:alpha val="4902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19BA428-8578-DD18-7D58-0A0D59C774D8}"/>
                </a:ext>
              </a:extLst>
            </p:cNvPr>
            <p:cNvSpPr/>
            <p:nvPr/>
          </p:nvSpPr>
          <p:spPr>
            <a:xfrm>
              <a:off x="7772902" y="5522976"/>
              <a:ext cx="438912" cy="629668"/>
            </a:xfrm>
            <a:prstGeom prst="rect">
              <a:avLst/>
            </a:prstGeom>
            <a:solidFill>
              <a:srgbClr val="0070C0">
                <a:alpha val="4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736FB87-319B-F23F-3571-3671939593B1}"/>
              </a:ext>
            </a:extLst>
          </p:cNvPr>
          <p:cNvGrpSpPr/>
          <p:nvPr/>
        </p:nvGrpSpPr>
        <p:grpSpPr>
          <a:xfrm>
            <a:off x="9923927" y="2048541"/>
            <a:ext cx="2198607" cy="1006951"/>
            <a:chOff x="7745828" y="3638063"/>
            <a:chExt cx="3890530" cy="1865910"/>
          </a:xfrm>
        </p:grpSpPr>
        <p:pic>
          <p:nvPicPr>
            <p:cNvPr id="11" name="Picture 4" descr="모음체계(단모음)">
              <a:extLst>
                <a:ext uri="{FF2B5EF4-FFF2-40B4-BE49-F238E27FC236}">
                  <a16:creationId xmlns:a16="http://schemas.microsoft.com/office/drawing/2014/main" id="{B61912BA-5E6C-4349-26DD-9CFEC0F4BB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45828" y="3638063"/>
              <a:ext cx="3890530" cy="18659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3DFF5F7-3611-57BB-0FDF-2CE748E9A39C}"/>
                </a:ext>
              </a:extLst>
            </p:cNvPr>
            <p:cNvSpPr/>
            <p:nvPr/>
          </p:nvSpPr>
          <p:spPr>
            <a:xfrm>
              <a:off x="8929025" y="4546348"/>
              <a:ext cx="663211" cy="948660"/>
            </a:xfrm>
            <a:prstGeom prst="rect">
              <a:avLst/>
            </a:prstGeom>
            <a:solidFill>
              <a:srgbClr val="C00000">
                <a:alpha val="4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EC5DE57-A9E7-4E4A-4D08-0C43C46DA042}"/>
                </a:ext>
              </a:extLst>
            </p:cNvPr>
            <p:cNvSpPr/>
            <p:nvPr/>
          </p:nvSpPr>
          <p:spPr>
            <a:xfrm>
              <a:off x="9606033" y="4553088"/>
              <a:ext cx="663211" cy="623475"/>
            </a:xfrm>
            <a:prstGeom prst="rect">
              <a:avLst/>
            </a:prstGeom>
            <a:solidFill>
              <a:schemeClr val="accent2">
                <a:alpha val="4902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8EEC508-900F-E4DA-B51B-F9F00DDF7FEB}"/>
                </a:ext>
              </a:extLst>
            </p:cNvPr>
            <p:cNvSpPr/>
            <p:nvPr/>
          </p:nvSpPr>
          <p:spPr>
            <a:xfrm>
              <a:off x="10278209" y="4553088"/>
              <a:ext cx="663211" cy="948660"/>
            </a:xfrm>
            <a:prstGeom prst="rect">
              <a:avLst/>
            </a:prstGeom>
            <a:solidFill>
              <a:srgbClr val="00B0F0">
                <a:alpha val="4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18879DB-749C-6E62-D225-4C922FDAE950}"/>
                </a:ext>
              </a:extLst>
            </p:cNvPr>
            <p:cNvSpPr/>
            <p:nvPr/>
          </p:nvSpPr>
          <p:spPr>
            <a:xfrm>
              <a:off x="10950385" y="4553088"/>
              <a:ext cx="663211" cy="62347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4902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</a:endParaRPr>
            </a:p>
          </p:txBody>
        </p: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9514981-D813-42A1-9CA7-30C391C6793A}"/>
              </a:ext>
            </a:extLst>
          </p:cNvPr>
          <p:cNvCxnSpPr>
            <a:cxnSpLocks/>
          </p:cNvCxnSpPr>
          <p:nvPr/>
        </p:nvCxnSpPr>
        <p:spPr>
          <a:xfrm>
            <a:off x="10181239" y="404155"/>
            <a:ext cx="0" cy="1644386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914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F3D18-8C4E-3E5B-8B17-95CAE248E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4.</a:t>
            </a:r>
            <a:r>
              <a:rPr lang="ko-KR" altLang="en-US" dirty="0"/>
              <a:t> </a:t>
            </a:r>
            <a:r>
              <a:rPr lang="en-US" dirty="0"/>
              <a:t>height(</a:t>
            </a:r>
            <a:r>
              <a:rPr lang="en-US" dirty="0" err="1"/>
              <a:t>모음</a:t>
            </a:r>
            <a:r>
              <a:rPr lang="en-US" dirty="0"/>
              <a:t> </a:t>
            </a:r>
            <a:r>
              <a:rPr lang="en-US" dirty="0" err="1"/>
              <a:t>높이</a:t>
            </a:r>
            <a:r>
              <a:rPr lang="en-US" dirty="0"/>
              <a:t>), </a:t>
            </a:r>
            <a:r>
              <a:rPr lang="en-US" dirty="0" err="1"/>
              <a:t>backness</a:t>
            </a:r>
            <a:r>
              <a:rPr lang="en-US" dirty="0"/>
              <a:t>(</a:t>
            </a:r>
            <a:r>
              <a:rPr lang="en-US" dirty="0" err="1"/>
              <a:t>전후설성</a:t>
            </a:r>
            <a:r>
              <a:rPr lang="en-US" dirty="0"/>
              <a:t>), rounding(</a:t>
            </a:r>
            <a:r>
              <a:rPr lang="en-US" dirty="0" err="1"/>
              <a:t>원순성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: mid-late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E156E-1A27-1AFD-D488-4C56A9BF5D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400" b="1" dirty="0" err="1"/>
              <a:t>모음이</a:t>
            </a:r>
            <a:r>
              <a:rPr lang="en-US" sz="1400" b="1" dirty="0"/>
              <a:t> </a:t>
            </a:r>
            <a:r>
              <a:rPr lang="en-US" sz="1400" b="1" dirty="0" err="1"/>
              <a:t>어느</a:t>
            </a:r>
            <a:r>
              <a:rPr lang="en-US" sz="1400" b="1" dirty="0"/>
              <a:t> </a:t>
            </a:r>
            <a:r>
              <a:rPr lang="en-US" sz="1400" b="1" dirty="0" err="1"/>
              <a:t>정도</a:t>
            </a:r>
            <a:r>
              <a:rPr lang="en-US" sz="1400" b="1" dirty="0"/>
              <a:t> </a:t>
            </a:r>
            <a:r>
              <a:rPr lang="en-US" sz="1400" b="1" dirty="0" err="1"/>
              <a:t>펼쳐져서</a:t>
            </a:r>
            <a:r>
              <a:rPr lang="en-US" sz="1400" b="1" dirty="0"/>
              <a:t> </a:t>
            </a:r>
            <a:r>
              <a:rPr lang="en-US" sz="1400" b="1" dirty="0" err="1"/>
              <a:t>안정적으로</a:t>
            </a:r>
            <a:r>
              <a:rPr lang="en-US" sz="1400" b="1" dirty="0"/>
              <a:t> </a:t>
            </a:r>
            <a:r>
              <a:rPr lang="en-US" sz="1400" b="1" dirty="0" err="1"/>
              <a:t>들리는</a:t>
            </a:r>
            <a:r>
              <a:rPr lang="en-US" sz="1400" b="1" dirty="0"/>
              <a:t> </a:t>
            </a:r>
            <a:r>
              <a:rPr lang="en-US" sz="1400" b="1" dirty="0" err="1"/>
              <a:t>구간</a:t>
            </a:r>
            <a:r>
              <a:rPr lang="en-US" sz="1400" dirty="0" err="1"/>
              <a:t>을</a:t>
            </a:r>
            <a:r>
              <a:rPr lang="en-US" sz="1400" dirty="0"/>
              <a:t> </a:t>
            </a:r>
            <a:r>
              <a:rPr lang="en-US" sz="1400" dirty="0" err="1"/>
              <a:t>봐야</a:t>
            </a:r>
            <a:r>
              <a:rPr lang="en-US" sz="1400" dirty="0"/>
              <a:t> </a:t>
            </a:r>
            <a:r>
              <a:rPr lang="ko-KR" altLang="en-US" sz="1400" dirty="0"/>
              <a:t>함</a:t>
            </a:r>
            <a:endParaRPr lang="en-US" sz="1400" dirty="0"/>
          </a:p>
          <a:p>
            <a:r>
              <a:rPr lang="ko-KR" altLang="en-US" sz="1400" dirty="0"/>
              <a:t>구분</a:t>
            </a:r>
            <a:endParaRPr lang="en-US" altLang="ko-KR" sz="1400" dirty="0"/>
          </a:p>
          <a:p>
            <a:pPr lvl="1"/>
            <a:r>
              <a:rPr lang="en-US" sz="1200" dirty="0"/>
              <a:t>height(</a:t>
            </a:r>
            <a:r>
              <a:rPr lang="ko-KR" altLang="en-US" sz="1200" dirty="0"/>
              <a:t>높이</a:t>
            </a:r>
            <a:r>
              <a:rPr lang="en-US" altLang="ko-KR" sz="1200" dirty="0"/>
              <a:t>)</a:t>
            </a:r>
          </a:p>
          <a:p>
            <a:pPr lvl="2"/>
            <a:r>
              <a:rPr lang="ko-KR" altLang="en-US" sz="1000" dirty="0"/>
              <a:t>입을 얼마나 벌렸는지</a:t>
            </a:r>
            <a:endParaRPr lang="en-US" altLang="ko-KR" sz="1000" dirty="0"/>
          </a:p>
          <a:p>
            <a:pPr lvl="2"/>
            <a:r>
              <a:rPr lang="ko-KR" altLang="en-US" sz="1000" dirty="0"/>
              <a:t>비교적 먼저 잡힐 수 있음</a:t>
            </a:r>
          </a:p>
          <a:p>
            <a:pPr lvl="1"/>
            <a:r>
              <a:rPr lang="en-US" sz="1200" dirty="0" err="1"/>
              <a:t>backness</a:t>
            </a:r>
            <a:r>
              <a:rPr lang="en-US" sz="1200" dirty="0"/>
              <a:t>(</a:t>
            </a:r>
            <a:r>
              <a:rPr lang="ko-KR" altLang="en-US" sz="1200" dirty="0" err="1"/>
              <a:t>전후설성</a:t>
            </a:r>
            <a:r>
              <a:rPr lang="en-US" altLang="ko-KR" sz="1200" dirty="0"/>
              <a:t>)</a:t>
            </a:r>
          </a:p>
          <a:p>
            <a:pPr lvl="2"/>
            <a:r>
              <a:rPr lang="ko-KR" altLang="en-US" sz="1000" dirty="0"/>
              <a:t>혀가 앞</a:t>
            </a:r>
            <a:r>
              <a:rPr lang="en-US" altLang="ko-KR" sz="1000" dirty="0"/>
              <a:t>/</a:t>
            </a:r>
            <a:r>
              <a:rPr lang="ko-KR" altLang="en-US" sz="1000" dirty="0"/>
              <a:t>뒤 어디 있는지</a:t>
            </a:r>
            <a:endParaRPr lang="en-US" altLang="ko-KR" sz="1000" dirty="0"/>
          </a:p>
          <a:p>
            <a:pPr lvl="2"/>
            <a:r>
              <a:rPr lang="ko-KR" altLang="en-US" sz="1000" dirty="0"/>
              <a:t>화자 차이</a:t>
            </a:r>
            <a:r>
              <a:rPr lang="en-US" altLang="ko-KR" sz="1000" dirty="0"/>
              <a:t>, </a:t>
            </a:r>
            <a:r>
              <a:rPr lang="ko-KR" altLang="en-US" sz="1000" dirty="0"/>
              <a:t>앞뒤 자음 영향 때문에 더 헷갈릴 수 있음</a:t>
            </a:r>
          </a:p>
          <a:p>
            <a:pPr lvl="1"/>
            <a:r>
              <a:rPr lang="en-US" sz="1200" dirty="0"/>
              <a:t>rounding(</a:t>
            </a:r>
            <a:r>
              <a:rPr lang="ko-KR" altLang="en-US" sz="1200" dirty="0" err="1"/>
              <a:t>원순성</a:t>
            </a:r>
            <a:r>
              <a:rPr lang="en-US" altLang="ko-KR" sz="1200" dirty="0"/>
              <a:t>)</a:t>
            </a:r>
          </a:p>
          <a:p>
            <a:pPr lvl="2"/>
            <a:r>
              <a:rPr lang="ko-KR" altLang="en-US" sz="1000" dirty="0"/>
              <a:t>입술을 둥글게 했는지</a:t>
            </a:r>
            <a:endParaRPr lang="en-US" altLang="ko-KR" sz="1000" dirty="0"/>
          </a:p>
          <a:p>
            <a:pPr lvl="2"/>
            <a:r>
              <a:rPr lang="en-US" sz="1000" dirty="0" err="1"/>
              <a:t>backness</a:t>
            </a:r>
            <a:r>
              <a:rPr lang="ko-KR" altLang="en-US" sz="1000" dirty="0"/>
              <a:t>랑 같이 움직이는 경우가 많아서 더 뒤에 둬도 됨</a:t>
            </a:r>
            <a:br>
              <a:rPr lang="ko-KR" altLang="en-US" sz="1200" dirty="0"/>
            </a:br>
            <a:br>
              <a:rPr lang="en-US" sz="1200" dirty="0"/>
            </a:br>
            <a:endParaRPr lang="en-US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737D0A-A584-FBA2-4F16-B43FA3881DC0}"/>
              </a:ext>
            </a:extLst>
          </p:cNvPr>
          <p:cNvSpPr txBox="1"/>
          <p:nvPr/>
        </p:nvSpPr>
        <p:spPr>
          <a:xfrm>
            <a:off x="0" y="6304002"/>
            <a:ext cx="755206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>
                <a:solidFill>
                  <a:schemeClr val="bg1">
                    <a:lumMod val="50000"/>
                  </a:schemeClr>
                </a:solidFill>
              </a:rPr>
              <a:t>Cho et al. (2002), Acoustic and aerodynamic correlates of Korean stops and fricatives</a:t>
            </a:r>
          </a:p>
          <a:p>
            <a:r>
              <a:rPr lang="en-US" sz="1000" i="1" dirty="0">
                <a:solidFill>
                  <a:schemeClr val="bg1">
                    <a:lumMod val="50000"/>
                  </a:schemeClr>
                </a:solidFill>
              </a:rPr>
              <a:t>Kang (2022), The Phonology and Phonetics of Korean Stop Laryngeal Contrasts</a:t>
            </a:r>
          </a:p>
          <a:p>
            <a:r>
              <a:rPr lang="en-US" sz="1000" i="1" dirty="0">
                <a:solidFill>
                  <a:schemeClr val="bg1">
                    <a:lumMod val="50000"/>
                  </a:schemeClr>
                </a:solidFill>
              </a:rPr>
              <a:t>Martin et al. (2023), Probing self-supervised speech models for phonetic and phonemic information: a case study in aspiration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0096E22-B27B-D0AE-62C2-2808E82D2383}"/>
              </a:ext>
            </a:extLst>
          </p:cNvPr>
          <p:cNvGrpSpPr/>
          <p:nvPr/>
        </p:nvGrpSpPr>
        <p:grpSpPr>
          <a:xfrm>
            <a:off x="9914963" y="1"/>
            <a:ext cx="2231136" cy="2052918"/>
            <a:chOff x="6046914" y="3078303"/>
            <a:chExt cx="3899251" cy="3685721"/>
          </a:xfrm>
        </p:grpSpPr>
        <p:pic>
          <p:nvPicPr>
            <p:cNvPr id="6" name="Picture 2" descr="자음동화의 종류, 조음위치 동화와 조음방법 동화 : 네이버 블로그">
              <a:extLst>
                <a:ext uri="{FF2B5EF4-FFF2-40B4-BE49-F238E27FC236}">
                  <a16:creationId xmlns:a16="http://schemas.microsoft.com/office/drawing/2014/main" id="{BF5DFED4-5BB0-0BFB-27FE-B141CC42F4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46914" y="3078303"/>
              <a:ext cx="3899251" cy="36857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4908869-F72F-8A24-F156-84348583E357}"/>
                </a:ext>
              </a:extLst>
            </p:cNvPr>
            <p:cNvSpPr/>
            <p:nvPr/>
          </p:nvSpPr>
          <p:spPr>
            <a:xfrm>
              <a:off x="7342632" y="3803904"/>
              <a:ext cx="438912" cy="868680"/>
            </a:xfrm>
            <a:prstGeom prst="rect">
              <a:avLst/>
            </a:prstGeom>
            <a:solidFill>
              <a:srgbClr val="C00000">
                <a:alpha val="4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A689F2B-39B4-9D99-66B3-D37A6CFAEFB5}"/>
                </a:ext>
              </a:extLst>
            </p:cNvPr>
            <p:cNvSpPr/>
            <p:nvPr/>
          </p:nvSpPr>
          <p:spPr>
            <a:xfrm>
              <a:off x="7781544" y="3803904"/>
              <a:ext cx="438912" cy="868680"/>
            </a:xfrm>
            <a:prstGeom prst="rect">
              <a:avLst/>
            </a:prstGeom>
            <a:solidFill>
              <a:schemeClr val="accent2">
                <a:alpha val="4902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7156C5B-1F7C-9244-C93F-AA7A1FB31F5E}"/>
                </a:ext>
              </a:extLst>
            </p:cNvPr>
            <p:cNvSpPr/>
            <p:nvPr/>
          </p:nvSpPr>
          <p:spPr>
            <a:xfrm>
              <a:off x="7772902" y="5522976"/>
              <a:ext cx="438912" cy="629668"/>
            </a:xfrm>
            <a:prstGeom prst="rect">
              <a:avLst/>
            </a:prstGeom>
            <a:solidFill>
              <a:srgbClr val="0070C0">
                <a:alpha val="4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2C282B-0F9D-0204-AB34-31DB93886D43}"/>
              </a:ext>
            </a:extLst>
          </p:cNvPr>
          <p:cNvGrpSpPr/>
          <p:nvPr/>
        </p:nvGrpSpPr>
        <p:grpSpPr>
          <a:xfrm>
            <a:off x="9923927" y="2048541"/>
            <a:ext cx="2198607" cy="1006951"/>
            <a:chOff x="7745828" y="3638063"/>
            <a:chExt cx="3890530" cy="1865910"/>
          </a:xfrm>
        </p:grpSpPr>
        <p:pic>
          <p:nvPicPr>
            <p:cNvPr id="11" name="Picture 4" descr="모음체계(단모음)">
              <a:extLst>
                <a:ext uri="{FF2B5EF4-FFF2-40B4-BE49-F238E27FC236}">
                  <a16:creationId xmlns:a16="http://schemas.microsoft.com/office/drawing/2014/main" id="{BB9CF373-478B-3CA4-D18B-C2D267F1DE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45828" y="3638063"/>
              <a:ext cx="3890530" cy="18659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E28BF21-F492-9C14-5B7B-487494D0785C}"/>
                </a:ext>
              </a:extLst>
            </p:cNvPr>
            <p:cNvSpPr/>
            <p:nvPr/>
          </p:nvSpPr>
          <p:spPr>
            <a:xfrm>
              <a:off x="8929025" y="4546348"/>
              <a:ext cx="663211" cy="948660"/>
            </a:xfrm>
            <a:prstGeom prst="rect">
              <a:avLst/>
            </a:prstGeom>
            <a:solidFill>
              <a:srgbClr val="C00000">
                <a:alpha val="4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D317EAF-9095-8801-199F-B2A00DD0FDCC}"/>
                </a:ext>
              </a:extLst>
            </p:cNvPr>
            <p:cNvSpPr/>
            <p:nvPr/>
          </p:nvSpPr>
          <p:spPr>
            <a:xfrm>
              <a:off x="9606033" y="4553088"/>
              <a:ext cx="663211" cy="623475"/>
            </a:xfrm>
            <a:prstGeom prst="rect">
              <a:avLst/>
            </a:prstGeom>
            <a:solidFill>
              <a:schemeClr val="accent2">
                <a:alpha val="4902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58936A4-5C90-B6DD-717C-81F01BC5B0CA}"/>
                </a:ext>
              </a:extLst>
            </p:cNvPr>
            <p:cNvSpPr/>
            <p:nvPr/>
          </p:nvSpPr>
          <p:spPr>
            <a:xfrm>
              <a:off x="10278209" y="4553088"/>
              <a:ext cx="663211" cy="948660"/>
            </a:xfrm>
            <a:prstGeom prst="rect">
              <a:avLst/>
            </a:prstGeom>
            <a:solidFill>
              <a:srgbClr val="00B0F0">
                <a:alpha val="4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DCA0192-68A7-6DCD-F568-31CB4BC2AEB8}"/>
                </a:ext>
              </a:extLst>
            </p:cNvPr>
            <p:cNvSpPr/>
            <p:nvPr/>
          </p:nvSpPr>
          <p:spPr>
            <a:xfrm>
              <a:off x="10950385" y="4553088"/>
              <a:ext cx="663211" cy="62347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4902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</a:endParaRPr>
            </a:p>
          </p:txBody>
        </p: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301C3DA-F468-DFCD-0787-4AE0C92FA6E4}"/>
              </a:ext>
            </a:extLst>
          </p:cNvPr>
          <p:cNvCxnSpPr>
            <a:cxnSpLocks/>
          </p:cNvCxnSpPr>
          <p:nvPr/>
        </p:nvCxnSpPr>
        <p:spPr>
          <a:xfrm>
            <a:off x="10592572" y="2209361"/>
            <a:ext cx="1553527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AA73D9F-2C52-E406-7EFE-1805392E2D6E}"/>
              </a:ext>
            </a:extLst>
          </p:cNvPr>
          <p:cNvCxnSpPr>
            <a:cxnSpLocks/>
          </p:cNvCxnSpPr>
          <p:nvPr/>
        </p:nvCxnSpPr>
        <p:spPr>
          <a:xfrm>
            <a:off x="10596471" y="2378014"/>
            <a:ext cx="757382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5126C03-60A3-A539-40EF-B039CB07616D}"/>
              </a:ext>
            </a:extLst>
          </p:cNvPr>
          <p:cNvCxnSpPr>
            <a:cxnSpLocks/>
          </p:cNvCxnSpPr>
          <p:nvPr/>
        </p:nvCxnSpPr>
        <p:spPr>
          <a:xfrm>
            <a:off x="9930044" y="2538703"/>
            <a:ext cx="0" cy="511951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1429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B7E67-D4EC-53BE-1EDE-382063B90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*</a:t>
            </a:r>
            <a:r>
              <a:rPr lang="en-US" dirty="0"/>
              <a:t>Additional Metrics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338E382-A60D-5CCB-CB06-7854A90CC42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sz="1600" b="1" dirty="0"/>
                  <a:t>CCR: Contrast Confusion Rate</a:t>
                </a:r>
                <a:r>
                  <a:rPr lang="en-US" sz="1600" dirty="0"/>
                  <a:t> </a:t>
                </a:r>
              </a:p>
              <a:p>
                <a:pPr lvl="1"/>
                <a:r>
                  <a:rPr lang="en-US" sz="1400" dirty="0"/>
                  <a:t>head h, </a:t>
                </a:r>
                <a:r>
                  <a:rPr lang="en-US" sz="1400" dirty="0" err="1"/>
                  <a:t>정답</a:t>
                </a:r>
                <a:r>
                  <a:rPr lang="en-US" sz="1400" dirty="0"/>
                  <a:t> label a, </a:t>
                </a:r>
                <a:r>
                  <a:rPr lang="en-US" sz="1400" dirty="0" err="1"/>
                  <a:t>오답</a:t>
                </a:r>
                <a:r>
                  <a:rPr lang="en-US" sz="1400" dirty="0"/>
                  <a:t> label </a:t>
                </a:r>
                <a:r>
                  <a:rPr lang="en-US" sz="1400" dirty="0" err="1"/>
                  <a:t>b에</a:t>
                </a:r>
                <a:r>
                  <a:rPr lang="en-US" sz="1400" dirty="0"/>
                  <a:t> </a:t>
                </a:r>
                <a:r>
                  <a:rPr lang="en-US" sz="1400" dirty="0" err="1"/>
                  <a:t>대해</a:t>
                </a:r>
                <a:endParaRPr lang="en-US" sz="1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𝐶𝐶</m:t>
                    </m:r>
                    <m:sSub>
                      <m:sSub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1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400" i="1" dirty="0" err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40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) = </m:t>
                    </m:r>
                    <m:f>
                      <m:f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𝑐𝑜𝑢𝑛𝑡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i="1" dirty="0" err="1">
                            <a:latin typeface="Cambria Math" panose="02040503050406030204" pitchFamily="18" charset="0"/>
                          </a:rPr>
                          <m:t>𝑔𝑡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𝑝𝑟𝑒𝑑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𝑐𝑜𝑢𝑛𝑡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i="1" dirty="0" err="1">
                            <a:latin typeface="Cambria Math" panose="02040503050406030204" pitchFamily="18" charset="0"/>
                          </a:rPr>
                          <m:t>𝑔𝑡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sz="1200" dirty="0"/>
              </a:p>
              <a:p>
                <a:pPr lvl="1"/>
                <a:r>
                  <a:rPr lang="en-US" sz="1400" dirty="0" err="1"/>
                  <a:t>정답이</a:t>
                </a:r>
                <a:r>
                  <a:rPr lang="en-US" sz="1400" dirty="0"/>
                  <a:t> </a:t>
                </a:r>
                <a:r>
                  <a:rPr lang="en-US" sz="1400" dirty="0" err="1"/>
                  <a:t>a일</a:t>
                </a:r>
                <a:r>
                  <a:rPr lang="en-US" sz="1400" dirty="0"/>
                  <a:t> </a:t>
                </a:r>
                <a:r>
                  <a:rPr lang="en-US" sz="1400" dirty="0" err="1"/>
                  <a:t>때</a:t>
                </a:r>
                <a:r>
                  <a:rPr lang="en-US" sz="1400" dirty="0"/>
                  <a:t>, </a:t>
                </a:r>
                <a:r>
                  <a:rPr lang="en-US" sz="1400" dirty="0" err="1"/>
                  <a:t>모델이</a:t>
                </a:r>
                <a:r>
                  <a:rPr lang="en-US" sz="1400" dirty="0"/>
                  <a:t> </a:t>
                </a:r>
                <a:r>
                  <a:rPr lang="en-US" sz="1400" dirty="0" err="1"/>
                  <a:t>b로</a:t>
                </a:r>
                <a:r>
                  <a:rPr lang="en-US" sz="1400" dirty="0"/>
                  <a:t> </a:t>
                </a:r>
                <a:r>
                  <a:rPr lang="en-US" sz="1400" dirty="0" err="1"/>
                  <a:t>헷갈리는</a:t>
                </a:r>
                <a:r>
                  <a:rPr lang="en-US" sz="1400" dirty="0"/>
                  <a:t> </a:t>
                </a:r>
                <a:r>
                  <a:rPr lang="en-US" sz="1400" dirty="0" err="1"/>
                  <a:t>비율</a:t>
                </a:r>
                <a:endParaRPr lang="en-US" sz="1400" dirty="0"/>
              </a:p>
              <a:p>
                <a:pPr lvl="1"/>
                <a:r>
                  <a:rPr lang="en-US" sz="1400" dirty="0" err="1"/>
                  <a:t>예</a:t>
                </a:r>
                <a:r>
                  <a:rPr lang="ko-KR" altLang="en-US" sz="1400" dirty="0"/>
                  <a:t>시</a:t>
                </a:r>
                <a:r>
                  <a:rPr lang="en-US" sz="1400" dirty="0"/>
                  <a:t>: </a:t>
                </a:r>
              </a:p>
              <a:p>
                <a:pPr lvl="2"/>
                <a:r>
                  <a:rPr lang="en-US" sz="1200" dirty="0" err="1"/>
                  <a:t>place에서</a:t>
                </a:r>
                <a:r>
                  <a:rPr lang="en-US" sz="1200" dirty="0"/>
                  <a:t> alveolar </a:t>
                </a:r>
                <a:r>
                  <a:rPr lang="en-US" sz="1200" dirty="0">
                    <a:sym typeface="Wingdings" pitchFamily="2" charset="2"/>
                  </a:rPr>
                  <a:t></a:t>
                </a:r>
                <a:r>
                  <a:rPr lang="en-US" sz="1200" dirty="0"/>
                  <a:t> alveolo-palatal</a:t>
                </a:r>
              </a:p>
              <a:p>
                <a:pPr lvl="2"/>
                <a:r>
                  <a:rPr lang="en-US" sz="1200" dirty="0" err="1"/>
                  <a:t>laryngeal에서</a:t>
                </a:r>
                <a:r>
                  <a:rPr lang="en-US" sz="1200" dirty="0"/>
                  <a:t> lenis </a:t>
                </a:r>
                <a:r>
                  <a:rPr lang="en-US" altLang="ko-KR" sz="1200" dirty="0">
                    <a:sym typeface="Wingdings" pitchFamily="2" charset="2"/>
                  </a:rPr>
                  <a:t></a:t>
                </a:r>
                <a:r>
                  <a:rPr lang="en-US" sz="1200" dirty="0"/>
                  <a:t> aspirated</a:t>
                </a:r>
              </a:p>
              <a:p>
                <a:pPr lvl="2"/>
                <a:endParaRPr lang="en-US" sz="1200" dirty="0"/>
              </a:p>
              <a:p>
                <a:pPr lvl="2"/>
                <a:endParaRPr lang="en-US" sz="1200" dirty="0"/>
              </a:p>
              <a:p>
                <a:r>
                  <a:rPr lang="en-US" sz="1600" b="1" dirty="0"/>
                  <a:t>Recovery</a:t>
                </a:r>
                <a:r>
                  <a:rPr lang="en-US" sz="1600" dirty="0"/>
                  <a:t> </a:t>
                </a:r>
              </a:p>
              <a:p>
                <a:pPr lvl="1"/>
                <a:r>
                  <a:rPr lang="en-US" sz="1400" dirty="0" err="1"/>
                  <a:t>baseline은</a:t>
                </a:r>
                <a:r>
                  <a:rPr lang="en-US" sz="1400" dirty="0"/>
                  <a:t> </a:t>
                </a:r>
                <a:r>
                  <a:rPr lang="en-US" sz="1400" dirty="0" err="1"/>
                  <a:t>틀렸는데</a:t>
                </a:r>
                <a:r>
                  <a:rPr lang="en-US" sz="1400" dirty="0"/>
                  <a:t> </a:t>
                </a:r>
                <a:r>
                  <a:rPr lang="en-US" sz="1400" dirty="0" err="1"/>
                  <a:t>system은</a:t>
                </a:r>
                <a:r>
                  <a:rPr lang="en-US" sz="1400" dirty="0"/>
                  <a:t> </a:t>
                </a:r>
                <a:r>
                  <a:rPr lang="en-US" sz="1400" dirty="0" err="1"/>
                  <a:t>맞춘</a:t>
                </a:r>
                <a:r>
                  <a:rPr lang="en-US" sz="1400" dirty="0"/>
                  <a:t> </a:t>
                </a:r>
                <a:r>
                  <a:rPr lang="en-US" sz="1400" dirty="0" err="1"/>
                  <a:t>개수</a:t>
                </a:r>
                <a:endParaRPr lang="en-US" sz="1400" dirty="0"/>
              </a:p>
              <a:p>
                <a:pPr lvl="1"/>
                <a:r>
                  <a:rPr lang="en-US" sz="1400" dirty="0" err="1"/>
                  <a:t>예</a:t>
                </a:r>
                <a:r>
                  <a:rPr lang="ko-KR" altLang="en-US" sz="1400" dirty="0"/>
                  <a:t>시</a:t>
                </a:r>
                <a:r>
                  <a:rPr lang="en-US" sz="1400" dirty="0"/>
                  <a:t>: </a:t>
                </a:r>
              </a:p>
              <a:p>
                <a:pPr lvl="2"/>
                <a:r>
                  <a:rPr lang="en-US" sz="1200" dirty="0"/>
                  <a:t>GT</a:t>
                </a:r>
                <a:r>
                  <a:rPr lang="ko-KR" altLang="en-US" sz="1200" dirty="0"/>
                  <a:t> </a:t>
                </a:r>
                <a:r>
                  <a:rPr lang="en-US" sz="1200" dirty="0"/>
                  <a:t>=</a:t>
                </a:r>
                <a:r>
                  <a:rPr lang="ko-KR" altLang="en-US" sz="1200" dirty="0"/>
                  <a:t> </a:t>
                </a:r>
                <a:r>
                  <a:rPr lang="en-US" sz="1200" dirty="0"/>
                  <a:t>alveolar</a:t>
                </a:r>
              </a:p>
              <a:p>
                <a:pPr lvl="2"/>
                <a:r>
                  <a:rPr lang="en-US" sz="1200" dirty="0"/>
                  <a:t>Baseline</a:t>
                </a:r>
                <a:r>
                  <a:rPr lang="ko-KR" altLang="en-US" sz="1200" dirty="0"/>
                  <a:t> </a:t>
                </a:r>
                <a:r>
                  <a:rPr lang="en-US" sz="1200" dirty="0"/>
                  <a:t>=</a:t>
                </a:r>
                <a:r>
                  <a:rPr lang="ko-KR" altLang="en-US" sz="1200" dirty="0"/>
                  <a:t> </a:t>
                </a:r>
                <a:r>
                  <a:rPr lang="en-US" sz="1200" dirty="0"/>
                  <a:t>alveolo-palatal</a:t>
                </a:r>
              </a:p>
              <a:p>
                <a:pPr lvl="2"/>
                <a:r>
                  <a:rPr lang="en-US" sz="1200" dirty="0"/>
                  <a:t>System</a:t>
                </a:r>
                <a:r>
                  <a:rPr lang="ko-KR" altLang="en-US" sz="1200" dirty="0"/>
                  <a:t> </a:t>
                </a:r>
                <a:r>
                  <a:rPr lang="en-US" sz="1200" dirty="0"/>
                  <a:t>=</a:t>
                </a:r>
                <a:r>
                  <a:rPr lang="ko-KR" altLang="en-US" sz="1200" dirty="0"/>
                  <a:t> </a:t>
                </a:r>
                <a:r>
                  <a:rPr lang="en-US" sz="1200" dirty="0"/>
                  <a:t>alveolar</a:t>
                </a:r>
              </a:p>
              <a:p>
                <a:r>
                  <a:rPr lang="en-US" sz="1600" b="1" dirty="0"/>
                  <a:t>Regression</a:t>
                </a:r>
                <a:r>
                  <a:rPr lang="en-US" sz="1600" dirty="0"/>
                  <a:t> </a:t>
                </a:r>
              </a:p>
              <a:p>
                <a:pPr lvl="1"/>
                <a:r>
                  <a:rPr lang="en-US" sz="1400" dirty="0" err="1"/>
                  <a:t>baseline은</a:t>
                </a:r>
                <a:r>
                  <a:rPr lang="en-US" sz="1400" dirty="0"/>
                  <a:t> </a:t>
                </a:r>
                <a:r>
                  <a:rPr lang="en-US" sz="1400" dirty="0" err="1"/>
                  <a:t>맞았는데</a:t>
                </a:r>
                <a:r>
                  <a:rPr lang="en-US" sz="1400" dirty="0"/>
                  <a:t> </a:t>
                </a:r>
                <a:r>
                  <a:rPr lang="en-US" sz="1400" dirty="0" err="1"/>
                  <a:t>system이</a:t>
                </a:r>
                <a:r>
                  <a:rPr lang="en-US" sz="1400" dirty="0"/>
                  <a:t> </a:t>
                </a:r>
                <a:r>
                  <a:rPr lang="en-US" sz="1400" dirty="0" err="1"/>
                  <a:t>틀린</a:t>
                </a:r>
                <a:r>
                  <a:rPr lang="en-US" sz="1400" dirty="0"/>
                  <a:t> </a:t>
                </a:r>
                <a:r>
                  <a:rPr lang="en-US" sz="1400" dirty="0" err="1"/>
                  <a:t>개수</a:t>
                </a:r>
                <a:endParaRPr lang="en-US" sz="1400" dirty="0"/>
              </a:p>
              <a:p>
                <a:pPr lvl="1"/>
                <a:r>
                  <a:rPr lang="en-US" sz="1400" dirty="0" err="1"/>
                  <a:t>예</a:t>
                </a:r>
                <a:r>
                  <a:rPr lang="ko-KR" altLang="en-US" sz="1400" dirty="0"/>
                  <a:t>시</a:t>
                </a:r>
                <a:r>
                  <a:rPr lang="en-US" sz="1400" dirty="0"/>
                  <a:t>: </a:t>
                </a:r>
              </a:p>
              <a:p>
                <a:pPr lvl="2"/>
                <a:r>
                  <a:rPr lang="en-US" sz="1200" dirty="0"/>
                  <a:t>GT</a:t>
                </a:r>
                <a:r>
                  <a:rPr lang="ko-KR" altLang="en-US" sz="1200" dirty="0"/>
                  <a:t> </a:t>
                </a:r>
                <a:r>
                  <a:rPr lang="en-US" sz="1200" dirty="0"/>
                  <a:t>=</a:t>
                </a:r>
                <a:r>
                  <a:rPr lang="ko-KR" altLang="en-US" sz="1200" dirty="0"/>
                  <a:t> </a:t>
                </a:r>
                <a:r>
                  <a:rPr lang="en-US" sz="1200" dirty="0"/>
                  <a:t>alveolar</a:t>
                </a:r>
              </a:p>
              <a:p>
                <a:pPr lvl="2"/>
                <a:r>
                  <a:rPr lang="en-US" sz="1200" dirty="0"/>
                  <a:t>Baseline</a:t>
                </a:r>
                <a:r>
                  <a:rPr lang="ko-KR" altLang="en-US" sz="1200" dirty="0"/>
                  <a:t> </a:t>
                </a:r>
                <a:r>
                  <a:rPr lang="en-US" sz="1200" dirty="0"/>
                  <a:t>=</a:t>
                </a:r>
                <a:r>
                  <a:rPr lang="ko-KR" altLang="en-US" sz="1200" dirty="0"/>
                  <a:t> </a:t>
                </a:r>
                <a:r>
                  <a:rPr lang="en-US" sz="1200" dirty="0"/>
                  <a:t>alveolar</a:t>
                </a:r>
              </a:p>
              <a:p>
                <a:pPr lvl="2"/>
                <a:r>
                  <a:rPr lang="en-US" sz="1200" dirty="0"/>
                  <a:t>System</a:t>
                </a:r>
                <a:r>
                  <a:rPr lang="ko-KR" altLang="en-US" sz="1200" dirty="0"/>
                  <a:t> </a:t>
                </a:r>
                <a:r>
                  <a:rPr lang="en-US" sz="1200" dirty="0"/>
                  <a:t>=</a:t>
                </a:r>
                <a:r>
                  <a:rPr lang="ko-KR" altLang="en-US" sz="1200" dirty="0"/>
                  <a:t> </a:t>
                </a:r>
                <a:r>
                  <a:rPr lang="en-US" sz="1200" dirty="0"/>
                  <a:t>alveolo-palatal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338E382-A60D-5CCB-CB06-7854A90CC4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5F9F740-DD6E-1256-A510-593697E523A4}"/>
              </a:ext>
            </a:extLst>
          </p:cNvPr>
          <p:cNvCxnSpPr>
            <a:cxnSpLocks/>
          </p:cNvCxnSpPr>
          <p:nvPr/>
        </p:nvCxnSpPr>
        <p:spPr>
          <a:xfrm>
            <a:off x="365126" y="3327119"/>
            <a:ext cx="1128468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54E046A-52ED-D764-4559-6999B5D473AA}"/>
              </a:ext>
            </a:extLst>
          </p:cNvPr>
          <p:cNvSpPr txBox="1"/>
          <p:nvPr/>
        </p:nvSpPr>
        <p:spPr>
          <a:xfrm>
            <a:off x="-1008993" y="279575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Placeholder 2">
                <a:extLst>
                  <a:ext uri="{FF2B5EF4-FFF2-40B4-BE49-F238E27FC236}">
                    <a16:creationId xmlns:a16="http://schemas.microsoft.com/office/drawing/2014/main" id="{F5D8C1E9-AFD6-4083-D13E-30B4A31E9F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75284" y="1137958"/>
                <a:ext cx="6059120" cy="53549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556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Char char="•"/>
                  <a:defRPr sz="16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3175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  <a:def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3175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  <a:def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l-GR" sz="1600" b="1" dirty="0">
                    <a:highlight>
                      <a:srgbClr val="FFFF00"/>
                    </a:highlight>
                  </a:rPr>
                  <a:t>Δ</a:t>
                </a:r>
                <a:r>
                  <a:rPr lang="en-US" sz="1600" b="1" dirty="0">
                    <a:highlight>
                      <a:srgbClr val="FFFF00"/>
                    </a:highlight>
                  </a:rPr>
                  <a:t>CCR: Contrast Confusion Change</a:t>
                </a: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i="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400" i="1" dirty="0" err="1">
                        <a:latin typeface="Cambria Math" panose="02040503050406030204" pitchFamily="18" charset="0"/>
                      </a:rPr>
                      <m:t>𝐶𝐶</m:t>
                    </m:r>
                    <m:sSub>
                      <m:sSubPr>
                        <m:ctrlPr>
                          <a:rPr lang="en-US" sz="14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 err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400" i="1" dirty="0" err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1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400" i="1" dirty="0" err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40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1400" i="1" dirty="0" err="1">
                        <a:latin typeface="Cambria Math" panose="02040503050406030204" pitchFamily="18" charset="0"/>
                      </a:rPr>
                      <m:t>𝐶𝐶</m:t>
                    </m:r>
                    <m:sSub>
                      <m:sSubPr>
                        <m:ctrlPr>
                          <a:rPr lang="en-US" sz="14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 err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400" i="1" dirty="0" err="1">
                            <a:latin typeface="Cambria Math" panose="02040503050406030204" pitchFamily="18" charset="0"/>
                          </a:rPr>
                          <m:t>𝑠𝑦𝑠𝑡𝑒𝑚</m:t>
                        </m:r>
                      </m:sub>
                    </m:sSub>
                    <m:r>
                      <a:rPr lang="en-US" sz="1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400" i="1" dirty="0" err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40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) − </m:t>
                    </m:r>
                    <m:r>
                      <a:rPr lang="en-US" sz="1400" i="1" dirty="0" err="1">
                        <a:latin typeface="Cambria Math" panose="02040503050406030204" pitchFamily="18" charset="0"/>
                      </a:rPr>
                      <m:t>𝐶𝐶</m:t>
                    </m:r>
                    <m:sSub>
                      <m:sSubPr>
                        <m:ctrlPr>
                          <a:rPr lang="en-US" sz="14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 err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400" i="1" dirty="0" err="1">
                            <a:latin typeface="Cambria Math" panose="02040503050406030204" pitchFamily="18" charset="0"/>
                          </a:rPr>
                          <m:t>𝑏𝑎𝑠𝑒𝑙𝑖𝑛𝑒</m:t>
                        </m:r>
                      </m:sub>
                    </m:sSub>
                    <m:r>
                      <a:rPr lang="en-US" sz="1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400" i="1" dirty="0" err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40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b="1" dirty="0">
                  <a:highlight>
                    <a:srgbClr val="FFFF00"/>
                  </a:highlight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en-US" sz="1400" dirty="0" err="1"/>
                  <a:t>해석</a:t>
                </a:r>
                <a:r>
                  <a:rPr lang="en-US" sz="1400" dirty="0"/>
                  <a:t>: 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en-US" sz="1400" dirty="0" err="1"/>
                  <a:t>음수</a:t>
                </a:r>
                <a:r>
                  <a:rPr lang="en-US" altLang="ko-KR" sz="1400" dirty="0"/>
                  <a:t>:</a:t>
                </a:r>
                <a:r>
                  <a:rPr lang="en-US" sz="1400" dirty="0"/>
                  <a:t> </a:t>
                </a:r>
                <a:r>
                  <a:rPr lang="en-US" sz="1400" dirty="0" err="1"/>
                  <a:t>좋아짐</a:t>
                </a:r>
                <a:endParaRPr lang="en-US" sz="1400" dirty="0"/>
              </a:p>
              <a:p>
                <a:pPr lvl="2">
                  <a:lnSpc>
                    <a:spcPct val="100000"/>
                  </a:lnSpc>
                </a:pPr>
                <a:r>
                  <a:rPr lang="en-US" sz="1400" dirty="0" err="1"/>
                  <a:t>양수</a:t>
                </a:r>
                <a:r>
                  <a:rPr lang="en-US" altLang="ko-KR" sz="1400" dirty="0"/>
                  <a:t>:</a:t>
                </a:r>
                <a:r>
                  <a:rPr lang="en-US" sz="1400" dirty="0"/>
                  <a:t> </a:t>
                </a:r>
                <a:r>
                  <a:rPr lang="en-US" sz="1400" dirty="0" err="1"/>
                  <a:t>나빠짐</a:t>
                </a:r>
                <a:endParaRPr lang="en-US" sz="1400" dirty="0"/>
              </a:p>
              <a:p>
                <a:pPr lvl="2">
                  <a:lnSpc>
                    <a:spcPct val="100000"/>
                  </a:lnSpc>
                </a:pPr>
                <a:endParaRPr lang="en-US" sz="1400" dirty="0"/>
              </a:p>
              <a:p>
                <a:pPr lvl="2">
                  <a:lnSpc>
                    <a:spcPct val="100000"/>
                  </a:lnSpc>
                </a:pPr>
                <a:endParaRPr lang="en-US" sz="1400" dirty="0"/>
              </a:p>
              <a:p>
                <a:pPr marL="1041400" lvl="2" indent="0">
                  <a:lnSpc>
                    <a:spcPct val="100000"/>
                  </a:lnSpc>
                  <a:buNone/>
                </a:pPr>
                <a:endParaRPr lang="en-US" sz="1400" dirty="0"/>
              </a:p>
              <a:p>
                <a:pPr>
                  <a:lnSpc>
                    <a:spcPct val="100000"/>
                  </a:lnSpc>
                </a:pPr>
                <a:r>
                  <a:rPr lang="en-US" sz="1600" b="1" dirty="0">
                    <a:highlight>
                      <a:srgbClr val="FFFF00"/>
                    </a:highlight>
                  </a:rPr>
                  <a:t>Net Recovery Rate</a:t>
                </a:r>
                <a:endParaRPr lang="en-US" sz="1600" dirty="0">
                  <a:highlight>
                    <a:srgbClr val="FFFF00"/>
                  </a:highlight>
                </a:endParaRP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𝑁𝑅</m:t>
                    </m:r>
                    <m:sSub>
                      <m:sSub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1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400" i="1" dirty="0" err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40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) = </m:t>
                    </m:r>
                    <m:f>
                      <m:f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𝑅𝑒𝑐𝑜𝑣𝑒𝑟𝑦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 − 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𝑅𝑒𝑔𝑟𝑒𝑠𝑠𝑖𝑜𝑛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𝑐𝑜𝑢𝑛𝑡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i="1" dirty="0" err="1">
                            <a:latin typeface="Cambria Math" panose="02040503050406030204" pitchFamily="18" charset="0"/>
                          </a:rPr>
                          <m:t>𝑔𝑡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sz="1400" dirty="0"/>
                          <m:t> </m:t>
                        </m:r>
                      </m:den>
                    </m:f>
                  </m:oMath>
                </a14:m>
                <a:endParaRPr lang="en-US" sz="1400" dirty="0"/>
              </a:p>
              <a:p>
                <a:pPr lvl="1">
                  <a:lnSpc>
                    <a:spcPct val="100000"/>
                  </a:lnSpc>
                </a:pPr>
                <a:r>
                  <a:rPr lang="en-US" sz="1400" dirty="0" err="1"/>
                  <a:t>해석</a:t>
                </a:r>
                <a:r>
                  <a:rPr lang="en-US" sz="1400" dirty="0"/>
                  <a:t>: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en-US" sz="1200" dirty="0" err="1"/>
                  <a:t>양수</a:t>
                </a:r>
                <a:r>
                  <a:rPr lang="en-US" altLang="ko-KR" sz="1200" dirty="0"/>
                  <a:t>:</a:t>
                </a:r>
                <a:r>
                  <a:rPr lang="ko-KR" altLang="en-US" sz="1200" dirty="0"/>
                  <a:t> </a:t>
                </a:r>
                <a:r>
                  <a:rPr lang="en-US" sz="1200" dirty="0" err="1"/>
                  <a:t>개선</a:t>
                </a:r>
                <a:endParaRPr lang="en-US" sz="1200" dirty="0"/>
              </a:p>
              <a:p>
                <a:pPr lvl="2">
                  <a:lnSpc>
                    <a:spcPct val="100000"/>
                  </a:lnSpc>
                </a:pPr>
                <a:r>
                  <a:rPr lang="en-US" sz="1200" dirty="0" err="1"/>
                  <a:t>음수</a:t>
                </a:r>
                <a:r>
                  <a:rPr lang="en-US" altLang="ko-KR" sz="1200" dirty="0"/>
                  <a:t>:</a:t>
                </a:r>
                <a:r>
                  <a:rPr lang="ko-KR" altLang="en-US" sz="1200" dirty="0"/>
                  <a:t> </a:t>
                </a:r>
                <a:r>
                  <a:rPr lang="en-US" sz="1200" dirty="0" err="1"/>
                  <a:t>악화</a:t>
                </a:r>
                <a:endParaRPr lang="en-US" sz="1200" dirty="0"/>
              </a:p>
              <a:p>
                <a:pPr lvl="1">
                  <a:lnSpc>
                    <a:spcPct val="100000"/>
                  </a:lnSpc>
                </a:pPr>
                <a:endParaRPr lang="en-US" sz="1600" dirty="0"/>
              </a:p>
            </p:txBody>
          </p:sp>
        </mc:Choice>
        <mc:Fallback xmlns="">
          <p:sp>
            <p:nvSpPr>
              <p:cNvPr id="13" name="Text Placeholder 2">
                <a:extLst>
                  <a:ext uri="{FF2B5EF4-FFF2-40B4-BE49-F238E27FC236}">
                    <a16:creationId xmlns:a16="http://schemas.microsoft.com/office/drawing/2014/main" id="{F5D8C1E9-AFD6-4083-D13E-30B4A31E9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5284" y="1137958"/>
                <a:ext cx="6059120" cy="53549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3050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6C3D7-C566-350F-CBD6-CE72A3602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* Baseline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265AB8-EFC3-8476-A6BF-758BD04A8C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1400" dirty="0"/>
              <a:t>모델의 종류</a:t>
            </a:r>
            <a:endParaRPr lang="en-US" altLang="ko-KR" sz="1400" dirty="0"/>
          </a:p>
          <a:p>
            <a:pPr lvl="1"/>
            <a:r>
              <a:rPr lang="en-US" sz="1200" dirty="0"/>
              <a:t>tiny: 39M</a:t>
            </a:r>
          </a:p>
          <a:p>
            <a:pPr lvl="1"/>
            <a:r>
              <a:rPr lang="en-US" sz="1200" dirty="0"/>
              <a:t>base: 74M</a:t>
            </a:r>
          </a:p>
          <a:p>
            <a:pPr lvl="1"/>
            <a:r>
              <a:rPr lang="en-US" sz="1200" dirty="0"/>
              <a:t>small: 244M</a:t>
            </a:r>
          </a:p>
          <a:p>
            <a:pPr lvl="1"/>
            <a:r>
              <a:rPr lang="en-US" sz="1200" dirty="0"/>
              <a:t>medium: 769M</a:t>
            </a:r>
          </a:p>
          <a:p>
            <a:pPr lvl="1"/>
            <a:r>
              <a:rPr lang="en-US" sz="1200" dirty="0"/>
              <a:t>large: 1.55B</a:t>
            </a:r>
          </a:p>
          <a:p>
            <a:pPr lvl="1"/>
            <a:r>
              <a:rPr lang="en-US" sz="1200" dirty="0"/>
              <a:t>large-v2: 1.55B</a:t>
            </a:r>
          </a:p>
          <a:p>
            <a:pPr lvl="1"/>
            <a:r>
              <a:rPr lang="en-US" sz="1200" dirty="0"/>
              <a:t>large-v3: 1.55B</a:t>
            </a:r>
          </a:p>
          <a:p>
            <a:pPr lvl="1"/>
            <a:r>
              <a:rPr lang="en-US" sz="1200" dirty="0"/>
              <a:t>large-v3-turbo: 809M </a:t>
            </a:r>
          </a:p>
          <a:p>
            <a:endParaRPr lang="en-US" altLang="ko-KR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pPr marL="101600" indent="0">
              <a:buNone/>
            </a:pPr>
            <a:endParaRPr lang="en-US" sz="1400" dirty="0"/>
          </a:p>
          <a:p>
            <a:endParaRPr lang="en-US" sz="1400" dirty="0"/>
          </a:p>
          <a:p>
            <a:r>
              <a:rPr lang="ko-KR" altLang="en-US" sz="1400" dirty="0"/>
              <a:t>데이터 종류</a:t>
            </a:r>
            <a:endParaRPr lang="en-US" altLang="ko-KR" sz="1400" dirty="0"/>
          </a:p>
          <a:p>
            <a:pPr lvl="1"/>
            <a:r>
              <a:rPr lang="en-US" altLang="ko-KR" sz="1200" dirty="0"/>
              <a:t>Low</a:t>
            </a:r>
          </a:p>
          <a:p>
            <a:pPr lvl="1"/>
            <a:r>
              <a:rPr lang="en-US" altLang="ko-KR" sz="1200" dirty="0"/>
              <a:t>Low-Mid</a:t>
            </a:r>
          </a:p>
          <a:p>
            <a:pPr lvl="1"/>
            <a:r>
              <a:rPr lang="en-US" altLang="ko-KR" sz="1200" dirty="0"/>
              <a:t>Low-Mid-High</a:t>
            </a:r>
            <a:endParaRPr lang="en-US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D04BEB-96DD-7816-A127-A8A191F59C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9" b="608"/>
          <a:stretch>
            <a:fillRect/>
          </a:stretch>
        </p:blipFill>
        <p:spPr>
          <a:xfrm>
            <a:off x="3517429" y="1021976"/>
            <a:ext cx="7009388" cy="382465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40E856-3C50-D706-AD4F-7D9725236541}"/>
              </a:ext>
            </a:extLst>
          </p:cNvPr>
          <p:cNvCxnSpPr>
            <a:cxnSpLocks/>
          </p:cNvCxnSpPr>
          <p:nvPr/>
        </p:nvCxnSpPr>
        <p:spPr>
          <a:xfrm>
            <a:off x="365126" y="5166429"/>
            <a:ext cx="1128468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Google Shape;225;p9">
            <a:extLst>
              <a:ext uri="{FF2B5EF4-FFF2-40B4-BE49-F238E27FC236}">
                <a16:creationId xmlns:a16="http://schemas.microsoft.com/office/drawing/2014/main" id="{9FEC4D32-064B-2584-ED24-7D0823D4B820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72139" y="5258388"/>
            <a:ext cx="5815911" cy="15199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10919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9D1EF288-0371-EFC3-D6BC-622BFB3D2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893113"/>
            <a:ext cx="7772400" cy="30717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7A2D0F-96A6-3D9F-445D-15D0E551C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Results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B91D9E-B666-FBB5-5044-64A46FA373CF}"/>
              </a:ext>
            </a:extLst>
          </p:cNvPr>
          <p:cNvSpPr txBox="1"/>
          <p:nvPr/>
        </p:nvSpPr>
        <p:spPr>
          <a:xfrm>
            <a:off x="365126" y="934006"/>
            <a:ext cx="5702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laryngeal=3</a:t>
            </a:r>
            <a:r>
              <a:rPr lang="en-US" dirty="0"/>
              <a:t>, </a:t>
            </a:r>
            <a:r>
              <a:rPr lang="en-US" dirty="0">
                <a:solidFill>
                  <a:schemeClr val="tx1"/>
                </a:solidFill>
              </a:rPr>
              <a:t>place=5, manner</a:t>
            </a:r>
            <a:r>
              <a:rPr lang="en-US" dirty="0"/>
              <a:t>=6, height=8, </a:t>
            </a:r>
            <a:r>
              <a:rPr lang="en-US" dirty="0" err="1"/>
              <a:t>backness</a:t>
            </a:r>
            <a:r>
              <a:rPr lang="en-US" dirty="0"/>
              <a:t>=9, rounding=10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1B00C8-ECAE-2EE3-23B2-60D26B1174A5}"/>
              </a:ext>
            </a:extLst>
          </p:cNvPr>
          <p:cNvSpPr txBox="1"/>
          <p:nvPr/>
        </p:nvSpPr>
        <p:spPr>
          <a:xfrm>
            <a:off x="365127" y="1149568"/>
            <a:ext cx="1114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laryngeal=2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8E09EB-9D99-5253-1AC2-05960C672609}"/>
              </a:ext>
            </a:extLst>
          </p:cNvPr>
          <p:cNvSpPr txBox="1"/>
          <p:nvPr/>
        </p:nvSpPr>
        <p:spPr>
          <a:xfrm>
            <a:off x="365126" y="725350"/>
            <a:ext cx="1114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laryngeal=4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CE4FCB-0888-AA56-3EB7-05542B132A24}"/>
              </a:ext>
            </a:extLst>
          </p:cNvPr>
          <p:cNvSpPr/>
          <p:nvPr/>
        </p:nvSpPr>
        <p:spPr>
          <a:xfrm rot="3963267">
            <a:off x="5096304" y="4558378"/>
            <a:ext cx="132998" cy="414830"/>
          </a:xfrm>
          <a:prstGeom prst="rect">
            <a:avLst/>
          </a:prstGeom>
          <a:solidFill>
            <a:srgbClr val="C00000">
              <a:alpha val="4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EC2C0A-EDFE-C97A-DE34-83EA3183DCCA}"/>
              </a:ext>
            </a:extLst>
          </p:cNvPr>
          <p:cNvSpPr/>
          <p:nvPr/>
        </p:nvSpPr>
        <p:spPr>
          <a:xfrm rot="3963267">
            <a:off x="4550873" y="4558378"/>
            <a:ext cx="132998" cy="414830"/>
          </a:xfrm>
          <a:prstGeom prst="rect">
            <a:avLst/>
          </a:prstGeom>
          <a:solidFill>
            <a:srgbClr val="00B050">
              <a:alpha val="4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65406C-A50E-B726-0EAC-7910B4A41B4B}"/>
              </a:ext>
            </a:extLst>
          </p:cNvPr>
          <p:cNvSpPr/>
          <p:nvPr/>
        </p:nvSpPr>
        <p:spPr>
          <a:xfrm rot="3963267">
            <a:off x="4005443" y="4558379"/>
            <a:ext cx="132998" cy="414830"/>
          </a:xfrm>
          <a:prstGeom prst="rect">
            <a:avLst/>
          </a:prstGeom>
          <a:solidFill>
            <a:srgbClr val="0070C0">
              <a:alpha val="4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AEF6B5F-A1FD-FF31-7FF6-E3CC728A2C45}"/>
              </a:ext>
            </a:extLst>
          </p:cNvPr>
          <p:cNvSpPr/>
          <p:nvPr/>
        </p:nvSpPr>
        <p:spPr>
          <a:xfrm rot="3963267">
            <a:off x="8898422" y="4558377"/>
            <a:ext cx="132998" cy="414830"/>
          </a:xfrm>
          <a:prstGeom prst="rect">
            <a:avLst/>
          </a:prstGeom>
          <a:solidFill>
            <a:srgbClr val="C00000">
              <a:alpha val="4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126499-D62A-74DC-5626-E1E5DB0BB7C7}"/>
              </a:ext>
            </a:extLst>
          </p:cNvPr>
          <p:cNvSpPr/>
          <p:nvPr/>
        </p:nvSpPr>
        <p:spPr>
          <a:xfrm rot="3963267">
            <a:off x="8352991" y="4558377"/>
            <a:ext cx="132998" cy="414830"/>
          </a:xfrm>
          <a:prstGeom prst="rect">
            <a:avLst/>
          </a:prstGeom>
          <a:solidFill>
            <a:srgbClr val="00B050">
              <a:alpha val="4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D2F242-2C4D-E399-F0DA-9F26964C02FB}"/>
              </a:ext>
            </a:extLst>
          </p:cNvPr>
          <p:cNvSpPr/>
          <p:nvPr/>
        </p:nvSpPr>
        <p:spPr>
          <a:xfrm rot="3963267">
            <a:off x="7807561" y="4558378"/>
            <a:ext cx="132998" cy="414830"/>
          </a:xfrm>
          <a:prstGeom prst="rect">
            <a:avLst/>
          </a:prstGeom>
          <a:solidFill>
            <a:srgbClr val="0070C0">
              <a:alpha val="4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4E7CF5-4E22-56DA-08FF-35F0929CC4CF}"/>
              </a:ext>
            </a:extLst>
          </p:cNvPr>
          <p:cNvSpPr/>
          <p:nvPr/>
        </p:nvSpPr>
        <p:spPr>
          <a:xfrm>
            <a:off x="2612571" y="3284376"/>
            <a:ext cx="606490" cy="16805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86E3C7B-3C99-89ED-9999-A22BFA650AC1}"/>
              </a:ext>
            </a:extLst>
          </p:cNvPr>
          <p:cNvSpPr/>
          <p:nvPr/>
        </p:nvSpPr>
        <p:spPr>
          <a:xfrm>
            <a:off x="6422571" y="2727650"/>
            <a:ext cx="606490" cy="223723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9B4230-67D4-6C2E-ED34-769429377751}"/>
              </a:ext>
            </a:extLst>
          </p:cNvPr>
          <p:cNvSpPr/>
          <p:nvPr/>
        </p:nvSpPr>
        <p:spPr>
          <a:xfrm>
            <a:off x="5456674" y="3937517"/>
            <a:ext cx="606490" cy="1024551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DA67041-C17D-3304-3804-F9927020B866}"/>
              </a:ext>
            </a:extLst>
          </p:cNvPr>
          <p:cNvSpPr/>
          <p:nvPr/>
        </p:nvSpPr>
        <p:spPr>
          <a:xfrm>
            <a:off x="9252169" y="3284377"/>
            <a:ext cx="606490" cy="1677692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12E3363-D1D5-5CB7-9CE2-FD2459CE3C82}"/>
                  </a:ext>
                </a:extLst>
              </p:cNvPr>
              <p:cNvSpPr txBox="1"/>
              <p:nvPr/>
            </p:nvSpPr>
            <p:spPr>
              <a:xfrm>
                <a:off x="992541" y="5243916"/>
                <a:ext cx="4284721" cy="291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i="0" dirty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𝐶𝐶</m:t>
                      </m:r>
                      <m:sSub>
                        <m:sSubPr>
                          <m:ctrlPr>
                            <a:rPr lang="en-US" sz="12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 err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200" i="1" dirty="0" err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𝐶𝐶</m:t>
                      </m:r>
                      <m:sSub>
                        <m:sSubPr>
                          <m:ctrlPr>
                            <a:rPr lang="en-US" sz="12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 err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200" i="1" dirty="0" err="1">
                              <a:latin typeface="Cambria Math" panose="02040503050406030204" pitchFamily="18" charset="0"/>
                            </a:rPr>
                            <m:t>𝑠𝑦𝑠𝑡𝑒𝑚</m:t>
                          </m:r>
                        </m:sub>
                      </m:sSub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) − 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𝐶𝐶</m:t>
                      </m:r>
                      <m:sSub>
                        <m:sSubPr>
                          <m:ctrlPr>
                            <a:rPr lang="en-US" sz="12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 err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200" i="1" dirty="0" err="1">
                              <a:latin typeface="Cambria Math" panose="02040503050406030204" pitchFamily="18" charset="0"/>
                            </a:rPr>
                            <m:t>𝑏𝑎𝑠𝑒𝑙𝑖𝑛𝑒</m:t>
                          </m:r>
                        </m:sub>
                      </m:sSub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12E3363-D1D5-5CB7-9CE2-FD2459CE3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541" y="5243916"/>
                <a:ext cx="4284721" cy="291618"/>
              </a:xfrm>
              <a:prstGeom prst="rect">
                <a:avLst/>
              </a:prstGeom>
              <a:blipFill>
                <a:blip r:embed="rId3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384D858-929D-943E-86E7-4B71FC5F3271}"/>
              </a:ext>
            </a:extLst>
          </p:cNvPr>
          <p:cNvCxnSpPr>
            <a:cxnSpLocks/>
          </p:cNvCxnSpPr>
          <p:nvPr/>
        </p:nvCxnSpPr>
        <p:spPr>
          <a:xfrm>
            <a:off x="365126" y="5166429"/>
            <a:ext cx="1128468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6B93E25-D4F2-06FF-F4ED-EF15C820BDC7}"/>
                  </a:ext>
                </a:extLst>
              </p:cNvPr>
              <p:cNvSpPr txBox="1"/>
              <p:nvPr/>
            </p:nvSpPr>
            <p:spPr>
              <a:xfrm>
                <a:off x="7823360" y="5166429"/>
                <a:ext cx="2963183" cy="4448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𝑁𝑅</m:t>
                      </m:r>
                      <m:sSub>
                        <m:sSubPr>
                          <m:ctrlPr>
                            <a:rPr lang="en-US" sz="11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1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100" i="1" dirty="0" err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100" i="1" dirty="0" err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) = </m:t>
                      </m:r>
                      <m:f>
                        <m:fPr>
                          <m:ctrlPr>
                            <a:rPr lang="en-US" sz="11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𝑅𝑒𝑐𝑜𝑣𝑒𝑟𝑦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𝑅𝑒𝑔𝑟𝑒𝑠𝑠𝑖𝑜𝑛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𝑐𝑜𝑢𝑛𝑡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100" i="1" dirty="0" err="1">
                              <a:latin typeface="Cambria Math" panose="02040503050406030204" pitchFamily="18" charset="0"/>
                            </a:rPr>
                            <m:t>𝑔𝑡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sz="1100" dirty="0"/>
                            <m:t> </m:t>
                          </m:r>
                        </m:den>
                      </m:f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6B93E25-D4F2-06FF-F4ED-EF15C820B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3360" y="5166429"/>
                <a:ext cx="2963183" cy="444802"/>
              </a:xfrm>
              <a:prstGeom prst="rect">
                <a:avLst/>
              </a:prstGeom>
              <a:blipFill>
                <a:blip r:embed="rId4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D4251F39-C5CB-35CB-A690-58CCD5C106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2" y="5577840"/>
            <a:ext cx="2792350" cy="128016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0451DB7-A861-2923-3709-10CD847644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4099" y="5577840"/>
            <a:ext cx="2718854" cy="128016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E1E8A21-3560-B484-6625-D9CA3F09D9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19793" y="5577840"/>
            <a:ext cx="2745451" cy="128016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281FA52-23FF-9277-59A3-7DCA77F43A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0268" y="5581985"/>
            <a:ext cx="2781732" cy="128016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D7A733C-B59D-083E-12FE-A6428BB172E5}"/>
              </a:ext>
            </a:extLst>
          </p:cNvPr>
          <p:cNvSpPr txBox="1"/>
          <p:nvPr/>
        </p:nvSpPr>
        <p:spPr>
          <a:xfrm>
            <a:off x="3112967" y="2629972"/>
            <a:ext cx="3666565" cy="464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</a:pPr>
            <a:r>
              <a:rPr lang="en-US" altLang="ko-KR" sz="1000" b="0" i="1" dirty="0">
                <a:solidFill>
                  <a:srgbClr val="00B05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</a:t>
            </a:r>
            <a:r>
              <a:rPr lang="ko-KR" altLang="en-US" sz="1000" b="0" i="1" dirty="0">
                <a:solidFill>
                  <a:srgbClr val="00B05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b="0" i="1" dirty="0">
                <a:solidFill>
                  <a:srgbClr val="00B05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Japanese L1에서 H3는 laryngeal confusion,</a:t>
            </a:r>
          </a:p>
          <a:p>
            <a:pPr algn="l">
              <a:spcAft>
                <a:spcPts val="450"/>
              </a:spcAft>
            </a:pPr>
            <a:r>
              <a:rPr lang="en-US" sz="1000" b="0" i="1" dirty="0" err="1">
                <a:solidFill>
                  <a:srgbClr val="00B05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특히</a:t>
            </a:r>
            <a:r>
              <a:rPr lang="en-US" sz="1000" b="0" i="1" dirty="0">
                <a:solidFill>
                  <a:srgbClr val="00B05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lenis/tense/aspirated </a:t>
            </a:r>
            <a:r>
              <a:rPr lang="en-US" sz="1000" b="0" i="1" dirty="0" err="1">
                <a:solidFill>
                  <a:srgbClr val="00B05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혼동을</a:t>
            </a:r>
            <a:r>
              <a:rPr lang="en-US" sz="1000" b="0" i="1" dirty="0">
                <a:solidFill>
                  <a:srgbClr val="00B05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b="0" i="1" dirty="0" err="1">
                <a:solidFill>
                  <a:srgbClr val="00B05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일관되게</a:t>
            </a:r>
            <a:r>
              <a:rPr lang="en-US" sz="1000" b="0" i="1" dirty="0">
                <a:solidFill>
                  <a:srgbClr val="00B05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b="0" i="1" dirty="0" err="1">
                <a:solidFill>
                  <a:srgbClr val="00B05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줄였다</a:t>
            </a:r>
            <a:r>
              <a:rPr lang="en-US" sz="1000" b="0" i="1" dirty="0">
                <a:solidFill>
                  <a:srgbClr val="00B05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5494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E5D7D-97DB-E532-5E88-AFF045699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45341ADD-F914-F4BD-89AB-DEE9E3A8E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893113"/>
            <a:ext cx="7772400" cy="30717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EB55FB-D278-005B-7F64-9ADDCA387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Results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C9D9C7-2AFF-A730-589C-6BF3FC3BE853}"/>
              </a:ext>
            </a:extLst>
          </p:cNvPr>
          <p:cNvSpPr txBox="1"/>
          <p:nvPr/>
        </p:nvSpPr>
        <p:spPr>
          <a:xfrm>
            <a:off x="365126" y="934006"/>
            <a:ext cx="5702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laryngeal=3, </a:t>
            </a:r>
            <a:r>
              <a:rPr lang="en-US" dirty="0">
                <a:solidFill>
                  <a:srgbClr val="0070C0"/>
                </a:solidFill>
              </a:rPr>
              <a:t>place=5</a:t>
            </a:r>
            <a:r>
              <a:rPr lang="en-US" dirty="0"/>
              <a:t>, manner=6, height=8, </a:t>
            </a:r>
            <a:r>
              <a:rPr lang="en-US" dirty="0" err="1"/>
              <a:t>backness</a:t>
            </a:r>
            <a:r>
              <a:rPr lang="en-US" dirty="0"/>
              <a:t>=9, rounding=10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DB9235-B6C4-4F4D-BBA2-84803BE94A68}"/>
              </a:ext>
            </a:extLst>
          </p:cNvPr>
          <p:cNvSpPr txBox="1"/>
          <p:nvPr/>
        </p:nvSpPr>
        <p:spPr>
          <a:xfrm>
            <a:off x="1380393" y="1141719"/>
            <a:ext cx="8162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place=</a:t>
            </a:r>
            <a:r>
              <a:rPr lang="en-US" altLang="ko-KR" dirty="0">
                <a:solidFill>
                  <a:srgbClr val="00B050"/>
                </a:solidFill>
              </a:rPr>
              <a:t>4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A9AD2C-9489-4BFE-0541-2772E254E313}"/>
              </a:ext>
            </a:extLst>
          </p:cNvPr>
          <p:cNvSpPr txBox="1"/>
          <p:nvPr/>
        </p:nvSpPr>
        <p:spPr>
          <a:xfrm>
            <a:off x="1380392" y="717501"/>
            <a:ext cx="8162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place=</a:t>
            </a:r>
            <a:r>
              <a:rPr lang="en-US" altLang="ko-KR" dirty="0">
                <a:solidFill>
                  <a:srgbClr val="C00000"/>
                </a:solidFill>
              </a:rPr>
              <a:t>6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94F879-22EF-3DDE-D788-023125806ABC}"/>
              </a:ext>
            </a:extLst>
          </p:cNvPr>
          <p:cNvSpPr/>
          <p:nvPr/>
        </p:nvSpPr>
        <p:spPr>
          <a:xfrm rot="3963267">
            <a:off x="5096304" y="4558378"/>
            <a:ext cx="132998" cy="414830"/>
          </a:xfrm>
          <a:prstGeom prst="rect">
            <a:avLst/>
          </a:prstGeom>
          <a:solidFill>
            <a:srgbClr val="C00000">
              <a:alpha val="4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7AE2A0-7E55-466A-1CC4-B8F203EA6E32}"/>
              </a:ext>
            </a:extLst>
          </p:cNvPr>
          <p:cNvSpPr/>
          <p:nvPr/>
        </p:nvSpPr>
        <p:spPr>
          <a:xfrm rot="3963267">
            <a:off x="4550873" y="4558378"/>
            <a:ext cx="132998" cy="414830"/>
          </a:xfrm>
          <a:prstGeom prst="rect">
            <a:avLst/>
          </a:prstGeom>
          <a:solidFill>
            <a:srgbClr val="00B050">
              <a:alpha val="4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A435DA-1DC8-0215-847B-50257CCBA3BC}"/>
              </a:ext>
            </a:extLst>
          </p:cNvPr>
          <p:cNvSpPr/>
          <p:nvPr/>
        </p:nvSpPr>
        <p:spPr>
          <a:xfrm rot="3963267">
            <a:off x="4005443" y="4558379"/>
            <a:ext cx="132998" cy="414830"/>
          </a:xfrm>
          <a:prstGeom prst="rect">
            <a:avLst/>
          </a:prstGeom>
          <a:solidFill>
            <a:srgbClr val="0070C0">
              <a:alpha val="4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64E0F8-2D9D-E55F-4E62-7FA06D64ECC8}"/>
              </a:ext>
            </a:extLst>
          </p:cNvPr>
          <p:cNvSpPr/>
          <p:nvPr/>
        </p:nvSpPr>
        <p:spPr>
          <a:xfrm rot="3963267">
            <a:off x="8898422" y="4558377"/>
            <a:ext cx="132998" cy="414830"/>
          </a:xfrm>
          <a:prstGeom prst="rect">
            <a:avLst/>
          </a:prstGeom>
          <a:solidFill>
            <a:srgbClr val="C00000">
              <a:alpha val="4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CE3FA8-E5C5-F812-D1CD-7191759C5729}"/>
              </a:ext>
            </a:extLst>
          </p:cNvPr>
          <p:cNvSpPr/>
          <p:nvPr/>
        </p:nvSpPr>
        <p:spPr>
          <a:xfrm rot="3963267">
            <a:off x="8352991" y="4558377"/>
            <a:ext cx="132998" cy="414830"/>
          </a:xfrm>
          <a:prstGeom prst="rect">
            <a:avLst/>
          </a:prstGeom>
          <a:solidFill>
            <a:srgbClr val="00B050">
              <a:alpha val="4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F39B39-975B-7010-715B-B71799CD85DA}"/>
              </a:ext>
            </a:extLst>
          </p:cNvPr>
          <p:cNvSpPr/>
          <p:nvPr/>
        </p:nvSpPr>
        <p:spPr>
          <a:xfrm rot="3963267">
            <a:off x="7807561" y="4558378"/>
            <a:ext cx="132998" cy="414830"/>
          </a:xfrm>
          <a:prstGeom prst="rect">
            <a:avLst/>
          </a:prstGeom>
          <a:solidFill>
            <a:srgbClr val="0070C0">
              <a:alpha val="4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C0B7D9A-02B6-0251-2D5D-DD89007FDC50}"/>
              </a:ext>
            </a:extLst>
          </p:cNvPr>
          <p:cNvSpPr/>
          <p:nvPr/>
        </p:nvSpPr>
        <p:spPr>
          <a:xfrm>
            <a:off x="2612571" y="3284376"/>
            <a:ext cx="606490" cy="16805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3F9A421-2D85-E671-8526-1787DAA8C14A}"/>
              </a:ext>
            </a:extLst>
          </p:cNvPr>
          <p:cNvSpPr/>
          <p:nvPr/>
        </p:nvSpPr>
        <p:spPr>
          <a:xfrm>
            <a:off x="6422571" y="2727650"/>
            <a:ext cx="606490" cy="223723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C4258FD-D889-E125-9974-F352A4A3DCB4}"/>
              </a:ext>
            </a:extLst>
          </p:cNvPr>
          <p:cNvSpPr/>
          <p:nvPr/>
        </p:nvSpPr>
        <p:spPr>
          <a:xfrm>
            <a:off x="5456674" y="3937517"/>
            <a:ext cx="606490" cy="1024551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904A7C-C779-4D58-AB6A-C282B16C181D}"/>
              </a:ext>
            </a:extLst>
          </p:cNvPr>
          <p:cNvSpPr/>
          <p:nvPr/>
        </p:nvSpPr>
        <p:spPr>
          <a:xfrm>
            <a:off x="9252169" y="3284377"/>
            <a:ext cx="606490" cy="1677692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824F8F8-E270-F76C-C31F-30D71DAA77D1}"/>
                  </a:ext>
                </a:extLst>
              </p:cNvPr>
              <p:cNvSpPr txBox="1"/>
              <p:nvPr/>
            </p:nvSpPr>
            <p:spPr>
              <a:xfrm>
                <a:off x="992541" y="5243916"/>
                <a:ext cx="4284721" cy="291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i="0" dirty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𝐶𝐶</m:t>
                      </m:r>
                      <m:sSub>
                        <m:sSubPr>
                          <m:ctrlPr>
                            <a:rPr lang="en-US" sz="12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 err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200" i="1" dirty="0" err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𝐶𝐶</m:t>
                      </m:r>
                      <m:sSub>
                        <m:sSubPr>
                          <m:ctrlPr>
                            <a:rPr lang="en-US" sz="12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 err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200" i="1" dirty="0" err="1">
                              <a:latin typeface="Cambria Math" panose="02040503050406030204" pitchFamily="18" charset="0"/>
                            </a:rPr>
                            <m:t>𝑠𝑦𝑠𝑡𝑒𝑚</m:t>
                          </m:r>
                        </m:sub>
                      </m:sSub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) − 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𝐶𝐶</m:t>
                      </m:r>
                      <m:sSub>
                        <m:sSubPr>
                          <m:ctrlPr>
                            <a:rPr lang="en-US" sz="12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 err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200" i="1" dirty="0" err="1">
                              <a:latin typeface="Cambria Math" panose="02040503050406030204" pitchFamily="18" charset="0"/>
                            </a:rPr>
                            <m:t>𝑏𝑎𝑠𝑒𝑙𝑖𝑛𝑒</m:t>
                          </m:r>
                        </m:sub>
                      </m:sSub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824F8F8-E270-F76C-C31F-30D71DAA77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541" y="5243916"/>
                <a:ext cx="4284721" cy="291618"/>
              </a:xfrm>
              <a:prstGeom prst="rect">
                <a:avLst/>
              </a:prstGeom>
              <a:blipFill>
                <a:blip r:embed="rId3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4C1EB8D-B49C-AE1F-818B-2DBE78C2AC20}"/>
              </a:ext>
            </a:extLst>
          </p:cNvPr>
          <p:cNvCxnSpPr>
            <a:cxnSpLocks/>
          </p:cNvCxnSpPr>
          <p:nvPr/>
        </p:nvCxnSpPr>
        <p:spPr>
          <a:xfrm>
            <a:off x="365126" y="5166429"/>
            <a:ext cx="1128468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4F725F-E5D1-01DC-E807-0C486A4078BF}"/>
                  </a:ext>
                </a:extLst>
              </p:cNvPr>
              <p:cNvSpPr txBox="1"/>
              <p:nvPr/>
            </p:nvSpPr>
            <p:spPr>
              <a:xfrm>
                <a:off x="7823360" y="5166429"/>
                <a:ext cx="2963183" cy="4448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𝑁𝑅</m:t>
                      </m:r>
                      <m:sSub>
                        <m:sSubPr>
                          <m:ctrlPr>
                            <a:rPr lang="en-US" sz="11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1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100" i="1" dirty="0" err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100" i="1" dirty="0" err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) = </m:t>
                      </m:r>
                      <m:f>
                        <m:fPr>
                          <m:ctrlPr>
                            <a:rPr lang="en-US" sz="11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𝑅𝑒𝑐𝑜𝑣𝑒𝑟𝑦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𝑅𝑒𝑔𝑟𝑒𝑠𝑠𝑖𝑜𝑛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𝑐𝑜𝑢𝑛𝑡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100" i="1" dirty="0" err="1">
                              <a:latin typeface="Cambria Math" panose="02040503050406030204" pitchFamily="18" charset="0"/>
                            </a:rPr>
                            <m:t>𝑔𝑡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sz="1100" dirty="0"/>
                            <m:t> </m:t>
                          </m:r>
                        </m:den>
                      </m:f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4F725F-E5D1-01DC-E807-0C486A4078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3360" y="5166429"/>
                <a:ext cx="2963183" cy="444802"/>
              </a:xfrm>
              <a:prstGeom prst="rect">
                <a:avLst/>
              </a:prstGeom>
              <a:blipFill>
                <a:blip r:embed="rId4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682FBCE5-E01E-7277-5F13-B3DA9889D0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815" y="5577840"/>
            <a:ext cx="2766414" cy="12801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5A842F4-0289-091B-61AA-AF74A91C49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1697" y="5577840"/>
            <a:ext cx="2779777" cy="12801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623AA88-0825-3E6C-AC46-72D12836C9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51728" y="5577840"/>
            <a:ext cx="2867068" cy="12801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BE91456-FEBB-7A37-0F9B-D217CD3DB0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58388" y="5577840"/>
            <a:ext cx="2800096" cy="128016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08A7FFC-4F50-1DDF-44BF-D41DAD58D9C0}"/>
              </a:ext>
            </a:extLst>
          </p:cNvPr>
          <p:cNvSpPr txBox="1"/>
          <p:nvPr/>
        </p:nvSpPr>
        <p:spPr>
          <a:xfrm>
            <a:off x="7108762" y="2597242"/>
            <a:ext cx="34603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00B050"/>
                </a:solidFill>
              </a:rPr>
              <a:t>//</a:t>
            </a:r>
            <a:r>
              <a:rPr lang="en-US" sz="1100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Vietnamese L1에서 </a:t>
            </a:r>
            <a:r>
              <a:rPr lang="ko-KR" altLang="en-US" sz="1100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place </a:t>
            </a:r>
            <a:r>
              <a:rPr lang="en-US" sz="1100" i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confusion은</a:t>
            </a:r>
            <a:r>
              <a:rPr lang="en-US" sz="1100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split-layer </a:t>
            </a:r>
            <a:r>
              <a:rPr lang="en-US" sz="1100" i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조건에서</a:t>
            </a:r>
            <a:r>
              <a:rPr lang="en-US" sz="1100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i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일부</a:t>
            </a:r>
            <a:r>
              <a:rPr lang="en-US" sz="1100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i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contrast에</a:t>
            </a:r>
            <a:r>
              <a:rPr lang="en-US" sz="1100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i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대해</a:t>
            </a:r>
            <a:r>
              <a:rPr lang="en-US" sz="1100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i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개선되었다</a:t>
            </a:r>
            <a:endParaRPr lang="en-US" sz="11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0230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4DB30-CC35-8CB3-C3C0-6DEEB8174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454CE027-90AB-9C3B-7191-0DC2AABE9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893113"/>
            <a:ext cx="7772400" cy="30717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EF178B-ADFE-5E00-4AC3-B0472B13C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Results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B6DCAF-036A-733C-E9A5-2DEBE6F4C04C}"/>
              </a:ext>
            </a:extLst>
          </p:cNvPr>
          <p:cNvSpPr txBox="1"/>
          <p:nvPr/>
        </p:nvSpPr>
        <p:spPr>
          <a:xfrm>
            <a:off x="365126" y="934006"/>
            <a:ext cx="5702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laryngeal=3</a:t>
            </a:r>
            <a:r>
              <a:rPr lang="en-US" dirty="0">
                <a:solidFill>
                  <a:schemeClr val="tx1"/>
                </a:solidFill>
              </a:rPr>
              <a:t>, place=5, </a:t>
            </a:r>
            <a:r>
              <a:rPr lang="en-US" dirty="0">
                <a:solidFill>
                  <a:srgbClr val="0070C0"/>
                </a:solidFill>
              </a:rPr>
              <a:t>manner=6</a:t>
            </a:r>
            <a:r>
              <a:rPr lang="en-US" dirty="0"/>
              <a:t>, height=8, </a:t>
            </a:r>
            <a:r>
              <a:rPr lang="en-US" dirty="0" err="1"/>
              <a:t>backness</a:t>
            </a:r>
            <a:r>
              <a:rPr lang="en-US" dirty="0"/>
              <a:t>=9, rounding=10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3DFA20-8166-C6FF-CB8C-2E8F59AC335C}"/>
              </a:ext>
            </a:extLst>
          </p:cNvPr>
          <p:cNvSpPr txBox="1"/>
          <p:nvPr/>
        </p:nvSpPr>
        <p:spPr>
          <a:xfrm>
            <a:off x="2105223" y="1138417"/>
            <a:ext cx="9941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manner=5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F85F42-E221-A841-88D5-10A4862E4C30}"/>
              </a:ext>
            </a:extLst>
          </p:cNvPr>
          <p:cNvSpPr txBox="1"/>
          <p:nvPr/>
        </p:nvSpPr>
        <p:spPr>
          <a:xfrm>
            <a:off x="2105222" y="714199"/>
            <a:ext cx="9941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manner=7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E88D20-4570-A366-99E5-4088DA46D191}"/>
              </a:ext>
            </a:extLst>
          </p:cNvPr>
          <p:cNvSpPr/>
          <p:nvPr/>
        </p:nvSpPr>
        <p:spPr>
          <a:xfrm rot="3963267">
            <a:off x="5096304" y="4558378"/>
            <a:ext cx="132998" cy="414830"/>
          </a:xfrm>
          <a:prstGeom prst="rect">
            <a:avLst/>
          </a:prstGeom>
          <a:solidFill>
            <a:srgbClr val="C00000">
              <a:alpha val="4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491CB2-CC9E-1143-9CDD-61BA8C64DBA1}"/>
              </a:ext>
            </a:extLst>
          </p:cNvPr>
          <p:cNvSpPr/>
          <p:nvPr/>
        </p:nvSpPr>
        <p:spPr>
          <a:xfrm rot="3963267">
            <a:off x="4550873" y="4558378"/>
            <a:ext cx="132998" cy="414830"/>
          </a:xfrm>
          <a:prstGeom prst="rect">
            <a:avLst/>
          </a:prstGeom>
          <a:solidFill>
            <a:srgbClr val="00B050">
              <a:alpha val="4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B39E55-93F3-AF42-82E4-4FD02FBCA9C0}"/>
              </a:ext>
            </a:extLst>
          </p:cNvPr>
          <p:cNvSpPr/>
          <p:nvPr/>
        </p:nvSpPr>
        <p:spPr>
          <a:xfrm rot="3963267">
            <a:off x="4005443" y="4558379"/>
            <a:ext cx="132998" cy="414830"/>
          </a:xfrm>
          <a:prstGeom prst="rect">
            <a:avLst/>
          </a:prstGeom>
          <a:solidFill>
            <a:srgbClr val="0070C0">
              <a:alpha val="4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20785C-7A86-026C-8CCB-2C344519E9F0}"/>
              </a:ext>
            </a:extLst>
          </p:cNvPr>
          <p:cNvSpPr/>
          <p:nvPr/>
        </p:nvSpPr>
        <p:spPr>
          <a:xfrm rot="3963267">
            <a:off x="8898422" y="4558377"/>
            <a:ext cx="132998" cy="414830"/>
          </a:xfrm>
          <a:prstGeom prst="rect">
            <a:avLst/>
          </a:prstGeom>
          <a:solidFill>
            <a:srgbClr val="C00000">
              <a:alpha val="4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0C76BD-7929-77D4-E32E-04BA08EAE35D}"/>
              </a:ext>
            </a:extLst>
          </p:cNvPr>
          <p:cNvSpPr/>
          <p:nvPr/>
        </p:nvSpPr>
        <p:spPr>
          <a:xfrm rot="3963267">
            <a:off x="8352991" y="4558377"/>
            <a:ext cx="132998" cy="414830"/>
          </a:xfrm>
          <a:prstGeom prst="rect">
            <a:avLst/>
          </a:prstGeom>
          <a:solidFill>
            <a:srgbClr val="00B050">
              <a:alpha val="4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A708647-147C-C3A0-7B65-F4ECCFB6E31E}"/>
              </a:ext>
            </a:extLst>
          </p:cNvPr>
          <p:cNvSpPr/>
          <p:nvPr/>
        </p:nvSpPr>
        <p:spPr>
          <a:xfrm rot="3963267">
            <a:off x="7807561" y="4558378"/>
            <a:ext cx="132998" cy="414830"/>
          </a:xfrm>
          <a:prstGeom prst="rect">
            <a:avLst/>
          </a:prstGeom>
          <a:solidFill>
            <a:srgbClr val="0070C0">
              <a:alpha val="4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10994C-AC64-BA36-1517-2A14E52332E7}"/>
              </a:ext>
            </a:extLst>
          </p:cNvPr>
          <p:cNvSpPr/>
          <p:nvPr/>
        </p:nvSpPr>
        <p:spPr>
          <a:xfrm>
            <a:off x="2612571" y="3284376"/>
            <a:ext cx="606490" cy="16805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CF3009D-831D-CF89-98D1-9D98B5F68691}"/>
              </a:ext>
            </a:extLst>
          </p:cNvPr>
          <p:cNvSpPr/>
          <p:nvPr/>
        </p:nvSpPr>
        <p:spPr>
          <a:xfrm>
            <a:off x="6422571" y="2727650"/>
            <a:ext cx="606490" cy="223723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F623404-ED72-4B3F-024B-81C1BDB09A9D}"/>
              </a:ext>
            </a:extLst>
          </p:cNvPr>
          <p:cNvSpPr/>
          <p:nvPr/>
        </p:nvSpPr>
        <p:spPr>
          <a:xfrm>
            <a:off x="5456674" y="3937517"/>
            <a:ext cx="606490" cy="1024551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BDAAF38-DAC7-F538-D9D9-A537C9EFB139}"/>
              </a:ext>
            </a:extLst>
          </p:cNvPr>
          <p:cNvSpPr/>
          <p:nvPr/>
        </p:nvSpPr>
        <p:spPr>
          <a:xfrm>
            <a:off x="9252169" y="3284377"/>
            <a:ext cx="606490" cy="1677692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214DE82-EFBF-68F5-86D6-7529F016FE26}"/>
                  </a:ext>
                </a:extLst>
              </p:cNvPr>
              <p:cNvSpPr txBox="1"/>
              <p:nvPr/>
            </p:nvSpPr>
            <p:spPr>
              <a:xfrm>
                <a:off x="992541" y="5243916"/>
                <a:ext cx="4284721" cy="291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i="0" dirty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𝐶𝐶</m:t>
                      </m:r>
                      <m:sSub>
                        <m:sSubPr>
                          <m:ctrlPr>
                            <a:rPr lang="en-US" sz="12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 err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200" i="1" dirty="0" err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𝐶𝐶</m:t>
                      </m:r>
                      <m:sSub>
                        <m:sSubPr>
                          <m:ctrlPr>
                            <a:rPr lang="en-US" sz="12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 err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200" i="1" dirty="0" err="1">
                              <a:latin typeface="Cambria Math" panose="02040503050406030204" pitchFamily="18" charset="0"/>
                            </a:rPr>
                            <m:t>𝑠𝑦𝑠𝑡𝑒𝑚</m:t>
                          </m:r>
                        </m:sub>
                      </m:sSub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) − 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𝐶𝐶</m:t>
                      </m:r>
                      <m:sSub>
                        <m:sSubPr>
                          <m:ctrlPr>
                            <a:rPr lang="en-US" sz="12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 err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200" i="1" dirty="0" err="1">
                              <a:latin typeface="Cambria Math" panose="02040503050406030204" pitchFamily="18" charset="0"/>
                            </a:rPr>
                            <m:t>𝑏𝑎𝑠𝑒𝑙𝑖𝑛𝑒</m:t>
                          </m:r>
                        </m:sub>
                      </m:sSub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214DE82-EFBF-68F5-86D6-7529F016F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541" y="5243916"/>
                <a:ext cx="4284721" cy="291618"/>
              </a:xfrm>
              <a:prstGeom prst="rect">
                <a:avLst/>
              </a:prstGeom>
              <a:blipFill>
                <a:blip r:embed="rId3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9061EE8-8371-44DA-D64D-BE851AFC635C}"/>
              </a:ext>
            </a:extLst>
          </p:cNvPr>
          <p:cNvCxnSpPr>
            <a:cxnSpLocks/>
          </p:cNvCxnSpPr>
          <p:nvPr/>
        </p:nvCxnSpPr>
        <p:spPr>
          <a:xfrm>
            <a:off x="365126" y="5166429"/>
            <a:ext cx="1128468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544317E-5083-138A-2092-091389D3009F}"/>
                  </a:ext>
                </a:extLst>
              </p:cNvPr>
              <p:cNvSpPr txBox="1"/>
              <p:nvPr/>
            </p:nvSpPr>
            <p:spPr>
              <a:xfrm>
                <a:off x="7823360" y="5166429"/>
                <a:ext cx="2963183" cy="4448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𝑁𝑅</m:t>
                      </m:r>
                      <m:sSub>
                        <m:sSubPr>
                          <m:ctrlPr>
                            <a:rPr lang="en-US" sz="11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1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100" i="1" dirty="0" err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100" i="1" dirty="0" err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) = </m:t>
                      </m:r>
                      <m:f>
                        <m:fPr>
                          <m:ctrlPr>
                            <a:rPr lang="en-US" sz="11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𝑅𝑒𝑐𝑜𝑣𝑒𝑟𝑦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𝑅𝑒𝑔𝑟𝑒𝑠𝑠𝑖𝑜𝑛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𝑐𝑜𝑢𝑛𝑡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100" i="1" dirty="0" err="1">
                              <a:latin typeface="Cambria Math" panose="02040503050406030204" pitchFamily="18" charset="0"/>
                            </a:rPr>
                            <m:t>𝑔𝑡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sz="1100" dirty="0"/>
                            <m:t> </m:t>
                          </m:r>
                        </m:den>
                      </m:f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544317E-5083-138A-2092-091389D30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3360" y="5166429"/>
                <a:ext cx="2963183" cy="444802"/>
              </a:xfrm>
              <a:prstGeom prst="rect">
                <a:avLst/>
              </a:prstGeom>
              <a:blipFill>
                <a:blip r:embed="rId4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3E4FB275-BB9E-51C3-08BA-4EFDFB75DF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66" y="5535534"/>
            <a:ext cx="2792350" cy="12801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BAC767F-0F47-FD98-9BB3-A39EB6C54B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1149" y="5577840"/>
            <a:ext cx="2773680" cy="12801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F72D948-E8FF-EBE1-F68A-CDF9EE9079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5816" y="5587820"/>
            <a:ext cx="2838438" cy="12801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403452D-E60A-FC68-D255-CF4B743834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9587" y="5577840"/>
            <a:ext cx="2805718" cy="12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416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E59C6-FD05-D685-EE7A-713DA23CF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F77DB481-4A4E-789B-307F-38BB9EF42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893113"/>
            <a:ext cx="7772400" cy="30717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853118-6A1D-FB28-FB87-945D801F2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Results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670F5A-69F5-0D7B-DEA0-37A03B1729E7}"/>
              </a:ext>
            </a:extLst>
          </p:cNvPr>
          <p:cNvSpPr txBox="1"/>
          <p:nvPr/>
        </p:nvSpPr>
        <p:spPr>
          <a:xfrm>
            <a:off x="365126" y="934006"/>
            <a:ext cx="5702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laryngeal=3, </a:t>
            </a:r>
            <a:r>
              <a:rPr lang="en-US" dirty="0">
                <a:solidFill>
                  <a:schemeClr val="tx1"/>
                </a:solidFill>
              </a:rPr>
              <a:t>place=5, manner</a:t>
            </a:r>
            <a:r>
              <a:rPr lang="en-US" dirty="0"/>
              <a:t>=6, </a:t>
            </a:r>
            <a:r>
              <a:rPr lang="en-US" dirty="0">
                <a:solidFill>
                  <a:srgbClr val="0070C0"/>
                </a:solidFill>
              </a:rPr>
              <a:t>height=8</a:t>
            </a:r>
            <a:r>
              <a:rPr lang="en-US" dirty="0"/>
              <a:t>, </a:t>
            </a:r>
            <a:r>
              <a:rPr lang="en-US" dirty="0" err="1"/>
              <a:t>backness</a:t>
            </a:r>
            <a:r>
              <a:rPr lang="en-US" dirty="0"/>
              <a:t>=9, rounding=10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F8247B-014B-2787-31FF-CE6997981C49}"/>
              </a:ext>
            </a:extLst>
          </p:cNvPr>
          <p:cNvSpPr txBox="1"/>
          <p:nvPr/>
        </p:nvSpPr>
        <p:spPr>
          <a:xfrm>
            <a:off x="3008471" y="1127266"/>
            <a:ext cx="8755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height=7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1E9243-9DBA-A013-B3A9-B9F6FEFB7ECC}"/>
              </a:ext>
            </a:extLst>
          </p:cNvPr>
          <p:cNvSpPr txBox="1"/>
          <p:nvPr/>
        </p:nvSpPr>
        <p:spPr>
          <a:xfrm>
            <a:off x="3008470" y="703048"/>
            <a:ext cx="8755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89CB3B-D950-5E90-5D50-F5FF6D455CC4}"/>
              </a:ext>
            </a:extLst>
          </p:cNvPr>
          <p:cNvSpPr/>
          <p:nvPr/>
        </p:nvSpPr>
        <p:spPr>
          <a:xfrm rot="3963267">
            <a:off x="5096304" y="4558378"/>
            <a:ext cx="132998" cy="414830"/>
          </a:xfrm>
          <a:prstGeom prst="rect">
            <a:avLst/>
          </a:prstGeom>
          <a:solidFill>
            <a:srgbClr val="C00000">
              <a:alpha val="4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79F384-AC4A-4869-528B-D82149D1357A}"/>
              </a:ext>
            </a:extLst>
          </p:cNvPr>
          <p:cNvSpPr/>
          <p:nvPr/>
        </p:nvSpPr>
        <p:spPr>
          <a:xfrm rot="3963267">
            <a:off x="4550873" y="4558378"/>
            <a:ext cx="132998" cy="414830"/>
          </a:xfrm>
          <a:prstGeom prst="rect">
            <a:avLst/>
          </a:prstGeom>
          <a:solidFill>
            <a:srgbClr val="00B050">
              <a:alpha val="4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E84325-0A59-C9E1-5B65-EC85A38A2514}"/>
              </a:ext>
            </a:extLst>
          </p:cNvPr>
          <p:cNvSpPr/>
          <p:nvPr/>
        </p:nvSpPr>
        <p:spPr>
          <a:xfrm rot="3963267">
            <a:off x="4005443" y="4558379"/>
            <a:ext cx="132998" cy="414830"/>
          </a:xfrm>
          <a:prstGeom prst="rect">
            <a:avLst/>
          </a:prstGeom>
          <a:solidFill>
            <a:srgbClr val="0070C0">
              <a:alpha val="4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C864F20-0CF6-31BF-F4ED-35D598C847A3}"/>
              </a:ext>
            </a:extLst>
          </p:cNvPr>
          <p:cNvSpPr/>
          <p:nvPr/>
        </p:nvSpPr>
        <p:spPr>
          <a:xfrm rot="3963267">
            <a:off x="8898422" y="4558377"/>
            <a:ext cx="132998" cy="414830"/>
          </a:xfrm>
          <a:prstGeom prst="rect">
            <a:avLst/>
          </a:prstGeom>
          <a:solidFill>
            <a:srgbClr val="C00000">
              <a:alpha val="4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62BF44-3697-0CE6-FFFA-8876008D494D}"/>
              </a:ext>
            </a:extLst>
          </p:cNvPr>
          <p:cNvSpPr/>
          <p:nvPr/>
        </p:nvSpPr>
        <p:spPr>
          <a:xfrm rot="3963267">
            <a:off x="8352991" y="4558377"/>
            <a:ext cx="132998" cy="414830"/>
          </a:xfrm>
          <a:prstGeom prst="rect">
            <a:avLst/>
          </a:prstGeom>
          <a:solidFill>
            <a:srgbClr val="00B050">
              <a:alpha val="4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49201F-9068-5DDB-3744-FBFA15E57F82}"/>
              </a:ext>
            </a:extLst>
          </p:cNvPr>
          <p:cNvSpPr/>
          <p:nvPr/>
        </p:nvSpPr>
        <p:spPr>
          <a:xfrm rot="3963267">
            <a:off x="7807561" y="4558378"/>
            <a:ext cx="132998" cy="414830"/>
          </a:xfrm>
          <a:prstGeom prst="rect">
            <a:avLst/>
          </a:prstGeom>
          <a:solidFill>
            <a:srgbClr val="0070C0">
              <a:alpha val="4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185130-DE35-9714-00C1-887177CD1AAD}"/>
              </a:ext>
            </a:extLst>
          </p:cNvPr>
          <p:cNvSpPr/>
          <p:nvPr/>
        </p:nvSpPr>
        <p:spPr>
          <a:xfrm>
            <a:off x="2612571" y="3284376"/>
            <a:ext cx="606490" cy="16805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0B9AF1-35FD-FE0A-F37E-2757AF16A07E}"/>
              </a:ext>
            </a:extLst>
          </p:cNvPr>
          <p:cNvSpPr/>
          <p:nvPr/>
        </p:nvSpPr>
        <p:spPr>
          <a:xfrm>
            <a:off x="6422571" y="2727650"/>
            <a:ext cx="606490" cy="223723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05EFD7-CDE0-A5BA-6296-5943145AAB2C}"/>
              </a:ext>
            </a:extLst>
          </p:cNvPr>
          <p:cNvSpPr/>
          <p:nvPr/>
        </p:nvSpPr>
        <p:spPr>
          <a:xfrm>
            <a:off x="5456674" y="3937517"/>
            <a:ext cx="606490" cy="1024551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DE8E5C8-524D-0ADD-7C01-321ED7683C8D}"/>
              </a:ext>
            </a:extLst>
          </p:cNvPr>
          <p:cNvSpPr/>
          <p:nvPr/>
        </p:nvSpPr>
        <p:spPr>
          <a:xfrm>
            <a:off x="9252169" y="3284377"/>
            <a:ext cx="606490" cy="1677692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F2D1F0-87B4-A82A-16F7-7342195D9886}"/>
                  </a:ext>
                </a:extLst>
              </p:cNvPr>
              <p:cNvSpPr txBox="1"/>
              <p:nvPr/>
            </p:nvSpPr>
            <p:spPr>
              <a:xfrm>
                <a:off x="992541" y="5243916"/>
                <a:ext cx="4284721" cy="291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i="0" dirty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𝐶𝐶</m:t>
                      </m:r>
                      <m:sSub>
                        <m:sSubPr>
                          <m:ctrlPr>
                            <a:rPr lang="en-US" sz="12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 err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200" i="1" dirty="0" err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𝐶𝐶</m:t>
                      </m:r>
                      <m:sSub>
                        <m:sSubPr>
                          <m:ctrlPr>
                            <a:rPr lang="en-US" sz="12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 err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200" i="1" dirty="0" err="1">
                              <a:latin typeface="Cambria Math" panose="02040503050406030204" pitchFamily="18" charset="0"/>
                            </a:rPr>
                            <m:t>𝑠𝑦𝑠𝑡𝑒𝑚</m:t>
                          </m:r>
                        </m:sub>
                      </m:sSub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) − 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𝐶𝐶</m:t>
                      </m:r>
                      <m:sSub>
                        <m:sSubPr>
                          <m:ctrlPr>
                            <a:rPr lang="en-US" sz="12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 err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200" i="1" dirty="0" err="1">
                              <a:latin typeface="Cambria Math" panose="02040503050406030204" pitchFamily="18" charset="0"/>
                            </a:rPr>
                            <m:t>𝑏𝑎𝑠𝑒𝑙𝑖𝑛𝑒</m:t>
                          </m:r>
                        </m:sub>
                      </m:sSub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F2D1F0-87B4-A82A-16F7-7342195D9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541" y="5243916"/>
                <a:ext cx="4284721" cy="291618"/>
              </a:xfrm>
              <a:prstGeom prst="rect">
                <a:avLst/>
              </a:prstGeom>
              <a:blipFill>
                <a:blip r:embed="rId3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3E41F25-7394-5357-041A-2DDFDBB167AD}"/>
              </a:ext>
            </a:extLst>
          </p:cNvPr>
          <p:cNvCxnSpPr>
            <a:cxnSpLocks/>
          </p:cNvCxnSpPr>
          <p:nvPr/>
        </p:nvCxnSpPr>
        <p:spPr>
          <a:xfrm>
            <a:off x="365126" y="5166429"/>
            <a:ext cx="1128468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D4B8B6-FB35-10B0-5BE7-3A7F722B6EAD}"/>
                  </a:ext>
                </a:extLst>
              </p:cNvPr>
              <p:cNvSpPr txBox="1"/>
              <p:nvPr/>
            </p:nvSpPr>
            <p:spPr>
              <a:xfrm>
                <a:off x="7823360" y="5166429"/>
                <a:ext cx="2963183" cy="4448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𝑁𝑅</m:t>
                      </m:r>
                      <m:sSub>
                        <m:sSubPr>
                          <m:ctrlPr>
                            <a:rPr lang="en-US" sz="11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1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100" i="1" dirty="0" err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100" i="1" dirty="0" err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) = </m:t>
                      </m:r>
                      <m:f>
                        <m:fPr>
                          <m:ctrlPr>
                            <a:rPr lang="en-US" sz="11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𝑅𝑒𝑐𝑜𝑣𝑒𝑟𝑦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𝑅𝑒𝑔𝑟𝑒𝑠𝑠𝑖𝑜𝑛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𝑐𝑜𝑢𝑛𝑡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100" i="1" dirty="0" err="1">
                              <a:latin typeface="Cambria Math" panose="02040503050406030204" pitchFamily="18" charset="0"/>
                            </a:rPr>
                            <m:t>𝑔𝑡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sz="1100" dirty="0"/>
                            <m:t> </m:t>
                          </m:r>
                        </m:den>
                      </m:f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D4B8B6-FB35-10B0-5BE7-3A7F722B6E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3360" y="5166429"/>
                <a:ext cx="2963183" cy="444802"/>
              </a:xfrm>
              <a:prstGeom prst="rect">
                <a:avLst/>
              </a:prstGeom>
              <a:blipFill>
                <a:blip r:embed="rId4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CE232BC2-C45E-28A8-7491-DBFA02A790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7" y="5540632"/>
            <a:ext cx="2879938" cy="13173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C6AB6F8-A896-79AC-0E84-AC9826E925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5816" y="5535534"/>
            <a:ext cx="2884507" cy="132246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3464889-EFE0-87ED-E1B9-D1A88D55CC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5816" y="5597457"/>
            <a:ext cx="2680447" cy="12718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8BF8BB3-914A-75AA-735A-8004BB4B74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11552" y="5597457"/>
            <a:ext cx="2680447" cy="1258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37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6208D-EF84-5859-C860-85256B62C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0E5C7E77-8F55-6BE8-90D1-F8F63D4AE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893113"/>
            <a:ext cx="7772400" cy="30717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60B80E-9D11-F1DA-A0E4-4A93B9873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Results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38EA12-507A-CE75-08F4-7D237C26629D}"/>
              </a:ext>
            </a:extLst>
          </p:cNvPr>
          <p:cNvSpPr txBox="1"/>
          <p:nvPr/>
        </p:nvSpPr>
        <p:spPr>
          <a:xfrm>
            <a:off x="365126" y="934006"/>
            <a:ext cx="5702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laryngeal=3, </a:t>
            </a:r>
            <a:r>
              <a:rPr lang="en-US" dirty="0">
                <a:solidFill>
                  <a:schemeClr val="tx1"/>
                </a:solidFill>
              </a:rPr>
              <a:t>place=5, </a:t>
            </a:r>
            <a:r>
              <a:rPr lang="en-US" dirty="0"/>
              <a:t>manner=6, height=8, </a:t>
            </a:r>
            <a:r>
              <a:rPr lang="en-US" dirty="0" err="1">
                <a:solidFill>
                  <a:srgbClr val="0070C0"/>
                </a:solidFill>
              </a:rPr>
              <a:t>backness</a:t>
            </a:r>
            <a:r>
              <a:rPr lang="en-US" dirty="0">
                <a:solidFill>
                  <a:srgbClr val="0070C0"/>
                </a:solidFill>
              </a:rPr>
              <a:t>=9</a:t>
            </a:r>
            <a:r>
              <a:rPr lang="en-US" dirty="0"/>
              <a:t>, rounding=10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4D1AB1-BF47-FC71-8ECD-475489701CC1}"/>
              </a:ext>
            </a:extLst>
          </p:cNvPr>
          <p:cNvSpPr txBox="1"/>
          <p:nvPr/>
        </p:nvSpPr>
        <p:spPr>
          <a:xfrm>
            <a:off x="3789749" y="1145496"/>
            <a:ext cx="11448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</a:rPr>
              <a:t>backness</a:t>
            </a:r>
            <a:r>
              <a:rPr lang="en-US" dirty="0">
                <a:solidFill>
                  <a:srgbClr val="00B050"/>
                </a:solidFill>
              </a:rPr>
              <a:t>=8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087E36-AC7B-C192-7643-132B7A5723CD}"/>
              </a:ext>
            </a:extLst>
          </p:cNvPr>
          <p:cNvSpPr txBox="1"/>
          <p:nvPr/>
        </p:nvSpPr>
        <p:spPr>
          <a:xfrm>
            <a:off x="3789748" y="721278"/>
            <a:ext cx="12442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backness</a:t>
            </a:r>
            <a:r>
              <a:rPr lang="en-US" dirty="0">
                <a:solidFill>
                  <a:srgbClr val="C00000"/>
                </a:solidFill>
              </a:rPr>
              <a:t>=10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703EEF-AB1A-F8E5-A36B-547654896516}"/>
              </a:ext>
            </a:extLst>
          </p:cNvPr>
          <p:cNvSpPr/>
          <p:nvPr/>
        </p:nvSpPr>
        <p:spPr>
          <a:xfrm rot="3963267">
            <a:off x="5096304" y="4558378"/>
            <a:ext cx="132998" cy="414830"/>
          </a:xfrm>
          <a:prstGeom prst="rect">
            <a:avLst/>
          </a:prstGeom>
          <a:solidFill>
            <a:srgbClr val="C00000">
              <a:alpha val="4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17BB8D-04F4-4E6D-0A75-A1AB3C583B45}"/>
              </a:ext>
            </a:extLst>
          </p:cNvPr>
          <p:cNvSpPr/>
          <p:nvPr/>
        </p:nvSpPr>
        <p:spPr>
          <a:xfrm rot="3963267">
            <a:off x="4550873" y="4558378"/>
            <a:ext cx="132998" cy="414830"/>
          </a:xfrm>
          <a:prstGeom prst="rect">
            <a:avLst/>
          </a:prstGeom>
          <a:solidFill>
            <a:srgbClr val="00B050">
              <a:alpha val="4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F63FB8-9C30-C682-6520-9DB4028D579F}"/>
              </a:ext>
            </a:extLst>
          </p:cNvPr>
          <p:cNvSpPr/>
          <p:nvPr/>
        </p:nvSpPr>
        <p:spPr>
          <a:xfrm rot="3963267">
            <a:off x="4005443" y="4558379"/>
            <a:ext cx="132998" cy="414830"/>
          </a:xfrm>
          <a:prstGeom prst="rect">
            <a:avLst/>
          </a:prstGeom>
          <a:solidFill>
            <a:srgbClr val="0070C0">
              <a:alpha val="4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0CF3AC-EA7F-359D-38C8-A60F68494A16}"/>
              </a:ext>
            </a:extLst>
          </p:cNvPr>
          <p:cNvSpPr/>
          <p:nvPr/>
        </p:nvSpPr>
        <p:spPr>
          <a:xfrm rot="3963267">
            <a:off x="8898422" y="4558377"/>
            <a:ext cx="132998" cy="414830"/>
          </a:xfrm>
          <a:prstGeom prst="rect">
            <a:avLst/>
          </a:prstGeom>
          <a:solidFill>
            <a:srgbClr val="C00000">
              <a:alpha val="4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4A0CF0-6E75-3E47-9F0D-90E0F2F58A89}"/>
              </a:ext>
            </a:extLst>
          </p:cNvPr>
          <p:cNvSpPr/>
          <p:nvPr/>
        </p:nvSpPr>
        <p:spPr>
          <a:xfrm rot="3963267">
            <a:off x="8352991" y="4558377"/>
            <a:ext cx="132998" cy="414830"/>
          </a:xfrm>
          <a:prstGeom prst="rect">
            <a:avLst/>
          </a:prstGeom>
          <a:solidFill>
            <a:srgbClr val="00B050">
              <a:alpha val="4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566C311-858C-9AFA-EC05-D89CE5A1A156}"/>
              </a:ext>
            </a:extLst>
          </p:cNvPr>
          <p:cNvSpPr/>
          <p:nvPr/>
        </p:nvSpPr>
        <p:spPr>
          <a:xfrm rot="3963267">
            <a:off x="7807561" y="4558378"/>
            <a:ext cx="132998" cy="414830"/>
          </a:xfrm>
          <a:prstGeom prst="rect">
            <a:avLst/>
          </a:prstGeom>
          <a:solidFill>
            <a:srgbClr val="0070C0">
              <a:alpha val="4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021D76-7734-33E6-A4F3-18A730E46B80}"/>
              </a:ext>
            </a:extLst>
          </p:cNvPr>
          <p:cNvSpPr/>
          <p:nvPr/>
        </p:nvSpPr>
        <p:spPr>
          <a:xfrm>
            <a:off x="2612571" y="3284376"/>
            <a:ext cx="606490" cy="16805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5831D78-092C-198B-DB39-E41E9C7CBCB1}"/>
              </a:ext>
            </a:extLst>
          </p:cNvPr>
          <p:cNvSpPr/>
          <p:nvPr/>
        </p:nvSpPr>
        <p:spPr>
          <a:xfrm>
            <a:off x="6422571" y="2727650"/>
            <a:ext cx="606490" cy="223723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A2994F-E21C-A3B9-A0B7-4B7A940A1C94}"/>
              </a:ext>
            </a:extLst>
          </p:cNvPr>
          <p:cNvSpPr/>
          <p:nvPr/>
        </p:nvSpPr>
        <p:spPr>
          <a:xfrm>
            <a:off x="5456674" y="3937517"/>
            <a:ext cx="606490" cy="1024551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AF211CB-B592-E3D0-BC47-B6C1289A5DF2}"/>
              </a:ext>
            </a:extLst>
          </p:cNvPr>
          <p:cNvSpPr/>
          <p:nvPr/>
        </p:nvSpPr>
        <p:spPr>
          <a:xfrm>
            <a:off x="9252169" y="3284377"/>
            <a:ext cx="606490" cy="1677692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91B570C-F1B0-B555-16A0-9D3E61664823}"/>
                  </a:ext>
                </a:extLst>
              </p:cNvPr>
              <p:cNvSpPr txBox="1"/>
              <p:nvPr/>
            </p:nvSpPr>
            <p:spPr>
              <a:xfrm>
                <a:off x="992541" y="5243916"/>
                <a:ext cx="4284721" cy="291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i="0" dirty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𝐶𝐶</m:t>
                      </m:r>
                      <m:sSub>
                        <m:sSubPr>
                          <m:ctrlPr>
                            <a:rPr lang="en-US" sz="12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 err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200" i="1" dirty="0" err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𝐶𝐶</m:t>
                      </m:r>
                      <m:sSub>
                        <m:sSubPr>
                          <m:ctrlPr>
                            <a:rPr lang="en-US" sz="12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 err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200" i="1" dirty="0" err="1">
                              <a:latin typeface="Cambria Math" panose="02040503050406030204" pitchFamily="18" charset="0"/>
                            </a:rPr>
                            <m:t>𝑠𝑦𝑠𝑡𝑒𝑚</m:t>
                          </m:r>
                        </m:sub>
                      </m:sSub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) − 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𝐶𝐶</m:t>
                      </m:r>
                      <m:sSub>
                        <m:sSubPr>
                          <m:ctrlPr>
                            <a:rPr lang="en-US" sz="12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 err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200" i="1" dirty="0" err="1">
                              <a:latin typeface="Cambria Math" panose="02040503050406030204" pitchFamily="18" charset="0"/>
                            </a:rPr>
                            <m:t>𝑏𝑎𝑠𝑒𝑙𝑖𝑛𝑒</m:t>
                          </m:r>
                        </m:sub>
                      </m:sSub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91B570C-F1B0-B555-16A0-9D3E61664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541" y="5243916"/>
                <a:ext cx="4284721" cy="291618"/>
              </a:xfrm>
              <a:prstGeom prst="rect">
                <a:avLst/>
              </a:prstGeom>
              <a:blipFill>
                <a:blip r:embed="rId3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28FB615-62F2-EA69-2D65-92275E8AD599}"/>
              </a:ext>
            </a:extLst>
          </p:cNvPr>
          <p:cNvCxnSpPr>
            <a:cxnSpLocks/>
          </p:cNvCxnSpPr>
          <p:nvPr/>
        </p:nvCxnSpPr>
        <p:spPr>
          <a:xfrm>
            <a:off x="365126" y="5166429"/>
            <a:ext cx="1128468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83ABF0F-F774-3EF1-8820-CEEEFCD53724}"/>
                  </a:ext>
                </a:extLst>
              </p:cNvPr>
              <p:cNvSpPr txBox="1"/>
              <p:nvPr/>
            </p:nvSpPr>
            <p:spPr>
              <a:xfrm>
                <a:off x="7823360" y="5166429"/>
                <a:ext cx="2963183" cy="4448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𝑁𝑅</m:t>
                      </m:r>
                      <m:sSub>
                        <m:sSubPr>
                          <m:ctrlPr>
                            <a:rPr lang="en-US" sz="11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1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100" i="1" dirty="0" err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100" i="1" dirty="0" err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) = </m:t>
                      </m:r>
                      <m:f>
                        <m:fPr>
                          <m:ctrlPr>
                            <a:rPr lang="en-US" sz="11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𝑅𝑒𝑐𝑜𝑣𝑒𝑟𝑦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𝑅𝑒𝑔𝑟𝑒𝑠𝑠𝑖𝑜𝑛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𝑐𝑜𝑢𝑛𝑡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100" i="1" dirty="0" err="1">
                              <a:latin typeface="Cambria Math" panose="02040503050406030204" pitchFamily="18" charset="0"/>
                            </a:rPr>
                            <m:t>𝑔𝑡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sz="1100" dirty="0"/>
                            <m:t> </m:t>
                          </m:r>
                        </m:den>
                      </m:f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83ABF0F-F774-3EF1-8820-CEEEFCD537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3360" y="5166429"/>
                <a:ext cx="2963183" cy="444802"/>
              </a:xfrm>
              <a:prstGeom prst="rect">
                <a:avLst/>
              </a:prstGeom>
              <a:blipFill>
                <a:blip r:embed="rId4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B9AEAF4C-CB7A-1B2E-C43C-F0E786B7DD1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969" r="48082" b="47446"/>
          <a:stretch>
            <a:fillRect/>
          </a:stretch>
        </p:blipFill>
        <p:spPr>
          <a:xfrm>
            <a:off x="2" y="5563287"/>
            <a:ext cx="3013553" cy="12801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9D37A3A-E790-3BAF-C687-2651BB60F19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9926" t="7377" b="46221"/>
          <a:stretch>
            <a:fillRect/>
          </a:stretch>
        </p:blipFill>
        <p:spPr>
          <a:xfrm>
            <a:off x="6645204" y="5577840"/>
            <a:ext cx="2792702" cy="12801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99426CC-E143-8515-CB89-2DA8C091FDA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3898" r="49266"/>
          <a:stretch>
            <a:fillRect/>
          </a:stretch>
        </p:blipFill>
        <p:spPr>
          <a:xfrm>
            <a:off x="3003965" y="5572252"/>
            <a:ext cx="2847930" cy="12801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534971B-4C70-718F-6F80-AE4C5BAB1BE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9926" t="53898"/>
          <a:stretch>
            <a:fillRect/>
          </a:stretch>
        </p:blipFill>
        <p:spPr>
          <a:xfrm>
            <a:off x="9381087" y="5577840"/>
            <a:ext cx="2810913" cy="128016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F12775D-D673-112D-C04E-7A1D4DC32617}"/>
              </a:ext>
            </a:extLst>
          </p:cNvPr>
          <p:cNvSpPr txBox="1"/>
          <p:nvPr/>
        </p:nvSpPr>
        <p:spPr>
          <a:xfrm>
            <a:off x="7555959" y="2649506"/>
            <a:ext cx="3251030" cy="833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</a:pPr>
            <a:r>
              <a:rPr lang="en-US" sz="1100" b="0" i="1" dirty="0">
                <a:solidFill>
                  <a:srgbClr val="00B05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 Vietnamese L1에서 </a:t>
            </a:r>
            <a:r>
              <a:rPr lang="en-US" sz="1100" b="0" i="1" dirty="0" err="1">
                <a:solidFill>
                  <a:srgbClr val="00B05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backness</a:t>
            </a:r>
            <a:r>
              <a:rPr lang="en-US" sz="1100" b="0" i="1" dirty="0">
                <a:solidFill>
                  <a:srgbClr val="00B05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0" i="1" dirty="0" err="1">
                <a:solidFill>
                  <a:srgbClr val="00B05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confusion을</a:t>
            </a:r>
            <a:r>
              <a:rPr lang="en-US" sz="1100" b="0" i="1" dirty="0">
                <a:solidFill>
                  <a:srgbClr val="00B05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0" i="1" dirty="0" err="1">
                <a:solidFill>
                  <a:srgbClr val="00B05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가장</a:t>
            </a:r>
            <a:r>
              <a:rPr lang="en-US" sz="1100" b="0" i="1" dirty="0">
                <a:solidFill>
                  <a:srgbClr val="00B05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0" i="1" dirty="0" err="1">
                <a:solidFill>
                  <a:srgbClr val="00B05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일관되게</a:t>
            </a:r>
            <a:r>
              <a:rPr lang="en-US" sz="1100" b="0" i="1" dirty="0">
                <a:solidFill>
                  <a:srgbClr val="00B05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0" i="1" dirty="0" err="1">
                <a:solidFill>
                  <a:srgbClr val="00B05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줄였</a:t>
            </a:r>
            <a:r>
              <a:rPr lang="ko-KR" altLang="en-US" sz="1100" b="0" i="1" dirty="0">
                <a:solidFill>
                  <a:srgbClr val="00B05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음</a:t>
            </a:r>
            <a:r>
              <a:rPr lang="en-US" sz="1100" b="0" i="1" dirty="0">
                <a:solidFill>
                  <a:srgbClr val="00B05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br>
              <a:rPr lang="en-US" sz="1100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100" i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710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03443-9CFE-10D9-B196-4F606A2D3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2BB25005-8022-E47F-4189-30AB775F1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893113"/>
            <a:ext cx="7772400" cy="30717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5E8454-EF7C-6164-1DFA-BC2B3244D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Results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175E6A-BC32-67AF-0252-A7F57556BCC4}"/>
              </a:ext>
            </a:extLst>
          </p:cNvPr>
          <p:cNvSpPr txBox="1"/>
          <p:nvPr/>
        </p:nvSpPr>
        <p:spPr>
          <a:xfrm>
            <a:off x="365126" y="934006"/>
            <a:ext cx="5702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laryngeal=3, </a:t>
            </a:r>
            <a:r>
              <a:rPr lang="en-US" dirty="0">
                <a:solidFill>
                  <a:schemeClr val="tx1"/>
                </a:solidFill>
              </a:rPr>
              <a:t>place=5, </a:t>
            </a:r>
            <a:r>
              <a:rPr lang="en-US" dirty="0"/>
              <a:t>manner=6, height=8, </a:t>
            </a:r>
            <a:r>
              <a:rPr lang="en-US" dirty="0" err="1">
                <a:solidFill>
                  <a:schemeClr val="tx1"/>
                </a:solidFill>
              </a:rPr>
              <a:t>backness</a:t>
            </a:r>
            <a:r>
              <a:rPr lang="en-US" dirty="0">
                <a:solidFill>
                  <a:schemeClr val="tx1"/>
                </a:solidFill>
              </a:rPr>
              <a:t>=9,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rounding=10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1BD8CA-92C4-1D33-B76C-BFDE09806606}"/>
              </a:ext>
            </a:extLst>
          </p:cNvPr>
          <p:cNvSpPr txBox="1"/>
          <p:nvPr/>
        </p:nvSpPr>
        <p:spPr>
          <a:xfrm>
            <a:off x="4845380" y="1149568"/>
            <a:ext cx="10839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rounding=9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C6F5CE-D9CB-DB67-E23D-C6EAFB1BEA08}"/>
              </a:ext>
            </a:extLst>
          </p:cNvPr>
          <p:cNvSpPr txBox="1"/>
          <p:nvPr/>
        </p:nvSpPr>
        <p:spPr>
          <a:xfrm>
            <a:off x="4845379" y="725350"/>
            <a:ext cx="1183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rounding=11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B908D8-F70B-6F27-B801-3093D20663C5}"/>
              </a:ext>
            </a:extLst>
          </p:cNvPr>
          <p:cNvSpPr/>
          <p:nvPr/>
        </p:nvSpPr>
        <p:spPr>
          <a:xfrm rot="3963267">
            <a:off x="5096304" y="4558378"/>
            <a:ext cx="132998" cy="414830"/>
          </a:xfrm>
          <a:prstGeom prst="rect">
            <a:avLst/>
          </a:prstGeom>
          <a:solidFill>
            <a:srgbClr val="C00000">
              <a:alpha val="4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A013E7-0C6B-8533-1FD3-83F1C6E0AEA2}"/>
              </a:ext>
            </a:extLst>
          </p:cNvPr>
          <p:cNvSpPr/>
          <p:nvPr/>
        </p:nvSpPr>
        <p:spPr>
          <a:xfrm rot="3963267">
            <a:off x="4550873" y="4558378"/>
            <a:ext cx="132998" cy="414830"/>
          </a:xfrm>
          <a:prstGeom prst="rect">
            <a:avLst/>
          </a:prstGeom>
          <a:solidFill>
            <a:srgbClr val="00B050">
              <a:alpha val="4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E0C4BD-78EC-1E86-2D43-63D79937070E}"/>
              </a:ext>
            </a:extLst>
          </p:cNvPr>
          <p:cNvSpPr/>
          <p:nvPr/>
        </p:nvSpPr>
        <p:spPr>
          <a:xfrm rot="3963267">
            <a:off x="4005443" y="4558379"/>
            <a:ext cx="132998" cy="414830"/>
          </a:xfrm>
          <a:prstGeom prst="rect">
            <a:avLst/>
          </a:prstGeom>
          <a:solidFill>
            <a:srgbClr val="0070C0">
              <a:alpha val="4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C6A22A-43FF-2C01-309D-F4E530B4C491}"/>
              </a:ext>
            </a:extLst>
          </p:cNvPr>
          <p:cNvSpPr/>
          <p:nvPr/>
        </p:nvSpPr>
        <p:spPr>
          <a:xfrm rot="3963267">
            <a:off x="8898422" y="4558377"/>
            <a:ext cx="132998" cy="414830"/>
          </a:xfrm>
          <a:prstGeom prst="rect">
            <a:avLst/>
          </a:prstGeom>
          <a:solidFill>
            <a:srgbClr val="C00000">
              <a:alpha val="4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F0A264-433C-949E-DCCF-BDB14AC6DC70}"/>
              </a:ext>
            </a:extLst>
          </p:cNvPr>
          <p:cNvSpPr/>
          <p:nvPr/>
        </p:nvSpPr>
        <p:spPr>
          <a:xfrm rot="3963267">
            <a:off x="8352991" y="4558377"/>
            <a:ext cx="132998" cy="414830"/>
          </a:xfrm>
          <a:prstGeom prst="rect">
            <a:avLst/>
          </a:prstGeom>
          <a:solidFill>
            <a:srgbClr val="00B050">
              <a:alpha val="4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40B6D0-E315-DBA6-B015-E7CCB4A613F7}"/>
              </a:ext>
            </a:extLst>
          </p:cNvPr>
          <p:cNvSpPr/>
          <p:nvPr/>
        </p:nvSpPr>
        <p:spPr>
          <a:xfrm rot="3963267">
            <a:off x="7807561" y="4558378"/>
            <a:ext cx="132998" cy="414830"/>
          </a:xfrm>
          <a:prstGeom prst="rect">
            <a:avLst/>
          </a:prstGeom>
          <a:solidFill>
            <a:srgbClr val="0070C0">
              <a:alpha val="4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A72B90-9874-6A99-AFBE-CE2E4A5C562E}"/>
              </a:ext>
            </a:extLst>
          </p:cNvPr>
          <p:cNvSpPr/>
          <p:nvPr/>
        </p:nvSpPr>
        <p:spPr>
          <a:xfrm>
            <a:off x="2612571" y="3284376"/>
            <a:ext cx="606490" cy="16805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0B2D33-3112-4415-7F30-1CC04177824A}"/>
              </a:ext>
            </a:extLst>
          </p:cNvPr>
          <p:cNvSpPr/>
          <p:nvPr/>
        </p:nvSpPr>
        <p:spPr>
          <a:xfrm>
            <a:off x="6422571" y="2727650"/>
            <a:ext cx="606490" cy="223723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886BFB-4E8E-F8D2-B5FE-C70D7B39F917}"/>
              </a:ext>
            </a:extLst>
          </p:cNvPr>
          <p:cNvSpPr/>
          <p:nvPr/>
        </p:nvSpPr>
        <p:spPr>
          <a:xfrm>
            <a:off x="5456674" y="3937517"/>
            <a:ext cx="606490" cy="1024551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7EE4193-C7EA-5D64-D65C-8416FCB9F011}"/>
              </a:ext>
            </a:extLst>
          </p:cNvPr>
          <p:cNvSpPr/>
          <p:nvPr/>
        </p:nvSpPr>
        <p:spPr>
          <a:xfrm>
            <a:off x="9252169" y="3284377"/>
            <a:ext cx="606490" cy="1677692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1B0C222-FA77-20FE-809B-1AED50A45519}"/>
                  </a:ext>
                </a:extLst>
              </p:cNvPr>
              <p:cNvSpPr txBox="1"/>
              <p:nvPr/>
            </p:nvSpPr>
            <p:spPr>
              <a:xfrm>
                <a:off x="992541" y="5243916"/>
                <a:ext cx="4284721" cy="291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i="0" dirty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𝐶𝐶</m:t>
                      </m:r>
                      <m:sSub>
                        <m:sSubPr>
                          <m:ctrlPr>
                            <a:rPr lang="en-US" sz="12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 err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200" i="1" dirty="0" err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𝐶𝐶</m:t>
                      </m:r>
                      <m:sSub>
                        <m:sSubPr>
                          <m:ctrlPr>
                            <a:rPr lang="en-US" sz="12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 err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200" i="1" dirty="0" err="1">
                              <a:latin typeface="Cambria Math" panose="02040503050406030204" pitchFamily="18" charset="0"/>
                            </a:rPr>
                            <m:t>𝑠𝑦𝑠𝑡𝑒𝑚</m:t>
                          </m:r>
                        </m:sub>
                      </m:sSub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) − 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𝐶𝐶</m:t>
                      </m:r>
                      <m:sSub>
                        <m:sSubPr>
                          <m:ctrlPr>
                            <a:rPr lang="en-US" sz="12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 err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200" i="1" dirty="0" err="1">
                              <a:latin typeface="Cambria Math" panose="02040503050406030204" pitchFamily="18" charset="0"/>
                            </a:rPr>
                            <m:t>𝑏𝑎𝑠𝑒𝑙𝑖𝑛𝑒</m:t>
                          </m:r>
                        </m:sub>
                      </m:sSub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1B0C222-FA77-20FE-809B-1AED50A45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541" y="5243916"/>
                <a:ext cx="4284721" cy="291618"/>
              </a:xfrm>
              <a:prstGeom prst="rect">
                <a:avLst/>
              </a:prstGeom>
              <a:blipFill>
                <a:blip r:embed="rId3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4EE754-42D2-4307-2475-47505234C14D}"/>
              </a:ext>
            </a:extLst>
          </p:cNvPr>
          <p:cNvCxnSpPr>
            <a:cxnSpLocks/>
          </p:cNvCxnSpPr>
          <p:nvPr/>
        </p:nvCxnSpPr>
        <p:spPr>
          <a:xfrm>
            <a:off x="365126" y="5166429"/>
            <a:ext cx="1128468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1E0F727-E1E4-A038-6885-F43269E91430}"/>
                  </a:ext>
                </a:extLst>
              </p:cNvPr>
              <p:cNvSpPr txBox="1"/>
              <p:nvPr/>
            </p:nvSpPr>
            <p:spPr>
              <a:xfrm>
                <a:off x="7823360" y="5166429"/>
                <a:ext cx="2963183" cy="4448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𝑁𝑅</m:t>
                      </m:r>
                      <m:sSub>
                        <m:sSubPr>
                          <m:ctrlPr>
                            <a:rPr lang="en-US" sz="11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1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100" i="1" dirty="0" err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100" i="1" dirty="0" err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) = </m:t>
                      </m:r>
                      <m:f>
                        <m:fPr>
                          <m:ctrlPr>
                            <a:rPr lang="en-US" sz="11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𝑅𝑒𝑐𝑜𝑣𝑒𝑟𝑦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𝑅𝑒𝑔𝑟𝑒𝑠𝑠𝑖𝑜𝑛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𝑐𝑜𝑢𝑛𝑡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100" i="1" dirty="0" err="1">
                              <a:latin typeface="Cambria Math" panose="02040503050406030204" pitchFamily="18" charset="0"/>
                            </a:rPr>
                            <m:t>𝑔𝑡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sz="1100" dirty="0"/>
                            <m:t> </m:t>
                          </m:r>
                        </m:den>
                      </m:f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1E0F727-E1E4-A038-6885-F43269E91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3360" y="5166429"/>
                <a:ext cx="2963183" cy="444802"/>
              </a:xfrm>
              <a:prstGeom prst="rect">
                <a:avLst/>
              </a:prstGeom>
              <a:blipFill>
                <a:blip r:embed="rId4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FA69233D-6DA6-88B0-8706-2ECC67077F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" y="5577840"/>
            <a:ext cx="2854798" cy="12801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9F5A010-6B43-FB1C-5DFE-B8E412FE49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4803" y="5577840"/>
            <a:ext cx="2805116" cy="12801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EA77A48-08EF-F854-993E-EDF2BED241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8606" y="5577840"/>
            <a:ext cx="2756345" cy="128016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0361A14-76E3-F63E-1989-D76E75C2D2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9767" y="5577840"/>
            <a:ext cx="2753552" cy="12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7160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1F3B0-8C20-4DCD-8D14-5075E807D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Plan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3BE7AA-94B7-1307-99B2-A6187565E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126" y="1137958"/>
            <a:ext cx="11416878" cy="1395035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특성 별 극단적인 변화에 따른 성능 변화</a:t>
            </a:r>
            <a:endParaRPr lang="en-US" sz="1600" dirty="0"/>
          </a:p>
          <a:p>
            <a:r>
              <a:rPr lang="en-US" sz="1600" dirty="0"/>
              <a:t>Limitation of Grid Search…</a:t>
            </a:r>
            <a:endParaRPr lang="en-US" sz="1400" dirty="0"/>
          </a:p>
          <a:p>
            <a:r>
              <a:rPr lang="en-US" sz="1600" dirty="0"/>
              <a:t>A better way to analyze the results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BB2DAFF-A86C-9851-E7DA-2E2F3E2E78CB}"/>
              </a:ext>
            </a:extLst>
          </p:cNvPr>
          <p:cNvSpPr txBox="1">
            <a:spLocks/>
          </p:cNvSpPr>
          <p:nvPr/>
        </p:nvSpPr>
        <p:spPr>
          <a:xfrm>
            <a:off x="409996" y="3815416"/>
            <a:ext cx="11416878" cy="65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ko-KR" altLang="en-US" dirty="0"/>
              <a:t>* </a:t>
            </a:r>
            <a:r>
              <a:rPr lang="en-US" altLang="ko-KR" dirty="0"/>
              <a:t>Feedback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EFD42CA-2AF7-76D8-336E-3E9509B24BEF}"/>
              </a:ext>
            </a:extLst>
          </p:cNvPr>
          <p:cNvSpPr txBox="1">
            <a:spLocks/>
          </p:cNvSpPr>
          <p:nvPr/>
        </p:nvSpPr>
        <p:spPr>
          <a:xfrm>
            <a:off x="365126" y="4243765"/>
            <a:ext cx="11416878" cy="195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ko-KR" sz="1600" dirty="0"/>
              <a:t>Framing</a:t>
            </a:r>
          </a:p>
          <a:p>
            <a:pPr lvl="1"/>
            <a:r>
              <a:rPr lang="en-US" altLang="ko-KR" sz="1400" dirty="0"/>
              <a:t>X: </a:t>
            </a:r>
            <a:r>
              <a:rPr lang="ko-KR" altLang="en-US" sz="1400" dirty="0"/>
              <a:t>소리는 좀 흔들렸지만 문장 맥락으로 정답을 고를 수 있음</a:t>
            </a:r>
            <a:endParaRPr lang="en-US" altLang="ko-KR" sz="1400" dirty="0"/>
          </a:p>
          <a:p>
            <a:pPr lvl="1"/>
            <a:r>
              <a:rPr lang="en-US" altLang="ko-KR" sz="1400" dirty="0"/>
              <a:t>O: </a:t>
            </a:r>
            <a:r>
              <a:rPr lang="ko-KR" altLang="en-US" sz="1400" dirty="0"/>
              <a:t>학습자 발화 안에 남아 있는 유효한 단서를 모델이 더 잘 쓰게 만들자</a:t>
            </a:r>
            <a:r>
              <a:rPr lang="en-US" altLang="ko-KR" sz="1400" dirty="0"/>
              <a:t> (</a:t>
            </a:r>
            <a:r>
              <a:rPr lang="ko-KR" altLang="en-US" sz="1400" dirty="0"/>
              <a:t>주 단서는 약해졌지만 다른 단서는 아직 있음</a:t>
            </a:r>
            <a:r>
              <a:rPr lang="en-US" altLang="ko-KR" sz="1400" dirty="0"/>
              <a:t>)</a:t>
            </a:r>
          </a:p>
          <a:p>
            <a:r>
              <a:rPr lang="en-US" altLang="ko-KR" sz="1600" dirty="0"/>
              <a:t>Ground Truth </a:t>
            </a:r>
            <a:r>
              <a:rPr lang="ko-KR" altLang="en-US" sz="1600" dirty="0"/>
              <a:t>음성을 제작해서</a:t>
            </a:r>
            <a:r>
              <a:rPr lang="en-US" altLang="ko-KR" sz="1600" dirty="0"/>
              <a:t>,</a:t>
            </a:r>
            <a:r>
              <a:rPr lang="ko-KR" altLang="en-US" sz="1600" dirty="0"/>
              <a:t> 내부 </a:t>
            </a:r>
            <a:r>
              <a:rPr lang="en-US" altLang="ko-KR" sz="1600" dirty="0"/>
              <a:t>representation</a:t>
            </a:r>
            <a:r>
              <a:rPr lang="ko-KR" altLang="en-US" sz="1600" dirty="0"/>
              <a:t>의 진행 방향</a:t>
            </a:r>
            <a:r>
              <a:rPr lang="en-US" altLang="ko-KR" sz="1600" dirty="0"/>
              <a:t>?</a:t>
            </a:r>
            <a:r>
              <a:rPr lang="ko-KR" altLang="en-US" sz="1600" dirty="0"/>
              <a:t>을 비교해보기</a:t>
            </a:r>
            <a:endParaRPr lang="en-US" altLang="ko-KR" sz="1600" dirty="0"/>
          </a:p>
          <a:p>
            <a:pPr lvl="1"/>
            <a:r>
              <a:rPr lang="ko-KR" altLang="en-US" sz="1400" dirty="0"/>
              <a:t>내가 제안한 방법으로 하면 개선이 되는지</a:t>
            </a:r>
            <a:r>
              <a:rPr lang="en-US" altLang="ko-KR" sz="1400" dirty="0"/>
              <a:t>?</a:t>
            </a:r>
            <a:r>
              <a:rPr lang="ko-KR" altLang="en-US" sz="1400" dirty="0"/>
              <a:t> </a:t>
            </a:r>
            <a:r>
              <a:rPr lang="en-US" altLang="ko-KR" sz="1400" dirty="0"/>
              <a:t>GT</a:t>
            </a:r>
            <a:r>
              <a:rPr lang="ko-KR" altLang="en-US" sz="1400" dirty="0"/>
              <a:t>와 비슷하게 가는지</a:t>
            </a:r>
            <a:r>
              <a:rPr lang="en-US" altLang="ko-KR" sz="1400" dirty="0"/>
              <a:t>?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25994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2021</TotalTime>
  <Words>1704</Words>
  <Application>Microsoft Macintosh PowerPoint</Application>
  <PresentationFormat>Widescreen</PresentationFormat>
  <Paragraphs>327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Play</vt:lpstr>
      <vt:lpstr>Arial</vt:lpstr>
      <vt:lpstr>Cambria Math</vt:lpstr>
      <vt:lpstr>Wingdings</vt:lpstr>
      <vt:lpstr>Office Theme</vt:lpstr>
      <vt:lpstr>Phonetic-Aware Encoder Tuning: Boosting Robustness against L2 Pronunciation Variations via CTC Supervision</vt:lpstr>
      <vt:lpstr>Recap</vt:lpstr>
      <vt:lpstr>한국어 조음 위치</vt:lpstr>
      <vt:lpstr>Hypothesis</vt:lpstr>
      <vt:lpstr>1. Laryngeal (후두 특성): early</vt:lpstr>
      <vt:lpstr>2. place(조음 위치): early-mid</vt:lpstr>
      <vt:lpstr>3. manner(조음 방법): mid</vt:lpstr>
      <vt:lpstr>4. height(모음 높이), backness(전후설성), rounding(원순성) : mid-late</vt:lpstr>
      <vt:lpstr>*Additional Metrics</vt:lpstr>
      <vt:lpstr>* Baseline</vt:lpstr>
      <vt:lpstr>Experiment Results</vt:lpstr>
      <vt:lpstr>Experiment Results</vt:lpstr>
      <vt:lpstr>Experiment Results</vt:lpstr>
      <vt:lpstr>Experiment Results</vt:lpstr>
      <vt:lpstr>Experiment Results</vt:lpstr>
      <vt:lpstr>Experiment Results</vt:lpstr>
      <vt:lpstr>Next Plan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정하연</dc:creator>
  <cp:lastModifiedBy>정하연</cp:lastModifiedBy>
  <cp:revision>134</cp:revision>
  <dcterms:created xsi:type="dcterms:W3CDTF">2025-07-25T04:06:09Z</dcterms:created>
  <dcterms:modified xsi:type="dcterms:W3CDTF">2026-05-21T05:51:42Z</dcterms:modified>
</cp:coreProperties>
</file>