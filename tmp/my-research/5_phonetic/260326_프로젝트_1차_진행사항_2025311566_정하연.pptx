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3" r:id="rId5"/>
    <p:sldId id="342" r:id="rId6"/>
    <p:sldId id="341" r:id="rId7"/>
    <p:sldId id="321" r:id="rId8"/>
    <p:sldId id="362" r:id="rId9"/>
    <p:sldId id="363" r:id="rId10"/>
    <p:sldId id="334" r:id="rId11"/>
    <p:sldId id="365" r:id="rId12"/>
    <p:sldId id="337" r:id="rId13"/>
    <p:sldId id="338" r:id="rId14"/>
    <p:sldId id="364" r:id="rId15"/>
    <p:sldId id="308" r:id="rId16"/>
    <p:sldId id="328" r:id="rId17"/>
    <p:sldId id="315" r:id="rId18"/>
    <p:sldId id="316" r:id="rId19"/>
    <p:sldId id="350" r:id="rId20"/>
    <p:sldId id="356" r:id="rId21"/>
    <p:sldId id="353" r:id="rId22"/>
    <p:sldId id="352" r:id="rId2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01101"/>
    <a:srgbClr val="4B0C05"/>
    <a:srgbClr val="D3FFE6"/>
    <a:srgbClr val="DFFEDF"/>
    <a:srgbClr val="FFE8DE"/>
    <a:srgbClr val="E0FBDA"/>
    <a:srgbClr val="B01100"/>
    <a:srgbClr val="BE0E00"/>
    <a:srgbClr val="032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2541"/>
  </p:normalViewPr>
  <p:slideViewPr>
    <p:cSldViewPr snapToGrid="0">
      <p:cViewPr varScale="1">
        <p:scale>
          <a:sx n="54" d="100"/>
          <a:sy n="54" d="100"/>
        </p:scale>
        <p:origin x="9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999-0D2D-334E-B65B-715E1558EE94}" type="datetimeFigureOut">
              <a:rPr lang="en-KR" smtClean="0"/>
              <a:t>4/10/26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8AA30-34BB-0C47-9851-CC14E2038A7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550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1876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10250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- </a:t>
            </a:r>
            <a:r>
              <a:rPr lang="ko-KR" altLang="en-US" dirty="0"/>
              <a:t>인코더만 </a:t>
            </a:r>
            <a:r>
              <a:rPr lang="en-US" altLang="ko-KR" dirty="0"/>
              <a:t>or </a:t>
            </a:r>
            <a:r>
              <a:rPr lang="ko-KR" altLang="en-US" dirty="0" err="1"/>
              <a:t>디코더만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전체 학습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전체 </a:t>
            </a:r>
            <a:r>
              <a:rPr lang="en-US" altLang="ko-KR" dirty="0"/>
              <a:t>or Fine-Tuning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58272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33647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8D9C-CF3D-415E-D622-A16BD528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DEED5-B0F8-9898-F202-27BC08F23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1FA95-3B2F-7E1C-77AC-4BDE5E4DD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1D114-0540-E8FB-774E-CE8E6754A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16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11331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dirty="0"/>
              <a:t>place / manner / laryngeal (</a:t>
            </a:r>
            <a:r>
              <a:rPr lang="ko-KR" altLang="en-US" b="1" dirty="0"/>
              <a:t>자음</a:t>
            </a:r>
            <a:r>
              <a:rPr lang="en-US" altLang="ko-KR" b="1" dirty="0"/>
              <a:t>)</a:t>
            </a:r>
            <a:r>
              <a:rPr lang="en-US" altLang="ko-KR" dirty="0"/>
              <a:t>, </a:t>
            </a:r>
            <a:r>
              <a:rPr lang="en-US" b="1" dirty="0"/>
              <a:t>height / </a:t>
            </a:r>
            <a:r>
              <a:rPr lang="en-US" b="1" dirty="0" err="1"/>
              <a:t>backness</a:t>
            </a:r>
            <a:r>
              <a:rPr lang="en-US" b="1" dirty="0"/>
              <a:t> / rounding (</a:t>
            </a:r>
            <a:r>
              <a:rPr lang="ko-KR" altLang="en-US" b="1" dirty="0"/>
              <a:t>모음</a:t>
            </a:r>
            <a:r>
              <a:rPr lang="en-US" altLang="ko-KR" b="1" dirty="0"/>
              <a:t>)</a:t>
            </a:r>
            <a:r>
              <a:rPr lang="ko-KR" altLang="en-US" dirty="0"/>
              <a:t> 같은 것은 </a:t>
            </a:r>
            <a:r>
              <a:rPr lang="ko-KR" altLang="en-US" b="1" dirty="0"/>
              <a:t>음성학에서 쓰는 기본 </a:t>
            </a:r>
            <a:r>
              <a:rPr lang="en-US" b="1" dirty="0"/>
              <a:t>articulatory feature </a:t>
            </a:r>
            <a:r>
              <a:rPr lang="ko-KR" altLang="en-US" b="1" dirty="0"/>
              <a:t>개념</a:t>
            </a:r>
            <a:endParaRPr lang="en-US" altLang="ko-KR" b="1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즉 </a:t>
            </a:r>
            <a:r>
              <a:rPr lang="ko-KR" altLang="en-US" b="1" dirty="0"/>
              <a:t>사람이 정의한 단순화된 </a:t>
            </a:r>
            <a:r>
              <a:rPr lang="en-US" b="1" dirty="0"/>
              <a:t>feature </a:t>
            </a:r>
            <a:r>
              <a:rPr lang="ko-KR" altLang="en-US" b="1" dirty="0"/>
              <a:t>체계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20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73680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9D99-0E39-375C-ECD9-E8BEB12F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B2AF-6CDC-754A-BF21-D403DB356990}" type="datetime1">
              <a:rPr lang="en-US" smtClean="0"/>
              <a:t>4/10/26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02B2-45BC-3664-B16F-C0B3EE4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CCC7B9-62B8-31DD-0229-DD887C013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C0C649-1748-F3E0-5235-F50DCBC9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KR" sz="4800" dirty="0"/>
              <a:t>Title</a:t>
            </a:r>
            <a:endParaRPr lang="en-KR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78C4E3D-CBDE-2C38-6A80-96C3A43688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KR" dirty="0"/>
              <a:t>Subtitle</a:t>
            </a:r>
          </a:p>
          <a:p>
            <a:endParaRPr lang="en-KR" dirty="0"/>
          </a:p>
          <a:p>
            <a:r>
              <a:rPr lang="en-KR" dirty="0"/>
              <a:t>2025.XX.XX</a:t>
            </a:r>
          </a:p>
          <a:p>
            <a:r>
              <a:rPr lang="en-KR" dirty="0"/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30410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F7FA-047A-76DC-F53A-607DB62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0F43-BAD3-5D4B-842C-1BECF5783CC1}" type="datetime1">
              <a:rPr lang="en-US" smtClean="0"/>
              <a:t>4/10/26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5B7E-5821-3FBF-9C90-D608FD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E1898-3AA5-9E6C-895D-AE7A7A5E1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 HERE</a:t>
            </a:r>
            <a:endParaRPr lang="en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C890D-0675-EFBB-C750-C787E03D1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 level</a:t>
            </a:r>
          </a:p>
          <a:p>
            <a:pPr lvl="1"/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Second level</a:t>
            </a:r>
          </a:p>
          <a:p>
            <a:pPr lvl="2"/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Third level</a:t>
            </a:r>
          </a:p>
          <a:p>
            <a:pPr lvl="3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Fourth level</a:t>
            </a:r>
          </a:p>
          <a:p>
            <a:pPr lvl="4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Fifth level</a:t>
            </a:r>
            <a:endParaRPr lang="en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4C1A-47A3-8FCD-C17B-E8AF0ACF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6B84-CF83-1768-F770-9FA317B2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DBD9-8556-9FE5-B37E-326DFB7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5020-5E6C-944D-954D-F6513999B2B9}" type="datetime1">
              <a:rPr lang="en-US" smtClean="0"/>
              <a:t>4/10/26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80EC-89C7-61E5-4253-9CEC3EBC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206E-DB2D-383A-E617-3091FE96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914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B1-914A-A85B-9656-EED84B5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66D-9F19-7222-0134-B4027F45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AC8F-15F8-233F-E3BD-B13B29E0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BA0E-4D9B-5669-1A40-025EAF60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84A6-EFC5-6A45-8FBB-8A86ED1092A9}" type="datetime1">
              <a:rPr lang="en-US" smtClean="0"/>
              <a:t>4/10/26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0FD-58FC-157A-9180-051DFAF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6963-6C2A-C55A-CF1E-B938E2B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0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B35-4B06-C984-E6E9-6571DE7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03E-07D5-B7A7-F884-24381BF8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BA994-F460-612A-0B6F-B0A0EB04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33F7-78B9-904C-9642-3458037A1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6DCBC-7069-5BD8-46DB-C7BFDDEB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A386-0F81-8914-A12C-6597AB2E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992-39AF-5043-AD44-4F8B2806E4F7}" type="datetime1">
              <a:rPr lang="en-US" smtClean="0"/>
              <a:t>4/10/26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F0178-97F1-0E9D-871E-D44CC8A3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DD4-2D02-1CE4-91A9-5691335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573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EE20-AEF8-99D5-79CA-EC438D94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D7C7D-4C4C-5FC3-6C82-38A2D672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487C-F38D-EB4A-BAF1-3FA8DF0EA4DE}" type="datetime1">
              <a:rPr lang="en-US" smtClean="0"/>
              <a:t>4/10/26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72D74-F34B-1C70-5400-CE4D88C4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35DD3-871B-9B15-1A69-DF4F89CD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0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A536-F8D8-E1A0-0A07-D6F8F756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0FE-8F71-CD45-B42C-796254A68CC4}" type="datetime1">
              <a:rPr lang="en-US" smtClean="0"/>
              <a:t>4/10/26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5598-D70E-7061-D1A4-71066E4B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DE1-2B0C-747F-D616-2E13923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41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AA48-AC31-E217-26B4-54FEF3C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5F99-968F-CA1D-9EF4-69C689EC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8E2D5-46B5-C951-B600-B0A6F1C6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9B3FD-14F9-C37C-27AE-A6FEA1C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F998-C5FC-F44C-ACA6-43C0BD0BBBF8}" type="datetime1">
              <a:rPr lang="en-US" smtClean="0"/>
              <a:t>4/10/26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E16C-9D2A-FD18-5F30-C0F0D9B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FC3E-58AE-89CD-BA74-3985BDB5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775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9053-6310-F6B5-FF99-73CF29FE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3669-4EC8-9849-8202-9D2220CD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B808-8321-4034-7019-7D47978A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785D-94BD-4D14-E338-CFC2408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3009-010A-3643-99D4-2D4D54D3FB5B}" type="datetime1">
              <a:rPr lang="en-US" smtClean="0"/>
              <a:t>4/10/26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19A7F-3AE0-5DBC-B468-D3B13EF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C2B9-B059-6DC8-C0E4-9E89E04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11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59A-D378-CAD2-FF2E-9693BAA6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1652-27E2-AD5A-2784-87FE064C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654B-96B5-CC2A-79D0-7C2C526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3623-CFE3-3B48-AD01-8ACA46C16D40}" type="datetime1">
              <a:rPr lang="en-US" smtClean="0"/>
              <a:t>4/10/26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7CB8-48BD-8C01-F4EF-4C100458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211DF-0CCD-85FB-B94A-9B7D1FA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6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894D5-5C64-B67F-3B71-D3700DC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9A60-8BAD-D3CB-5195-B600C771E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497-FBC8-C5AC-D8DF-9B075D0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6B8-EB47-EA4D-BC75-D06A0CC2D4D7}" type="datetime1">
              <a:rPr lang="en-US" smtClean="0"/>
              <a:t>4/10/26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AE0D-CC99-FAC3-A922-1779477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7524-24A2-143E-DD2F-F8626A94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D6AA-BF94-B7A4-BEB5-94B7D494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497E-9634-6648-B43C-50321F9D4515}" type="datetime1">
              <a:rPr lang="en-US" smtClean="0"/>
              <a:t>4/10/26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34F99-7664-F70B-A87F-D3FE00DA7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76F92-44D7-C25D-E466-0C232BC87030}"/>
              </a:ext>
            </a:extLst>
          </p:cNvPr>
          <p:cNvSpPr txBox="1">
            <a:spLocks/>
          </p:cNvSpPr>
          <p:nvPr userDrawn="1"/>
        </p:nvSpPr>
        <p:spPr>
          <a:xfrm>
            <a:off x="9328728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2FE30C-30E7-744B-836A-23530458DF33}" type="slidenum">
              <a:rPr lang="en-KR" sz="120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/>
              <a:t>‹#›</a:t>
            </a:fld>
            <a:endParaRPr lang="en-KR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4AD03-5656-19EF-4D4F-52CD0BA93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FD3EF-4AF0-5D47-76F7-C49B36472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31" y="1340848"/>
            <a:ext cx="11824138" cy="238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b="1" dirty="0"/>
              <a:t>Phonetic-Aware Encoder Tuning:</a:t>
            </a:r>
            <a:br>
              <a:rPr lang="en-US" sz="2200" b="1" dirty="0"/>
            </a:br>
            <a:r>
              <a:rPr lang="en-US" sz="2200" b="1" dirty="0"/>
              <a:t>Boosting Robustness against L2 Pronunciation Variations via CTC Supervision</a:t>
            </a:r>
            <a:endParaRPr lang="en-KR" sz="22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B2ECD5-0A5C-4884-393F-48FD7CB6B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Project Update 1</a:t>
            </a:r>
          </a:p>
          <a:p>
            <a:endParaRPr lang="en-US" altLang="ko-KR" dirty="0"/>
          </a:p>
          <a:p>
            <a:r>
              <a:rPr lang="en-US" altLang="ko-KR" dirty="0"/>
              <a:t>2026.03.26</a:t>
            </a:r>
          </a:p>
          <a:p>
            <a:r>
              <a:rPr lang="en-US" dirty="0"/>
              <a:t>Hayeon Jeong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174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6B49-9C9F-73A7-2892-96829607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06423-B665-98F8-00CC-D9E959094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KR" sz="1800" b="1" dirty="0"/>
              <a:t>Where am I</a:t>
            </a:r>
          </a:p>
          <a:p>
            <a:pPr marL="342900" indent="-342900">
              <a:buFont typeface="+mj-lt"/>
              <a:buAutoNum type="arabicPeriod"/>
            </a:pPr>
            <a:r>
              <a:rPr lang="en-KR" sz="1800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67154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AAFD-562E-7BE7-B9AD-EFFD22EA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1. 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99E06-B5B9-AC6D-6F46-9F1E14AE7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" t="1542"/>
          <a:stretch>
            <a:fillRect/>
          </a:stretch>
        </p:blipFill>
        <p:spPr>
          <a:xfrm>
            <a:off x="2002900" y="2384108"/>
            <a:ext cx="4514850" cy="3054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783865-3891-D710-9F95-B1EBD2B52BA0}"/>
              </a:ext>
            </a:extLst>
          </p:cNvPr>
          <p:cNvSpPr txBox="1"/>
          <p:nvPr/>
        </p:nvSpPr>
        <p:spPr>
          <a:xfrm>
            <a:off x="651248" y="3070581"/>
            <a:ext cx="1351652" cy="1900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/>
              <a:t>번지점프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/>
              <a:t>산책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/>
              <a:t>찜질방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/>
              <a:t>등산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        피크닉</a:t>
            </a:r>
            <a:endParaRPr lang="en-US" altLang="ko-KR" sz="1600" dirty="0"/>
          </a:p>
        </p:txBody>
      </p:sp>
      <p:pic>
        <p:nvPicPr>
          <p:cNvPr id="6" name="Picture 2" descr="섹션' 강남, 한국어 받아쓰기 점수는? : zum 뉴스">
            <a:extLst>
              <a:ext uri="{FF2B5EF4-FFF2-40B4-BE49-F238E27FC236}">
                <a16:creationId xmlns:a16="http://schemas.microsoft.com/office/drawing/2014/main" id="{38004697-2BEB-8D70-667E-1A289C7C6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175" y="2971310"/>
            <a:ext cx="43307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688FC1-B523-E75A-7550-3F1873F8A35C}"/>
              </a:ext>
            </a:extLst>
          </p:cNvPr>
          <p:cNvSpPr txBox="1"/>
          <p:nvPr/>
        </p:nvSpPr>
        <p:spPr>
          <a:xfrm>
            <a:off x="3018690" y="17051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“Phonetic Disruptio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n</a:t>
            </a:r>
            <a:r>
              <a:rPr lang="ko-KR" alt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18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8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음성적 교란</a:t>
            </a:r>
            <a:r>
              <a:rPr lang="en-US" altLang="ko-KR" sz="18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)”</a:t>
            </a:r>
            <a:endParaRPr lang="en-US" sz="18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82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54744-E839-63F8-7BA3-484EAF198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216D-2FDA-3B0B-6EE2-08B5F722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1. Problem Statement</a:t>
            </a:r>
          </a:p>
        </p:txBody>
      </p:sp>
      <p:pic>
        <p:nvPicPr>
          <p:cNvPr id="4" name="Picture 4" descr="OpenAI rolls out Advanced Voice Mode with more voices and a new look |  TechCrunch">
            <a:extLst>
              <a:ext uri="{FF2B5EF4-FFF2-40B4-BE49-F238E27FC236}">
                <a16:creationId xmlns:a16="http://schemas.microsoft.com/office/drawing/2014/main" id="{FA75683D-95F2-C8CF-B350-059A80117A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5" t="4965" r="31649"/>
          <a:stretch>
            <a:fillRect/>
          </a:stretch>
        </p:blipFill>
        <p:spPr bwMode="auto">
          <a:xfrm>
            <a:off x="9181190" y="2717530"/>
            <a:ext cx="2192191" cy="3216279"/>
          </a:xfrm>
          <a:prstGeom prst="roundRect">
            <a:avLst>
              <a:gd name="adj" fmla="val 1484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9AE018B4-35DB-BB58-5AB2-7EBE4616B1B5}"/>
              </a:ext>
            </a:extLst>
          </p:cNvPr>
          <p:cNvSpPr/>
          <p:nvPr/>
        </p:nvSpPr>
        <p:spPr>
          <a:xfrm>
            <a:off x="2763133" y="2253022"/>
            <a:ext cx="5162550" cy="1066800"/>
          </a:xfrm>
          <a:prstGeom prst="wedgeRoundRectCallout">
            <a:avLst>
              <a:gd name="adj1" fmla="val -54446"/>
              <a:gd name="adj2" fmla="val 37635"/>
              <a:gd name="adj3" fmla="val 16667"/>
            </a:avLst>
          </a:prstGeom>
          <a:solidFill>
            <a:srgbClr val="D3FF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한국인들만 알아볼 수 있게 작성하겠습니다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.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역에선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30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초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도 안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걸릴 만큼 가깝지만 숙소가 많이 낙후되어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있고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,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엘베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 없고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,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층이라 집 많으면 고생합니다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. </a:t>
            </a:r>
            <a:r>
              <a:rPr lang="ko-KR" altLang="en-US" sz="1100" b="1" dirty="0">
                <a:solidFill>
                  <a:srgbClr val="00B050"/>
                </a:solidFill>
                <a:latin typeface="Aptos" panose="02110004020202020204"/>
                <a:ea typeface="맑은 고딕" panose="020B0503020000020004" pitchFamily="34" charset="-127"/>
              </a:rPr>
              <a:t>바퀴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벌레 나왔고 화장실 많이 낡았습니다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.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절대 </a:t>
            </a:r>
            <a:r>
              <a:rPr lang="ko-KR" altLang="en-US" sz="1100" b="1" dirty="0">
                <a:solidFill>
                  <a:srgbClr val="00B050"/>
                </a:solidFill>
                <a:latin typeface="Aptos" panose="02110004020202020204"/>
                <a:ea typeface="맑은 고딕" panose="020B0503020000020004" pitchFamily="34" charset="-127"/>
              </a:rPr>
              <a:t>여기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로 오지 마세요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1EF7A9E2-F972-A57F-C4FD-7667F83F80B8}"/>
              </a:ext>
            </a:extLst>
          </p:cNvPr>
          <p:cNvSpPr/>
          <p:nvPr/>
        </p:nvSpPr>
        <p:spPr>
          <a:xfrm>
            <a:off x="3449330" y="3581432"/>
            <a:ext cx="5162550" cy="1066800"/>
          </a:xfrm>
          <a:prstGeom prst="wedgeRoundRectCallout">
            <a:avLst>
              <a:gd name="adj1" fmla="val 68667"/>
              <a:gd name="adj2" fmla="val 43703"/>
              <a:gd name="adj3" fmla="val 16667"/>
            </a:avLst>
          </a:prstGeom>
          <a:solidFill>
            <a:srgbClr val="FFE8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한국인들만 알아볼 수 있게 작성하겠습니다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역에선 </a:t>
            </a:r>
            <a:r>
              <a:rPr lang="en-US" altLang="ko-KR" sz="1100" dirty="0">
                <a:solidFill>
                  <a:schemeClr val="tx1"/>
                </a:solidFill>
              </a:rPr>
              <a:t>30</a:t>
            </a:r>
            <a:r>
              <a:rPr lang="ko-KR" altLang="en-US" sz="1100" dirty="0">
                <a:solidFill>
                  <a:schemeClr val="tx1"/>
                </a:solidFill>
              </a:rPr>
              <a:t>초 </a:t>
            </a:r>
            <a:r>
              <a:rPr lang="ko-KR" altLang="en-US" sz="1100" b="1" dirty="0">
                <a:solidFill>
                  <a:srgbClr val="C00000"/>
                </a:solidFill>
              </a:rPr>
              <a:t>또한</a:t>
            </a:r>
            <a:r>
              <a:rPr lang="ko-KR" altLang="en-US" sz="1100" dirty="0">
                <a:solidFill>
                  <a:schemeClr val="tx1"/>
                </a:solidFill>
              </a:rPr>
              <a:t> 걸릴 만큼 가깝지만 숙소가 많이 낙후되어 </a:t>
            </a:r>
            <a:r>
              <a:rPr lang="ko-KR" altLang="en-US" sz="1100" b="1" dirty="0">
                <a:solidFill>
                  <a:srgbClr val="C00000"/>
                </a:solidFill>
              </a:rPr>
              <a:t>입구에 배 없고 </a:t>
            </a:r>
            <a:r>
              <a:rPr lang="en-US" altLang="ko-KR" sz="1100" dirty="0">
                <a:solidFill>
                  <a:schemeClr val="tx1"/>
                </a:solidFill>
              </a:rPr>
              <a:t>4</a:t>
            </a:r>
            <a:r>
              <a:rPr lang="ko-KR" altLang="en-US" sz="1100" dirty="0">
                <a:solidFill>
                  <a:schemeClr val="tx1"/>
                </a:solidFill>
              </a:rPr>
              <a:t>층이라 집 많으면 고생합니다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b="1" dirty="0">
                <a:solidFill>
                  <a:srgbClr val="C00000"/>
                </a:solidFill>
              </a:rPr>
              <a:t>밖에</a:t>
            </a:r>
            <a:r>
              <a:rPr lang="ko-KR" altLang="en-US" sz="1100" dirty="0">
                <a:solidFill>
                  <a:schemeClr val="tx1"/>
                </a:solidFill>
              </a:rPr>
              <a:t> 벌레 나왔고 화장실 많이 낡았습니다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절대 </a:t>
            </a:r>
            <a:r>
              <a:rPr lang="ko-KR" altLang="en-US" sz="1100" b="1" dirty="0">
                <a:solidFill>
                  <a:srgbClr val="C00000"/>
                </a:solidFill>
              </a:rPr>
              <a:t>역기</a:t>
            </a:r>
            <a:r>
              <a:rPr lang="ko-KR" altLang="en-US" sz="1100" dirty="0">
                <a:solidFill>
                  <a:schemeClr val="tx1"/>
                </a:solidFill>
              </a:rPr>
              <a:t>로 오지 마세요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B4861-86CE-A5F0-C167-13ACACBB9BC7}"/>
              </a:ext>
            </a:extLst>
          </p:cNvPr>
          <p:cNvSpPr txBox="1"/>
          <p:nvPr/>
        </p:nvSpPr>
        <p:spPr>
          <a:xfrm>
            <a:off x="6635057" y="4648232"/>
            <a:ext cx="19768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i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altLang="ko-KR" sz="1100" i="1" dirty="0">
                <a:solidFill>
                  <a:schemeClr val="bg1">
                    <a:lumMod val="50000"/>
                  </a:schemeClr>
                </a:solidFill>
              </a:rPr>
              <a:t>Result of Whisper by OpenAI</a:t>
            </a:r>
            <a:endParaRPr lang="en-US" sz="11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Graphic 7" descr="Smiling face outline with solid fill">
            <a:extLst>
              <a:ext uri="{FF2B5EF4-FFF2-40B4-BE49-F238E27FC236}">
                <a16:creationId xmlns:a16="http://schemas.microsoft.com/office/drawing/2014/main" id="{7CC09799-42EC-CE03-5179-86405BDE84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021" y="2800474"/>
            <a:ext cx="780958" cy="780958"/>
          </a:xfrm>
          <a:prstGeom prst="rect">
            <a:avLst/>
          </a:prstGeom>
        </p:spPr>
      </p:pic>
      <p:pic>
        <p:nvPicPr>
          <p:cNvPr id="10" name="Graphic 9" descr="Voice with solid fill">
            <a:extLst>
              <a:ext uri="{FF2B5EF4-FFF2-40B4-BE49-F238E27FC236}">
                <a16:creationId xmlns:a16="http://schemas.microsoft.com/office/drawing/2014/main" id="{51800E44-E377-4A30-1067-AA387A4A4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9705" y="2800474"/>
            <a:ext cx="780958" cy="7809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E02FC8-7DE5-A5AA-9707-EBF507CB4628}"/>
              </a:ext>
            </a:extLst>
          </p:cNvPr>
          <p:cNvSpPr txBox="1"/>
          <p:nvPr/>
        </p:nvSpPr>
        <p:spPr>
          <a:xfrm>
            <a:off x="3881156" y="1374010"/>
            <a:ext cx="445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Automatic Speech Recognition (ASR)”</a:t>
            </a:r>
            <a:endParaRPr lang="en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7682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B4CC-BDCC-14F1-3D50-7D6C465E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8489-ADAE-A821-8AA2-B4118D22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2. Research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6EDFF-D9B3-CB85-D5F4-F0049F4DFBC0}"/>
              </a:ext>
            </a:extLst>
          </p:cNvPr>
          <p:cNvSpPr txBox="1"/>
          <p:nvPr/>
        </p:nvSpPr>
        <p:spPr>
          <a:xfrm>
            <a:off x="2466445" y="2575785"/>
            <a:ext cx="7259109" cy="17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L2 Korean ASR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왜곡된 발화를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표준 한국어 음소 범주로 더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안정적으로 정렬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경량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Speech-To-Text (STT)</a:t>
            </a: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Model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설계하고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성능 향상의 원인을 실험적으로 분석한다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123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8E342-933C-5A79-110B-C4E419E4A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BC88-E58F-B626-2A4A-7717F783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3. Background and Related Works</a:t>
            </a:r>
          </a:p>
        </p:txBody>
      </p:sp>
      <p:pic>
        <p:nvPicPr>
          <p:cNvPr id="5" name="Picture 2" descr="OpenAI's Most Recent Model: Whisper (explained)">
            <a:extLst>
              <a:ext uri="{FF2B5EF4-FFF2-40B4-BE49-F238E27FC236}">
                <a16:creationId xmlns:a16="http://schemas.microsoft.com/office/drawing/2014/main" id="{E4523274-E940-76A1-504E-8F9543E03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722" y="1942242"/>
            <a:ext cx="4170401" cy="341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F12D3AA-6BC9-185A-6E1E-E58EE2FD3F03}"/>
              </a:ext>
            </a:extLst>
          </p:cNvPr>
          <p:cNvSpPr txBox="1"/>
          <p:nvPr/>
        </p:nvSpPr>
        <p:spPr>
          <a:xfrm>
            <a:off x="1237006" y="6492875"/>
            <a:ext cx="6659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* [Whisper] Robust speech recognition via large-scale weak Supervision</a:t>
            </a:r>
            <a:r>
              <a:rPr lang="ko-KR" altLang="en-US" sz="1400" i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1400" i="1" dirty="0">
                <a:solidFill>
                  <a:schemeClr val="bg1">
                    <a:lumMod val="75000"/>
                  </a:schemeClr>
                </a:solidFill>
              </a:rPr>
              <a:t>(ICML, 2023)</a:t>
            </a:r>
            <a:endParaRPr lang="en-KR" sz="1400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7" name="Graphic 26" descr="Smiling face outline with solid fill">
            <a:extLst>
              <a:ext uri="{FF2B5EF4-FFF2-40B4-BE49-F238E27FC236}">
                <a16:creationId xmlns:a16="http://schemas.microsoft.com/office/drawing/2014/main" id="{CE00B34E-130D-A4CD-A713-5F6FAB1FCF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0808" y="4716969"/>
            <a:ext cx="562912" cy="562912"/>
          </a:xfrm>
          <a:prstGeom prst="rect">
            <a:avLst/>
          </a:prstGeom>
        </p:spPr>
      </p:pic>
      <p:pic>
        <p:nvPicPr>
          <p:cNvPr id="28" name="Graphic 27" descr="Voice with solid fill">
            <a:extLst>
              <a:ext uri="{FF2B5EF4-FFF2-40B4-BE49-F238E27FC236}">
                <a16:creationId xmlns:a16="http://schemas.microsoft.com/office/drawing/2014/main" id="{DFBBC8B1-74C7-E70F-702E-A67CB070B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3720" y="4716969"/>
            <a:ext cx="562912" cy="56291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960F951-4CDE-ACC6-3640-799BC528DA1B}"/>
              </a:ext>
            </a:extLst>
          </p:cNvPr>
          <p:cNvSpPr/>
          <p:nvPr/>
        </p:nvSpPr>
        <p:spPr>
          <a:xfrm>
            <a:off x="3876085" y="2298138"/>
            <a:ext cx="1642683" cy="2892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FEC50F-5831-E2F0-449A-A3103F149A64}"/>
              </a:ext>
            </a:extLst>
          </p:cNvPr>
          <p:cNvSpPr/>
          <p:nvPr/>
        </p:nvSpPr>
        <p:spPr>
          <a:xfrm>
            <a:off x="3876085" y="2635452"/>
            <a:ext cx="1642683" cy="2892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0D2AB7-F552-CA33-F962-AA5280B3841E}"/>
              </a:ext>
            </a:extLst>
          </p:cNvPr>
          <p:cNvSpPr/>
          <p:nvPr/>
        </p:nvSpPr>
        <p:spPr>
          <a:xfrm>
            <a:off x="3876085" y="3218704"/>
            <a:ext cx="1642683" cy="2892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1FC71B-4814-AB61-2561-7F8AD1916D34}"/>
              </a:ext>
            </a:extLst>
          </p:cNvPr>
          <p:cNvSpPr/>
          <p:nvPr/>
        </p:nvSpPr>
        <p:spPr>
          <a:xfrm>
            <a:off x="3876085" y="3556018"/>
            <a:ext cx="1642683" cy="2892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821BCF2-24D1-202A-61CE-2123BC549ECD}"/>
              </a:ext>
            </a:extLst>
          </p:cNvPr>
          <p:cNvSpPr/>
          <p:nvPr/>
        </p:nvSpPr>
        <p:spPr>
          <a:xfrm>
            <a:off x="6261886" y="2661405"/>
            <a:ext cx="1642683" cy="28921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9834C0-DE2B-C960-F643-E08F52E7B946}"/>
              </a:ext>
            </a:extLst>
          </p:cNvPr>
          <p:cNvSpPr/>
          <p:nvPr/>
        </p:nvSpPr>
        <p:spPr>
          <a:xfrm>
            <a:off x="6261886" y="2998719"/>
            <a:ext cx="1642683" cy="28921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CBC395-7668-9865-A521-6001EAF7BEE1}"/>
              </a:ext>
            </a:extLst>
          </p:cNvPr>
          <p:cNvSpPr/>
          <p:nvPr/>
        </p:nvSpPr>
        <p:spPr>
          <a:xfrm>
            <a:off x="6261886" y="3669781"/>
            <a:ext cx="1642683" cy="28921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211DA7-E50B-AF40-FC9D-F06A33B6D35A}"/>
              </a:ext>
            </a:extLst>
          </p:cNvPr>
          <p:cNvSpPr/>
          <p:nvPr/>
        </p:nvSpPr>
        <p:spPr>
          <a:xfrm>
            <a:off x="6261886" y="4007095"/>
            <a:ext cx="1642683" cy="28921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7F7219-62FD-E2C0-0096-B5FC8308DA7F}"/>
              </a:ext>
            </a:extLst>
          </p:cNvPr>
          <p:cNvCxnSpPr/>
          <p:nvPr/>
        </p:nvCxnSpPr>
        <p:spPr>
          <a:xfrm flipV="1">
            <a:off x="5316467" y="1804524"/>
            <a:ext cx="0" cy="2832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0FAFA9-029A-BF64-9B15-17434BE21033}"/>
              </a:ext>
            </a:extLst>
          </p:cNvPr>
          <p:cNvSpPr txBox="1"/>
          <p:nvPr/>
        </p:nvSpPr>
        <p:spPr>
          <a:xfrm>
            <a:off x="4697426" y="1342859"/>
            <a:ext cx="1292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</a:t>
            </a:r>
            <a:r>
              <a:rPr lang="en-KR" sz="1200" dirty="0"/>
              <a:t>idden States</a:t>
            </a:r>
          </a:p>
          <a:p>
            <a:pPr algn="ctr"/>
            <a:r>
              <a:rPr lang="en-KR" sz="1200" dirty="0"/>
              <a:t>(Representation)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3237B-9491-F1D3-AA06-5450108D5FC0}"/>
              </a:ext>
            </a:extLst>
          </p:cNvPr>
          <p:cNvSpPr txBox="1"/>
          <p:nvPr/>
        </p:nvSpPr>
        <p:spPr>
          <a:xfrm>
            <a:off x="2530253" y="2907606"/>
            <a:ext cx="1056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Audio Model</a:t>
            </a:r>
            <a:endParaRPr lang="en-KR" sz="1200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42A85-028D-D09F-C606-27661072E145}"/>
              </a:ext>
            </a:extLst>
          </p:cNvPr>
          <p:cNvSpPr txBox="1"/>
          <p:nvPr/>
        </p:nvSpPr>
        <p:spPr>
          <a:xfrm>
            <a:off x="8124403" y="3333507"/>
            <a:ext cx="1319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F0"/>
                </a:solidFill>
              </a:rPr>
              <a:t>Language Model</a:t>
            </a:r>
            <a:endParaRPr lang="en-KR" sz="1200" b="1" dirty="0">
              <a:solidFill>
                <a:srgbClr val="00B0F0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5F9A5BC-85FD-1CE8-931F-5AAD0016AB4F}"/>
              </a:ext>
            </a:extLst>
          </p:cNvPr>
          <p:cNvSpPr/>
          <p:nvPr/>
        </p:nvSpPr>
        <p:spPr>
          <a:xfrm>
            <a:off x="7928845" y="2661405"/>
            <a:ext cx="195558" cy="16349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73DBFFB5-28E0-7C7D-69FC-683E64924A10}"/>
              </a:ext>
            </a:extLst>
          </p:cNvPr>
          <p:cNvSpPr/>
          <p:nvPr/>
        </p:nvSpPr>
        <p:spPr>
          <a:xfrm flipH="1">
            <a:off x="3649442" y="2298138"/>
            <a:ext cx="226643" cy="1547093"/>
          </a:xfrm>
          <a:prstGeom prst="rightBrace">
            <a:avLst/>
          </a:prstGeom>
          <a:ln w="19050">
            <a:solidFill>
              <a:srgbClr val="80110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F55CBAA2-4545-B9F9-9123-A95728C6288E}"/>
              </a:ext>
            </a:extLst>
          </p:cNvPr>
          <p:cNvSpPr/>
          <p:nvPr/>
        </p:nvSpPr>
        <p:spPr>
          <a:xfrm>
            <a:off x="8459338" y="4655890"/>
            <a:ext cx="3192970" cy="556336"/>
          </a:xfrm>
          <a:prstGeom prst="wedgeRoundRectCallout">
            <a:avLst>
              <a:gd name="adj1" fmla="val -62437"/>
              <a:gd name="adj2" fmla="val 10529"/>
              <a:gd name="adj3" fmla="val 16667"/>
            </a:avLst>
          </a:prstGeom>
          <a:solidFill>
            <a:srgbClr val="FFE8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한국인들만 알아볼 수 있게 작성하겠습니다</a:t>
            </a:r>
            <a:r>
              <a:rPr lang="en-US" altLang="ko-KR" sz="700" dirty="0">
                <a:solidFill>
                  <a:schemeClr val="tx1"/>
                </a:solidFill>
              </a:rPr>
              <a:t>. </a:t>
            </a:r>
            <a:r>
              <a:rPr lang="ko-KR" altLang="en-US" sz="700" dirty="0">
                <a:solidFill>
                  <a:schemeClr val="tx1"/>
                </a:solidFill>
              </a:rPr>
              <a:t>역에선 </a:t>
            </a:r>
            <a:r>
              <a:rPr lang="en-US" altLang="ko-KR" sz="700" dirty="0">
                <a:solidFill>
                  <a:schemeClr val="tx1"/>
                </a:solidFill>
              </a:rPr>
              <a:t>30</a:t>
            </a:r>
            <a:r>
              <a:rPr lang="ko-KR" altLang="en-US" sz="700" dirty="0">
                <a:solidFill>
                  <a:schemeClr val="tx1"/>
                </a:solidFill>
              </a:rPr>
              <a:t>초 </a:t>
            </a:r>
            <a:r>
              <a:rPr lang="ko-KR" altLang="en-US" sz="700" b="1" dirty="0">
                <a:solidFill>
                  <a:srgbClr val="C00000"/>
                </a:solidFill>
              </a:rPr>
              <a:t>또한</a:t>
            </a:r>
            <a:r>
              <a:rPr lang="ko-KR" altLang="en-US" sz="700" dirty="0">
                <a:solidFill>
                  <a:schemeClr val="tx1"/>
                </a:solidFill>
              </a:rPr>
              <a:t> 걸릴 만큼 가깝지만 숙소가 많이 낙후되어 </a:t>
            </a:r>
            <a:r>
              <a:rPr lang="ko-KR" altLang="en-US" sz="700" b="1" dirty="0">
                <a:solidFill>
                  <a:srgbClr val="C00000"/>
                </a:solidFill>
              </a:rPr>
              <a:t>입구에 배 없고 </a:t>
            </a:r>
            <a:r>
              <a:rPr lang="en-US" altLang="ko-KR" sz="700" dirty="0">
                <a:solidFill>
                  <a:schemeClr val="tx1"/>
                </a:solidFill>
              </a:rPr>
              <a:t>4</a:t>
            </a:r>
            <a:r>
              <a:rPr lang="ko-KR" altLang="en-US" sz="700" dirty="0">
                <a:solidFill>
                  <a:schemeClr val="tx1"/>
                </a:solidFill>
              </a:rPr>
              <a:t>층이라 집 많으면 고생합니다</a:t>
            </a:r>
            <a:r>
              <a:rPr lang="en-US" altLang="ko-KR" sz="700" dirty="0">
                <a:solidFill>
                  <a:schemeClr val="tx1"/>
                </a:solidFill>
              </a:rPr>
              <a:t>. </a:t>
            </a:r>
            <a:r>
              <a:rPr lang="ko-KR" altLang="en-US" sz="700" b="1" dirty="0">
                <a:solidFill>
                  <a:srgbClr val="C00000"/>
                </a:solidFill>
              </a:rPr>
              <a:t>밖에</a:t>
            </a:r>
            <a:r>
              <a:rPr lang="ko-KR" altLang="en-US" sz="700" dirty="0">
                <a:solidFill>
                  <a:schemeClr val="tx1"/>
                </a:solidFill>
              </a:rPr>
              <a:t> 벌레 나왔고 화장실 많이 낡았습니다</a:t>
            </a:r>
            <a:r>
              <a:rPr lang="en-US" altLang="ko-KR" sz="700" dirty="0">
                <a:solidFill>
                  <a:schemeClr val="tx1"/>
                </a:solidFill>
              </a:rPr>
              <a:t>. </a:t>
            </a:r>
            <a:r>
              <a:rPr lang="ko-KR" altLang="en-US" sz="700" dirty="0">
                <a:solidFill>
                  <a:schemeClr val="tx1"/>
                </a:solidFill>
              </a:rPr>
              <a:t>절대 </a:t>
            </a:r>
            <a:r>
              <a:rPr lang="ko-KR" altLang="en-US" sz="700" b="1" dirty="0">
                <a:solidFill>
                  <a:srgbClr val="C00000"/>
                </a:solidFill>
              </a:rPr>
              <a:t>역기</a:t>
            </a:r>
            <a:r>
              <a:rPr lang="ko-KR" altLang="en-US" sz="700" dirty="0">
                <a:solidFill>
                  <a:schemeClr val="tx1"/>
                </a:solidFill>
              </a:rPr>
              <a:t>로 오지 마세요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82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2F25-C8F3-AAF5-3D44-D356EEB3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 Limitation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C9A75-1796-38A7-860F-2D08F7B6C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/>
              <a:t>Conclusion: Effectiveness of Phonetic Supervision</a:t>
            </a:r>
          </a:p>
          <a:p>
            <a:pPr lvl="1">
              <a:lnSpc>
                <a:spcPct val="100000"/>
              </a:lnSpc>
            </a:pPr>
            <a:r>
              <a:rPr lang="en-US" sz="1600" b="1" dirty="0"/>
              <a:t>G2P/IPA-based CTC Head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활용한 인코더 중심의 </a:t>
            </a:r>
            <a:r>
              <a:rPr lang="en-US" sz="1600" dirty="0" err="1"/>
              <a:t>LoRA</a:t>
            </a:r>
            <a:r>
              <a:rPr lang="en-US" sz="1600" dirty="0"/>
              <a:t> </a:t>
            </a:r>
            <a:r>
              <a:rPr lang="ko-KR" altLang="en-US" sz="1600" dirty="0"/>
              <a:t>학습이 </a:t>
            </a:r>
            <a:r>
              <a:rPr lang="en-US" sz="1600" dirty="0"/>
              <a:t>L2 </a:t>
            </a:r>
            <a:r>
              <a:rPr lang="ko-KR" altLang="en-US" sz="1600" dirty="0"/>
              <a:t>학습자의 불분명한 발화에 대한 </a:t>
            </a:r>
            <a:r>
              <a:rPr lang="en-US" sz="1600" b="1" dirty="0"/>
              <a:t>Acoustic Alignment</a:t>
            </a:r>
            <a:r>
              <a:rPr lang="ko-KR" altLang="en-US" sz="1600" b="1" dirty="0" err="1"/>
              <a:t>를</a:t>
            </a:r>
            <a:r>
              <a:rPr lang="ko-KR" altLang="en-US" sz="1600" b="1" dirty="0"/>
              <a:t> 개선</a:t>
            </a:r>
            <a:r>
              <a:rPr lang="ko-KR" altLang="en-US" sz="1600" dirty="0"/>
              <a:t>하는 데 유의미한 가능성이 있음을 확인함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/>
              <a:t>Ex. </a:t>
            </a:r>
            <a:r>
              <a:rPr lang="ko-KR" altLang="en-US" sz="1600" dirty="0"/>
              <a:t>중국어의 원순 모음 혼동</a:t>
            </a:r>
            <a:r>
              <a:rPr lang="en-US" altLang="ko-KR" sz="1600" dirty="0"/>
              <a:t>(</a:t>
            </a:r>
            <a:r>
              <a:rPr lang="en-US" sz="1600" dirty="0"/>
              <a:t>u → o)</a:t>
            </a:r>
            <a:r>
              <a:rPr lang="ko-KR" altLang="en-US" sz="1600" dirty="0"/>
              <a:t>이나 일본어의 비음 종성</a:t>
            </a:r>
            <a:r>
              <a:rPr lang="en-US" altLang="ko-KR" sz="1600" dirty="0"/>
              <a:t>(</a:t>
            </a:r>
            <a:r>
              <a:rPr lang="en-US" sz="1600" dirty="0"/>
              <a:t>N → NG) </a:t>
            </a:r>
            <a:r>
              <a:rPr lang="ko-KR" altLang="en-US" sz="1600" dirty="0"/>
              <a:t>오인식 등 </a:t>
            </a:r>
            <a:r>
              <a:rPr lang="ko-KR" altLang="en-US" sz="1600" b="1" dirty="0"/>
              <a:t>언어권별 고질적인 음소 치환 패턴이 수치적으로 개선</a:t>
            </a:r>
            <a:r>
              <a:rPr lang="ko-KR" altLang="en-US" sz="1600" dirty="0"/>
              <a:t>됨</a:t>
            </a:r>
            <a:r>
              <a:rPr lang="en-US" altLang="ko-KR" sz="1600" dirty="0"/>
              <a:t>.</a:t>
            </a:r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r>
              <a:rPr lang="en-US" sz="1800" b="1" dirty="0"/>
              <a:t>Limitation: Data Quality and Ground Truth Accuracy</a:t>
            </a:r>
          </a:p>
          <a:p>
            <a:pPr lvl="1"/>
            <a:r>
              <a:rPr lang="en-US" sz="1600" dirty="0"/>
              <a:t>L2 </a:t>
            </a:r>
            <a:r>
              <a:rPr lang="en-US" sz="1600" dirty="0" err="1"/>
              <a:t>발화자의</a:t>
            </a:r>
            <a:r>
              <a:rPr lang="en-US" sz="1600" dirty="0"/>
              <a:t> </a:t>
            </a:r>
            <a:r>
              <a:rPr lang="en-US" sz="1600" dirty="0" err="1"/>
              <a:t>음성</a:t>
            </a:r>
            <a:r>
              <a:rPr lang="en-US" sz="1600" dirty="0"/>
              <a:t> </a:t>
            </a:r>
            <a:r>
              <a:rPr lang="en-US" sz="1600" dirty="0" err="1"/>
              <a:t>또한</a:t>
            </a:r>
            <a:r>
              <a:rPr lang="en-US" sz="1600" dirty="0"/>
              <a:t> </a:t>
            </a:r>
            <a:r>
              <a:rPr lang="en-US" sz="1600" dirty="0" err="1"/>
              <a:t>XTTS로</a:t>
            </a:r>
            <a:r>
              <a:rPr lang="en-US" sz="1600" dirty="0"/>
              <a:t> </a:t>
            </a:r>
            <a:r>
              <a:rPr lang="en-US" sz="1600" dirty="0" err="1"/>
              <a:t>생성된</a:t>
            </a:r>
            <a:r>
              <a:rPr lang="en-US" sz="1600" dirty="0"/>
              <a:t> </a:t>
            </a:r>
            <a:r>
              <a:rPr lang="en-US" sz="1600" dirty="0" err="1"/>
              <a:t>데이터셋임</a:t>
            </a:r>
            <a:endParaRPr lang="en-US" sz="1600" dirty="0"/>
          </a:p>
          <a:p>
            <a:pPr lvl="1"/>
            <a:r>
              <a:rPr lang="en-US" sz="1600" dirty="0"/>
              <a:t>Ground Truth(GT) </a:t>
            </a:r>
            <a:r>
              <a:rPr lang="ko-KR" altLang="en-US" sz="1600" dirty="0"/>
              <a:t>시퀀스의 생성 품질이 완벽하지 못함</a:t>
            </a:r>
            <a:endParaRPr lang="en-US" altLang="ko-KR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55F96-F4F6-7DF1-8F7B-B2214F305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356" y="2984638"/>
            <a:ext cx="5138648" cy="334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3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7727-EA32-E6BC-C5DF-7E53D2BC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1E208-BE3E-8919-A13C-A6338532A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Encoder</a:t>
            </a:r>
            <a:r>
              <a:rPr lang="ko-KR" altLang="en-US" sz="1800" dirty="0"/>
              <a:t>의 </a:t>
            </a:r>
            <a:r>
              <a:rPr lang="en-US" sz="1800" dirty="0"/>
              <a:t>Middle Layer</a:t>
            </a:r>
            <a:r>
              <a:rPr lang="ko-KR" altLang="en-US" sz="1800" dirty="0"/>
              <a:t>만 사용하거나</a:t>
            </a:r>
            <a:r>
              <a:rPr lang="en-US" altLang="ko-KR" sz="1800" dirty="0"/>
              <a:t>, </a:t>
            </a:r>
            <a:r>
              <a:rPr lang="ko-KR" altLang="en-US" sz="1800" dirty="0"/>
              <a:t>모두 사용하되 </a:t>
            </a:r>
            <a:r>
              <a:rPr lang="en-US" sz="1800" dirty="0"/>
              <a:t>Middle Layer</a:t>
            </a:r>
            <a:r>
              <a:rPr lang="ko-KR" altLang="en-US" sz="1800" dirty="0" err="1"/>
              <a:t>에</a:t>
            </a:r>
            <a:r>
              <a:rPr lang="ko-KR" altLang="en-US" sz="1800" dirty="0"/>
              <a:t> 가중치를 더 준다면</a:t>
            </a:r>
            <a:r>
              <a:rPr lang="en-US" altLang="ko-KR" sz="1800" dirty="0"/>
              <a:t> </a:t>
            </a:r>
            <a:r>
              <a:rPr lang="ko-KR" altLang="en-US" sz="1800" dirty="0"/>
              <a:t>성능이 향상될 것이다</a:t>
            </a:r>
            <a:r>
              <a:rPr lang="en-US" altLang="ko-KR" sz="1800" dirty="0"/>
              <a:t>.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altLang="ko-KR" sz="1400" b="1" dirty="0"/>
              <a:t>Baseline A: </a:t>
            </a:r>
            <a:r>
              <a:rPr lang="en-US" altLang="ko-KR" sz="1400" dirty="0"/>
              <a:t>encoder-only </a:t>
            </a:r>
            <a:r>
              <a:rPr lang="en-US" altLang="ko-KR" sz="1400" dirty="0" err="1"/>
              <a:t>LoRA</a:t>
            </a:r>
            <a:endParaRPr lang="en-US" altLang="ko-KR" sz="1400" dirty="0"/>
          </a:p>
          <a:p>
            <a:pPr marL="742950" lvl="1" indent="-285750">
              <a:lnSpc>
                <a:spcPct val="100000"/>
              </a:lnSpc>
            </a:pPr>
            <a:r>
              <a:rPr lang="en-US" altLang="ko-KR" sz="1400" b="1" dirty="0"/>
              <a:t>Baseline B: </a:t>
            </a:r>
            <a:r>
              <a:rPr lang="en-US" altLang="ko-KR" sz="1400" dirty="0"/>
              <a:t>encoder-only </a:t>
            </a:r>
            <a:r>
              <a:rPr lang="en-US" altLang="ko-KR" sz="1400" dirty="0" err="1"/>
              <a:t>LoRA</a:t>
            </a:r>
            <a:r>
              <a:rPr lang="en-US" altLang="ko-KR" sz="1400" dirty="0"/>
              <a:t> </a:t>
            </a:r>
            <a:r>
              <a:rPr lang="en-US" altLang="ko-KR" sz="1400" b="1" dirty="0"/>
              <a:t>+ final-layer phonetic CTC (</a:t>
            </a:r>
            <a:r>
              <a:rPr lang="ko-KR" altLang="en-US" sz="1400" b="1" dirty="0"/>
              <a:t>현재 방식</a:t>
            </a:r>
            <a:r>
              <a:rPr lang="en-US" altLang="ko-KR" sz="1400" b="1" dirty="0"/>
              <a:t>)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altLang="ko-KR" sz="1400" b="1" dirty="0">
                <a:solidFill>
                  <a:srgbClr val="0070C0"/>
                </a:solidFill>
              </a:rPr>
              <a:t>Proposed C:</a:t>
            </a:r>
            <a:r>
              <a:rPr lang="en-US" altLang="ko-KR" sz="1400" b="1" dirty="0"/>
              <a:t> </a:t>
            </a:r>
            <a:r>
              <a:rPr lang="en-US" altLang="ko-KR" sz="1400" dirty="0"/>
              <a:t>encoder-only </a:t>
            </a:r>
            <a:r>
              <a:rPr lang="en-US" altLang="ko-KR" sz="1400" dirty="0" err="1"/>
              <a:t>LoRA</a:t>
            </a:r>
            <a:r>
              <a:rPr lang="en-US" altLang="ko-KR" sz="1400" dirty="0"/>
              <a:t> </a:t>
            </a:r>
            <a:r>
              <a:rPr lang="en-US" altLang="ko-KR" sz="1400" b="1" dirty="0">
                <a:solidFill>
                  <a:srgbClr val="0070C0"/>
                </a:solidFill>
              </a:rPr>
              <a:t>+ single intermediate-layer phonetic CTC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altLang="ko-KR" sz="1400" b="1" dirty="0">
                <a:solidFill>
                  <a:srgbClr val="0070C0"/>
                </a:solidFill>
              </a:rPr>
              <a:t>Proposed D: </a:t>
            </a:r>
            <a:r>
              <a:rPr lang="en-US" altLang="ko-KR" sz="1400" dirty="0"/>
              <a:t>encoder-only </a:t>
            </a:r>
            <a:r>
              <a:rPr lang="en-US" altLang="ko-KR" sz="1400" dirty="0" err="1"/>
              <a:t>LoRA</a:t>
            </a:r>
            <a:r>
              <a:rPr lang="en-US" altLang="ko-KR" sz="1400" dirty="0"/>
              <a:t> </a:t>
            </a:r>
            <a:r>
              <a:rPr lang="en-US" altLang="ko-KR" sz="1400" b="1" dirty="0">
                <a:solidFill>
                  <a:srgbClr val="0070C0"/>
                </a:solidFill>
              </a:rPr>
              <a:t>+ multi-layer phonetic CTC (</a:t>
            </a:r>
            <a:r>
              <a:rPr lang="ko-KR" altLang="en-US" sz="1400" b="1" dirty="0">
                <a:solidFill>
                  <a:srgbClr val="0070C0"/>
                </a:solidFill>
              </a:rPr>
              <a:t>예</a:t>
            </a:r>
            <a:r>
              <a:rPr lang="en-US" altLang="ko-KR" sz="1400" b="1" dirty="0">
                <a:solidFill>
                  <a:srgbClr val="0070C0"/>
                </a:solidFill>
              </a:rPr>
              <a:t>: mid + final)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Regularization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이나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Smoothing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과 같은 완화 기법을 적용하면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보다 안정적인 정렬을 형성하고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 L2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발음 변이에 대한 강건성을 개선할 수 있다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Alignment Sharpness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정량화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 (New Evaluation Metrics)</a:t>
            </a:r>
          </a:p>
          <a:p>
            <a:pPr marL="742950" lvl="1" indent="-285750">
              <a:lnSpc>
                <a:spcPct val="100000"/>
              </a:lnSpc>
            </a:pP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Entropy Regularization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Articulatory Feature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에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따른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 N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개의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Head</a:t>
            </a:r>
            <a:r>
              <a:rPr lang="ko-KR" altLang="en-US" sz="1600" dirty="0" err="1">
                <a:solidFill>
                  <a:schemeClr val="bg1">
                    <a:lumMod val="75000"/>
                  </a:schemeClr>
                </a:solidFill>
              </a:rPr>
              <a:t>를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 훈련하면 성능이 향상될 것이다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742950" lvl="1" indent="-285750">
              <a:lnSpc>
                <a:spcPct val="100000"/>
              </a:lnSpc>
            </a:pPr>
            <a:endParaRPr lang="en-US" altLang="ko-KR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100000"/>
              </a:lnSpc>
            </a:pPr>
            <a:endParaRPr lang="en-US" altLang="ko-KR" sz="1600" dirty="0"/>
          </a:p>
          <a:p>
            <a:pPr>
              <a:lnSpc>
                <a:spcPct val="100000"/>
              </a:lnSpc>
            </a:pPr>
            <a:endParaRPr lang="en-KR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5B0C4D-B315-BD71-0697-D0462A28E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45359"/>
              </p:ext>
            </p:extLst>
          </p:nvPr>
        </p:nvGraphicFramePr>
        <p:xfrm>
          <a:off x="916155" y="4319928"/>
          <a:ext cx="1443868" cy="1805840"/>
        </p:xfrm>
        <a:graphic>
          <a:graphicData uri="http://schemas.openxmlformats.org/drawingml/2006/table">
            <a:tbl>
              <a:tblPr/>
              <a:tblGrid>
                <a:gridCol w="360967">
                  <a:extLst>
                    <a:ext uri="{9D8B030D-6E8A-4147-A177-3AD203B41FA5}">
                      <a16:colId xmlns:a16="http://schemas.microsoft.com/office/drawing/2014/main" val="1364240334"/>
                    </a:ext>
                  </a:extLst>
                </a:gridCol>
                <a:gridCol w="360967">
                  <a:extLst>
                    <a:ext uri="{9D8B030D-6E8A-4147-A177-3AD203B41FA5}">
                      <a16:colId xmlns:a16="http://schemas.microsoft.com/office/drawing/2014/main" val="1502671291"/>
                    </a:ext>
                  </a:extLst>
                </a:gridCol>
                <a:gridCol w="360967">
                  <a:extLst>
                    <a:ext uri="{9D8B030D-6E8A-4147-A177-3AD203B41FA5}">
                      <a16:colId xmlns:a16="http://schemas.microsoft.com/office/drawing/2014/main" val="3735046211"/>
                    </a:ext>
                  </a:extLst>
                </a:gridCol>
                <a:gridCol w="360967">
                  <a:extLst>
                    <a:ext uri="{9D8B030D-6E8A-4147-A177-3AD203B41FA5}">
                      <a16:colId xmlns:a16="http://schemas.microsoft.com/office/drawing/2014/main" val="888077714"/>
                    </a:ext>
                  </a:extLst>
                </a:gridCol>
              </a:tblGrid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phoneme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place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manner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laryngeal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02850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ㅂ</a:t>
                      </a:r>
                      <a:endParaRPr lang="ko-KR" altLang="en-US" sz="5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bilabial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766275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bilabial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285126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bilabial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264164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bilabial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nasal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voiced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002645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614600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86376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348536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nasal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voiced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947468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fricative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356768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ㅆ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fricative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983855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affricate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301744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affricate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060053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affricate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841458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liquid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voiced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722575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15243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ㄲ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140219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velar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200193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ㅇ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glottal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nasal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voiced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963663"/>
                  </a:ext>
                </a:extLst>
              </a:tr>
              <a:tr h="9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ㅎ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glottal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fricative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4836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557DE0-7702-B4B5-F07F-25AE48A22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644518"/>
              </p:ext>
            </p:extLst>
          </p:nvPr>
        </p:nvGraphicFramePr>
        <p:xfrm>
          <a:off x="2476925" y="4319927"/>
          <a:ext cx="1598688" cy="783297"/>
        </p:xfrm>
        <a:graphic>
          <a:graphicData uri="http://schemas.openxmlformats.org/drawingml/2006/table">
            <a:tbl>
              <a:tblPr/>
              <a:tblGrid>
                <a:gridCol w="399672">
                  <a:extLst>
                    <a:ext uri="{9D8B030D-6E8A-4147-A177-3AD203B41FA5}">
                      <a16:colId xmlns:a16="http://schemas.microsoft.com/office/drawing/2014/main" val="3603843853"/>
                    </a:ext>
                  </a:extLst>
                </a:gridCol>
                <a:gridCol w="399672">
                  <a:extLst>
                    <a:ext uri="{9D8B030D-6E8A-4147-A177-3AD203B41FA5}">
                      <a16:colId xmlns:a16="http://schemas.microsoft.com/office/drawing/2014/main" val="3240521730"/>
                    </a:ext>
                  </a:extLst>
                </a:gridCol>
                <a:gridCol w="399672">
                  <a:extLst>
                    <a:ext uri="{9D8B030D-6E8A-4147-A177-3AD203B41FA5}">
                      <a16:colId xmlns:a16="http://schemas.microsoft.com/office/drawing/2014/main" val="4040494097"/>
                    </a:ext>
                  </a:extLst>
                </a:gridCol>
                <a:gridCol w="399672">
                  <a:extLst>
                    <a:ext uri="{9D8B030D-6E8A-4147-A177-3AD203B41FA5}">
                      <a16:colId xmlns:a16="http://schemas.microsoft.com/office/drawing/2014/main" val="3246835782"/>
                    </a:ext>
                  </a:extLst>
                </a:gridCol>
              </a:tblGrid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vowel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backness</a:t>
                      </a:r>
                      <a:endParaRPr lang="en-US" sz="5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rounding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550217"/>
                  </a:ext>
                </a:extLst>
              </a:tr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611380"/>
                  </a:ext>
                </a:extLst>
              </a:tr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737091"/>
                  </a:ext>
                </a:extLst>
              </a:tr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low-mid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086774"/>
                  </a:ext>
                </a:extLst>
              </a:tr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front-central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184213"/>
                  </a:ext>
                </a:extLst>
              </a:tr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central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373900"/>
                  </a:ext>
                </a:extLst>
              </a:tr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back-central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404096"/>
                  </a:ext>
                </a:extLst>
              </a:tr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rounded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614274"/>
                  </a:ext>
                </a:extLst>
              </a:tr>
              <a:tr h="8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5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back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rounded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447219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B8D88C8F-394F-8FE3-56EE-27F72AACD38A}"/>
              </a:ext>
            </a:extLst>
          </p:cNvPr>
          <p:cNvGrpSpPr/>
          <p:nvPr/>
        </p:nvGrpSpPr>
        <p:grpSpPr>
          <a:xfrm>
            <a:off x="4400292" y="4319927"/>
            <a:ext cx="5516306" cy="1936518"/>
            <a:chOff x="566058" y="1920087"/>
            <a:chExt cx="11293735" cy="356952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0AF546-6815-B8AF-AE54-B1374409C86D}"/>
                </a:ext>
              </a:extLst>
            </p:cNvPr>
            <p:cNvGrpSpPr/>
            <p:nvPr/>
          </p:nvGrpSpPr>
          <p:grpSpPr>
            <a:xfrm>
              <a:off x="566058" y="1920087"/>
              <a:ext cx="10764955" cy="3569528"/>
              <a:chOff x="1791308" y="3943698"/>
              <a:chExt cx="9202250" cy="2673830"/>
            </a:xfrm>
          </p:grpSpPr>
          <p:pic>
            <p:nvPicPr>
              <p:cNvPr id="11" name="Picture 2" descr="OpenAI's Most Recent Model: Whisper (explained)">
                <a:extLst>
                  <a:ext uri="{FF2B5EF4-FFF2-40B4-BE49-F238E27FC236}">
                    <a16:creationId xmlns:a16="http://schemas.microsoft.com/office/drawing/2014/main" id="{134DE1D5-7EDB-4911-B2C2-06DE86E87B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5969" y="4059680"/>
                <a:ext cx="3565001" cy="25578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89670E02-F9D3-0784-BD1A-50694BB9C01F}"/>
                  </a:ext>
                </a:extLst>
              </p:cNvPr>
              <p:cNvSpPr/>
              <p:nvPr/>
            </p:nvSpPr>
            <p:spPr>
              <a:xfrm>
                <a:off x="1925011" y="4338357"/>
                <a:ext cx="480958" cy="197809"/>
              </a:xfrm>
              <a:prstGeom prst="roundRect">
                <a:avLst/>
              </a:prstGeom>
              <a:solidFill>
                <a:srgbClr val="BE0E00">
                  <a:alpha val="30980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KR" sz="300" dirty="0">
                    <a:solidFill>
                      <a:sysClr val="windowText" lastClr="000000"/>
                    </a:solidFill>
                  </a:rPr>
                  <a:t>lora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CE239A-6526-CEC1-6A4F-9C9814874206}"/>
                  </a:ext>
                </a:extLst>
              </p:cNvPr>
              <p:cNvSpPr txBox="1"/>
              <p:nvPr/>
            </p:nvSpPr>
            <p:spPr>
              <a:xfrm>
                <a:off x="1797155" y="4266437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🔥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426EA4AB-0C53-BB03-7B69-FE0B689036F2}"/>
                  </a:ext>
                </a:extLst>
              </p:cNvPr>
              <p:cNvSpPr/>
              <p:nvPr/>
            </p:nvSpPr>
            <p:spPr>
              <a:xfrm>
                <a:off x="1925011" y="4582865"/>
                <a:ext cx="480958" cy="197809"/>
              </a:xfrm>
              <a:prstGeom prst="roundRect">
                <a:avLst/>
              </a:prstGeom>
              <a:solidFill>
                <a:srgbClr val="BE0E00">
                  <a:alpha val="30980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KR" sz="300" dirty="0">
                    <a:solidFill>
                      <a:sysClr val="windowText" lastClr="000000"/>
                    </a:solidFill>
                  </a:rPr>
                  <a:t>lora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237748F6-9C06-3A09-14CB-675D14E7E60F}"/>
                  </a:ext>
                </a:extLst>
              </p:cNvPr>
              <p:cNvSpPr/>
              <p:nvPr/>
            </p:nvSpPr>
            <p:spPr>
              <a:xfrm>
                <a:off x="1925011" y="5007719"/>
                <a:ext cx="480958" cy="197809"/>
              </a:xfrm>
              <a:prstGeom prst="roundRect">
                <a:avLst/>
              </a:prstGeom>
              <a:solidFill>
                <a:srgbClr val="BE0E00">
                  <a:alpha val="30980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KR" sz="300" dirty="0">
                    <a:solidFill>
                      <a:sysClr val="windowText" lastClr="000000"/>
                    </a:solidFill>
                  </a:rPr>
                  <a:t>lora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C3CE4900-E7A1-502A-97D4-F458223DC5CA}"/>
                  </a:ext>
                </a:extLst>
              </p:cNvPr>
              <p:cNvSpPr/>
              <p:nvPr/>
            </p:nvSpPr>
            <p:spPr>
              <a:xfrm>
                <a:off x="1925011" y="5269420"/>
                <a:ext cx="480958" cy="197809"/>
              </a:xfrm>
              <a:prstGeom prst="roundRect">
                <a:avLst/>
              </a:prstGeom>
              <a:solidFill>
                <a:srgbClr val="BE0E00">
                  <a:alpha val="30980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KR" sz="300" dirty="0">
                    <a:solidFill>
                      <a:sysClr val="windowText" lastClr="000000"/>
                    </a:solidFill>
                  </a:rPr>
                  <a:t>lora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7C8BD7-D4AB-2BF0-0E1E-AAE3C2BBD7BC}"/>
                  </a:ext>
                </a:extLst>
              </p:cNvPr>
              <p:cNvSpPr txBox="1"/>
              <p:nvPr/>
            </p:nvSpPr>
            <p:spPr>
              <a:xfrm>
                <a:off x="1791308" y="4510808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🔥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6DE267-CC70-F6D1-D392-4E2CD59FBFE5}"/>
                  </a:ext>
                </a:extLst>
              </p:cNvPr>
              <p:cNvSpPr txBox="1"/>
              <p:nvPr/>
            </p:nvSpPr>
            <p:spPr>
              <a:xfrm>
                <a:off x="1791308" y="4935796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🔥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24DF19-DABD-8C55-B813-AE01D2FA3119}"/>
                  </a:ext>
                </a:extLst>
              </p:cNvPr>
              <p:cNvSpPr txBox="1"/>
              <p:nvPr/>
            </p:nvSpPr>
            <p:spPr>
              <a:xfrm>
                <a:off x="1791308" y="5198103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🔥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E46DDE-97BF-5C59-32A8-6738030E2C8B}"/>
                  </a:ext>
                </a:extLst>
              </p:cNvPr>
              <p:cNvSpPr txBox="1"/>
              <p:nvPr/>
            </p:nvSpPr>
            <p:spPr>
              <a:xfrm>
                <a:off x="5660332" y="4542912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❄️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8592FD-F7D5-135E-18A9-13FEF8B27F00}"/>
                  </a:ext>
                </a:extLst>
              </p:cNvPr>
              <p:cNvSpPr txBox="1"/>
              <p:nvPr/>
            </p:nvSpPr>
            <p:spPr>
              <a:xfrm>
                <a:off x="5660332" y="4797394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❄️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7E68B5-A30F-A9EE-887A-0C1159957082}"/>
                  </a:ext>
                </a:extLst>
              </p:cNvPr>
              <p:cNvSpPr txBox="1"/>
              <p:nvPr/>
            </p:nvSpPr>
            <p:spPr>
              <a:xfrm>
                <a:off x="5660332" y="5308166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❄️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5581FAB-3ED3-7EC9-A5DB-F9679CBC3850}"/>
                  </a:ext>
                </a:extLst>
              </p:cNvPr>
              <p:cNvSpPr txBox="1"/>
              <p:nvPr/>
            </p:nvSpPr>
            <p:spPr>
              <a:xfrm>
                <a:off x="5660332" y="5562649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❄️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7DC16CC9-E670-5384-C9A2-234D78902B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9879"/>
              <a:stretch>
                <a:fillRect/>
              </a:stretch>
            </p:blipFill>
            <p:spPr>
              <a:xfrm>
                <a:off x="6451927" y="4658119"/>
                <a:ext cx="4541631" cy="1934034"/>
              </a:xfrm>
              <a:prstGeom prst="rect">
                <a:avLst/>
              </a:prstGeom>
            </p:spPr>
          </p:pic>
          <p:cxnSp>
            <p:nvCxnSpPr>
              <p:cNvPr id="25" name="Elbow Connector 24">
                <a:extLst>
                  <a:ext uri="{FF2B5EF4-FFF2-40B4-BE49-F238E27FC236}">
                    <a16:creationId xmlns:a16="http://schemas.microsoft.com/office/drawing/2014/main" id="{87CE1DF9-DA86-757D-4DAA-B9E8B2658F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3978" y="3943698"/>
                <a:ext cx="2805335" cy="1595015"/>
              </a:xfrm>
              <a:prstGeom prst="bentConnector3">
                <a:avLst>
                  <a:gd name="adj1" fmla="val 89760"/>
                </a:avLst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F08F5C4-2E50-DA99-9FE8-5E464CFD8546}"/>
                  </a:ext>
                </a:extLst>
              </p:cNvPr>
              <p:cNvCxnSpPr/>
              <p:nvPr/>
            </p:nvCxnSpPr>
            <p:spPr>
              <a:xfrm>
                <a:off x="3693978" y="3943698"/>
                <a:ext cx="0" cy="218399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3B8D3D-CA09-AFC1-E7B5-BAFDA7B99EF5}"/>
                </a:ext>
              </a:extLst>
            </p:cNvPr>
            <p:cNvSpPr txBox="1"/>
            <p:nvPr/>
          </p:nvSpPr>
          <p:spPr>
            <a:xfrm>
              <a:off x="9985180" y="2211646"/>
              <a:ext cx="1874613" cy="3403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/>
                <a:t>G</a:t>
              </a:r>
              <a:r>
                <a:rPr lang="en-KR" sz="600" dirty="0"/>
                <a:t>round Truth G2P/IPA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1F6E065-45C0-7CEA-3C5B-62D7D0E7DE0C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479" y="2578988"/>
              <a:ext cx="0" cy="989635"/>
            </a:xfrm>
            <a:prstGeom prst="straightConnector1">
              <a:avLst/>
            </a:prstGeom>
            <a:ln w="952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1A11512-7369-2C54-40E9-BCD2296BF60F}"/>
                    </a:ext>
                  </a:extLst>
                </p:cNvPr>
                <p:cNvSpPr txBox="1"/>
                <p:nvPr/>
              </p:nvSpPr>
              <p:spPr>
                <a:xfrm>
                  <a:off x="10762609" y="2867245"/>
                  <a:ext cx="717815" cy="3403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𝐶𝑇𝐶</m:t>
                            </m:r>
                          </m:sub>
                        </m:sSub>
                      </m:oMath>
                    </m:oMathPara>
                  </a14:m>
                  <a:endParaRPr lang="en-KR" sz="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D36328A-6BCC-97B1-1004-67CE0E25B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2609" y="2867245"/>
                  <a:ext cx="717815" cy="3403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F0F53D8-5996-CD79-A969-4FD89A140945}"/>
              </a:ext>
            </a:extLst>
          </p:cNvPr>
          <p:cNvSpPr/>
          <p:nvPr/>
        </p:nvSpPr>
        <p:spPr>
          <a:xfrm>
            <a:off x="8851381" y="5025183"/>
            <a:ext cx="381421" cy="94312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46AF93-EC9E-63C2-C354-30A170118AF7}"/>
              </a:ext>
            </a:extLst>
          </p:cNvPr>
          <p:cNvSpPr txBox="1"/>
          <p:nvPr/>
        </p:nvSpPr>
        <p:spPr>
          <a:xfrm>
            <a:off x="8851381" y="593134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KR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B1A7B7-E193-3DE5-1273-702B5B2A5111}"/>
              </a:ext>
            </a:extLst>
          </p:cNvPr>
          <p:cNvSpPr txBox="1"/>
          <p:nvPr/>
        </p:nvSpPr>
        <p:spPr>
          <a:xfrm>
            <a:off x="8851381" y="6178628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KR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76CC8D-EE4E-EDB2-5F85-C991DC0BDAD7}"/>
              </a:ext>
            </a:extLst>
          </p:cNvPr>
          <p:cNvSpPr/>
          <p:nvPr/>
        </p:nvSpPr>
        <p:spPr>
          <a:xfrm>
            <a:off x="775063" y="4145280"/>
            <a:ext cx="9141535" cy="2281646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74563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C9E4-94A5-7167-8C05-5FC01F47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2F2D-5A40-7F59-1E1F-0896F359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6" y="6035040"/>
            <a:ext cx="11416878" cy="457835"/>
          </a:xfrm>
        </p:spPr>
        <p:txBody>
          <a:bodyPr>
            <a:normAutofit/>
          </a:bodyPr>
          <a:lstStyle/>
          <a:p>
            <a:r>
              <a:rPr lang="en-KR" sz="1800" dirty="0"/>
              <a:t>초</a:t>
            </a:r>
            <a:r>
              <a:rPr lang="en-US" altLang="ko-KR" sz="1800" dirty="0"/>
              <a:t>/</a:t>
            </a:r>
            <a:r>
              <a:rPr lang="ko-KR" altLang="en-US" sz="1800" dirty="0"/>
              <a:t>중반 </a:t>
            </a:r>
            <a:r>
              <a:rPr lang="ko-KR" altLang="en-US" sz="1800" dirty="0" err="1"/>
              <a:t>레이어들에서의</a:t>
            </a:r>
            <a:r>
              <a:rPr lang="ko-KR" altLang="en-US" sz="1800" dirty="0"/>
              <a:t> </a:t>
            </a:r>
            <a:r>
              <a:rPr lang="en-US" altLang="ko-KR" sz="1800" dirty="0"/>
              <a:t>Jamo-CER </a:t>
            </a:r>
            <a:r>
              <a:rPr lang="ko-KR" altLang="en-US" sz="1800" dirty="0"/>
              <a:t>개선이 뒤쪽보다 낫다</a:t>
            </a:r>
            <a:r>
              <a:rPr lang="en-US" altLang="ko-KR" sz="1800" dirty="0"/>
              <a:t>?</a:t>
            </a:r>
            <a:endParaRPr lang="en-KR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FECAF-D9DE-466F-FD02-8E2734C3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927" y="3646027"/>
            <a:ext cx="9581341" cy="2235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A31B81-CA5A-14B7-5E5C-D74A80F40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6" y="1059136"/>
            <a:ext cx="11218816" cy="254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1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A430-E7BA-BE0C-69D4-5573F49E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KR" dirty="0"/>
              <a:t>* Additional Evaluation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D178F-2CE3-F401-35A5-0994FC39D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어려운 샘플을 고쳤는가</a:t>
            </a:r>
            <a:endParaRPr lang="en-US" altLang="ko-KR" sz="1800" dirty="0"/>
          </a:p>
          <a:p>
            <a:r>
              <a:rPr lang="ko-KR" altLang="en-US" sz="1800" dirty="0"/>
              <a:t>원래 맞던 샘플까지 괜히 건드렸는가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23467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E452-466D-A856-EC3C-64EC35305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</p:spPr>
        <p:txBody>
          <a:bodyPr>
            <a:normAutofit/>
          </a:bodyPr>
          <a:lstStyle/>
          <a:p>
            <a:r>
              <a:rPr lang="en-KR" sz="280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C3724-4BCD-C07C-4904-A262CDB7C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4999"/>
            <a:ext cx="12192000" cy="3048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946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8F14-8421-8A1A-D5EC-22A959DB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-&gt; Timeline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10088E-0295-9C34-74F8-E78D8FEF5D12}"/>
              </a:ext>
            </a:extLst>
          </p:cNvPr>
          <p:cNvCxnSpPr/>
          <p:nvPr/>
        </p:nvCxnSpPr>
        <p:spPr>
          <a:xfrm>
            <a:off x="1383737" y="1917813"/>
            <a:ext cx="85209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E6E862-D57E-07BF-CA86-616C726A94A2}"/>
              </a:ext>
            </a:extLst>
          </p:cNvPr>
          <p:cNvCxnSpPr>
            <a:cxnSpLocks/>
          </p:cNvCxnSpPr>
          <p:nvPr/>
        </p:nvCxnSpPr>
        <p:spPr>
          <a:xfrm>
            <a:off x="1383737" y="4039956"/>
            <a:ext cx="84529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BF6E0C0C-5A3C-FC80-FFAF-73DD551464B7}"/>
              </a:ext>
            </a:extLst>
          </p:cNvPr>
          <p:cNvSpPr/>
          <p:nvPr/>
        </p:nvSpPr>
        <p:spPr>
          <a:xfrm>
            <a:off x="9124737" y="1916465"/>
            <a:ext cx="1543643" cy="2183493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99F536A9-61FD-7CEB-D697-47992E5A8057}"/>
              </a:ext>
            </a:extLst>
          </p:cNvPr>
          <p:cNvSpPr/>
          <p:nvPr/>
        </p:nvSpPr>
        <p:spPr>
          <a:xfrm flipV="1">
            <a:off x="9015361" y="1856461"/>
            <a:ext cx="1653019" cy="2183494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33DBCE-8C58-9351-E536-837E14A898D0}"/>
              </a:ext>
            </a:extLst>
          </p:cNvPr>
          <p:cNvSpPr txBox="1"/>
          <p:nvPr/>
        </p:nvSpPr>
        <p:spPr>
          <a:xfrm>
            <a:off x="1446687" y="2154992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3-4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34071-9403-9AC8-6862-8395907DD802}"/>
              </a:ext>
            </a:extLst>
          </p:cNvPr>
          <p:cNvSpPr txBox="1"/>
          <p:nvPr/>
        </p:nvSpPr>
        <p:spPr>
          <a:xfrm>
            <a:off x="3441537" y="2154914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5-7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1E2673-9873-2325-8EEA-8697C5EBED34}"/>
              </a:ext>
            </a:extLst>
          </p:cNvPr>
          <p:cNvSpPr txBox="1"/>
          <p:nvPr/>
        </p:nvSpPr>
        <p:spPr>
          <a:xfrm>
            <a:off x="5676602" y="2154992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7-9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1E6D6-CD1E-54BC-2F39-32A3BEAF2114}"/>
              </a:ext>
            </a:extLst>
          </p:cNvPr>
          <p:cNvSpPr txBox="1"/>
          <p:nvPr/>
        </p:nvSpPr>
        <p:spPr>
          <a:xfrm>
            <a:off x="2374912" y="4209683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16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230701-A91B-C8FC-F9EB-BE010086DCD6}"/>
              </a:ext>
            </a:extLst>
          </p:cNvPr>
          <p:cNvSpPr txBox="1"/>
          <p:nvPr/>
        </p:nvSpPr>
        <p:spPr>
          <a:xfrm>
            <a:off x="4853565" y="4200779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0DF6E8-DF31-9692-7CDA-E773D43B7856}"/>
              </a:ext>
            </a:extLst>
          </p:cNvPr>
          <p:cNvSpPr txBox="1"/>
          <p:nvPr/>
        </p:nvSpPr>
        <p:spPr>
          <a:xfrm>
            <a:off x="2091181" y="4579015"/>
            <a:ext cx="1487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Final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Presentation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6A1E52-4E4A-E243-A713-AA5BC6B309CA}"/>
              </a:ext>
            </a:extLst>
          </p:cNvPr>
          <p:cNvSpPr txBox="1"/>
          <p:nvPr/>
        </p:nvSpPr>
        <p:spPr>
          <a:xfrm>
            <a:off x="4342334" y="4561010"/>
            <a:ext cx="2378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Ablation Experiments</a:t>
            </a:r>
            <a:endParaRPr lang="en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 quantitative results</a:t>
            </a:r>
            <a:endParaRPr lang="en-KR" sz="14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63949-B13E-DB7A-1837-9542C3710BC5}"/>
              </a:ext>
            </a:extLst>
          </p:cNvPr>
          <p:cNvSpPr txBox="1"/>
          <p:nvPr/>
        </p:nvSpPr>
        <p:spPr>
          <a:xfrm>
            <a:off x="7338917" y="422055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13-14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7EF5A-5EBC-5C2B-F8C3-647B0494F8C3}"/>
              </a:ext>
            </a:extLst>
          </p:cNvPr>
          <p:cNvSpPr txBox="1"/>
          <p:nvPr/>
        </p:nvSpPr>
        <p:spPr>
          <a:xfrm>
            <a:off x="7926230" y="2538323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Hypothesis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A76FE-4B06-CFE9-33B0-BEA6CF61D868}"/>
              </a:ext>
            </a:extLst>
          </p:cNvPr>
          <p:cNvSpPr txBox="1"/>
          <p:nvPr/>
        </p:nvSpPr>
        <p:spPr>
          <a:xfrm>
            <a:off x="1232685" y="2548444"/>
            <a:ext cx="16930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4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Related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Change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Make IPA/G2P</a:t>
            </a:r>
            <a:endParaRPr lang="en-KR" sz="1400" b="1" dirty="0">
              <a:solidFill>
                <a:schemeClr val="accent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560C3E-90F2-6735-05EC-785352F9F1E2}"/>
              </a:ext>
            </a:extLst>
          </p:cNvPr>
          <p:cNvSpPr txBox="1"/>
          <p:nvPr/>
        </p:nvSpPr>
        <p:spPr>
          <a:xfrm>
            <a:off x="7839566" y="2154914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Week 10-12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94C20-222D-A772-B68B-7D0C28E71272}"/>
              </a:ext>
            </a:extLst>
          </p:cNvPr>
          <p:cNvSpPr txBox="1"/>
          <p:nvPr/>
        </p:nvSpPr>
        <p:spPr>
          <a:xfrm>
            <a:off x="3455870" y="2538324"/>
            <a:ext cx="1274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Hypothesis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0E5878-39D2-CAD9-EBE0-EC6B17DCA1EF}"/>
              </a:ext>
            </a:extLst>
          </p:cNvPr>
          <p:cNvSpPr txBox="1"/>
          <p:nvPr/>
        </p:nvSpPr>
        <p:spPr>
          <a:xfrm>
            <a:off x="5645751" y="2548444"/>
            <a:ext cx="1242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Hypothesis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802EF-7BBE-5128-39E0-457FC7F3C4B8}"/>
              </a:ext>
            </a:extLst>
          </p:cNvPr>
          <p:cNvSpPr txBox="1"/>
          <p:nvPr/>
        </p:nvSpPr>
        <p:spPr>
          <a:xfrm>
            <a:off x="7054568" y="4552600"/>
            <a:ext cx="1960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New Idea</a:t>
            </a:r>
          </a:p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specifically</a:t>
            </a:r>
            <a:r>
              <a:rPr lang="en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for Korean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5BA15D-9F72-A0A1-A68E-07151827801F}"/>
              </a:ext>
            </a:extLst>
          </p:cNvPr>
          <p:cNvSpPr/>
          <p:nvPr/>
        </p:nvSpPr>
        <p:spPr>
          <a:xfrm>
            <a:off x="1976638" y="1828799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B97D0AC-E116-D24D-3E7C-107F7AAF59BE}"/>
              </a:ext>
            </a:extLst>
          </p:cNvPr>
          <p:cNvSpPr/>
          <p:nvPr/>
        </p:nvSpPr>
        <p:spPr>
          <a:xfrm>
            <a:off x="3948014" y="182646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3FB66D9-00FB-07EB-C512-87D3C8FDE08C}"/>
              </a:ext>
            </a:extLst>
          </p:cNvPr>
          <p:cNvSpPr/>
          <p:nvPr/>
        </p:nvSpPr>
        <p:spPr>
          <a:xfrm>
            <a:off x="6144557" y="182646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16E792F-AF57-84AE-5015-3B9B53611350}"/>
              </a:ext>
            </a:extLst>
          </p:cNvPr>
          <p:cNvSpPr/>
          <p:nvPr/>
        </p:nvSpPr>
        <p:spPr>
          <a:xfrm>
            <a:off x="8451842" y="182646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C657DA5-ABFE-2243-108A-6BC4862BD5B3}"/>
              </a:ext>
            </a:extLst>
          </p:cNvPr>
          <p:cNvSpPr/>
          <p:nvPr/>
        </p:nvSpPr>
        <p:spPr>
          <a:xfrm>
            <a:off x="2791765" y="397201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FF381B2-D290-B361-AA6F-8F964D01A1F0}"/>
              </a:ext>
            </a:extLst>
          </p:cNvPr>
          <p:cNvSpPr/>
          <p:nvPr/>
        </p:nvSpPr>
        <p:spPr>
          <a:xfrm>
            <a:off x="5308341" y="3965219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D3F63C-37E1-4DEE-2076-8A0831E6C58A}"/>
              </a:ext>
            </a:extLst>
          </p:cNvPr>
          <p:cNvSpPr/>
          <p:nvPr/>
        </p:nvSpPr>
        <p:spPr>
          <a:xfrm>
            <a:off x="7944965" y="39636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6696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0585F-5F83-FB15-89EA-19C0AC5D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Q&amp;A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7BD7E-2BB9-1D16-1F07-8A1E7A83E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01667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0964-3456-A634-E532-2B3DE2D2A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2ABEAC-6177-C54D-8EC7-33CCD2E7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Appendix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3158C-B4E8-0AA6-D8AB-020D3CE08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1474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F695-F3AB-F07F-733A-76E0A6CE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* </a:t>
            </a:r>
            <a:r>
              <a:rPr lang="en-US" altLang="ko-KR" dirty="0"/>
              <a:t>Previous </a:t>
            </a:r>
            <a:r>
              <a:rPr lang="en-KR" dirty="0"/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3A2E2-927F-EBBA-8BF1-9D6A1B09296A}"/>
              </a:ext>
            </a:extLst>
          </p:cNvPr>
          <p:cNvSpPr txBox="1"/>
          <p:nvPr/>
        </p:nvSpPr>
        <p:spPr>
          <a:xfrm>
            <a:off x="-1765738" y="20626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A8E9ED43-C1FC-7715-49D9-AB363D6714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69"/>
          <a:stretch>
            <a:fillRect/>
          </a:stretch>
        </p:blipFill>
        <p:spPr>
          <a:xfrm>
            <a:off x="117613" y="778563"/>
            <a:ext cx="12019726" cy="551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63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B1CB-DB45-472E-E50E-FE6DD46F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2B97-B7D0-5E96-B003-1E7FAE49D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* </a:t>
            </a:r>
            <a:r>
              <a:rPr lang="en-US" altLang="ko-KR" dirty="0"/>
              <a:t>Previous </a:t>
            </a:r>
            <a:r>
              <a:rPr lang="en-KR" dirty="0"/>
              <a:t>Analysis </a:t>
            </a:r>
            <a:r>
              <a:rPr lang="en-US" altLang="ko-KR" dirty="0"/>
              <a:t>– </a:t>
            </a:r>
            <a:r>
              <a:rPr lang="en-US" dirty="0"/>
              <a:t>Substitution Error</a:t>
            </a:r>
            <a:endParaRPr lang="en-KR" dirty="0"/>
          </a:p>
        </p:txBody>
      </p:sp>
      <p:pic>
        <p:nvPicPr>
          <p:cNvPr id="5" name="Content Placeholder 4" descr="A screenshot of a crossword puzzle&#10;&#10;AI-generated content may be incorrect.">
            <a:extLst>
              <a:ext uri="{FF2B5EF4-FFF2-40B4-BE49-F238E27FC236}">
                <a16:creationId xmlns:a16="http://schemas.microsoft.com/office/drawing/2014/main" id="{4C182015-D60C-54D9-FE7F-8BC4DAFE3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107" y="825558"/>
            <a:ext cx="7594545" cy="37972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9EE663-D450-8691-1999-89FF355F86E9}"/>
              </a:ext>
            </a:extLst>
          </p:cNvPr>
          <p:cNvSpPr txBox="1"/>
          <p:nvPr/>
        </p:nvSpPr>
        <p:spPr>
          <a:xfrm>
            <a:off x="-1765738" y="20626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A74C1-B650-8892-870D-6E4F6F22DE3D}"/>
              </a:ext>
            </a:extLst>
          </p:cNvPr>
          <p:cNvSpPr txBox="1"/>
          <p:nvPr/>
        </p:nvSpPr>
        <p:spPr>
          <a:xfrm>
            <a:off x="201968" y="4437732"/>
            <a:ext cx="11944925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일본어 </a:t>
            </a:r>
            <a:r>
              <a:rPr lang="en-US" altLang="ko-KR" sz="1200" b="1" dirty="0"/>
              <a:t>(</a:t>
            </a:r>
            <a:r>
              <a:rPr lang="en-US" sz="1200" b="1" dirty="0"/>
              <a:t>Japanese-Yale)</a:t>
            </a:r>
          </a:p>
          <a:p>
            <a:pPr>
              <a:lnSpc>
                <a:spcPct val="150000"/>
              </a:lnSpc>
            </a:pPr>
            <a:r>
              <a:rPr lang="ko-KR" altLang="en-US" sz="1200" i="1" dirty="0"/>
              <a:t>일본어 화자는 모국어의 단순한 음절 구조 때문에 한국어의 종성 비음 구분과 파열음</a:t>
            </a:r>
            <a:r>
              <a:rPr lang="en-US" altLang="ko-KR" sz="1200" i="1" dirty="0"/>
              <a:t>-</a:t>
            </a:r>
            <a:r>
              <a:rPr lang="ko-KR" altLang="en-US" sz="1200" i="1" dirty="0"/>
              <a:t>마찰음 간의 경계를 혼동하는 경향이 있음</a:t>
            </a:r>
            <a:r>
              <a:rPr lang="en-US" altLang="ko-KR" sz="1200" i="1" dirty="0"/>
              <a:t>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ㅇ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ㄴ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종성 변별력 강화 </a:t>
            </a:r>
            <a:r>
              <a:rPr lang="en-US" altLang="ko-KR" sz="1200" b="1" dirty="0"/>
              <a:t>(-26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일본어 비음 </a:t>
            </a:r>
            <a:r>
              <a:rPr lang="en-US" altLang="ko-KR" sz="1200" dirty="0"/>
              <a:t>'</a:t>
            </a:r>
            <a:r>
              <a:rPr lang="ja-JP" altLang="en-US" sz="1200"/>
              <a:t>ん</a:t>
            </a:r>
            <a:r>
              <a:rPr lang="en-US" altLang="ja-JP" sz="1200" dirty="0"/>
              <a:t>'</a:t>
            </a:r>
            <a:r>
              <a:rPr lang="ko-KR" altLang="en-US" sz="1200" dirty="0"/>
              <a:t>의 모호한 조음 위치를 인코더가 한국어 연구개 비음</a:t>
            </a:r>
            <a:r>
              <a:rPr lang="en-US" altLang="ko-KR" sz="1200" dirty="0"/>
              <a:t>(</a:t>
            </a:r>
            <a:r>
              <a:rPr lang="ko-KR" altLang="en-US" sz="1200" dirty="0" err="1"/>
              <a:t>ㅇ</a:t>
            </a:r>
            <a:r>
              <a:rPr lang="en-US" altLang="ko-KR" sz="1200" dirty="0"/>
              <a:t>)</a:t>
            </a:r>
            <a:r>
              <a:rPr lang="ko-KR" altLang="en-US" sz="1200" dirty="0" err="1"/>
              <a:t>으로</a:t>
            </a:r>
            <a:r>
              <a:rPr lang="ko-KR" altLang="en-US" sz="1200" dirty="0"/>
              <a:t> 더 정확하게 정렬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ㅎ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ㅇ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비음화 오류 교정 </a:t>
            </a:r>
            <a:r>
              <a:rPr lang="en-US" altLang="ko-KR" sz="1200" b="1" dirty="0"/>
              <a:t>(-22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일본어 </a:t>
            </a:r>
            <a:r>
              <a:rPr lang="en-US" altLang="ko-KR" sz="1200" dirty="0"/>
              <a:t>'h'</a:t>
            </a:r>
            <a:r>
              <a:rPr lang="ko-KR" altLang="en-US" sz="1200" dirty="0"/>
              <a:t>음과 한국어 </a:t>
            </a:r>
            <a:r>
              <a:rPr lang="en-US" altLang="ko-KR" sz="1200" dirty="0"/>
              <a:t>'</a:t>
            </a:r>
            <a:r>
              <a:rPr lang="ko-KR" altLang="en-US" sz="1200" dirty="0" err="1"/>
              <a:t>ㅎ</a:t>
            </a:r>
            <a:r>
              <a:rPr lang="en-US" altLang="ko-KR" sz="1200" dirty="0"/>
              <a:t>'</a:t>
            </a:r>
            <a:r>
              <a:rPr lang="ko-KR" altLang="en-US" sz="1200" dirty="0"/>
              <a:t>의 조음 방식 차이로 인해 마찰 신호가 비음처럼 처리되던 현상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ㅇ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ㅁ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양순 비음 구분 향상 </a:t>
            </a:r>
            <a:r>
              <a:rPr lang="en-US" altLang="ko-KR" sz="1200" b="1" dirty="0"/>
              <a:t>(-16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 err="1"/>
              <a:t>개음절</a:t>
            </a:r>
            <a:r>
              <a:rPr lang="ko-KR" altLang="en-US" sz="1200" dirty="0"/>
              <a:t> 위주의 일본어 화자가 종성에서 입술을 닫는 </a:t>
            </a:r>
            <a:r>
              <a:rPr lang="ko-KR" altLang="en-US" sz="1200" dirty="0" err="1"/>
              <a:t>ㅁ과</a:t>
            </a:r>
            <a:r>
              <a:rPr lang="ko-KR" altLang="en-US" sz="1200" dirty="0"/>
              <a:t> 연구개 비음 </a:t>
            </a:r>
            <a:r>
              <a:rPr lang="ko-KR" altLang="en-US" sz="1200" dirty="0" err="1"/>
              <a:t>ㅇ</a:t>
            </a:r>
            <a:r>
              <a:rPr lang="ko-KR" altLang="en-US" sz="1200" dirty="0"/>
              <a:t> 사이의 미세한 음향적 차이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ㅎ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ㄱ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초성 인식 정밀도 향상 </a:t>
            </a:r>
            <a:r>
              <a:rPr lang="en-US" altLang="ko-KR" sz="1200" b="1" dirty="0"/>
              <a:t>(-13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</a:t>
            </a:r>
            <a:r>
              <a:rPr lang="en-US" altLang="ko-KR" sz="1200" dirty="0"/>
              <a:t> </a:t>
            </a:r>
            <a:r>
              <a:rPr lang="ko-KR" altLang="en-US" sz="1200" dirty="0"/>
              <a:t>무성 파열음 </a:t>
            </a:r>
            <a:r>
              <a:rPr lang="ko-KR" altLang="en-US" sz="1200" dirty="0" err="1"/>
              <a:t>ㄱ을</a:t>
            </a:r>
            <a:r>
              <a:rPr lang="ko-KR" altLang="en-US" sz="1200" dirty="0"/>
              <a:t> 마찰음 </a:t>
            </a:r>
            <a:r>
              <a:rPr lang="ko-KR" altLang="en-US" sz="1200" dirty="0" err="1"/>
              <a:t>ㅎ으로</a:t>
            </a:r>
            <a:r>
              <a:rPr lang="ko-KR" altLang="en-US" sz="1200" dirty="0"/>
              <a:t> 약화</a:t>
            </a:r>
            <a:r>
              <a:rPr lang="en-US" altLang="ko-KR" sz="1200" dirty="0"/>
              <a:t>(Lenition)</a:t>
            </a:r>
            <a:r>
              <a:rPr lang="ko-KR" altLang="en-US" sz="1200" dirty="0"/>
              <a:t>시키는 일본어 화자 특유의 발화 습관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[</a:t>
            </a:r>
            <a:r>
              <a:rPr lang="ko-KR" altLang="en-US" sz="1200" b="1" dirty="0" err="1">
                <a:solidFill>
                  <a:schemeClr val="bg1">
                    <a:lumMod val="75000"/>
                  </a:schemeClr>
                </a:solidFill>
              </a:rPr>
              <a:t>ㅇ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] → [</a:t>
            </a:r>
            <a:r>
              <a:rPr lang="ko-KR" altLang="en-US" sz="1200" b="1" dirty="0" err="1">
                <a:solidFill>
                  <a:schemeClr val="bg1">
                    <a:lumMod val="75000"/>
                  </a:schemeClr>
                </a:solidFill>
              </a:rPr>
              <a:t>ㅎ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]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종성 인식 안정화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(-11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건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):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 불분명한 종성 비음 처리를 문맥에 의존하지 않고 인코더가 표준 음소 카테고리로 강제 정렬하며 안정성을 확보</a:t>
            </a:r>
            <a:endParaRPr lang="en-US" altLang="ko-KR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Picture 3" descr="A grid of blue and orange squares&#10;&#10;AI-generated content may be incorrect.">
            <a:extLst>
              <a:ext uri="{FF2B5EF4-FFF2-40B4-BE49-F238E27FC236}">
                <a16:creationId xmlns:a16="http://schemas.microsoft.com/office/drawing/2014/main" id="{297A04CE-9F79-B250-87CF-41FC0E9265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157" b="6304"/>
          <a:stretch>
            <a:fillRect/>
          </a:stretch>
        </p:blipFill>
        <p:spPr>
          <a:xfrm>
            <a:off x="7818554" y="563055"/>
            <a:ext cx="3937637" cy="4057148"/>
          </a:xfrm>
          <a:prstGeom prst="rect">
            <a:avLst/>
          </a:prstGeom>
        </p:spPr>
      </p:pic>
      <p:pic>
        <p:nvPicPr>
          <p:cNvPr id="12" name="Picture 11" descr="A grid of blue and orange squares&#10;&#10;AI-generated content may be incorrect.">
            <a:extLst>
              <a:ext uri="{FF2B5EF4-FFF2-40B4-BE49-F238E27FC236}">
                <a16:creationId xmlns:a16="http://schemas.microsoft.com/office/drawing/2014/main" id="{9AA61D2C-5AC0-4B34-67D9-D644FEFF1C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264"/>
          <a:stretch>
            <a:fillRect/>
          </a:stretch>
        </p:blipFill>
        <p:spPr>
          <a:xfrm>
            <a:off x="11736312" y="1142837"/>
            <a:ext cx="590221" cy="317403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E563D-A2BF-BDB8-D95C-DAE5D4BBCC93}"/>
              </a:ext>
            </a:extLst>
          </p:cNvPr>
          <p:cNvCxnSpPr/>
          <p:nvPr/>
        </p:nvCxnSpPr>
        <p:spPr>
          <a:xfrm>
            <a:off x="7722704" y="914400"/>
            <a:ext cx="0" cy="359796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373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F0EE-5340-2C15-67F8-D6F6640B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6320-D31F-6C2D-E783-A9650EB2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* </a:t>
            </a:r>
            <a:r>
              <a:rPr lang="en-US" altLang="ko-KR" dirty="0"/>
              <a:t>Previous </a:t>
            </a:r>
            <a:r>
              <a:rPr lang="en-KR" dirty="0"/>
              <a:t>Analysis </a:t>
            </a:r>
            <a:r>
              <a:rPr lang="en-US" altLang="ko-KR" dirty="0"/>
              <a:t>– </a:t>
            </a:r>
            <a:r>
              <a:rPr lang="en-US" dirty="0"/>
              <a:t>Substitution Error</a:t>
            </a:r>
            <a:endParaRPr lang="en-KR" dirty="0"/>
          </a:p>
        </p:txBody>
      </p:sp>
      <p:pic>
        <p:nvPicPr>
          <p:cNvPr id="5" name="Content Placeholder 4" descr="A screenshot of a crossword puzzle&#10;&#10;AI-generated content may be incorrect.">
            <a:extLst>
              <a:ext uri="{FF2B5EF4-FFF2-40B4-BE49-F238E27FC236}">
                <a16:creationId xmlns:a16="http://schemas.microsoft.com/office/drawing/2014/main" id="{717A8BE0-BAA0-F6A6-84DC-86492CE31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289" y="1029453"/>
            <a:ext cx="6684579" cy="334229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D636-9D1A-E15C-5E98-8D502F07E075}"/>
              </a:ext>
            </a:extLst>
          </p:cNvPr>
          <p:cNvSpPr txBox="1"/>
          <p:nvPr/>
        </p:nvSpPr>
        <p:spPr>
          <a:xfrm>
            <a:off x="152402" y="4446838"/>
            <a:ext cx="11887196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중국어 </a:t>
            </a:r>
            <a:r>
              <a:rPr lang="en-US" altLang="ko-KR" sz="1200" b="1" dirty="0"/>
              <a:t>(Chinese-Yale)</a:t>
            </a:r>
          </a:p>
          <a:p>
            <a:pPr>
              <a:lnSpc>
                <a:spcPct val="150000"/>
              </a:lnSpc>
            </a:pPr>
            <a:r>
              <a:rPr lang="ko-KR" altLang="en-US" sz="1200" i="1" dirty="0"/>
              <a:t>중국어 화자는 한국어의 </a:t>
            </a:r>
            <a:r>
              <a:rPr lang="en-US" altLang="ko-KR" sz="1200" i="1" dirty="0"/>
              <a:t>'</a:t>
            </a:r>
            <a:r>
              <a:rPr lang="ko-KR" altLang="en-US" sz="1200" i="1" dirty="0" err="1"/>
              <a:t>ㅜ</a:t>
            </a:r>
            <a:r>
              <a:rPr lang="en-US" altLang="ko-KR" sz="1200" i="1" dirty="0"/>
              <a:t>/</a:t>
            </a:r>
            <a:r>
              <a:rPr lang="ko-KR" altLang="en-US" sz="1200" i="1" dirty="0" err="1"/>
              <a:t>ㅗ</a:t>
            </a:r>
            <a:r>
              <a:rPr lang="en-US" altLang="ko-KR" sz="1200" i="1" dirty="0"/>
              <a:t>' </a:t>
            </a:r>
            <a:r>
              <a:rPr lang="ko-KR" altLang="en-US" sz="1200" i="1" dirty="0"/>
              <a:t>모음 체계와 입술을 닫는 </a:t>
            </a:r>
            <a:r>
              <a:rPr lang="en-US" altLang="ko-KR" sz="1200" i="1" dirty="0"/>
              <a:t>'</a:t>
            </a:r>
            <a:r>
              <a:rPr lang="ko-KR" altLang="en-US" sz="1200" i="1" dirty="0" err="1"/>
              <a:t>ㅁ</a:t>
            </a:r>
            <a:r>
              <a:rPr lang="en-US" altLang="ko-KR" sz="1200" i="1" dirty="0"/>
              <a:t>' </a:t>
            </a:r>
            <a:r>
              <a:rPr lang="ko-KR" altLang="en-US" sz="1200" i="1" dirty="0"/>
              <a:t>받침 구분에 큰 어려움을 겪음</a:t>
            </a:r>
            <a:r>
              <a:rPr lang="en-US" altLang="ko-KR" sz="1200" i="1" dirty="0"/>
              <a:t>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ㅜ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ㅗ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원순 모음 오인식 해결 </a:t>
            </a:r>
            <a:r>
              <a:rPr lang="en-US" altLang="ko-KR" sz="1200" b="1" dirty="0"/>
              <a:t>(-29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입술 오므림이 부족한 중국어식 </a:t>
            </a:r>
            <a:r>
              <a:rPr lang="en-US" altLang="ko-KR" sz="1200" dirty="0"/>
              <a:t>u </a:t>
            </a:r>
            <a:r>
              <a:rPr lang="ko-KR" altLang="en-US" sz="1200" dirty="0"/>
              <a:t>발음을 인코더가 표준 한국어 </a:t>
            </a:r>
            <a:r>
              <a:rPr lang="ko-KR" altLang="en-US" sz="1200" dirty="0" err="1"/>
              <a:t>ㅜ</a:t>
            </a:r>
            <a:r>
              <a:rPr lang="ko-KR" altLang="en-US" sz="1200" dirty="0"/>
              <a:t> 범주의 </a:t>
            </a:r>
            <a:r>
              <a:rPr lang="ko-KR" altLang="en-US" sz="1200" dirty="0" err="1"/>
              <a:t>포먼트</a:t>
            </a:r>
            <a:r>
              <a:rPr lang="en-US" altLang="ko-KR" sz="1200" dirty="0"/>
              <a:t>(Formant) </a:t>
            </a:r>
            <a:r>
              <a:rPr lang="ko-KR" altLang="en-US" sz="1200" dirty="0"/>
              <a:t>특징으로 정확히 분류해낸 결과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ㅁ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ㅇ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양순 비음 복원 </a:t>
            </a:r>
            <a:r>
              <a:rPr lang="en-US" altLang="ko-KR" sz="1200" b="1" dirty="0"/>
              <a:t>(-19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종성에 양순 비음</a:t>
            </a:r>
            <a:r>
              <a:rPr lang="en-US" altLang="ko-KR" sz="1200" dirty="0"/>
              <a:t>(</a:t>
            </a:r>
            <a:r>
              <a:rPr lang="ko-KR" altLang="en-US" sz="1200" dirty="0" err="1"/>
              <a:t>ㅁ</a:t>
            </a:r>
            <a:r>
              <a:rPr lang="en-US" altLang="ko-KR" sz="1200" dirty="0"/>
              <a:t>)</a:t>
            </a:r>
            <a:r>
              <a:rPr lang="ko-KR" altLang="en-US" sz="1200" dirty="0"/>
              <a:t>이 없는 중국어 보통화의 간섭으로 모든 받침을 익숙한 </a:t>
            </a:r>
            <a:r>
              <a:rPr lang="ko-KR" altLang="en-US" sz="1200" dirty="0" err="1"/>
              <a:t>ㅇ으로</a:t>
            </a:r>
            <a:r>
              <a:rPr lang="ko-KR" altLang="en-US" sz="1200" dirty="0"/>
              <a:t> 치환하던 오류를 인코더가 조음 위치 파악을 통해 해결</a:t>
            </a:r>
            <a:r>
              <a:rPr lang="en-US" altLang="ko-KR" sz="1200" dirty="0"/>
              <a:t> 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ㅎ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ㅇ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마찰음 비음화 억제 </a:t>
            </a:r>
            <a:r>
              <a:rPr lang="en-US" altLang="ko-KR" sz="1200" b="1" dirty="0"/>
              <a:t>(-17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중국어식 강한 연구개 마찰음이 한국어 비음으로 잘못 </a:t>
            </a:r>
            <a:r>
              <a:rPr lang="ko-KR" altLang="en-US" sz="1200" dirty="0" err="1"/>
              <a:t>매핑되는</a:t>
            </a:r>
            <a:r>
              <a:rPr lang="ko-KR" altLang="en-US" sz="1200" dirty="0"/>
              <a:t> 현상을 </a:t>
            </a:r>
            <a:r>
              <a:rPr lang="en-US" altLang="ko-KR" sz="1200" dirty="0"/>
              <a:t>CTC </a:t>
            </a:r>
            <a:r>
              <a:rPr lang="ko-KR" altLang="en-US" sz="1200" dirty="0"/>
              <a:t>기반 음소 지도가 억제하고 정답 음소로 유도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ㅓ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ㅗ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모음 높이 변별력 확보 </a:t>
            </a:r>
            <a:r>
              <a:rPr lang="en-US" altLang="ko-KR" sz="1200" b="1" dirty="0"/>
              <a:t>(-17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중국어 체계에 없는 한국어 중모음 </a:t>
            </a:r>
            <a:r>
              <a:rPr lang="ko-KR" altLang="en-US" sz="1200" dirty="0" err="1"/>
              <a:t>ㅓ의</a:t>
            </a:r>
            <a:r>
              <a:rPr lang="ko-KR" altLang="en-US" sz="1200" dirty="0"/>
              <a:t> 혀 높이를 인코더가 음향적으로 세분화하여 </a:t>
            </a:r>
            <a:r>
              <a:rPr lang="ko-KR" altLang="en-US" sz="1200" dirty="0" err="1"/>
              <a:t>ㅗ와의</a:t>
            </a:r>
            <a:r>
              <a:rPr lang="ko-KR" altLang="en-US" sz="1200" dirty="0"/>
              <a:t> 혼동을 줄임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ㄴ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ㅇ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종성 조음 위치 교정 </a:t>
            </a:r>
            <a:r>
              <a:rPr lang="en-US" altLang="ko-KR" sz="1200" b="1" dirty="0"/>
              <a:t>(-11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중국어의 </a:t>
            </a:r>
            <a:r>
              <a:rPr lang="en-US" altLang="ko-KR" sz="1200" dirty="0"/>
              <a:t>n</a:t>
            </a:r>
            <a:r>
              <a:rPr lang="ko-KR" altLang="en-US" sz="1200" dirty="0"/>
              <a:t>과 </a:t>
            </a:r>
            <a:r>
              <a:rPr lang="en-US" altLang="ko-KR" sz="1200" dirty="0"/>
              <a:t>ng </a:t>
            </a:r>
            <a:r>
              <a:rPr lang="ko-KR" altLang="en-US" sz="1200" dirty="0"/>
              <a:t>종성 발화 시 발생하는 조음 미숙을 인코더가 </a:t>
            </a:r>
            <a:r>
              <a:rPr lang="ko-KR" altLang="en-US" sz="1200" dirty="0" err="1"/>
              <a:t>치경</a:t>
            </a:r>
            <a:r>
              <a:rPr lang="ko-KR" altLang="en-US" sz="1200" dirty="0"/>
              <a:t> 비음과 연구개 비음의 특징을 날카롭게 대조하며 교정</a:t>
            </a:r>
            <a:endParaRPr lang="en-US" altLang="ko-KR" sz="1200" dirty="0"/>
          </a:p>
        </p:txBody>
      </p:sp>
      <p:pic>
        <p:nvPicPr>
          <p:cNvPr id="13" name="Picture 12" descr="A grid of blue and orange squares&#10;&#10;AI-generated content may be incorrect.">
            <a:extLst>
              <a:ext uri="{FF2B5EF4-FFF2-40B4-BE49-F238E27FC236}">
                <a16:creationId xmlns:a16="http://schemas.microsoft.com/office/drawing/2014/main" id="{2026E55B-C614-5502-B4C0-86E45ED1C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030"/>
          <a:stretch>
            <a:fillRect/>
          </a:stretch>
        </p:blipFill>
        <p:spPr>
          <a:xfrm>
            <a:off x="7823353" y="806767"/>
            <a:ext cx="3436078" cy="3772709"/>
          </a:xfrm>
          <a:prstGeom prst="rect">
            <a:avLst/>
          </a:prstGeom>
        </p:spPr>
      </p:pic>
      <p:pic>
        <p:nvPicPr>
          <p:cNvPr id="14" name="Picture 13" descr="A grid of blue and orange squares&#10;&#10;AI-generated content may be incorrect.">
            <a:extLst>
              <a:ext uri="{FF2B5EF4-FFF2-40B4-BE49-F238E27FC236}">
                <a16:creationId xmlns:a16="http://schemas.microsoft.com/office/drawing/2014/main" id="{239B2373-42AC-828B-ACC9-6E125D12C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374"/>
          <a:stretch>
            <a:fillRect/>
          </a:stretch>
        </p:blipFill>
        <p:spPr>
          <a:xfrm>
            <a:off x="11259431" y="1029453"/>
            <a:ext cx="654555" cy="33422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0E7BF0-38E8-2916-2CB7-F6B45E6C0BF7}"/>
              </a:ext>
            </a:extLst>
          </p:cNvPr>
          <p:cNvCxnSpPr/>
          <p:nvPr/>
        </p:nvCxnSpPr>
        <p:spPr>
          <a:xfrm>
            <a:off x="7494104" y="848873"/>
            <a:ext cx="0" cy="359796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324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8032-79C7-DF87-280F-E9A769D6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1B3C5-C75E-891F-71AB-053D6692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* </a:t>
            </a:r>
            <a:r>
              <a:rPr lang="en-US" altLang="ko-KR" dirty="0"/>
              <a:t>Previous </a:t>
            </a:r>
            <a:r>
              <a:rPr lang="en-KR" dirty="0"/>
              <a:t>Analysis </a:t>
            </a:r>
            <a:r>
              <a:rPr lang="en-US" altLang="ko-KR" dirty="0"/>
              <a:t>– </a:t>
            </a:r>
            <a:r>
              <a:rPr lang="en-US" dirty="0"/>
              <a:t>Substitution Error</a:t>
            </a:r>
            <a:endParaRPr lang="en-KR" dirty="0"/>
          </a:p>
        </p:txBody>
      </p:sp>
      <p:pic>
        <p:nvPicPr>
          <p:cNvPr id="5" name="Content Placeholder 4" descr="A screenshot of a grid&#10;&#10;AI-generated content may be incorrect.">
            <a:extLst>
              <a:ext uri="{FF2B5EF4-FFF2-40B4-BE49-F238E27FC236}">
                <a16:creationId xmlns:a16="http://schemas.microsoft.com/office/drawing/2014/main" id="{ACD70A66-0C66-C488-8AC2-2939245E0D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478" y="1021976"/>
            <a:ext cx="6974032" cy="348701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EB5796-DBE1-E5F4-4D1D-3CBEF9931FFF}"/>
              </a:ext>
            </a:extLst>
          </p:cNvPr>
          <p:cNvSpPr txBox="1"/>
          <p:nvPr/>
        </p:nvSpPr>
        <p:spPr>
          <a:xfrm>
            <a:off x="329658" y="4395674"/>
            <a:ext cx="11416864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/>
              <a:t>베트남어 </a:t>
            </a:r>
            <a:r>
              <a:rPr lang="en-US" altLang="ko-KR" sz="1200" b="1" dirty="0"/>
              <a:t>(Vietnamese-Yale)</a:t>
            </a:r>
          </a:p>
          <a:p>
            <a:pPr>
              <a:lnSpc>
                <a:spcPct val="150000"/>
              </a:lnSpc>
            </a:pPr>
            <a:r>
              <a:rPr lang="ko-KR" altLang="en-US" sz="1200" i="1" dirty="0"/>
              <a:t>베트남어 화자는 한국어 중모음의 혀 높이 구분과 특정 초성</a:t>
            </a:r>
            <a:r>
              <a:rPr lang="en-US" altLang="ko-KR" sz="1200" i="1" dirty="0"/>
              <a:t>/</a:t>
            </a:r>
            <a:r>
              <a:rPr lang="ko-KR" altLang="en-US" sz="1200" i="1" dirty="0"/>
              <a:t>종성의 약화 경향을 보임</a:t>
            </a:r>
            <a:r>
              <a:rPr lang="en-US" altLang="ko-KR" sz="1200" i="1" dirty="0"/>
              <a:t>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ㅓ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ㅗ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모음 해상도 극대화 </a:t>
            </a:r>
            <a:r>
              <a:rPr lang="en-US" altLang="ko-KR" sz="1200" b="1" dirty="0"/>
              <a:t>(-37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복잡한 베트남어 모음 체계 영향으로 모호했던 </a:t>
            </a:r>
            <a:r>
              <a:rPr lang="ko-KR" altLang="en-US" sz="1200" dirty="0" err="1"/>
              <a:t>ㅓ와</a:t>
            </a:r>
            <a:r>
              <a:rPr lang="ko-KR" altLang="en-US" sz="1200" dirty="0"/>
              <a:t> </a:t>
            </a:r>
            <a:r>
              <a:rPr lang="ko-KR" altLang="en-US" sz="1200" dirty="0" err="1"/>
              <a:t>ㅗ</a:t>
            </a:r>
            <a:r>
              <a:rPr lang="ko-KR" altLang="en-US" sz="1200" dirty="0"/>
              <a:t> 사이의 혀 높이 경계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[</a:t>
            </a:r>
            <a:r>
              <a:rPr lang="ko-KR" altLang="en-US" sz="1200" b="1" dirty="0" err="1">
                <a:solidFill>
                  <a:schemeClr val="bg1">
                    <a:lumMod val="75000"/>
                  </a:schemeClr>
                </a:solidFill>
              </a:rPr>
              <a:t>ㄴ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] → [</a:t>
            </a:r>
            <a:r>
              <a:rPr lang="ko-KR" altLang="en-US" sz="1200" b="1" dirty="0" err="1">
                <a:solidFill>
                  <a:schemeClr val="bg1">
                    <a:lumMod val="75000"/>
                  </a:schemeClr>
                </a:solidFill>
              </a:rPr>
              <a:t>ㅇ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]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비음 정렬 정밀화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(-26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건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):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베트남어 화자의 불분명한 종성 비음 발화를 인코더가 표준 정답 음소 타겟으로 강건하게 정렬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(Alignment)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시킨 결과</a:t>
            </a:r>
            <a:endParaRPr lang="en-US" altLang="ko-KR" sz="1200" dirty="0">
              <a:solidFill>
                <a:schemeClr val="bg1">
                  <a:lumMod val="75000"/>
                </a:schemeClr>
              </a:solidFill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ㅎ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ㅇ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초성 탈락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약화 방지 </a:t>
            </a:r>
            <a:r>
              <a:rPr lang="en-US" altLang="ko-KR" sz="1200" b="1" dirty="0"/>
              <a:t>(-22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음절 초 마찰음 </a:t>
            </a:r>
            <a:r>
              <a:rPr lang="ko-KR" altLang="en-US" sz="1200" dirty="0" err="1"/>
              <a:t>ㅎ을</a:t>
            </a:r>
            <a:r>
              <a:rPr lang="ko-KR" altLang="en-US" sz="1200" dirty="0"/>
              <a:t> 약화시키거나 생략하여 </a:t>
            </a:r>
            <a:r>
              <a:rPr lang="ko-KR" altLang="en-US" sz="1200" dirty="0" err="1"/>
              <a:t>비음화하는</a:t>
            </a:r>
            <a:r>
              <a:rPr lang="ko-KR" altLang="en-US" sz="1200" dirty="0"/>
              <a:t> 베트남어 화자의 습관을 인코더가 음소적 정체성을 추적하며 방어</a:t>
            </a:r>
            <a:endParaRPr lang="en-US" altLang="ko-KR" sz="1200" dirty="0"/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[</a:t>
            </a:r>
            <a:r>
              <a:rPr lang="ko-KR" altLang="en-US" sz="1200" b="1" dirty="0" err="1">
                <a:solidFill>
                  <a:schemeClr val="bg1">
                    <a:lumMod val="75000"/>
                  </a:schemeClr>
                </a:solidFill>
              </a:rPr>
              <a:t>ㅁ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] → [</a:t>
            </a:r>
            <a:r>
              <a:rPr lang="ko-KR" altLang="en-US" sz="1200" b="1" dirty="0" err="1">
                <a:solidFill>
                  <a:schemeClr val="bg1">
                    <a:lumMod val="75000"/>
                  </a:schemeClr>
                </a:solidFill>
              </a:rPr>
              <a:t>ㅇ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]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종성 정확도 상승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(-10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</a:rPr>
              <a:t>건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):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폐쇄음 받침이 발달한 베트남어 특성에도 불구하고 나타나던 비음 종성 간의 혼동을 음향적 증거 보강을 통해 해결</a:t>
            </a:r>
            <a:endParaRPr lang="en-US" altLang="ko-KR" sz="1200" dirty="0">
              <a:solidFill>
                <a:schemeClr val="bg1">
                  <a:lumMod val="75000"/>
                </a:schemeClr>
              </a:solidFill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[</a:t>
            </a:r>
            <a:r>
              <a:rPr lang="ko-KR" altLang="en-US" sz="1200" b="1" dirty="0" err="1"/>
              <a:t>ㅐ</a:t>
            </a:r>
            <a:r>
              <a:rPr lang="en-US" altLang="ko-KR" sz="1200" b="1" dirty="0"/>
              <a:t>] → [</a:t>
            </a:r>
            <a:r>
              <a:rPr lang="ko-KR" altLang="en-US" sz="1200" b="1" dirty="0" err="1"/>
              <a:t>ㅔ</a:t>
            </a:r>
            <a:r>
              <a:rPr lang="en-US" altLang="ko-KR" sz="1200" b="1" dirty="0"/>
              <a:t>] </a:t>
            </a:r>
            <a:r>
              <a:rPr lang="ko-KR" altLang="en-US" sz="1200" b="1" dirty="0"/>
              <a:t>미세 모음 변별력 강화 </a:t>
            </a:r>
            <a:r>
              <a:rPr lang="en-US" altLang="ko-KR" sz="1200" b="1" dirty="0"/>
              <a:t>(-10</a:t>
            </a:r>
            <a:r>
              <a:rPr lang="ko-KR" altLang="en-US" sz="1200" b="1" dirty="0"/>
              <a:t>건</a:t>
            </a:r>
            <a:r>
              <a:rPr lang="en-US" altLang="ko-KR" sz="1200" b="1" dirty="0"/>
              <a:t>): </a:t>
            </a:r>
            <a:r>
              <a:rPr lang="ko-KR" altLang="en-US" sz="1200" dirty="0"/>
              <a:t>베트남어의 유사 모음 간섭을 이겨내고</a:t>
            </a:r>
            <a:r>
              <a:rPr lang="en-US" altLang="ko-KR" sz="1200" dirty="0"/>
              <a:t>, </a:t>
            </a:r>
            <a:r>
              <a:rPr lang="ko-KR" altLang="en-US" sz="1200" dirty="0"/>
              <a:t>미세한 입 벌림 크기 차이로 결정되는 한국어 단모음들을 인코더가 정밀하게 분석</a:t>
            </a:r>
            <a:endParaRPr lang="en-US" altLang="ko-KR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2E420E-4AA6-A761-115B-2265143C9046}"/>
              </a:ext>
            </a:extLst>
          </p:cNvPr>
          <p:cNvSpPr/>
          <p:nvPr/>
        </p:nvSpPr>
        <p:spPr>
          <a:xfrm>
            <a:off x="3491533" y="3673784"/>
            <a:ext cx="227871" cy="227018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C2099D-218D-EC98-3FA1-DED5D7D1FCC7}"/>
              </a:ext>
            </a:extLst>
          </p:cNvPr>
          <p:cNvSpPr/>
          <p:nvPr/>
        </p:nvSpPr>
        <p:spPr>
          <a:xfrm>
            <a:off x="6929613" y="3673784"/>
            <a:ext cx="227871" cy="227018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2DD0FF-79F7-A874-87F2-670DDFABA6C4}"/>
              </a:ext>
            </a:extLst>
          </p:cNvPr>
          <p:cNvSpPr/>
          <p:nvPr/>
        </p:nvSpPr>
        <p:spPr>
          <a:xfrm>
            <a:off x="2128793" y="1859161"/>
            <a:ext cx="227871" cy="227018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577D8A-C1E2-1B6C-7F19-30AE2202CB73}"/>
              </a:ext>
            </a:extLst>
          </p:cNvPr>
          <p:cNvSpPr/>
          <p:nvPr/>
        </p:nvSpPr>
        <p:spPr>
          <a:xfrm>
            <a:off x="5560047" y="1859161"/>
            <a:ext cx="227871" cy="227018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pic>
        <p:nvPicPr>
          <p:cNvPr id="12" name="Picture 11" descr="A grid of squares with numbers&#10;&#10;AI-generated content may be incorrect.">
            <a:extLst>
              <a:ext uri="{FF2B5EF4-FFF2-40B4-BE49-F238E27FC236}">
                <a16:creationId xmlns:a16="http://schemas.microsoft.com/office/drawing/2014/main" id="{AF75B28B-39FC-72DD-2B1F-9849A8926A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539"/>
          <a:stretch>
            <a:fillRect/>
          </a:stretch>
        </p:blipFill>
        <p:spPr>
          <a:xfrm>
            <a:off x="7776269" y="798066"/>
            <a:ext cx="3648976" cy="3934837"/>
          </a:xfrm>
          <a:prstGeom prst="rect">
            <a:avLst/>
          </a:prstGeom>
        </p:spPr>
      </p:pic>
      <p:pic>
        <p:nvPicPr>
          <p:cNvPr id="13" name="Picture 12" descr="A grid of squares with numbers&#10;&#10;AI-generated content may be incorrect.">
            <a:extLst>
              <a:ext uri="{FF2B5EF4-FFF2-40B4-BE49-F238E27FC236}">
                <a16:creationId xmlns:a16="http://schemas.microsoft.com/office/drawing/2014/main" id="{68E9B860-45B2-E354-33AD-003A8BF8F4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462"/>
          <a:stretch>
            <a:fillRect/>
          </a:stretch>
        </p:blipFill>
        <p:spPr>
          <a:xfrm>
            <a:off x="11326204" y="1142568"/>
            <a:ext cx="597790" cy="3253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7F4F87-AAF7-ABF3-E2D3-3558728A9EDB}"/>
              </a:ext>
            </a:extLst>
          </p:cNvPr>
          <p:cNvCxnSpPr/>
          <p:nvPr/>
        </p:nvCxnSpPr>
        <p:spPr>
          <a:xfrm>
            <a:off x="7593496" y="911028"/>
            <a:ext cx="0" cy="359796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27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2553-56D8-D767-A301-60401F91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802A-16F9-F429-76CD-57929266E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* 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Previous </a:t>
            </a:r>
            <a:r>
              <a:rPr lang="en-KR" dirty="0">
                <a:solidFill>
                  <a:schemeClr val="bg1">
                    <a:lumMod val="75000"/>
                  </a:schemeClr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0E8A6-E8DD-90F7-5B87-2FAE7864F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bg1">
                    <a:lumMod val="75000"/>
                  </a:schemeClr>
                </a:solidFill>
              </a:rPr>
              <a:t>Timestamp </a:t>
            </a:r>
            <a:r>
              <a:rPr lang="ko-KR" altLang="en-US" sz="1800" b="1" dirty="0">
                <a:solidFill>
                  <a:schemeClr val="bg1">
                    <a:lumMod val="75000"/>
                  </a:schemeClr>
                </a:solidFill>
              </a:rPr>
              <a:t>기반의 피크 정렬 분석 </a:t>
            </a:r>
            <a:r>
              <a:rPr lang="en-US" altLang="ko-KR" sz="1800" b="1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US" sz="1800" b="1" dirty="0">
                <a:solidFill>
                  <a:schemeClr val="bg1">
                    <a:lumMod val="75000"/>
                  </a:schemeClr>
                </a:solidFill>
              </a:rPr>
              <a:t>Forced Alignment)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CTC Head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가 단순히 자모를 뱉는 게 아니라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</a:rPr>
              <a:t>정확한 타이밍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에 반응하는지 확인</a:t>
            </a:r>
            <a:endParaRPr lang="en-US" altLang="ko-KR" sz="1600" dirty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</a:pPr>
            <a:r>
              <a:rPr lang="en-KR" sz="1600" dirty="0">
                <a:solidFill>
                  <a:schemeClr val="bg1">
                    <a:lumMod val="75000"/>
                  </a:schemeClr>
                </a:solidFill>
              </a:rPr>
              <a:t>결과</a:t>
            </a:r>
          </a:p>
          <a:p>
            <a:pPr lvl="2">
              <a:lnSpc>
                <a:spcPct val="100000"/>
              </a:lnSpc>
            </a:pPr>
            <a:r>
              <a:rPr lang="ko-KR" altLang="en-US" sz="1400" b="1" dirty="0">
                <a:solidFill>
                  <a:schemeClr val="bg1">
                    <a:lumMod val="75000"/>
                  </a:schemeClr>
                </a:solidFill>
              </a:rPr>
              <a:t>학습 전</a:t>
            </a:r>
            <a:r>
              <a:rPr lang="en-US" altLang="ko-KR" sz="14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ko-KR" altLang="en-US" sz="1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정답 자모의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</a:rPr>
              <a:t>확률값이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 여러 토큰에 분산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Confusion)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되어 나타남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</a:endParaRPr>
          </a:p>
          <a:p>
            <a:pPr lvl="2">
              <a:lnSpc>
                <a:spcPct val="100000"/>
              </a:lnSpc>
            </a:pPr>
            <a:r>
              <a:rPr lang="ko-KR" altLang="en-US" sz="1400" b="1" dirty="0">
                <a:solidFill>
                  <a:schemeClr val="bg1">
                    <a:lumMod val="75000"/>
                  </a:schemeClr>
                </a:solidFill>
              </a:rPr>
              <a:t>학습 후</a:t>
            </a:r>
            <a:r>
              <a:rPr lang="en-US" altLang="ko-KR" sz="14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ko-KR" altLang="en-US" sz="1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오디오 신호가 불완전함에도 불구하고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인코더가 이를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‘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표준 자모 범주로 강제 매핑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Alignment)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’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하여 정답 위치에서만 확률 피크를 세움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</a:endParaRPr>
          </a:p>
          <a:p>
            <a:pPr lvl="2">
              <a:lnSpc>
                <a:spcPct val="100000"/>
              </a:lnSpc>
            </a:pPr>
            <a:r>
              <a:rPr lang="ko-KR" altLang="en-US" sz="1400" u="sng" dirty="0">
                <a:solidFill>
                  <a:schemeClr val="bg1">
                    <a:lumMod val="75000"/>
                  </a:schemeClr>
                </a:solidFill>
              </a:rPr>
              <a:t>인코더 레벨에서 음향적 해석</a:t>
            </a:r>
            <a:r>
              <a:rPr lang="en-US" altLang="ko-KR" sz="1400" u="sng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en-US" sz="1400" u="sng" dirty="0">
                <a:solidFill>
                  <a:schemeClr val="bg1">
                    <a:lumMod val="75000"/>
                  </a:schemeClr>
                </a:solidFill>
              </a:rPr>
              <a:t>Acoustic Interpretation)</a:t>
            </a:r>
            <a:r>
              <a:rPr lang="ko-KR" altLang="en-US" sz="1400" u="sng" dirty="0">
                <a:solidFill>
                  <a:schemeClr val="bg1">
                    <a:lumMod val="75000"/>
                  </a:schemeClr>
                </a:solidFill>
              </a:rPr>
              <a:t>을 변경했음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을 의미</a:t>
            </a:r>
            <a:endParaRPr lang="en-KR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D2613-34FB-7868-0364-987807B450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200" b="45826"/>
          <a:stretch>
            <a:fillRect/>
          </a:stretch>
        </p:blipFill>
        <p:spPr>
          <a:xfrm>
            <a:off x="152400" y="3999103"/>
            <a:ext cx="5943600" cy="1783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9EE545-6E54-9A11-0777-3FE7EE37A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027"/>
          <a:stretch>
            <a:fillRect/>
          </a:stretch>
        </p:blipFill>
        <p:spPr>
          <a:xfrm>
            <a:off x="6096000" y="3883492"/>
            <a:ext cx="5943600" cy="17831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779BE0-7749-F439-71EB-CE21E8AC6672}"/>
              </a:ext>
            </a:extLst>
          </p:cNvPr>
          <p:cNvSpPr txBox="1"/>
          <p:nvPr/>
        </p:nvSpPr>
        <p:spPr>
          <a:xfrm>
            <a:off x="2830279" y="5675851"/>
            <a:ext cx="5365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/>
              <a:t>3908,</a:t>
            </a:r>
            <a:r>
              <a:rPr lang="ko-KR" altLang="en-US" sz="1400" b="1" i="1" dirty="0">
                <a:solidFill>
                  <a:srgbClr val="00B050"/>
                </a:solidFill>
              </a:rPr>
              <a:t>문학 시험이 </a:t>
            </a:r>
            <a:r>
              <a:rPr lang="ko-KR" altLang="en-US" sz="1400" i="1" dirty="0"/>
              <a:t>못 봤어</a:t>
            </a:r>
            <a:r>
              <a:rPr lang="en-US" altLang="ko-KR" sz="1400" i="1" dirty="0"/>
              <a:t>,</a:t>
            </a:r>
            <a:r>
              <a:rPr lang="ko-KR" altLang="en-US" sz="1400" b="1" i="1" dirty="0" err="1">
                <a:solidFill>
                  <a:srgbClr val="C00000"/>
                </a:solidFill>
              </a:rPr>
              <a:t>모락시아미</a:t>
            </a:r>
            <a:r>
              <a:rPr lang="ko-KR" altLang="en-US" sz="1400" i="1" dirty="0"/>
              <a:t> 못 봤어</a:t>
            </a:r>
            <a:r>
              <a:rPr lang="en-US" altLang="ko-KR" sz="1400" i="1" dirty="0"/>
              <a:t>,</a:t>
            </a:r>
            <a:r>
              <a:rPr lang="ko-KR" altLang="en-US" sz="1400" b="1" i="1" dirty="0">
                <a:solidFill>
                  <a:srgbClr val="00B0F0"/>
                </a:solidFill>
              </a:rPr>
              <a:t>문학 시험이 </a:t>
            </a:r>
            <a:r>
              <a:rPr lang="ko-KR" altLang="en-US" sz="1400" i="1" dirty="0"/>
              <a:t>못 봤어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B219AF-D0BD-447E-2008-1143CF292903}"/>
              </a:ext>
            </a:extLst>
          </p:cNvPr>
          <p:cNvSpPr txBox="1"/>
          <p:nvPr/>
        </p:nvSpPr>
        <p:spPr>
          <a:xfrm>
            <a:off x="7537807" y="2920144"/>
            <a:ext cx="4004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i="1" dirty="0">
                <a:solidFill>
                  <a:srgbClr val="C00000"/>
                </a:solidFill>
              </a:rPr>
              <a:t>날카로운 </a:t>
            </a:r>
            <a:r>
              <a:rPr lang="en-US" sz="1400" i="1" dirty="0">
                <a:solidFill>
                  <a:srgbClr val="C00000"/>
                </a:solidFill>
              </a:rPr>
              <a:t>peak </a:t>
            </a:r>
            <a:r>
              <a:rPr lang="ko-KR" altLang="en-US" sz="1400" i="1" dirty="0">
                <a:solidFill>
                  <a:srgbClr val="C00000"/>
                </a:solidFill>
              </a:rPr>
              <a:t>자체가 항상 나쁜 것은 아니지만</a:t>
            </a:r>
            <a:r>
              <a:rPr lang="en-US" altLang="ko-KR" sz="1400" i="1" dirty="0">
                <a:solidFill>
                  <a:srgbClr val="C00000"/>
                </a:solidFill>
              </a:rPr>
              <a:t>, </a:t>
            </a:r>
            <a:r>
              <a:rPr lang="ko-KR" altLang="en-US" sz="1400" i="1" dirty="0">
                <a:solidFill>
                  <a:srgbClr val="C00000"/>
                </a:solidFill>
              </a:rPr>
              <a:t>그 </a:t>
            </a:r>
            <a:r>
              <a:rPr lang="en-US" sz="1400" i="1" dirty="0">
                <a:solidFill>
                  <a:srgbClr val="C00000"/>
                </a:solidFill>
              </a:rPr>
              <a:t>sharpness</a:t>
            </a:r>
            <a:r>
              <a:rPr lang="ko-KR" altLang="en-US" sz="1400" i="1" dirty="0">
                <a:solidFill>
                  <a:srgbClr val="C00000"/>
                </a:solidFill>
              </a:rPr>
              <a:t>가 지나치면 모델이 정답 발음 표기에 과하게 끌려가면서 실제 </a:t>
            </a:r>
            <a:r>
              <a:rPr lang="en-US" sz="1400" i="1" dirty="0">
                <a:solidFill>
                  <a:srgbClr val="C00000"/>
                </a:solidFill>
              </a:rPr>
              <a:t>learner speech</a:t>
            </a:r>
            <a:r>
              <a:rPr lang="ko-KR" altLang="en-US" sz="1400" i="1" dirty="0">
                <a:solidFill>
                  <a:srgbClr val="C00000"/>
                </a:solidFill>
              </a:rPr>
              <a:t>의 다양성을 제한하지는 않을까</a:t>
            </a:r>
            <a:r>
              <a:rPr lang="en-US" altLang="ko-KR" sz="1400" i="1" dirty="0">
                <a:solidFill>
                  <a:srgbClr val="C00000"/>
                </a:solidFill>
              </a:rPr>
              <a:t>?</a:t>
            </a:r>
            <a:endParaRPr lang="en-KR" sz="1400" i="1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051595-487D-AE71-9085-31B2958F7D77}"/>
              </a:ext>
            </a:extLst>
          </p:cNvPr>
          <p:cNvSpPr/>
          <p:nvPr/>
        </p:nvSpPr>
        <p:spPr>
          <a:xfrm>
            <a:off x="2817845" y="5666610"/>
            <a:ext cx="5327779" cy="317050"/>
          </a:xfrm>
          <a:prstGeom prst="rect">
            <a:avLst/>
          </a:prstGeom>
          <a:solidFill>
            <a:srgbClr val="FFFFFF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8F923B-EC4C-912B-EB88-F4E4B4A94401}"/>
              </a:ext>
            </a:extLst>
          </p:cNvPr>
          <p:cNvSpPr txBox="1"/>
          <p:nvPr/>
        </p:nvSpPr>
        <p:spPr>
          <a:xfrm>
            <a:off x="7537807" y="5993708"/>
            <a:ext cx="4145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i="1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그냥 애매했던 경우</a:t>
            </a:r>
            <a:r>
              <a:rPr lang="en-US" altLang="ko-KR" sz="1400" i="1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</a:t>
            </a:r>
            <a:r>
              <a:rPr lang="ko-KR" altLang="en-US" sz="1400" i="1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시나리오에서도 과도하게 정답 </a:t>
            </a:r>
            <a:r>
              <a:rPr lang="en-US" altLang="ko-KR" sz="1400" i="1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phoneme</a:t>
            </a:r>
            <a:r>
              <a:rPr lang="ko-KR" altLang="en-US" sz="1400" i="1" dirty="0" err="1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lang="ko-KR" altLang="en-US" sz="1400" i="1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바로 확정되는 문제가 발생</a:t>
            </a:r>
            <a:r>
              <a:rPr lang="en-US" altLang="ko-KR" sz="1400" i="1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KR" sz="1400" i="1" dirty="0">
              <a:solidFill>
                <a:srgbClr val="C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302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0AD4-7C7A-071E-B86A-767DEA07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Related Works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F7083-B0B1-E870-1FC1-59A741CCB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Articulatory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조음</a:t>
            </a:r>
            <a:r>
              <a:rPr lang="en-US" altLang="ko-KR" sz="1800" b="1" dirty="0"/>
              <a:t>(</a:t>
            </a:r>
            <a:r>
              <a:rPr lang="ko-KR" altLang="en-US" sz="1600" b="1" dirty="0" err="1">
                <a:latin typeface="+mj-ea"/>
              </a:rPr>
              <a:t>調音</a:t>
            </a:r>
            <a:r>
              <a:rPr lang="en-US" altLang="ko-KR" sz="1800" b="1" dirty="0"/>
              <a:t>))</a:t>
            </a:r>
            <a:r>
              <a:rPr lang="en-US" sz="1800" b="1" dirty="0"/>
              <a:t> Feature</a:t>
            </a:r>
          </a:p>
          <a:p>
            <a:endParaRPr lang="en-KR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E1F590-84D9-5164-4476-ACB2DCF9BF63}"/>
              </a:ext>
            </a:extLst>
          </p:cNvPr>
          <p:cNvGraphicFramePr>
            <a:graphicFrameLocks noGrp="1"/>
          </p:cNvGraphicFramePr>
          <p:nvPr/>
        </p:nvGraphicFramePr>
        <p:xfrm>
          <a:off x="1342876" y="1797907"/>
          <a:ext cx="3872592" cy="4351340"/>
        </p:xfrm>
        <a:graphic>
          <a:graphicData uri="http://schemas.openxmlformats.org/drawingml/2006/table">
            <a:tbl>
              <a:tblPr/>
              <a:tblGrid>
                <a:gridCol w="968148">
                  <a:extLst>
                    <a:ext uri="{9D8B030D-6E8A-4147-A177-3AD203B41FA5}">
                      <a16:colId xmlns:a16="http://schemas.microsoft.com/office/drawing/2014/main" val="1364240334"/>
                    </a:ext>
                  </a:extLst>
                </a:gridCol>
                <a:gridCol w="968148">
                  <a:extLst>
                    <a:ext uri="{9D8B030D-6E8A-4147-A177-3AD203B41FA5}">
                      <a16:colId xmlns:a16="http://schemas.microsoft.com/office/drawing/2014/main" val="1502671291"/>
                    </a:ext>
                  </a:extLst>
                </a:gridCol>
                <a:gridCol w="968148">
                  <a:extLst>
                    <a:ext uri="{9D8B030D-6E8A-4147-A177-3AD203B41FA5}">
                      <a16:colId xmlns:a16="http://schemas.microsoft.com/office/drawing/2014/main" val="3735046211"/>
                    </a:ext>
                  </a:extLst>
                </a:gridCol>
                <a:gridCol w="968148">
                  <a:extLst>
                    <a:ext uri="{9D8B030D-6E8A-4147-A177-3AD203B41FA5}">
                      <a16:colId xmlns:a16="http://schemas.microsoft.com/office/drawing/2014/main" val="888077714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phoneme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place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manner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laryngeal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0285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ㅂ</a:t>
                      </a:r>
                      <a:endParaRPr lang="ko-KR" altLang="en-US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bilabial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76627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ㅃ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bilabial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28512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ㅍ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bilabial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26416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ㅁ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bilabial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nasal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voiced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00264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ㄷ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61460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ㄸ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8637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ㅌ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34853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ㄴ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nasal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voiced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94746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ㅅ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fricative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35676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ㅆ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fricative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98385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ㅈ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affricate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30174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ㅉ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affricate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06005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ㅊ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affricate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84145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ㄹ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alveolar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liquid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voiced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72257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ㄱ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lax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1524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ㄲ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tense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14021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ㅋ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velar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stop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20019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ㅇ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glottal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nasal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voiced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96366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ㅎ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glottal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fricative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aspirated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48363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3825D6-F13C-129F-278D-76FC8C6F7BE6}"/>
              </a:ext>
            </a:extLst>
          </p:cNvPr>
          <p:cNvGraphicFramePr>
            <a:graphicFrameLocks noGrp="1"/>
          </p:cNvGraphicFramePr>
          <p:nvPr/>
        </p:nvGraphicFramePr>
        <p:xfrm>
          <a:off x="6073565" y="1797907"/>
          <a:ext cx="3872592" cy="2194560"/>
        </p:xfrm>
        <a:graphic>
          <a:graphicData uri="http://schemas.openxmlformats.org/drawingml/2006/table">
            <a:tbl>
              <a:tblPr/>
              <a:tblGrid>
                <a:gridCol w="968148">
                  <a:extLst>
                    <a:ext uri="{9D8B030D-6E8A-4147-A177-3AD203B41FA5}">
                      <a16:colId xmlns:a16="http://schemas.microsoft.com/office/drawing/2014/main" val="3603843853"/>
                    </a:ext>
                  </a:extLst>
                </a:gridCol>
                <a:gridCol w="968148">
                  <a:extLst>
                    <a:ext uri="{9D8B030D-6E8A-4147-A177-3AD203B41FA5}">
                      <a16:colId xmlns:a16="http://schemas.microsoft.com/office/drawing/2014/main" val="3240521730"/>
                    </a:ext>
                  </a:extLst>
                </a:gridCol>
                <a:gridCol w="968148">
                  <a:extLst>
                    <a:ext uri="{9D8B030D-6E8A-4147-A177-3AD203B41FA5}">
                      <a16:colId xmlns:a16="http://schemas.microsoft.com/office/drawing/2014/main" val="4040494097"/>
                    </a:ext>
                  </a:extLst>
                </a:gridCol>
                <a:gridCol w="968148">
                  <a:extLst>
                    <a:ext uri="{9D8B030D-6E8A-4147-A177-3AD203B41FA5}">
                      <a16:colId xmlns:a16="http://schemas.microsoft.com/office/drawing/2014/main" val="3246835782"/>
                    </a:ext>
                  </a:extLst>
                </a:gridCol>
              </a:tblGrid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vowel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backness</a:t>
                      </a:r>
                      <a:endParaRPr lang="en-US" sz="10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rounding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550217"/>
                  </a:ext>
                </a:extLst>
              </a:tr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611380"/>
                  </a:ext>
                </a:extLst>
              </a:tr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737091"/>
                  </a:ext>
                </a:extLst>
              </a:tr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low-mid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086774"/>
                  </a:ext>
                </a:extLst>
              </a:tr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front-central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184213"/>
                  </a:ext>
                </a:extLst>
              </a:tr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central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373900"/>
                  </a:ext>
                </a:extLst>
              </a:tr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back-central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unrounded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404096"/>
                  </a:ext>
                </a:extLst>
              </a:tr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rounded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614274"/>
                  </a:ext>
                </a:extLst>
              </a:tr>
              <a:tr h="21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rounded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447219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4299060-9C18-E8E4-EA1A-B301282DF26B}"/>
              </a:ext>
            </a:extLst>
          </p:cNvPr>
          <p:cNvGrpSpPr/>
          <p:nvPr/>
        </p:nvGrpSpPr>
        <p:grpSpPr>
          <a:xfrm>
            <a:off x="6016614" y="4223795"/>
            <a:ext cx="5516306" cy="1936518"/>
            <a:chOff x="566058" y="1920087"/>
            <a:chExt cx="11293735" cy="35695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E7FCF45-B367-4EA5-3FC2-F62DD9563C86}"/>
                </a:ext>
              </a:extLst>
            </p:cNvPr>
            <p:cNvGrpSpPr/>
            <p:nvPr/>
          </p:nvGrpSpPr>
          <p:grpSpPr>
            <a:xfrm>
              <a:off x="566058" y="1920087"/>
              <a:ext cx="10764955" cy="3569528"/>
              <a:chOff x="1791308" y="3943698"/>
              <a:chExt cx="9202250" cy="2673830"/>
            </a:xfrm>
          </p:grpSpPr>
          <p:pic>
            <p:nvPicPr>
              <p:cNvPr id="13" name="Picture 2" descr="OpenAI's Most Recent Model: Whisper (explained)">
                <a:extLst>
                  <a:ext uri="{FF2B5EF4-FFF2-40B4-BE49-F238E27FC236}">
                    <a16:creationId xmlns:a16="http://schemas.microsoft.com/office/drawing/2014/main" id="{E86112F0-7055-A784-BDAF-7CEFF8B6BD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5969" y="4059680"/>
                <a:ext cx="3565001" cy="25578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7E61E37-7FF2-B1E9-EC86-13215445E578}"/>
                  </a:ext>
                </a:extLst>
              </p:cNvPr>
              <p:cNvSpPr/>
              <p:nvPr/>
            </p:nvSpPr>
            <p:spPr>
              <a:xfrm>
                <a:off x="1925011" y="4338357"/>
                <a:ext cx="480958" cy="197809"/>
              </a:xfrm>
              <a:prstGeom prst="roundRect">
                <a:avLst/>
              </a:prstGeom>
              <a:solidFill>
                <a:srgbClr val="BE0E00">
                  <a:alpha val="30980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KR" sz="300" dirty="0">
                    <a:solidFill>
                      <a:sysClr val="windowText" lastClr="000000"/>
                    </a:solidFill>
                  </a:rPr>
                  <a:t>lora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51AB81-1391-934B-30B5-B3B34856ADD5}"/>
                  </a:ext>
                </a:extLst>
              </p:cNvPr>
              <p:cNvSpPr txBox="1"/>
              <p:nvPr/>
            </p:nvSpPr>
            <p:spPr>
              <a:xfrm>
                <a:off x="1797155" y="4266437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🔥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609D46F-AB73-59CD-79C9-18B808466E12}"/>
                  </a:ext>
                </a:extLst>
              </p:cNvPr>
              <p:cNvSpPr/>
              <p:nvPr/>
            </p:nvSpPr>
            <p:spPr>
              <a:xfrm>
                <a:off x="1925011" y="4582865"/>
                <a:ext cx="480958" cy="197809"/>
              </a:xfrm>
              <a:prstGeom prst="roundRect">
                <a:avLst/>
              </a:prstGeom>
              <a:solidFill>
                <a:srgbClr val="BE0E00">
                  <a:alpha val="30980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KR" sz="300" dirty="0">
                    <a:solidFill>
                      <a:sysClr val="windowText" lastClr="000000"/>
                    </a:solidFill>
                  </a:rPr>
                  <a:t>lora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307C6278-8DB0-B3C0-8860-29CAB62713C1}"/>
                  </a:ext>
                </a:extLst>
              </p:cNvPr>
              <p:cNvSpPr/>
              <p:nvPr/>
            </p:nvSpPr>
            <p:spPr>
              <a:xfrm>
                <a:off x="1925011" y="5007719"/>
                <a:ext cx="480958" cy="197809"/>
              </a:xfrm>
              <a:prstGeom prst="roundRect">
                <a:avLst/>
              </a:prstGeom>
              <a:solidFill>
                <a:srgbClr val="BE0E00">
                  <a:alpha val="30980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KR" sz="300" dirty="0">
                    <a:solidFill>
                      <a:sysClr val="windowText" lastClr="000000"/>
                    </a:solidFill>
                  </a:rPr>
                  <a:t>lora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7081B359-A85A-9346-59C2-17EA321F7B2F}"/>
                  </a:ext>
                </a:extLst>
              </p:cNvPr>
              <p:cNvSpPr/>
              <p:nvPr/>
            </p:nvSpPr>
            <p:spPr>
              <a:xfrm>
                <a:off x="1925011" y="5269420"/>
                <a:ext cx="480958" cy="197809"/>
              </a:xfrm>
              <a:prstGeom prst="roundRect">
                <a:avLst/>
              </a:prstGeom>
              <a:solidFill>
                <a:srgbClr val="BE0E00">
                  <a:alpha val="30980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KR" sz="300" dirty="0">
                    <a:solidFill>
                      <a:sysClr val="windowText" lastClr="000000"/>
                    </a:solidFill>
                  </a:rPr>
                  <a:t>lora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5B248C-51F0-3504-1A23-A3BB38EB5A4B}"/>
                  </a:ext>
                </a:extLst>
              </p:cNvPr>
              <p:cNvSpPr txBox="1"/>
              <p:nvPr/>
            </p:nvSpPr>
            <p:spPr>
              <a:xfrm>
                <a:off x="1791308" y="4510808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🔥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78488D-848C-78A8-E619-6F5D3B9819F9}"/>
                  </a:ext>
                </a:extLst>
              </p:cNvPr>
              <p:cNvSpPr txBox="1"/>
              <p:nvPr/>
            </p:nvSpPr>
            <p:spPr>
              <a:xfrm>
                <a:off x="1791308" y="4935796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🔥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F020DF-24A9-B232-47E9-DD633050D18F}"/>
                  </a:ext>
                </a:extLst>
              </p:cNvPr>
              <p:cNvSpPr txBox="1"/>
              <p:nvPr/>
            </p:nvSpPr>
            <p:spPr>
              <a:xfrm>
                <a:off x="1791308" y="5198103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🔥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158594-3BC1-3C83-F8B0-DF2E44F1DA15}"/>
                  </a:ext>
                </a:extLst>
              </p:cNvPr>
              <p:cNvSpPr txBox="1"/>
              <p:nvPr/>
            </p:nvSpPr>
            <p:spPr>
              <a:xfrm>
                <a:off x="5660332" y="4542912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❄️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63CAC54-C0F6-60E0-D7F5-8CF27E9B0222}"/>
                  </a:ext>
                </a:extLst>
              </p:cNvPr>
              <p:cNvSpPr txBox="1"/>
              <p:nvPr/>
            </p:nvSpPr>
            <p:spPr>
              <a:xfrm>
                <a:off x="5660332" y="4797394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❄️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CBA2E7-2C91-FB2B-20D4-EFBCDE186C68}"/>
                  </a:ext>
                </a:extLst>
              </p:cNvPr>
              <p:cNvSpPr txBox="1"/>
              <p:nvPr/>
            </p:nvSpPr>
            <p:spPr>
              <a:xfrm>
                <a:off x="5660332" y="5308166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❄️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C487E03-B4D3-B859-EE09-A99E743717EC}"/>
                  </a:ext>
                </a:extLst>
              </p:cNvPr>
              <p:cNvSpPr txBox="1"/>
              <p:nvPr/>
            </p:nvSpPr>
            <p:spPr>
              <a:xfrm>
                <a:off x="5660332" y="5562649"/>
                <a:ext cx="457852" cy="25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600" dirty="0"/>
                  <a:t>❄️</a:t>
                </a: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4C9745A1-AE7E-54DA-B072-296FEBEB79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9879"/>
              <a:stretch>
                <a:fillRect/>
              </a:stretch>
            </p:blipFill>
            <p:spPr>
              <a:xfrm>
                <a:off x="6451927" y="4658119"/>
                <a:ext cx="4541631" cy="1934034"/>
              </a:xfrm>
              <a:prstGeom prst="rect">
                <a:avLst/>
              </a:prstGeom>
            </p:spPr>
          </p:pic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4712989A-82FB-648E-3A90-21F20C9B6F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3978" y="3943698"/>
                <a:ext cx="2805335" cy="1595015"/>
              </a:xfrm>
              <a:prstGeom prst="bentConnector3">
                <a:avLst>
                  <a:gd name="adj1" fmla="val 89760"/>
                </a:avLst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5763816-EBCD-E29B-FBE4-82950E5C5793}"/>
                  </a:ext>
                </a:extLst>
              </p:cNvPr>
              <p:cNvCxnSpPr/>
              <p:nvPr/>
            </p:nvCxnSpPr>
            <p:spPr>
              <a:xfrm>
                <a:off x="3693978" y="3943698"/>
                <a:ext cx="0" cy="218399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E32ED8-9194-121C-E521-59CD48B17C86}"/>
                </a:ext>
              </a:extLst>
            </p:cNvPr>
            <p:cNvSpPr txBox="1"/>
            <p:nvPr/>
          </p:nvSpPr>
          <p:spPr>
            <a:xfrm>
              <a:off x="9985180" y="2211646"/>
              <a:ext cx="1874613" cy="3403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/>
                <a:t>G</a:t>
              </a:r>
              <a:r>
                <a:rPr lang="en-KR" sz="600" dirty="0"/>
                <a:t>round Truth G2P/IPA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B7CE776-F715-D046-A3CB-F2D7952098D8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479" y="2578988"/>
              <a:ext cx="0" cy="989635"/>
            </a:xfrm>
            <a:prstGeom prst="straightConnector1">
              <a:avLst/>
            </a:prstGeom>
            <a:ln w="9525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382B711-56DF-0A6F-AF99-39E69A67F74A}"/>
                    </a:ext>
                  </a:extLst>
                </p:cNvPr>
                <p:cNvSpPr txBox="1"/>
                <p:nvPr/>
              </p:nvSpPr>
              <p:spPr>
                <a:xfrm>
                  <a:off x="10762609" y="2867245"/>
                  <a:ext cx="717815" cy="3403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𝐶𝑇𝐶</m:t>
                            </m:r>
                          </m:sub>
                        </m:sSub>
                      </m:oMath>
                    </m:oMathPara>
                  </a14:m>
                  <a:endParaRPr lang="en-KR" sz="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382B711-56DF-0A6F-AF99-39E69A67F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2609" y="2867245"/>
                  <a:ext cx="717815" cy="34039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E4337F7-F3D6-8F0F-01C7-37A50626E4F4}"/>
              </a:ext>
            </a:extLst>
          </p:cNvPr>
          <p:cNvSpPr txBox="1"/>
          <p:nvPr/>
        </p:nvSpPr>
        <p:spPr>
          <a:xfrm>
            <a:off x="8180628" y="6097885"/>
            <a:ext cx="8019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500" i="1" dirty="0"/>
              <a:t>* </a:t>
            </a:r>
            <a:r>
              <a:rPr lang="en-US" sz="500" i="1" dirty="0"/>
              <a:t>R</a:t>
            </a:r>
            <a:r>
              <a:rPr lang="en-KR" sz="500" i="1" dirty="0"/>
              <a:t>emove at inference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2F108AC-4678-9B85-5A19-BF9B1CAB645B}"/>
              </a:ext>
            </a:extLst>
          </p:cNvPr>
          <p:cNvSpPr/>
          <p:nvPr/>
        </p:nvSpPr>
        <p:spPr>
          <a:xfrm>
            <a:off x="10467703" y="4929051"/>
            <a:ext cx="381421" cy="94312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168047-D6FA-E5D1-1061-20CECC95AD18}"/>
              </a:ext>
            </a:extLst>
          </p:cNvPr>
          <p:cNvSpPr txBox="1"/>
          <p:nvPr/>
        </p:nvSpPr>
        <p:spPr>
          <a:xfrm>
            <a:off x="10467703" y="5835217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KR" dirty="0">
                <a:solidFill>
                  <a:srgbClr val="C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63017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8440-4896-613D-4FE4-A70222B3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Related Works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99434-9999-1878-EFA3-2DC50C586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Articulatory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조음</a:t>
            </a:r>
            <a:r>
              <a:rPr lang="en-US" altLang="ko-KR" sz="1800" b="1" dirty="0"/>
              <a:t>(</a:t>
            </a:r>
            <a:r>
              <a:rPr lang="ko-KR" altLang="en-US" sz="1600" b="1" dirty="0" err="1">
                <a:latin typeface="+mj-ea"/>
                <a:ea typeface="+mj-ea"/>
              </a:rPr>
              <a:t>調音</a:t>
            </a:r>
            <a:r>
              <a:rPr lang="en-US" altLang="ko-KR" sz="1800" b="1" dirty="0"/>
              <a:t>))</a:t>
            </a:r>
            <a:r>
              <a:rPr lang="en-US" sz="1800" b="1" dirty="0"/>
              <a:t> Feature</a:t>
            </a:r>
          </a:p>
          <a:p>
            <a:pPr lvl="1"/>
            <a:r>
              <a:rPr lang="en-US" sz="1600" dirty="0" err="1"/>
              <a:t>PanPhon</a:t>
            </a:r>
            <a:r>
              <a:rPr lang="en-US" sz="1600" dirty="0"/>
              <a:t>: A Resource for Mapping IPA Segments to Articulatory Feature Vectors</a:t>
            </a:r>
            <a:r>
              <a:rPr lang="ko-KR" altLang="en-US" sz="1600" dirty="0"/>
              <a:t> </a:t>
            </a:r>
            <a:r>
              <a:rPr lang="en-US" altLang="ko-KR" sz="1600" dirty="0"/>
              <a:t>(ACL 2016)</a:t>
            </a:r>
          </a:p>
          <a:p>
            <a:pPr lvl="2"/>
            <a:r>
              <a:rPr lang="en-US" altLang="ko-KR" sz="1400" dirty="0"/>
              <a:t>20~22</a:t>
            </a:r>
            <a:r>
              <a:rPr lang="ko-KR" altLang="en-US" sz="1400" dirty="0"/>
              <a:t>개 정도의 </a:t>
            </a:r>
            <a:r>
              <a:rPr lang="en-US" altLang="ko-KR" sz="1400" dirty="0"/>
              <a:t>distinctive feature</a:t>
            </a:r>
            <a:r>
              <a:rPr lang="ko-KR" altLang="en-US" sz="1400" dirty="0"/>
              <a:t> 사용</a:t>
            </a:r>
            <a:endParaRPr lang="en-US" altLang="ko-KR" sz="1400" dirty="0"/>
          </a:p>
          <a:p>
            <a:pPr lvl="2"/>
            <a:r>
              <a:rPr lang="en-US" altLang="ko-KR" sz="1400" dirty="0"/>
              <a:t>[cons=1, son=0, </a:t>
            </a:r>
            <a:r>
              <a:rPr lang="en-US" altLang="ko-KR" sz="1400" dirty="0" err="1"/>
              <a:t>cont</a:t>
            </a:r>
            <a:r>
              <a:rPr lang="en-US" altLang="ko-KR" sz="1400" dirty="0"/>
              <a:t>=0, </a:t>
            </a:r>
            <a:r>
              <a:rPr lang="en-US" altLang="ko-KR" sz="1400" dirty="0" err="1"/>
              <a:t>nas</a:t>
            </a:r>
            <a:r>
              <a:rPr lang="en-US" altLang="ko-KR" sz="1400" dirty="0"/>
              <a:t>=0, sg=1, lab=1, </a:t>
            </a:r>
            <a:r>
              <a:rPr lang="en-US" altLang="ko-KR" sz="1400" dirty="0" err="1"/>
              <a:t>cor</a:t>
            </a:r>
            <a:r>
              <a:rPr lang="en-US" altLang="ko-KR" sz="1400" dirty="0"/>
              <a:t>=0, back=0, ...]</a:t>
            </a:r>
          </a:p>
          <a:p>
            <a:pPr lvl="1"/>
            <a:endParaRPr lang="en-US" dirty="0"/>
          </a:p>
          <a:p>
            <a:pPr lvl="1"/>
            <a:endParaRPr lang="en-KR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6ACAF5-0DA7-D541-8FCA-D20B6246B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334" y="2701721"/>
            <a:ext cx="75819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31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16F0-D0EB-7A58-5E44-CC9FA2EA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1F102A-FB0E-51FB-7AE0-76939B37F331}"/>
              </a:ext>
            </a:extLst>
          </p:cNvPr>
          <p:cNvSpPr txBox="1"/>
          <p:nvPr/>
        </p:nvSpPr>
        <p:spPr>
          <a:xfrm>
            <a:off x="3838016" y="2402648"/>
            <a:ext cx="4515980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Research Hypothesis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en-KR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Articulatory Feature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따른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개의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Head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훈련하면 성능이 향상될 것이다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.”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012C5-CAE5-A1D3-52AF-805418EC4E62}"/>
              </a:ext>
            </a:extLst>
          </p:cNvPr>
          <p:cNvSpPr txBox="1"/>
          <p:nvPr/>
        </p:nvSpPr>
        <p:spPr>
          <a:xfrm>
            <a:off x="3983081" y="4114799"/>
            <a:ext cx="427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또한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confusion matrix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기반한 분석이 더 정교해지고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</a:p>
          <a:p>
            <a:pPr algn="ctr"/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분석 결과를 국소적 추가 개선에 활용할 수 있을 것이다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.)</a:t>
            </a:r>
            <a:endParaRPr lang="en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1D59ACF-B8C9-271F-8014-B3B24AECC357}"/>
              </a:ext>
            </a:extLst>
          </p:cNvPr>
          <p:cNvSpPr/>
          <p:nvPr/>
        </p:nvSpPr>
        <p:spPr>
          <a:xfrm>
            <a:off x="144338" y="4811287"/>
            <a:ext cx="6687751" cy="9387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C9054-EBA6-BEB0-A687-23D0F327B82A}"/>
              </a:ext>
            </a:extLst>
          </p:cNvPr>
          <p:cNvSpPr txBox="1"/>
          <p:nvPr/>
        </p:nvSpPr>
        <p:spPr>
          <a:xfrm>
            <a:off x="2424799" y="4895286"/>
            <a:ext cx="20466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/>
              <a:t>ㄱ</a:t>
            </a:r>
            <a:r>
              <a:rPr lang="ko-KR" altLang="en-US" sz="1100" b="1" dirty="0"/>
              <a:t> → </a:t>
            </a:r>
            <a:r>
              <a:rPr lang="ko-KR" altLang="en-US" sz="1100" b="1" dirty="0" err="1"/>
              <a:t>ㄲ</a:t>
            </a:r>
            <a:endParaRPr lang="ko-KR" altLang="en-US" sz="1100" b="1" dirty="0"/>
          </a:p>
          <a:p>
            <a:r>
              <a:rPr lang="en-US" sz="1100" dirty="0"/>
              <a:t>place: velar (correct)</a:t>
            </a:r>
          </a:p>
          <a:p>
            <a:r>
              <a:rPr lang="en-US" sz="1100" dirty="0"/>
              <a:t>manner: stop (correct)</a:t>
            </a:r>
          </a:p>
          <a:p>
            <a:r>
              <a:rPr lang="en-US" sz="1100" dirty="0"/>
              <a:t>laryngeal: </a:t>
            </a:r>
            <a:r>
              <a:rPr lang="en-US" sz="1100" dirty="0">
                <a:solidFill>
                  <a:srgbClr val="C00000"/>
                </a:solidFill>
              </a:rPr>
              <a:t>lax → tense (error)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BB3EC4-3296-4878-98D2-AEB69BCB85FD}"/>
              </a:ext>
            </a:extLst>
          </p:cNvPr>
          <p:cNvSpPr txBox="1"/>
          <p:nvPr/>
        </p:nvSpPr>
        <p:spPr>
          <a:xfrm>
            <a:off x="175649" y="4895286"/>
            <a:ext cx="248503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/>
              <a:t>ㅍ</a:t>
            </a:r>
            <a:r>
              <a:rPr lang="ko-KR" altLang="en-US" sz="1100" b="1" dirty="0"/>
              <a:t> → </a:t>
            </a:r>
            <a:r>
              <a:rPr lang="ko-KR" altLang="en-US" sz="1100" b="1" dirty="0" err="1"/>
              <a:t>ㅃ</a:t>
            </a:r>
            <a:endParaRPr lang="ko-KR" altLang="en-US" sz="1100" b="1" dirty="0"/>
          </a:p>
          <a:p>
            <a:r>
              <a:rPr lang="en-US" sz="1100" dirty="0"/>
              <a:t>place: bilabial (correct)</a:t>
            </a:r>
          </a:p>
          <a:p>
            <a:r>
              <a:rPr lang="en-US" sz="1100" dirty="0"/>
              <a:t>manner: stop (correct)</a:t>
            </a:r>
          </a:p>
          <a:p>
            <a:r>
              <a:rPr lang="en-US" sz="1100" dirty="0"/>
              <a:t>laryngeal: </a:t>
            </a:r>
            <a:r>
              <a:rPr lang="en-US" sz="1100" dirty="0">
                <a:solidFill>
                  <a:srgbClr val="C00000"/>
                </a:solidFill>
              </a:rPr>
              <a:t>aspirated → tense (error)</a:t>
            </a:r>
          </a:p>
          <a:p>
            <a:endParaRPr lang="en-KR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44468D-5CDB-B62A-D73F-3345CD53BC6C}"/>
              </a:ext>
            </a:extLst>
          </p:cNvPr>
          <p:cNvSpPr txBox="1"/>
          <p:nvPr/>
        </p:nvSpPr>
        <p:spPr>
          <a:xfrm>
            <a:off x="4274952" y="4895286"/>
            <a:ext cx="27603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/>
              <a:t>ㅓ</a:t>
            </a:r>
            <a:r>
              <a:rPr lang="ko-KR" altLang="en-US" sz="1100" b="1" dirty="0"/>
              <a:t> → </a:t>
            </a:r>
            <a:r>
              <a:rPr lang="ko-KR" altLang="en-US" sz="1100" b="1" dirty="0" err="1"/>
              <a:t>ㅗ</a:t>
            </a:r>
            <a:endParaRPr lang="ko-KR" altLang="en-US" sz="1100" b="1" dirty="0"/>
          </a:p>
          <a:p>
            <a:r>
              <a:rPr lang="en-US" sz="1100" dirty="0"/>
              <a:t>height: mid → mid (correct)</a:t>
            </a:r>
          </a:p>
          <a:p>
            <a:r>
              <a:rPr lang="en-US" sz="1100" dirty="0" err="1"/>
              <a:t>backness</a:t>
            </a:r>
            <a:r>
              <a:rPr lang="en-US" sz="1100" dirty="0">
                <a:solidFill>
                  <a:srgbClr val="C00000"/>
                </a:solidFill>
              </a:rPr>
              <a:t>: central → back (error)</a:t>
            </a:r>
          </a:p>
          <a:p>
            <a:r>
              <a:rPr lang="en-US" sz="1100" dirty="0"/>
              <a:t>rounding: </a:t>
            </a:r>
            <a:r>
              <a:rPr lang="en-US" sz="1100" dirty="0">
                <a:solidFill>
                  <a:srgbClr val="C00000"/>
                </a:solidFill>
              </a:rPr>
              <a:t>unrounded → rounded (error)</a:t>
            </a:r>
            <a:endParaRPr lang="en-KR" sz="1100" dirty="0">
              <a:solidFill>
                <a:srgbClr val="C00000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7A6DA14-1080-5368-19B1-EAEF902AB9FD}"/>
              </a:ext>
            </a:extLst>
          </p:cNvPr>
          <p:cNvSpPr/>
          <p:nvPr/>
        </p:nvSpPr>
        <p:spPr>
          <a:xfrm>
            <a:off x="7432119" y="4811287"/>
            <a:ext cx="4598127" cy="9387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EXAMPLE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JP </a:t>
            </a:r>
            <a:r>
              <a:rPr lang="ko-KR" alt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화자는 </a:t>
            </a:r>
            <a:r>
              <a:rPr 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laryngeal contrast</a:t>
            </a:r>
            <a:r>
              <a:rPr lang="ko-KR" altLang="en-US" sz="1100" i="1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 틀린다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CN </a:t>
            </a:r>
            <a:r>
              <a:rPr lang="ko-KR" alt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화자는 </a:t>
            </a:r>
            <a:r>
              <a:rPr 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rounding/</a:t>
            </a:r>
            <a:r>
              <a:rPr lang="en-US" sz="1100" i="1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backness</a:t>
            </a:r>
            <a:r>
              <a:rPr 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vowel feature</a:t>
            </a:r>
            <a:r>
              <a:rPr lang="ko-KR" alt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오류가 많다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VN </a:t>
            </a:r>
            <a:r>
              <a:rPr lang="ko-KR" alt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화자는 </a:t>
            </a:r>
            <a:r>
              <a:rPr 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coda nasal place</a:t>
            </a:r>
            <a:r>
              <a:rPr lang="ko-KR" altLang="en-US" sz="1100" i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오류가 많다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D670CB-6EAC-3C1B-D43D-513565F215D2}"/>
              </a:ext>
            </a:extLst>
          </p:cNvPr>
          <p:cNvCxnSpPr>
            <a:cxnSpLocks/>
          </p:cNvCxnSpPr>
          <p:nvPr/>
        </p:nvCxnSpPr>
        <p:spPr>
          <a:xfrm>
            <a:off x="2424799" y="4859629"/>
            <a:ext cx="0" cy="840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66B7FF-9414-8D9B-78B6-FBA008DD9C3B}"/>
              </a:ext>
            </a:extLst>
          </p:cNvPr>
          <p:cNvCxnSpPr>
            <a:cxnSpLocks/>
          </p:cNvCxnSpPr>
          <p:nvPr/>
        </p:nvCxnSpPr>
        <p:spPr>
          <a:xfrm>
            <a:off x="4274952" y="4859629"/>
            <a:ext cx="0" cy="840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Down Arrow 20">
            <a:extLst>
              <a:ext uri="{FF2B5EF4-FFF2-40B4-BE49-F238E27FC236}">
                <a16:creationId xmlns:a16="http://schemas.microsoft.com/office/drawing/2014/main" id="{845B8CCD-4EE7-1228-2F06-7361665E36EF}"/>
              </a:ext>
            </a:extLst>
          </p:cNvPr>
          <p:cNvSpPr/>
          <p:nvPr/>
        </p:nvSpPr>
        <p:spPr>
          <a:xfrm rot="16200000">
            <a:off x="6943164" y="5088104"/>
            <a:ext cx="377881" cy="383802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3C042-A608-1F5F-13A3-714EB8AB7645}"/>
              </a:ext>
            </a:extLst>
          </p:cNvPr>
          <p:cNvSpPr txBox="1"/>
          <p:nvPr/>
        </p:nvSpPr>
        <p:spPr>
          <a:xfrm>
            <a:off x="7432119" y="5750007"/>
            <a:ext cx="45981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symbol error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 phonological (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음운론적인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) feature error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분석</a:t>
            </a:r>
            <a:endParaRPr lang="en-KR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435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58ECF49-9510-284B-8608-77DD3AF33700}" vid="{D7FC2EE1-7D83-D345-BC33-911F7B4FB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2874</TotalTime>
  <Words>1756</Words>
  <Application>Microsoft Macintosh PowerPoint</Application>
  <PresentationFormat>Widescreen</PresentationFormat>
  <Paragraphs>419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Pretendard Medium</vt:lpstr>
      <vt:lpstr>Pretendard SemiBold</vt:lpstr>
      <vt:lpstr>Aptos</vt:lpstr>
      <vt:lpstr>Arial</vt:lpstr>
      <vt:lpstr>Cambria Math</vt:lpstr>
      <vt:lpstr>Pretendard</vt:lpstr>
      <vt:lpstr>Office Theme</vt:lpstr>
      <vt:lpstr>Phonetic-Aware Encoder Tuning: Boosting Robustness against L2 Pronunciation Variations via CTC Supervision</vt:lpstr>
      <vt:lpstr>Table of Contents</vt:lpstr>
      <vt:lpstr>1. Problem Statement</vt:lpstr>
      <vt:lpstr>1. Problem Statement</vt:lpstr>
      <vt:lpstr>2. Research Objectives</vt:lpstr>
      <vt:lpstr>3. Background and Related Works</vt:lpstr>
      <vt:lpstr>* Limitation</vt:lpstr>
      <vt:lpstr>Hypothesis</vt:lpstr>
      <vt:lpstr>Results</vt:lpstr>
      <vt:lpstr>* Additional Evaluation Methods</vt:lpstr>
      <vt:lpstr>Results</vt:lpstr>
      <vt:lpstr>-&gt; Timeline</vt:lpstr>
      <vt:lpstr>Q&amp;A</vt:lpstr>
      <vt:lpstr>Appendix</vt:lpstr>
      <vt:lpstr>* Previous Analysis</vt:lpstr>
      <vt:lpstr>* Previous Analysis – Substitution Error</vt:lpstr>
      <vt:lpstr>* Previous Analysis – Substitution Error</vt:lpstr>
      <vt:lpstr>* Previous Analysis – Substitution Error</vt:lpstr>
      <vt:lpstr>* Previous Results</vt:lpstr>
      <vt:lpstr>2. Related Works</vt:lpstr>
      <vt:lpstr>2. Related Works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정하연</dc:creator>
  <cp:lastModifiedBy>정하연</cp:lastModifiedBy>
  <cp:revision>518</cp:revision>
  <dcterms:created xsi:type="dcterms:W3CDTF">2025-07-25T04:06:09Z</dcterms:created>
  <dcterms:modified xsi:type="dcterms:W3CDTF">2026-04-10T06:11:43Z</dcterms:modified>
</cp:coreProperties>
</file>