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5" r:id="rId3"/>
    <p:sldId id="276" r:id="rId4"/>
    <p:sldId id="27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6" r:id="rId13"/>
  </p:sldIdLst>
  <p:sldSz cx="12192000" cy="6858000"/>
  <p:notesSz cx="6858000" cy="9144000"/>
  <p:embeddedFontLst>
    <p:embeddedFont>
      <p:font typeface="Cambria Math" panose="02040503050406030204" pitchFamily="18" charset="0"/>
      <p:regular r:id="rId15"/>
    </p:embeddedFont>
    <p:embeddedFont>
      <p:font typeface="Play" pitchFamily="2" charset="0"/>
      <p:regular r:id="rId16"/>
      <p:bold r:id="rId17"/>
    </p:embeddedFont>
    <p:embeddedFont>
      <p:font typeface="Pretendard" panose="02000503000000020004" pitchFamily="2" charset="-127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c1zGZSCxaLq/a31CWAST+8V5f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719660-2E74-4A61-AF9B-304DE7005CE8}">
  <a:tblStyle styleId="{4E719660-2E74-4A61-AF9B-304DE7005C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986DE05-51DD-4686-8079-D606EDF6B2B9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36"/>
    <p:restoredTop sz="94775"/>
  </p:normalViewPr>
  <p:slideViewPr>
    <p:cSldViewPr snapToGrid="0">
      <p:cViewPr varScale="1">
        <p:scale>
          <a:sx n="148" d="100"/>
          <a:sy n="148" d="100"/>
        </p:scale>
        <p:origin x="11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/>
          <p:nvPr/>
        </p:nvSpPr>
        <p:spPr>
          <a:xfrm>
            <a:off x="120072" y="6522511"/>
            <a:ext cx="1100695" cy="24220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18" name="Google Shape;18;p21"/>
          <p:cNvSpPr txBox="1">
            <a:spLocks noGrp="1"/>
          </p:cNvSpPr>
          <p:nvPr>
            <p:ph type="ctrTitle"/>
          </p:nvPr>
        </p:nvSpPr>
        <p:spPr>
          <a:xfrm>
            <a:off x="1524000" y="134084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subTitle" idx="1"/>
          </p:nvPr>
        </p:nvSpPr>
        <p:spPr>
          <a:xfrm>
            <a:off x="1524000" y="3728448"/>
            <a:ext cx="9144000" cy="156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body" idx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5" name="Google Shape;65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2" name="Google Shape;72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/>
          <p:nvPr/>
        </p:nvSpPr>
        <p:spPr>
          <a:xfrm>
            <a:off x="9328728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0"/>
          <p:cNvSpPr/>
          <p:nvPr/>
        </p:nvSpPr>
        <p:spPr>
          <a:xfrm>
            <a:off x="120072" y="6522511"/>
            <a:ext cx="1100695" cy="24220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K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aihub.or.kr/mypage/reqst/datareqst/list.do?currMenu=157&amp;topMenu=106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1.png"/><Relationship Id="rId7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>
            <a:spLocks noGrp="1"/>
          </p:cNvSpPr>
          <p:nvPr>
            <p:ph type="ctrTitle"/>
          </p:nvPr>
        </p:nvSpPr>
        <p:spPr>
          <a:xfrm>
            <a:off x="183931" y="1340848"/>
            <a:ext cx="11824138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Phonetic-Aware Encoder Tuning:</a:t>
            </a:r>
            <a:br>
              <a:rPr lang="en-US" sz="2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sz="2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Boosting Robustness against L2 Pronunciation Variations via CTC Supervision</a:t>
            </a:r>
            <a:endParaRPr sz="2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8" name="Google Shape;88;p1"/>
          <p:cNvSpPr txBox="1">
            <a:spLocks noGrp="1"/>
          </p:cNvSpPr>
          <p:nvPr>
            <p:ph type="subTitle" idx="1"/>
          </p:nvPr>
        </p:nvSpPr>
        <p:spPr>
          <a:xfrm>
            <a:off x="1524000" y="3728448"/>
            <a:ext cx="9144000" cy="156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None/>
            </a:pPr>
            <a:r>
              <a:rPr lang="en-US" dirty="0">
                <a:solidFill>
                  <a:srgbClr val="BFBFB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Project Report 1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2026.04.10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Hayeon Jeong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07C6E-1448-3324-0902-5CE910A2D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Introduction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E7885E-BD7C-E6CC-F5BB-319F839805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0" t="1542"/>
          <a:stretch>
            <a:fillRect/>
          </a:stretch>
        </p:blipFill>
        <p:spPr>
          <a:xfrm>
            <a:off x="6258081" y="1137958"/>
            <a:ext cx="2129153" cy="1440234"/>
          </a:xfrm>
          <a:prstGeom prst="rect">
            <a:avLst/>
          </a:prstGeom>
        </p:spPr>
      </p:pic>
      <p:pic>
        <p:nvPicPr>
          <p:cNvPr id="10" name="Picture 2" descr="섹션' 강남, 한국어 받아쓰기 점수는? : zum 뉴스">
            <a:extLst>
              <a:ext uri="{FF2B5EF4-FFF2-40B4-BE49-F238E27FC236}">
                <a16:creationId xmlns:a16="http://schemas.microsoft.com/office/drawing/2014/main" id="{74742010-B594-F172-8268-36C72AA54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3627" y="1137958"/>
            <a:ext cx="3318377" cy="144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59BAF56-2BD2-4177-723C-E5B7BD0E683B}"/>
              </a:ext>
            </a:extLst>
          </p:cNvPr>
          <p:cNvSpPr/>
          <p:nvPr/>
        </p:nvSpPr>
        <p:spPr>
          <a:xfrm>
            <a:off x="365126" y="1137959"/>
            <a:ext cx="5449078" cy="2614532"/>
          </a:xfrm>
          <a:prstGeom prst="roundRect">
            <a:avLst>
              <a:gd name="adj" fmla="val 845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Research Background ]</a:t>
            </a:r>
          </a:p>
          <a:p>
            <a:pPr algn="ctr"/>
            <a:endParaRPr lang="en-US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비원어민의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한국어 발화는 음운 체계의 차이로 인해 발음이 표준 한국어와 다르게 실현되는 경우가 많다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algn="ctr"/>
            <a:endParaRPr lang="en-US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이러한</a:t>
            </a:r>
            <a:r>
              <a:rPr 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발음</a:t>
            </a:r>
            <a:r>
              <a:rPr 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변이는</a:t>
            </a:r>
            <a:r>
              <a:rPr 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사람이</a:t>
            </a:r>
            <a:r>
              <a:rPr 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들을</a:t>
            </a:r>
            <a:r>
              <a:rPr 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때는</a:t>
            </a:r>
            <a:r>
              <a:rPr 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문맥을</a:t>
            </a:r>
            <a:r>
              <a:rPr 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통해</a:t>
            </a:r>
            <a:r>
              <a:rPr 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</a:t>
            </a:r>
            <a:r>
              <a:rPr 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정도</a:t>
            </a:r>
            <a:r>
              <a:rPr 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복원이</a:t>
            </a:r>
            <a:r>
              <a:rPr 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가능하지만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ASR 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시스템에서는 발화자가 의도한 단어가 표준 음소 범주에 안정적으로 </a:t>
            </a:r>
            <a:r>
              <a:rPr lang="ko-KR" altLang="en-US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매핑되지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못하면서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문장 의미를 훼손하는 인식 결과가 발생한다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E99F2C9-5AF8-87E0-988D-809C9178834F}"/>
              </a:ext>
            </a:extLst>
          </p:cNvPr>
          <p:cNvSpPr/>
          <p:nvPr/>
        </p:nvSpPr>
        <p:spPr>
          <a:xfrm>
            <a:off x="365126" y="3968151"/>
            <a:ext cx="5449078" cy="2524724"/>
          </a:xfrm>
          <a:prstGeom prst="roundRect">
            <a:avLst>
              <a:gd name="adj" fmla="val 845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Problem Statement ]</a:t>
            </a:r>
          </a:p>
          <a:p>
            <a:pPr algn="ctr"/>
            <a:endParaRPr lang="en-US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왜곡된 음향 신호와 표준 한국어 음소 범주 사이의 정렬이 무너지는 문제를 해결하고자 한다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오류의 핵심을 </a:t>
            </a:r>
            <a:r>
              <a:rPr lang="ko-KR" altLang="en-US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디코더의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문장 이해 능력 부족이 아닌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인코더가 외국어 발화자의 음성을 해석하기 어려워한다는 점에 맞춘다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이에 따라 인코더 성능 개선을 위한 새로운 방법을 제안을 목표로 한다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5E9F416-3069-AD76-5BC3-37A1989E17E2}"/>
              </a:ext>
            </a:extLst>
          </p:cNvPr>
          <p:cNvGrpSpPr/>
          <p:nvPr/>
        </p:nvGrpSpPr>
        <p:grpSpPr>
          <a:xfrm>
            <a:off x="6258081" y="2970369"/>
            <a:ext cx="5523923" cy="3285286"/>
            <a:chOff x="1145946" y="782396"/>
            <a:chExt cx="10424839" cy="5640532"/>
          </a:xfrm>
        </p:grpSpPr>
        <p:pic>
          <p:nvPicPr>
            <p:cNvPr id="13" name="Picture 4" descr="OpenAI rolls out Advanced Voice Mode with more voices and a new look |  TechCrunch">
              <a:extLst>
                <a:ext uri="{FF2B5EF4-FFF2-40B4-BE49-F238E27FC236}">
                  <a16:creationId xmlns:a16="http://schemas.microsoft.com/office/drawing/2014/main" id="{E6DEAA57-EDCD-A815-0EEA-50138B12AF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915" t="4965" r="31649"/>
            <a:stretch>
              <a:fillRect/>
            </a:stretch>
          </p:blipFill>
          <p:spPr bwMode="auto">
            <a:xfrm>
              <a:off x="9626135" y="3569828"/>
              <a:ext cx="1944650" cy="2853100"/>
            </a:xfrm>
            <a:prstGeom prst="roundRect">
              <a:avLst>
                <a:gd name="adj" fmla="val 14843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ounded Rectangular Callout 13">
              <a:extLst>
                <a:ext uri="{FF2B5EF4-FFF2-40B4-BE49-F238E27FC236}">
                  <a16:creationId xmlns:a16="http://schemas.microsoft.com/office/drawing/2014/main" id="{B57574F0-FABF-98C9-5BEC-995FEF0A5EAD}"/>
                </a:ext>
              </a:extLst>
            </p:cNvPr>
            <p:cNvSpPr/>
            <p:nvPr/>
          </p:nvSpPr>
          <p:spPr>
            <a:xfrm>
              <a:off x="3081338" y="782396"/>
              <a:ext cx="6262497" cy="2044311"/>
            </a:xfrm>
            <a:prstGeom prst="wedgeRoundRectCallout">
              <a:avLst>
                <a:gd name="adj1" fmla="val -54446"/>
                <a:gd name="adj2" fmla="val 37635"/>
                <a:gd name="adj3" fmla="val 16667"/>
              </a:avLst>
            </a:prstGeom>
            <a:solidFill>
              <a:srgbClr val="D3FF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한국인들만 알아볼 수 있게 작성하겠습니다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역에선 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30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초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도 안 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걸릴 만큼 가깝지만 숙소가 많이 낙후되어 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있고</a:t>
              </a: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ko-KR" altLang="en-US" sz="11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엘베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없고</a:t>
              </a: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층이라 집 많으면 고생합니다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lang="ko-KR" altLang="en-US" sz="1100" b="1" dirty="0">
                  <a:solidFill>
                    <a:srgbClr val="00B0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바퀴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벌레 나왔고 화장실 많이 낡았습니다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절대 </a:t>
              </a:r>
              <a:r>
                <a:rPr lang="ko-KR" altLang="en-US" sz="1100" b="1" dirty="0">
                  <a:solidFill>
                    <a:srgbClr val="00B0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여기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로 오지 마세요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5" name="Rounded Rectangular Callout 14">
              <a:extLst>
                <a:ext uri="{FF2B5EF4-FFF2-40B4-BE49-F238E27FC236}">
                  <a16:creationId xmlns:a16="http://schemas.microsoft.com/office/drawing/2014/main" id="{F9D31288-8272-2295-B651-591F42632DE7}"/>
                </a:ext>
              </a:extLst>
            </p:cNvPr>
            <p:cNvSpPr/>
            <p:nvPr/>
          </p:nvSpPr>
          <p:spPr>
            <a:xfrm>
              <a:off x="3241955" y="3136144"/>
              <a:ext cx="6101880" cy="2352376"/>
            </a:xfrm>
            <a:prstGeom prst="wedgeRoundRectCallout">
              <a:avLst>
                <a:gd name="adj1" fmla="val 68667"/>
                <a:gd name="adj2" fmla="val 43703"/>
                <a:gd name="adj3" fmla="val 16667"/>
              </a:avLst>
            </a:prstGeom>
            <a:solidFill>
              <a:srgbClr val="FFE8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한국인들만 알아볼 수 있게 작성하겠습니다</a:t>
              </a:r>
              <a:r>
                <a:rPr lang="en-US" altLang="ko-KR" sz="11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lang="ko-KR" altLang="en-US" sz="11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역에선 </a:t>
              </a:r>
              <a:r>
                <a:rPr lang="en-US" altLang="ko-KR" sz="11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30</a:t>
              </a:r>
              <a:r>
                <a:rPr lang="ko-KR" altLang="en-US" sz="11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초 </a:t>
              </a:r>
              <a:r>
                <a:rPr lang="ko-KR" altLang="en-US" sz="1100" b="1" dirty="0">
                  <a:solidFill>
                    <a:srgbClr val="C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또한</a:t>
              </a:r>
              <a:r>
                <a:rPr lang="ko-KR" altLang="en-US" sz="11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걸릴 만큼 가깝지만 숙소가 많이 낙후되어 </a:t>
              </a:r>
              <a:r>
                <a:rPr lang="ko-KR" altLang="en-US" sz="1100" b="1" dirty="0">
                  <a:solidFill>
                    <a:srgbClr val="C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입구에 배 없고 </a:t>
              </a:r>
              <a:r>
                <a:rPr lang="en-US" altLang="ko-KR" sz="11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</a:t>
              </a:r>
              <a:r>
                <a:rPr lang="ko-KR" altLang="en-US" sz="11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층이라 집 많으면 고생합니다</a:t>
              </a:r>
              <a:r>
                <a:rPr lang="en-US" altLang="ko-KR" sz="11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lang="ko-KR" altLang="en-US" sz="1100" b="1" dirty="0">
                  <a:solidFill>
                    <a:srgbClr val="C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밖에</a:t>
              </a:r>
              <a:r>
                <a:rPr lang="ko-KR" altLang="en-US" sz="11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벌레 나왔고 화장실 많이 낡았습니다</a:t>
              </a:r>
              <a:r>
                <a:rPr lang="en-US" altLang="ko-KR" sz="11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 </a:t>
              </a:r>
              <a:r>
                <a:rPr lang="ko-KR" altLang="en-US" sz="11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절대 </a:t>
              </a:r>
              <a:r>
                <a:rPr lang="ko-KR" altLang="en-US" sz="1100" b="1" dirty="0">
                  <a:solidFill>
                    <a:srgbClr val="C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역기</a:t>
              </a:r>
              <a:r>
                <a:rPr lang="ko-KR" altLang="en-US" sz="11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로 오지 마세요</a:t>
              </a:r>
              <a:r>
                <a:rPr lang="en-US" altLang="ko-KR" sz="11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lang="en-US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733B452-539C-0114-C4F9-B55A3721E1F9}"/>
                </a:ext>
              </a:extLst>
            </p:cNvPr>
            <p:cNvSpPr txBox="1"/>
            <p:nvPr/>
          </p:nvSpPr>
          <p:spPr>
            <a:xfrm>
              <a:off x="5614171" y="5488520"/>
              <a:ext cx="4379296" cy="449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i="1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*</a:t>
              </a:r>
              <a:r>
                <a:rPr lang="en-US" altLang="ko-KR" sz="1100" i="1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Result of Whisper by OpenAI</a:t>
              </a:r>
              <a:endParaRPr lang="en-US" sz="1100" i="1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7" name="Graphic 16" descr="Smiling face outline with solid fill">
              <a:extLst>
                <a:ext uri="{FF2B5EF4-FFF2-40B4-BE49-F238E27FC236}">
                  <a16:creationId xmlns:a16="http://schemas.microsoft.com/office/drawing/2014/main" id="{C6D730B3-DD50-9AAA-3302-5138CE8ECE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45946" y="2125227"/>
              <a:ext cx="780959" cy="701480"/>
            </a:xfrm>
            <a:prstGeom prst="rect">
              <a:avLst/>
            </a:prstGeom>
          </p:spPr>
        </p:pic>
        <p:pic>
          <p:nvPicPr>
            <p:cNvPr id="18" name="Graphic 17" descr="Voice with solid fill">
              <a:extLst>
                <a:ext uri="{FF2B5EF4-FFF2-40B4-BE49-F238E27FC236}">
                  <a16:creationId xmlns:a16="http://schemas.microsoft.com/office/drawing/2014/main" id="{A27B6E8D-7E00-8974-2FDC-25CAD10E83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911629" y="2125227"/>
              <a:ext cx="780959" cy="7014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3569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095BC-920E-C369-9FC4-C42C56947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Research Goal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3711C-B351-53AD-0E19-34DF47BF0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KR" sz="1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Goal</a:t>
            </a:r>
            <a:r>
              <a:rPr lang="en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L2 Korean ASR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왜곡된 발화를 표준 한국어 음소 범주로 더 안정적으로 정렬하는 경량 모델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설계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단순히 최종 </a:t>
            </a:r>
            <a:r>
              <a:rPr 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CER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낮추는 것이 아니라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인코더가 실제로 더 선명한 음향 표현을 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학습했는지까지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확인하는 것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다시 말해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 연구는 정확도 개선과 함께 그 개선이 발생하는 메커니즘을 설명 가능한 형태로 제시하는 것을 목표로 한다</a:t>
            </a:r>
            <a:endParaRPr lang="en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00000"/>
              </a:lnSpc>
            </a:pPr>
            <a:endParaRPr lang="en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00000"/>
              </a:lnSpc>
            </a:pPr>
            <a:r>
              <a:rPr lang="en-KR" sz="1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 specific questions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phonetic supervision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추가하면 실제로 </a:t>
            </a:r>
            <a:r>
              <a:rPr 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L2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발화의 인식 성능이 개선되는가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 개선은 모든 언어권에서 균일하게 나타나는가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아니면 특정 </a:t>
            </a:r>
            <a:r>
              <a:rPr 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L1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집단에서 더 강하게 관찰되는가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수치적 개선이 단순한 우연이 아니라 인코더 내부의 </a:t>
            </a:r>
            <a:r>
              <a:rPr 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acoustic alignment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변화와 연결되어 있는가</a:t>
            </a:r>
            <a:endParaRPr lang="en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9915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E03E1C0-176C-F035-8DD2-D9A1C21E7A30}"/>
              </a:ext>
            </a:extLst>
          </p:cNvPr>
          <p:cNvSpPr/>
          <p:nvPr/>
        </p:nvSpPr>
        <p:spPr>
          <a:xfrm>
            <a:off x="118238" y="1534306"/>
            <a:ext cx="7745602" cy="4958569"/>
          </a:xfrm>
          <a:prstGeom prst="roundRect">
            <a:avLst>
              <a:gd name="adj" fmla="val 845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Speech Level Distribution by Languages ] </a:t>
            </a: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53167F-EEB8-32DC-FCB4-2235B1104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Dataset</a:t>
            </a:r>
          </a:p>
        </p:txBody>
      </p:sp>
      <p:pic>
        <p:nvPicPr>
          <p:cNvPr id="4" name="Google Shape;225;p9">
            <a:extLst>
              <a:ext uri="{FF2B5EF4-FFF2-40B4-BE49-F238E27FC236}">
                <a16:creationId xmlns:a16="http://schemas.microsoft.com/office/drawing/2014/main" id="{C6BD8030-7DC2-46D0-517F-04EB4B8F9198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8491" y="2138904"/>
            <a:ext cx="7451613" cy="2076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26;p9">
            <a:extLst>
              <a:ext uri="{FF2B5EF4-FFF2-40B4-BE49-F238E27FC236}">
                <a16:creationId xmlns:a16="http://schemas.microsoft.com/office/drawing/2014/main" id="{FC6B0484-B86B-B558-8E27-828C10AEA8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8491" y="4296801"/>
            <a:ext cx="7451613" cy="207626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864124-A0B9-7442-93F3-9915908739A6}"/>
              </a:ext>
            </a:extLst>
          </p:cNvPr>
          <p:cNvSpPr txBox="1"/>
          <p:nvPr/>
        </p:nvSpPr>
        <p:spPr>
          <a:xfrm>
            <a:off x="365126" y="795827"/>
            <a:ext cx="3919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4"/>
              </a:rPr>
              <a:t>인공지능 학습을 위한 외국인 한국어 발화 음성 데이터</a:t>
            </a:r>
            <a:endParaRPr lang="en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22A40A-59CE-DE36-7C3D-81B11E1A3705}"/>
              </a:ext>
            </a:extLst>
          </p:cNvPr>
          <p:cNvSpPr txBox="1"/>
          <p:nvPr/>
        </p:nvSpPr>
        <p:spPr>
          <a:xfrm>
            <a:off x="339248" y="1103873"/>
            <a:ext cx="2799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i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itchFamily="2" charset="2"/>
              </a:rPr>
              <a:t>  Preprocessing 및 GT 제작 완료</a:t>
            </a:r>
            <a:endParaRPr lang="en-KR" i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0E99DAF-8977-A6F8-9BD8-BF48455D1935}"/>
              </a:ext>
            </a:extLst>
          </p:cNvPr>
          <p:cNvSpPr/>
          <p:nvPr/>
        </p:nvSpPr>
        <p:spPr>
          <a:xfrm>
            <a:off x="7984093" y="1534305"/>
            <a:ext cx="4046298" cy="4958569"/>
          </a:xfrm>
          <a:prstGeom prst="roundRect">
            <a:avLst>
              <a:gd name="adj" fmla="val 845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Baseline Evaluation (CER) ] </a:t>
            </a: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" name="Google Shape;240;p11">
            <a:extLst>
              <a:ext uri="{FF2B5EF4-FFF2-40B4-BE49-F238E27FC236}">
                <a16:creationId xmlns:a16="http://schemas.microsoft.com/office/drawing/2014/main" id="{10694978-027D-36A7-DD70-92B666C628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25737" y="2529902"/>
            <a:ext cx="360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41;p11">
            <a:extLst>
              <a:ext uri="{FF2B5EF4-FFF2-40B4-BE49-F238E27FC236}">
                <a16:creationId xmlns:a16="http://schemas.microsoft.com/office/drawing/2014/main" id="{E0967562-2741-D26A-9067-6BD9698BB98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25737" y="4670789"/>
            <a:ext cx="36000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6DD4F75-014A-6DAE-B5AF-5A314E2B769C}"/>
              </a:ext>
            </a:extLst>
          </p:cNvPr>
          <p:cNvSpPr txBox="1"/>
          <p:nvPr/>
        </p:nvSpPr>
        <p:spPr>
          <a:xfrm>
            <a:off x="9247517" y="2222125"/>
            <a:ext cx="1350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* Training Split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D0C197-6840-A578-0D28-CBD38BFCD830}"/>
              </a:ext>
            </a:extLst>
          </p:cNvPr>
          <p:cNvSpPr txBox="1"/>
          <p:nvPr/>
        </p:nvSpPr>
        <p:spPr>
          <a:xfrm>
            <a:off x="9332217" y="4328098"/>
            <a:ext cx="149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* Validation Split</a:t>
            </a:r>
          </a:p>
        </p:txBody>
      </p:sp>
    </p:spTree>
    <p:extLst>
      <p:ext uri="{BB962C8B-B14F-4D97-AF65-F5344CB8AC3E}">
        <p14:creationId xmlns:p14="http://schemas.microsoft.com/office/powerpoint/2010/main" val="2431860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B6B24-FB96-BF3E-B33B-C38AE144F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*Basic Research Design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1E6E0E-1682-6943-049A-3294B53CD108}"/>
              </a:ext>
            </a:extLst>
          </p:cNvPr>
          <p:cNvSpPr txBox="1">
            <a:spLocks/>
          </p:cNvSpPr>
          <p:nvPr/>
        </p:nvSpPr>
        <p:spPr>
          <a:xfrm>
            <a:off x="365126" y="1137959"/>
            <a:ext cx="11238762" cy="306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8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Encoder-Focused Fine-tuning (</a:t>
            </a:r>
            <a:r>
              <a:rPr lang="ko-KR" altLang="en-US" sz="18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왜 인코더인가</a:t>
            </a:r>
            <a:r>
              <a:rPr lang="en-US" altLang="ko-KR" sz="18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?)</a:t>
            </a:r>
          </a:p>
          <a:p>
            <a:pPr lvl="1">
              <a:lnSpc>
                <a:spcPct val="100000"/>
              </a:lnSpc>
            </a:pPr>
            <a:r>
              <a:rPr 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L2 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학습자의 발음 특성은 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'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음향적 차이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'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 있으므로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언어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모델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Decoder)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아닌 음향 추출기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Encoder)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교정해야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Only on Encoder</a:t>
            </a:r>
          </a:p>
          <a:p>
            <a:pPr lvl="2">
              <a:lnSpc>
                <a:spcPct val="100000"/>
              </a:lnSpc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LoRA fine-tuning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인코더에만 집중적으로 적용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Acoustic Feature Learning</a:t>
            </a:r>
          </a:p>
          <a:p>
            <a:pPr lvl="2">
              <a:lnSpc>
                <a:spcPct val="100000"/>
              </a:lnSpc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L2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학습자 특유의 왜곡된 음향 패턴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악센트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조음 위치 미숙 등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 인코더 레벨에서 추출되는 특징점들임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Language Model Preservation</a:t>
            </a:r>
          </a:p>
          <a:p>
            <a:pPr lvl="2">
              <a:lnSpc>
                <a:spcPct val="100000"/>
              </a:lnSpc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이미 한국어를 잘 아는 디코더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(Whisper-small)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고정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(Freeze)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하여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문법이나 문맥 이해 능력을 보존하고 소규모 데이터셋에서의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Catastrophic Forgetting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방지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lvl="1">
              <a:lnSpc>
                <a:spcPct val="100000"/>
              </a:lnSpc>
            </a:pP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4E2E7F2-7F3C-B866-CFCA-A2638BEF2FAD}"/>
              </a:ext>
            </a:extLst>
          </p:cNvPr>
          <p:cNvGrpSpPr/>
          <p:nvPr/>
        </p:nvGrpSpPr>
        <p:grpSpPr>
          <a:xfrm>
            <a:off x="1782002" y="3943698"/>
            <a:ext cx="9211557" cy="2673830"/>
            <a:chOff x="1782002" y="3943698"/>
            <a:chExt cx="9211557" cy="2673830"/>
          </a:xfrm>
        </p:grpSpPr>
        <p:pic>
          <p:nvPicPr>
            <p:cNvPr id="7" name="Picture 2" descr="OpenAI's Most Recent Model: Whisper (explained)">
              <a:extLst>
                <a:ext uri="{FF2B5EF4-FFF2-40B4-BE49-F238E27FC236}">
                  <a16:creationId xmlns:a16="http://schemas.microsoft.com/office/drawing/2014/main" id="{0D314A8D-B1C9-9D68-CC9B-762BDBAE73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5969" y="4059680"/>
              <a:ext cx="3565001" cy="25578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C557D2BC-CE62-34B7-CD3F-3E6124C1D55C}"/>
                </a:ext>
              </a:extLst>
            </p:cNvPr>
            <p:cNvSpPr/>
            <p:nvPr/>
          </p:nvSpPr>
          <p:spPr>
            <a:xfrm>
              <a:off x="1925011" y="4338357"/>
              <a:ext cx="480958" cy="197809"/>
            </a:xfrm>
            <a:prstGeom prst="roundRect">
              <a:avLst/>
            </a:prstGeom>
            <a:solidFill>
              <a:srgbClr val="BE0E00">
                <a:alpha val="3098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1050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lora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8BACED0-43D5-2784-0F26-01EFBA93E502}"/>
                </a:ext>
              </a:extLst>
            </p:cNvPr>
            <p:cNvSpPr txBox="1"/>
            <p:nvPr/>
          </p:nvSpPr>
          <p:spPr>
            <a:xfrm>
              <a:off x="1787851" y="4241974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🔥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88C1AB0A-8FE2-0C7B-3888-E586B58B853D}"/>
                </a:ext>
              </a:extLst>
            </p:cNvPr>
            <p:cNvSpPr/>
            <p:nvPr/>
          </p:nvSpPr>
          <p:spPr>
            <a:xfrm>
              <a:off x="1925011" y="4582865"/>
              <a:ext cx="480958" cy="197809"/>
            </a:xfrm>
            <a:prstGeom prst="roundRect">
              <a:avLst/>
            </a:prstGeom>
            <a:solidFill>
              <a:srgbClr val="BE0E00">
                <a:alpha val="3098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1050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lora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CA566598-4D4B-4E99-FECA-65FF7B8BC989}"/>
                </a:ext>
              </a:extLst>
            </p:cNvPr>
            <p:cNvSpPr/>
            <p:nvPr/>
          </p:nvSpPr>
          <p:spPr>
            <a:xfrm>
              <a:off x="1925011" y="5007719"/>
              <a:ext cx="480958" cy="197809"/>
            </a:xfrm>
            <a:prstGeom prst="roundRect">
              <a:avLst/>
            </a:prstGeom>
            <a:solidFill>
              <a:srgbClr val="BE0E00">
                <a:alpha val="3098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1050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lora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170DA95-EC2E-E965-A738-306CB29CB58B}"/>
                </a:ext>
              </a:extLst>
            </p:cNvPr>
            <p:cNvSpPr/>
            <p:nvPr/>
          </p:nvSpPr>
          <p:spPr>
            <a:xfrm>
              <a:off x="1925011" y="5269420"/>
              <a:ext cx="480958" cy="197809"/>
            </a:xfrm>
            <a:prstGeom prst="roundRect">
              <a:avLst/>
            </a:prstGeom>
            <a:solidFill>
              <a:srgbClr val="BE0E00">
                <a:alpha val="3098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1050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lora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B5A9494-C936-8C4E-2BB4-C0DB656A866A}"/>
                </a:ext>
              </a:extLst>
            </p:cNvPr>
            <p:cNvSpPr txBox="1"/>
            <p:nvPr/>
          </p:nvSpPr>
          <p:spPr>
            <a:xfrm>
              <a:off x="1782002" y="4486346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🔥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02B71C-A0BE-3D53-C538-09EF14567B82}"/>
                </a:ext>
              </a:extLst>
            </p:cNvPr>
            <p:cNvSpPr txBox="1"/>
            <p:nvPr/>
          </p:nvSpPr>
          <p:spPr>
            <a:xfrm>
              <a:off x="1782002" y="4911334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🔥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7709AF-B8E1-BE3C-3B2A-1E02CA26A23C}"/>
                </a:ext>
              </a:extLst>
            </p:cNvPr>
            <p:cNvSpPr txBox="1"/>
            <p:nvPr/>
          </p:nvSpPr>
          <p:spPr>
            <a:xfrm>
              <a:off x="1782002" y="5173638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🔥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70DE080-EE52-6486-EA0F-7FDEA1505850}"/>
                </a:ext>
              </a:extLst>
            </p:cNvPr>
            <p:cNvSpPr txBox="1"/>
            <p:nvPr/>
          </p:nvSpPr>
          <p:spPr>
            <a:xfrm>
              <a:off x="5632416" y="4526603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❄️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1669DC3-F056-508B-5341-D5778208D064}"/>
                </a:ext>
              </a:extLst>
            </p:cNvPr>
            <p:cNvSpPr txBox="1"/>
            <p:nvPr/>
          </p:nvSpPr>
          <p:spPr>
            <a:xfrm>
              <a:off x="5632416" y="4781084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❄️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EC53659-47DE-1BA9-6A80-5ABD177FBCE2}"/>
                </a:ext>
              </a:extLst>
            </p:cNvPr>
            <p:cNvSpPr txBox="1"/>
            <p:nvPr/>
          </p:nvSpPr>
          <p:spPr>
            <a:xfrm>
              <a:off x="5632416" y="5291858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❄️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F1D6839-E22D-3909-F4FE-4140F85BF987}"/>
                </a:ext>
              </a:extLst>
            </p:cNvPr>
            <p:cNvSpPr txBox="1"/>
            <p:nvPr/>
          </p:nvSpPr>
          <p:spPr>
            <a:xfrm>
              <a:off x="5632416" y="5546339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❄️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8360074-0AB9-022E-3454-40C6D2628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9879"/>
            <a:stretch>
              <a:fillRect/>
            </a:stretch>
          </p:blipFill>
          <p:spPr>
            <a:xfrm>
              <a:off x="6451928" y="4286571"/>
              <a:ext cx="4541631" cy="2230328"/>
            </a:xfrm>
            <a:prstGeom prst="rect">
              <a:avLst/>
            </a:prstGeom>
          </p:spPr>
        </p:pic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6413DE7F-9C5A-A25D-A006-A7F7133C86A6}"/>
                </a:ext>
              </a:extLst>
            </p:cNvPr>
            <p:cNvCxnSpPr>
              <a:cxnSpLocks/>
            </p:cNvCxnSpPr>
            <p:nvPr/>
          </p:nvCxnSpPr>
          <p:spPr>
            <a:xfrm>
              <a:off x="3693978" y="3943698"/>
              <a:ext cx="2757950" cy="1332558"/>
            </a:xfrm>
            <a:prstGeom prst="bentConnector3">
              <a:avLst>
                <a:gd name="adj1" fmla="val 90668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35FC7AC-0549-00F8-19F7-96600CBC6BD1}"/>
                </a:ext>
              </a:extLst>
            </p:cNvPr>
            <p:cNvCxnSpPr/>
            <p:nvPr/>
          </p:nvCxnSpPr>
          <p:spPr>
            <a:xfrm>
              <a:off x="3693978" y="3943698"/>
              <a:ext cx="0" cy="218399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54750E99-0A25-0A60-F1D7-7AA39B83650B}"/>
              </a:ext>
            </a:extLst>
          </p:cNvPr>
          <p:cNvSpPr txBox="1"/>
          <p:nvPr/>
        </p:nvSpPr>
        <p:spPr>
          <a:xfrm>
            <a:off x="9914001" y="3953317"/>
            <a:ext cx="21708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</a:t>
            </a:r>
            <a:r>
              <a:rPr lang="en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round Truth G2P/IPA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F51039C-4E88-73A1-ECEF-78C0E6611606}"/>
              </a:ext>
            </a:extLst>
          </p:cNvPr>
          <p:cNvCxnSpPr>
            <a:cxnSpLocks/>
          </p:cNvCxnSpPr>
          <p:nvPr/>
        </p:nvCxnSpPr>
        <p:spPr>
          <a:xfrm>
            <a:off x="10675589" y="4241974"/>
            <a:ext cx="0" cy="706985"/>
          </a:xfrm>
          <a:prstGeom prst="straightConnector1">
            <a:avLst/>
          </a:prstGeom>
          <a:ln w="9525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DB7A93-868B-A33D-915E-911FC41BCD77}"/>
                  </a:ext>
                </a:extLst>
              </p:cNvPr>
              <p:cNvSpPr txBox="1"/>
              <p:nvPr/>
            </p:nvSpPr>
            <p:spPr>
              <a:xfrm>
                <a:off x="10665808" y="4458441"/>
                <a:ext cx="48673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𝐶𝑇𝐶</m:t>
                          </m:r>
                        </m:sub>
                      </m:sSub>
                    </m:oMath>
                  </m:oMathPara>
                </a14:m>
                <a:endParaRPr lang="en-KR" sz="11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DB7A93-868B-A33D-915E-911FC41BC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5808" y="4458441"/>
                <a:ext cx="486735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Left Brace 25">
            <a:extLst>
              <a:ext uri="{FF2B5EF4-FFF2-40B4-BE49-F238E27FC236}">
                <a16:creationId xmlns:a16="http://schemas.microsoft.com/office/drawing/2014/main" id="{CB1E35F8-608B-636E-217B-FC428B9EFAA6}"/>
              </a:ext>
            </a:extLst>
          </p:cNvPr>
          <p:cNvSpPr/>
          <p:nvPr/>
        </p:nvSpPr>
        <p:spPr>
          <a:xfrm>
            <a:off x="4014368" y="260606"/>
            <a:ext cx="231493" cy="656851"/>
          </a:xfrm>
          <a:prstGeom prst="leftBrac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E01363-14E3-5DA7-78A1-D9DD4758E7E1}"/>
              </a:ext>
            </a:extLst>
          </p:cNvPr>
          <p:cNvSpPr txBox="1"/>
          <p:nvPr/>
        </p:nvSpPr>
        <p:spPr>
          <a:xfrm>
            <a:off x="4245861" y="127366"/>
            <a:ext cx="723275" cy="92333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KR" sz="18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</a:t>
            </a:r>
          </a:p>
          <a:p>
            <a:r>
              <a:rPr lang="en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What</a:t>
            </a:r>
          </a:p>
          <a:p>
            <a:r>
              <a:rPr lang="en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How</a:t>
            </a:r>
          </a:p>
        </p:txBody>
      </p:sp>
    </p:spTree>
    <p:extLst>
      <p:ext uri="{BB962C8B-B14F-4D97-AF65-F5344CB8AC3E}">
        <p14:creationId xmlns:p14="http://schemas.microsoft.com/office/powerpoint/2010/main" val="939293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135C51-F4FB-E6F1-35B6-22E98D1C9794}"/>
              </a:ext>
            </a:extLst>
          </p:cNvPr>
          <p:cNvSpPr txBox="1">
            <a:spLocks/>
          </p:cNvSpPr>
          <p:nvPr/>
        </p:nvSpPr>
        <p:spPr>
          <a:xfrm>
            <a:off x="365126" y="1155215"/>
            <a:ext cx="11416878" cy="535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8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Phonetic Milestone: Jamo &amp; IPA (</a:t>
            </a:r>
            <a:r>
              <a:rPr lang="ko-KR" altLang="en-US" sz="18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무엇을 가르쳤나</a:t>
            </a:r>
            <a:r>
              <a:rPr lang="en-US" altLang="ko-KR" sz="18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?)</a:t>
            </a:r>
          </a:p>
          <a:p>
            <a:pPr lvl="1">
              <a:lnSpc>
                <a:spcPct val="100000"/>
              </a:lnSpc>
            </a:pP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인코더에게 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'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소리의 최소 단위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'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이정표로 제시하여 음향적 해상도를 높인다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Dual-Phonetic Targets</a:t>
            </a:r>
          </a:p>
          <a:p>
            <a:pPr lvl="2">
              <a:lnSpc>
                <a:spcPct val="100000"/>
              </a:lnSpc>
            </a:pPr>
            <a:r>
              <a:rPr lang="en-US" altLang="ko-KR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Jamo (G2P):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한국어의 시각적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구조적 특성을 반영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초성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중성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종성의 결합 오류 포착에 최적화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lvl="2">
              <a:lnSpc>
                <a:spcPct val="100000"/>
              </a:lnSpc>
            </a:pPr>
            <a:r>
              <a:rPr lang="en-US" altLang="ko-KR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IPA (Yale):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국제 표준 음성 기호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언어권별 모국어 간섭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(L1 Interference)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 인한 미세한 조음 위치 변이를 수치화하는 데 유리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Goal</a:t>
            </a:r>
          </a:p>
          <a:p>
            <a:pPr lvl="2">
              <a:lnSpc>
                <a:spcPct val="100000"/>
              </a:lnSpc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글자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(Grapheme)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단위의 인식을 넘어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물리적 신호가 음소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(Phoneme)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범주로 매핑되는 과정을 인코더가 학습하게 함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lvl="1">
              <a:lnSpc>
                <a:spcPct val="100000"/>
              </a:lnSpc>
            </a:pP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83F8DF-B921-B996-183C-35586D3D4E0D}"/>
              </a:ext>
            </a:extLst>
          </p:cNvPr>
          <p:cNvGrpSpPr/>
          <p:nvPr/>
        </p:nvGrpSpPr>
        <p:grpSpPr>
          <a:xfrm>
            <a:off x="1782002" y="3943698"/>
            <a:ext cx="9211557" cy="2673830"/>
            <a:chOff x="1782002" y="3943698"/>
            <a:chExt cx="9211557" cy="2673830"/>
          </a:xfrm>
        </p:grpSpPr>
        <p:pic>
          <p:nvPicPr>
            <p:cNvPr id="6" name="Picture 2" descr="OpenAI's Most Recent Model: Whisper (explained)">
              <a:extLst>
                <a:ext uri="{FF2B5EF4-FFF2-40B4-BE49-F238E27FC236}">
                  <a16:creationId xmlns:a16="http://schemas.microsoft.com/office/drawing/2014/main" id="{0CE7C3D9-D493-A0B0-EABE-978A667D11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5969" y="4059680"/>
              <a:ext cx="3565001" cy="25578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134E86F-EA6A-1C7C-692A-DAAA1CFD0B74}"/>
                </a:ext>
              </a:extLst>
            </p:cNvPr>
            <p:cNvSpPr/>
            <p:nvPr/>
          </p:nvSpPr>
          <p:spPr>
            <a:xfrm>
              <a:off x="1925011" y="4338357"/>
              <a:ext cx="480958" cy="197809"/>
            </a:xfrm>
            <a:prstGeom prst="roundRect">
              <a:avLst/>
            </a:prstGeom>
            <a:solidFill>
              <a:srgbClr val="BE0E00">
                <a:alpha val="3098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1050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lora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8C76889-1AF2-CE77-C3C5-38A207C33C88}"/>
                </a:ext>
              </a:extLst>
            </p:cNvPr>
            <p:cNvSpPr txBox="1"/>
            <p:nvPr/>
          </p:nvSpPr>
          <p:spPr>
            <a:xfrm>
              <a:off x="1787851" y="4241974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🔥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351C60BD-C8A2-0D1F-C0C6-375E22F7032F}"/>
                </a:ext>
              </a:extLst>
            </p:cNvPr>
            <p:cNvSpPr/>
            <p:nvPr/>
          </p:nvSpPr>
          <p:spPr>
            <a:xfrm>
              <a:off x="1925011" y="4582865"/>
              <a:ext cx="480958" cy="197809"/>
            </a:xfrm>
            <a:prstGeom prst="roundRect">
              <a:avLst/>
            </a:prstGeom>
            <a:solidFill>
              <a:srgbClr val="BE0E00">
                <a:alpha val="3098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1050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lora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86B54FDE-F834-F554-394E-024F361F156D}"/>
                </a:ext>
              </a:extLst>
            </p:cNvPr>
            <p:cNvSpPr/>
            <p:nvPr/>
          </p:nvSpPr>
          <p:spPr>
            <a:xfrm>
              <a:off x="1925011" y="5007719"/>
              <a:ext cx="480958" cy="197809"/>
            </a:xfrm>
            <a:prstGeom prst="roundRect">
              <a:avLst/>
            </a:prstGeom>
            <a:solidFill>
              <a:srgbClr val="BE0E00">
                <a:alpha val="3098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1050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lora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9824DA3A-7ADC-6239-E4AC-F73262C4759B}"/>
                </a:ext>
              </a:extLst>
            </p:cNvPr>
            <p:cNvSpPr/>
            <p:nvPr/>
          </p:nvSpPr>
          <p:spPr>
            <a:xfrm>
              <a:off x="1925011" y="5269420"/>
              <a:ext cx="480958" cy="197809"/>
            </a:xfrm>
            <a:prstGeom prst="roundRect">
              <a:avLst/>
            </a:prstGeom>
            <a:solidFill>
              <a:srgbClr val="BE0E00">
                <a:alpha val="3098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1050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lora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C48AD31-81AD-D9C6-134E-0D723FA1D07B}"/>
                </a:ext>
              </a:extLst>
            </p:cNvPr>
            <p:cNvSpPr txBox="1"/>
            <p:nvPr/>
          </p:nvSpPr>
          <p:spPr>
            <a:xfrm>
              <a:off x="1782002" y="4486346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🔥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D23B3E2-9A2E-8EBA-502C-B2B2F97401E7}"/>
                </a:ext>
              </a:extLst>
            </p:cNvPr>
            <p:cNvSpPr txBox="1"/>
            <p:nvPr/>
          </p:nvSpPr>
          <p:spPr>
            <a:xfrm>
              <a:off x="1782002" y="4911334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🔥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4EAB03F-3EDB-6007-C58B-AC564CDAACAF}"/>
                </a:ext>
              </a:extLst>
            </p:cNvPr>
            <p:cNvSpPr txBox="1"/>
            <p:nvPr/>
          </p:nvSpPr>
          <p:spPr>
            <a:xfrm>
              <a:off x="1782002" y="5173638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🔥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23B3FC7-4D40-F7EB-5EB0-D8EA554A2771}"/>
                </a:ext>
              </a:extLst>
            </p:cNvPr>
            <p:cNvSpPr txBox="1"/>
            <p:nvPr/>
          </p:nvSpPr>
          <p:spPr>
            <a:xfrm>
              <a:off x="5632416" y="4526603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❄️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FA507E0-8BF1-B58C-0979-EFE0C20AEBE9}"/>
                </a:ext>
              </a:extLst>
            </p:cNvPr>
            <p:cNvSpPr txBox="1"/>
            <p:nvPr/>
          </p:nvSpPr>
          <p:spPr>
            <a:xfrm>
              <a:off x="5632416" y="4781084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❄️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5863255-1252-D23C-C0CA-123D8AB76C47}"/>
                </a:ext>
              </a:extLst>
            </p:cNvPr>
            <p:cNvSpPr txBox="1"/>
            <p:nvPr/>
          </p:nvSpPr>
          <p:spPr>
            <a:xfrm>
              <a:off x="5632416" y="5291858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❄️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6C3D53C-00B2-4ECC-2DD4-A13C56F50640}"/>
                </a:ext>
              </a:extLst>
            </p:cNvPr>
            <p:cNvSpPr txBox="1"/>
            <p:nvPr/>
          </p:nvSpPr>
          <p:spPr>
            <a:xfrm>
              <a:off x="5632416" y="5546339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❄️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00AE5B9-DF28-EA0E-5A8D-181CA9016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9879"/>
            <a:stretch>
              <a:fillRect/>
            </a:stretch>
          </p:blipFill>
          <p:spPr>
            <a:xfrm>
              <a:off x="6451928" y="4286571"/>
              <a:ext cx="4541631" cy="2230328"/>
            </a:xfrm>
            <a:prstGeom prst="rect">
              <a:avLst/>
            </a:prstGeom>
          </p:spPr>
        </p:pic>
        <p:cxnSp>
          <p:nvCxnSpPr>
            <p:cNvPr id="20" name="Elbow Connector 19">
              <a:extLst>
                <a:ext uri="{FF2B5EF4-FFF2-40B4-BE49-F238E27FC236}">
                  <a16:creationId xmlns:a16="http://schemas.microsoft.com/office/drawing/2014/main" id="{2BB2DBAC-9C4A-C38F-8DF4-D33F8B5ABFEA}"/>
                </a:ext>
              </a:extLst>
            </p:cNvPr>
            <p:cNvCxnSpPr>
              <a:cxnSpLocks/>
            </p:cNvCxnSpPr>
            <p:nvPr/>
          </p:nvCxnSpPr>
          <p:spPr>
            <a:xfrm>
              <a:off x="3693978" y="3943698"/>
              <a:ext cx="2757950" cy="1332558"/>
            </a:xfrm>
            <a:prstGeom prst="bentConnector3">
              <a:avLst>
                <a:gd name="adj1" fmla="val 90668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B302D74-9A06-9589-E973-7A745EBE2C06}"/>
                </a:ext>
              </a:extLst>
            </p:cNvPr>
            <p:cNvCxnSpPr/>
            <p:nvPr/>
          </p:nvCxnSpPr>
          <p:spPr>
            <a:xfrm>
              <a:off x="3693978" y="3943698"/>
              <a:ext cx="0" cy="218399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1D054E67-676D-8590-9B8F-FA62EA6BB580}"/>
              </a:ext>
            </a:extLst>
          </p:cNvPr>
          <p:cNvSpPr txBox="1"/>
          <p:nvPr/>
        </p:nvSpPr>
        <p:spPr>
          <a:xfrm>
            <a:off x="9914002" y="3953317"/>
            <a:ext cx="22147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</a:t>
            </a:r>
            <a:r>
              <a:rPr lang="en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round Truth G2P/IPA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B5E6591-2569-B7DC-3F4F-08C9324F3679}"/>
              </a:ext>
            </a:extLst>
          </p:cNvPr>
          <p:cNvCxnSpPr>
            <a:cxnSpLocks/>
          </p:cNvCxnSpPr>
          <p:nvPr/>
        </p:nvCxnSpPr>
        <p:spPr>
          <a:xfrm>
            <a:off x="10675589" y="4241974"/>
            <a:ext cx="0" cy="706985"/>
          </a:xfrm>
          <a:prstGeom prst="straightConnector1">
            <a:avLst/>
          </a:prstGeom>
          <a:ln w="9525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213B5D7-0337-7F88-F352-99A868013B33}"/>
                  </a:ext>
                </a:extLst>
              </p:cNvPr>
              <p:cNvSpPr txBox="1"/>
              <p:nvPr/>
            </p:nvSpPr>
            <p:spPr>
              <a:xfrm>
                <a:off x="10665808" y="4458441"/>
                <a:ext cx="48673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𝐶𝑇𝐶</m:t>
                          </m:r>
                        </m:sub>
                      </m:sSub>
                    </m:oMath>
                  </m:oMathPara>
                </a14:m>
                <a:endParaRPr lang="en-KR" sz="11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213B5D7-0337-7F88-F352-99A868013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5808" y="4458441"/>
                <a:ext cx="486735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itle 1">
            <a:extLst>
              <a:ext uri="{FF2B5EF4-FFF2-40B4-BE49-F238E27FC236}">
                <a16:creationId xmlns:a16="http://schemas.microsoft.com/office/drawing/2014/main" id="{0B4CF0AF-DF4E-9973-D37D-0EEC8C35C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</p:spPr>
        <p:txBody>
          <a:bodyPr/>
          <a:lstStyle/>
          <a:p>
            <a:r>
              <a:rPr lang="en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*Basic Research Design</a:t>
            </a:r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C24C5B0A-A5C3-0006-EE5D-A652B9755EBD}"/>
              </a:ext>
            </a:extLst>
          </p:cNvPr>
          <p:cNvSpPr/>
          <p:nvPr/>
        </p:nvSpPr>
        <p:spPr>
          <a:xfrm>
            <a:off x="4014368" y="260606"/>
            <a:ext cx="231493" cy="656851"/>
          </a:xfrm>
          <a:prstGeom prst="leftBrac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5DFEC3-F3BC-C226-A76C-D5CF5200F55E}"/>
              </a:ext>
            </a:extLst>
          </p:cNvPr>
          <p:cNvSpPr txBox="1"/>
          <p:nvPr/>
        </p:nvSpPr>
        <p:spPr>
          <a:xfrm>
            <a:off x="4245861" y="127366"/>
            <a:ext cx="766557" cy="92333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</a:t>
            </a:r>
          </a:p>
          <a:p>
            <a:r>
              <a:rPr lang="en-KR" sz="18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What</a:t>
            </a:r>
          </a:p>
          <a:p>
            <a:r>
              <a:rPr lang="en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How</a:t>
            </a:r>
          </a:p>
        </p:txBody>
      </p:sp>
    </p:spTree>
    <p:extLst>
      <p:ext uri="{BB962C8B-B14F-4D97-AF65-F5344CB8AC3E}">
        <p14:creationId xmlns:p14="http://schemas.microsoft.com/office/powerpoint/2010/main" val="180220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C4D59E51-3C73-5D04-27E9-B8ABB5396E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5126" y="1137957"/>
                <a:ext cx="11322854" cy="53549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556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Char char="•"/>
                  <a:defRPr sz="16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3175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3175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Char char="•"/>
                  <a:def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sz="1800" b="1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CTC Head Structure &amp; Loss (</a:t>
                </a:r>
                <a:r>
                  <a:rPr lang="ko-KR" altLang="en-US" sz="1800" b="1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어떻게 학습시켰나</a:t>
                </a:r>
                <a:r>
                  <a:rPr lang="en-US" altLang="ko-KR" sz="1800" b="1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?)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CTC Head</a:t>
                </a:r>
                <a:r>
                  <a:rPr lang="ko-KR" altLang="en-US" sz="1600" dirty="0" err="1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를</a:t>
                </a:r>
                <a:r>
                  <a:rPr lang="ko-KR" altLang="en-US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통해 인코더에 직접적인 음향적 지도</a:t>
                </a: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(Supervision)</a:t>
                </a:r>
                <a:r>
                  <a:rPr lang="ko-KR" altLang="en-US" sz="1600" dirty="0" err="1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를</a:t>
                </a:r>
                <a:r>
                  <a:rPr lang="ko-KR" altLang="en-US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제공한다</a:t>
                </a: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ko-KR" sz="1600" b="1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CTC Head Architecture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Encoder</a:t>
                </a:r>
                <a:r>
                  <a:rPr lang="ko-KR" altLang="en-US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의 최종 </a:t>
                </a:r>
                <a:r>
                  <a:rPr lang="ko-KR" altLang="en-US" sz="1400" dirty="0" err="1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출력층</a:t>
                </a:r>
                <a:r>
                  <a:rPr lang="ko-KR" altLang="en-US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위에 부착된 </a:t>
                </a:r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Linear-</a:t>
                </a:r>
                <a:r>
                  <a:rPr lang="en-US" altLang="ko-KR" sz="1400" dirty="0" err="1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ReLU</a:t>
                </a:r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-Linear </a:t>
                </a:r>
                <a:r>
                  <a:rPr lang="ko-KR" altLang="en-US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구조의 경량 레이어</a:t>
                </a:r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ko-KR" altLang="en-US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각 프레임별 음소 확률 분포를 예측하여 입력 음성과 음소 시퀀스 간의 </a:t>
                </a:r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Alignment(</a:t>
                </a:r>
                <a:r>
                  <a:rPr lang="ko-KR" altLang="en-US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정렬</a:t>
                </a:r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)</a:t>
                </a:r>
                <a:r>
                  <a:rPr lang="ko-KR" altLang="en-US" sz="1400" dirty="0" err="1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를</a:t>
                </a:r>
                <a:r>
                  <a:rPr lang="ko-KR" altLang="en-US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자동 수행</a:t>
                </a:r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altLang="ko-KR" sz="1600" b="1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Loss Function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en-US" altLang="ko-KR" sz="1400" b="1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CTC Loss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𝑪𝑻𝑪</m:t>
                        </m:r>
                      </m:sub>
                    </m:sSub>
                  </m:oMath>
                </a14:m>
                <a:r>
                  <a:rPr lang="en-US" altLang="ko-KR" sz="1400" b="1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): </a:t>
                </a:r>
                <a:r>
                  <a:rPr lang="ko-KR" altLang="en-US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음성 프레임</a:t>
                </a:r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40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)</a:t>
                </a:r>
                <a:r>
                  <a:rPr lang="ko-KR" altLang="en-US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과 음소 시퀀스</a:t>
                </a:r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40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) </a:t>
                </a:r>
                <a:r>
                  <a:rPr lang="ko-KR" altLang="en-US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사이의 모든 가능한 정렬 경로</a:t>
                </a:r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40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)</a:t>
                </a:r>
                <a:r>
                  <a:rPr lang="ko-KR" altLang="en-US" sz="1400" dirty="0" err="1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를</a:t>
                </a:r>
                <a:r>
                  <a:rPr lang="ko-KR" altLang="en-US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고려하여 가능도를 최대화</a:t>
                </a:r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.</a:t>
                </a:r>
              </a:p>
              <a:p>
                <a:pPr marL="914400" lvl="2" indent="0" algn="ctr">
                  <a:lnSpc>
                    <a:spcPct val="100000"/>
                  </a:lnSpc>
                  <a:buFont typeface="Arial"/>
                  <a:buNone/>
                </a:pPr>
                <a:endParaRPr lang="en-US" altLang="ko-KR" sz="500" i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  <a:p>
                <a:pPr marL="914400" lvl="2" indent="0" algn="ctr">
                  <a:lnSpc>
                    <a:spcPct val="100000"/>
                  </a:lnSpc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  <a:p>
                <a:pPr marL="914400" lvl="2" indent="0" algn="ctr">
                  <a:lnSpc>
                    <a:spcPct val="100000"/>
                  </a:lnSpc>
                  <a:buFont typeface="Arial"/>
                  <a:buNone/>
                </a:pPr>
                <a:endParaRPr lang="en-US" altLang="ko-KR" sz="5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  <a:p>
                <a:pPr lvl="2">
                  <a:lnSpc>
                    <a:spcPct val="100000"/>
                  </a:lnSpc>
                </a:pPr>
                <a:r>
                  <a:rPr lang="en-US" sz="1400" b="1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Total Multi-task Loss</a:t>
                </a:r>
                <a:r>
                  <a:rPr lang="en-US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: </a:t>
                </a:r>
                <a:r>
                  <a:rPr lang="ko-KR" altLang="en-US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메인 작업</a:t>
                </a:r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(</a:t>
                </a:r>
                <a:r>
                  <a:rPr lang="en-US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ASR)</a:t>
                </a:r>
                <a:r>
                  <a:rPr lang="ko-KR" altLang="en-US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과 보조 작업</a:t>
                </a:r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(</a:t>
                </a:r>
                <a:r>
                  <a:rPr lang="en-US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CTC)</a:t>
                </a:r>
                <a:r>
                  <a:rPr lang="ko-KR" altLang="en-US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의 가중 합산</a:t>
                </a:r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. (ex.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 smtClean="0">
                        <a:latin typeface="Cambria Math" panose="02040503050406030204" pitchFamily="18" charset="0"/>
                      </a:rPr>
                      <m:t>=0.7,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 smtClean="0"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)</a:t>
                </a:r>
              </a:p>
              <a:p>
                <a:pPr marL="914400" lvl="2" indent="0" algn="ctr">
                  <a:lnSpc>
                    <a:spcPct val="100000"/>
                  </a:lnSpc>
                  <a:buFont typeface="Arial"/>
                  <a:buNone/>
                </a:pPr>
                <a:endParaRPr lang="en-US" sz="500" i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  <a:p>
                <a:pPr marL="914400" lvl="2" indent="0" algn="ctr">
                  <a:lnSpc>
                    <a:spcPct val="100000"/>
                  </a:lnSpc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×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𝐴𝑆𝑅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𝐶𝑇𝐶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  <a:p>
                <a:pPr marL="914400" lvl="2" indent="0" algn="ctr">
                  <a:lnSpc>
                    <a:spcPct val="100000"/>
                  </a:lnSpc>
                  <a:buFont typeface="Arial"/>
                  <a:buNone/>
                </a:pPr>
                <a:endParaRPr lang="en-US" altLang="ko-KR" sz="5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  <a:p>
                <a:pPr lvl="3">
                  <a:lnSpc>
                    <a:spcPct val="100000"/>
                  </a:lnSpc>
                </a:pPr>
                <a:endParaRPr lang="en-US" altLang="ko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  <a:p>
                <a:pPr lvl="1">
                  <a:lnSpc>
                    <a:spcPct val="100000"/>
                  </a:lnSpc>
                </a:pPr>
                <a:endParaRPr lang="en-US" altLang="ko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C4D59E51-3C73-5D04-27E9-B8ABB5396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26" y="1137957"/>
                <a:ext cx="11322854" cy="53549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A2C72CCB-74D9-6AAF-B456-271493C23BEF}"/>
              </a:ext>
            </a:extLst>
          </p:cNvPr>
          <p:cNvGrpSpPr/>
          <p:nvPr/>
        </p:nvGrpSpPr>
        <p:grpSpPr>
          <a:xfrm>
            <a:off x="1442397" y="4962885"/>
            <a:ext cx="5598594" cy="1654643"/>
            <a:chOff x="1702967" y="3943698"/>
            <a:chExt cx="9290592" cy="2673830"/>
          </a:xfrm>
        </p:grpSpPr>
        <p:pic>
          <p:nvPicPr>
            <p:cNvPr id="27" name="Picture 2" descr="OpenAI's Most Recent Model: Whisper (explained)">
              <a:extLst>
                <a:ext uri="{FF2B5EF4-FFF2-40B4-BE49-F238E27FC236}">
                  <a16:creationId xmlns:a16="http://schemas.microsoft.com/office/drawing/2014/main" id="{42340E98-EDC7-873D-6EAF-9D754F60F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5969" y="4059680"/>
              <a:ext cx="3565001" cy="25578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9E3DA0E7-7B1F-3779-379D-0060BC12FB42}"/>
                </a:ext>
              </a:extLst>
            </p:cNvPr>
            <p:cNvSpPr/>
            <p:nvPr/>
          </p:nvSpPr>
          <p:spPr>
            <a:xfrm>
              <a:off x="1925011" y="4338357"/>
              <a:ext cx="480958" cy="197809"/>
            </a:xfrm>
            <a:prstGeom prst="roundRect">
              <a:avLst/>
            </a:prstGeom>
            <a:solidFill>
              <a:srgbClr val="BE0E00">
                <a:alpha val="3098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400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lora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6C45396-DFE3-63EF-5DD0-B847A1BF0376}"/>
                </a:ext>
              </a:extLst>
            </p:cNvPr>
            <p:cNvSpPr txBox="1"/>
            <p:nvPr/>
          </p:nvSpPr>
          <p:spPr>
            <a:xfrm>
              <a:off x="1708817" y="4206060"/>
              <a:ext cx="519252" cy="397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🔥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2630BA08-6684-31E2-A38B-79887F8D0E56}"/>
                </a:ext>
              </a:extLst>
            </p:cNvPr>
            <p:cNvSpPr/>
            <p:nvPr/>
          </p:nvSpPr>
          <p:spPr>
            <a:xfrm>
              <a:off x="1925011" y="4582865"/>
              <a:ext cx="480958" cy="197809"/>
            </a:xfrm>
            <a:prstGeom prst="roundRect">
              <a:avLst/>
            </a:prstGeom>
            <a:solidFill>
              <a:srgbClr val="BE0E00">
                <a:alpha val="3098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400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lora</a:t>
              </a: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AEC513F2-3422-3595-EB12-D03AEA817BFF}"/>
                </a:ext>
              </a:extLst>
            </p:cNvPr>
            <p:cNvSpPr/>
            <p:nvPr/>
          </p:nvSpPr>
          <p:spPr>
            <a:xfrm>
              <a:off x="1925011" y="5007719"/>
              <a:ext cx="480958" cy="197809"/>
            </a:xfrm>
            <a:prstGeom prst="roundRect">
              <a:avLst/>
            </a:prstGeom>
            <a:solidFill>
              <a:srgbClr val="BE0E00">
                <a:alpha val="3098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400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lora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8B8E5560-F9A8-8501-4BF3-7D07159D4E86}"/>
                </a:ext>
              </a:extLst>
            </p:cNvPr>
            <p:cNvSpPr/>
            <p:nvPr/>
          </p:nvSpPr>
          <p:spPr>
            <a:xfrm>
              <a:off x="1925011" y="5269420"/>
              <a:ext cx="480958" cy="197809"/>
            </a:xfrm>
            <a:prstGeom prst="roundRect">
              <a:avLst/>
            </a:prstGeom>
            <a:solidFill>
              <a:srgbClr val="BE0E00">
                <a:alpha val="3098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400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lora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162EBEB-5B72-AC16-0777-2953B4C99C25}"/>
                </a:ext>
              </a:extLst>
            </p:cNvPr>
            <p:cNvSpPr txBox="1"/>
            <p:nvPr/>
          </p:nvSpPr>
          <p:spPr>
            <a:xfrm>
              <a:off x="1702967" y="4450431"/>
              <a:ext cx="519252" cy="397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🔥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EEF8AD9-09A8-C710-5803-EF13764D3305}"/>
                </a:ext>
              </a:extLst>
            </p:cNvPr>
            <p:cNvSpPr txBox="1"/>
            <p:nvPr/>
          </p:nvSpPr>
          <p:spPr>
            <a:xfrm>
              <a:off x="1702967" y="4875419"/>
              <a:ext cx="519252" cy="397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🔥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1A9694A-8BF7-9F41-1D71-E2CC86423542}"/>
                </a:ext>
              </a:extLst>
            </p:cNvPr>
            <p:cNvSpPr txBox="1"/>
            <p:nvPr/>
          </p:nvSpPr>
          <p:spPr>
            <a:xfrm>
              <a:off x="1702967" y="5137723"/>
              <a:ext cx="519252" cy="397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🔥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944E5F0-7EBD-E624-4700-3AF89C46509B}"/>
                </a:ext>
              </a:extLst>
            </p:cNvPr>
            <p:cNvSpPr txBox="1"/>
            <p:nvPr/>
          </p:nvSpPr>
          <p:spPr>
            <a:xfrm>
              <a:off x="5584997" y="4485557"/>
              <a:ext cx="519252" cy="397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❄️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9231A06-81BC-6B93-44F7-EAB1A2CE3065}"/>
                </a:ext>
              </a:extLst>
            </p:cNvPr>
            <p:cNvSpPr txBox="1"/>
            <p:nvPr/>
          </p:nvSpPr>
          <p:spPr>
            <a:xfrm>
              <a:off x="5584997" y="4740039"/>
              <a:ext cx="519252" cy="397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❄️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CE6E0B1-1F43-A6F8-200C-C34D5C9CEC0E}"/>
                </a:ext>
              </a:extLst>
            </p:cNvPr>
            <p:cNvSpPr txBox="1"/>
            <p:nvPr/>
          </p:nvSpPr>
          <p:spPr>
            <a:xfrm>
              <a:off x="5584997" y="5250812"/>
              <a:ext cx="519252" cy="397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❄️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14417FC-DA73-5951-020D-ADC0D92F85CF}"/>
                </a:ext>
              </a:extLst>
            </p:cNvPr>
            <p:cNvSpPr txBox="1"/>
            <p:nvPr/>
          </p:nvSpPr>
          <p:spPr>
            <a:xfrm>
              <a:off x="5584997" y="5505293"/>
              <a:ext cx="519252" cy="397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❄️</a:t>
              </a: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AD8585AC-A375-CBDB-6560-A024FD23A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9879"/>
            <a:stretch>
              <a:fillRect/>
            </a:stretch>
          </p:blipFill>
          <p:spPr>
            <a:xfrm>
              <a:off x="6451928" y="4286571"/>
              <a:ext cx="4541631" cy="2230328"/>
            </a:xfrm>
            <a:prstGeom prst="rect">
              <a:avLst/>
            </a:prstGeom>
          </p:spPr>
        </p:pic>
        <p:cxnSp>
          <p:nvCxnSpPr>
            <p:cNvPr id="41" name="Elbow Connector 40">
              <a:extLst>
                <a:ext uri="{FF2B5EF4-FFF2-40B4-BE49-F238E27FC236}">
                  <a16:creationId xmlns:a16="http://schemas.microsoft.com/office/drawing/2014/main" id="{11CDD6A7-5FB3-A057-712F-CCF4B53B83C8}"/>
                </a:ext>
              </a:extLst>
            </p:cNvPr>
            <p:cNvCxnSpPr>
              <a:cxnSpLocks/>
            </p:cNvCxnSpPr>
            <p:nvPr/>
          </p:nvCxnSpPr>
          <p:spPr>
            <a:xfrm>
              <a:off x="3693978" y="3943698"/>
              <a:ext cx="2757950" cy="1332558"/>
            </a:xfrm>
            <a:prstGeom prst="bentConnector3">
              <a:avLst>
                <a:gd name="adj1" fmla="val 90668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67C2C5A-1CDD-8B42-CAB6-D97917C75780}"/>
                </a:ext>
              </a:extLst>
            </p:cNvPr>
            <p:cNvCxnSpPr/>
            <p:nvPr/>
          </p:nvCxnSpPr>
          <p:spPr>
            <a:xfrm>
              <a:off x="3693978" y="3943698"/>
              <a:ext cx="0" cy="218399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5DE8AE1-A8D8-738A-B351-ED3E575602D6}"/>
              </a:ext>
            </a:extLst>
          </p:cNvPr>
          <p:cNvSpPr txBox="1"/>
          <p:nvPr/>
        </p:nvSpPr>
        <p:spPr>
          <a:xfrm>
            <a:off x="8621503" y="5645103"/>
            <a:ext cx="1972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</a:t>
            </a:r>
            <a:r>
              <a:rPr lang="en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round Truth G2P/IPA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9B2956D-48FE-33D8-9325-FE1A554D007B}"/>
              </a:ext>
            </a:extLst>
          </p:cNvPr>
          <p:cNvCxnSpPr/>
          <p:nvPr/>
        </p:nvCxnSpPr>
        <p:spPr>
          <a:xfrm>
            <a:off x="7173686" y="5783280"/>
            <a:ext cx="1251857" cy="0"/>
          </a:xfrm>
          <a:prstGeom prst="straightConnector1">
            <a:avLst/>
          </a:prstGeom>
          <a:ln w="9525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4C6B500-F6D3-70E8-8C6C-FAD9830F347D}"/>
                  </a:ext>
                </a:extLst>
              </p:cNvPr>
              <p:cNvSpPr txBox="1"/>
              <p:nvPr/>
            </p:nvSpPr>
            <p:spPr>
              <a:xfrm>
                <a:off x="7545560" y="5465109"/>
                <a:ext cx="5793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𝐶𝑇𝐶</m:t>
                          </m:r>
                        </m:sub>
                      </m:sSub>
                    </m:oMath>
                  </m:oMathPara>
                </a14:m>
                <a:endParaRPr lang="en-KR" sz="14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4C6B500-F6D3-70E8-8C6C-FAD9830F3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560" y="5465109"/>
                <a:ext cx="579389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itle 1">
            <a:extLst>
              <a:ext uri="{FF2B5EF4-FFF2-40B4-BE49-F238E27FC236}">
                <a16:creationId xmlns:a16="http://schemas.microsoft.com/office/drawing/2014/main" id="{B237AA88-47FC-60A5-16E5-EE646E59F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</p:spPr>
        <p:txBody>
          <a:bodyPr/>
          <a:lstStyle/>
          <a:p>
            <a:r>
              <a:rPr lang="en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*Basic Research Design</a:t>
            </a:r>
          </a:p>
        </p:txBody>
      </p:sp>
      <p:sp>
        <p:nvSpPr>
          <p:cNvPr id="52" name="Left Brace 51">
            <a:extLst>
              <a:ext uri="{FF2B5EF4-FFF2-40B4-BE49-F238E27FC236}">
                <a16:creationId xmlns:a16="http://schemas.microsoft.com/office/drawing/2014/main" id="{C7F3B90D-3C8F-CE2E-2C4E-E69AF9856432}"/>
              </a:ext>
            </a:extLst>
          </p:cNvPr>
          <p:cNvSpPr/>
          <p:nvPr/>
        </p:nvSpPr>
        <p:spPr>
          <a:xfrm>
            <a:off x="4014368" y="260606"/>
            <a:ext cx="231493" cy="656851"/>
          </a:xfrm>
          <a:prstGeom prst="leftBrac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47FAC0-C7C6-09E1-C034-D02991FA19D9}"/>
              </a:ext>
            </a:extLst>
          </p:cNvPr>
          <p:cNvSpPr txBox="1"/>
          <p:nvPr/>
        </p:nvSpPr>
        <p:spPr>
          <a:xfrm>
            <a:off x="4245861" y="127366"/>
            <a:ext cx="748923" cy="92333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</a:t>
            </a:r>
          </a:p>
          <a:p>
            <a:r>
              <a:rPr lang="en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What</a:t>
            </a:r>
          </a:p>
          <a:p>
            <a:r>
              <a:rPr lang="en-KR" sz="18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How</a:t>
            </a:r>
          </a:p>
        </p:txBody>
      </p:sp>
    </p:spTree>
    <p:extLst>
      <p:ext uri="{BB962C8B-B14F-4D97-AF65-F5344CB8AC3E}">
        <p14:creationId xmlns:p14="http://schemas.microsoft.com/office/powerpoint/2010/main" val="981311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FF3A78-031D-DD4B-DA7A-28721DFC6398}"/>
              </a:ext>
            </a:extLst>
          </p:cNvPr>
          <p:cNvSpPr txBox="1">
            <a:spLocks/>
          </p:cNvSpPr>
          <p:nvPr/>
        </p:nvSpPr>
        <p:spPr>
          <a:xfrm>
            <a:off x="365126" y="1137958"/>
            <a:ext cx="11416878" cy="535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8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CTC Head Structure &amp; Loss (</a:t>
            </a:r>
            <a:r>
              <a:rPr lang="ko-KR" altLang="en-US" sz="18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어떻게 학습시켰나</a:t>
            </a:r>
            <a:r>
              <a:rPr lang="en-US" altLang="ko-KR" sz="18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?)</a:t>
            </a:r>
          </a:p>
          <a:p>
            <a:pPr lvl="1">
              <a:lnSpc>
                <a:spcPct val="100000"/>
              </a:lnSpc>
            </a:pP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소리 신호에서 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'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나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'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라는 발음을 할 때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모델의 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1500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타임스텝 중 어디서 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'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ㄴ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'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나오고 어디서 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'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ㅏ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'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나오는지 우리는 정확한 위치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Timestamp)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모른다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그래서 </a:t>
            </a:r>
            <a:r>
              <a:rPr 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CTC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정답 시퀀스를 만들 수 있는 모든 경로를 고려한다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lvl="2">
              <a:lnSpc>
                <a:spcPct val="100000"/>
              </a:lnSpc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예를 들어 정답이 </a:t>
            </a:r>
            <a:r>
              <a:rPr lang="ko-KR" altLang="en-US" sz="1400" b="1">
                <a:solidFill>
                  <a:srgbClr val="00B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나</a:t>
            </a:r>
            <a:r>
              <a:rPr lang="en-US" altLang="ko-KR" sz="1400" b="1">
                <a:solidFill>
                  <a:srgbClr val="00B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00" b="1">
                <a:solidFill>
                  <a:srgbClr val="00B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ㄴ</a:t>
            </a:r>
            <a:r>
              <a:rPr lang="en-US" altLang="ko-KR" sz="1400" b="1">
                <a:solidFill>
                  <a:srgbClr val="00B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b="1">
                <a:solidFill>
                  <a:srgbClr val="00B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ㅏ</a:t>
            </a:r>
            <a:r>
              <a:rPr lang="en-US" altLang="ko-KR" sz="1400" b="1">
                <a:solidFill>
                  <a:srgbClr val="00B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라면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다음과 같은 여러 정렬이 가능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</a:p>
          <a:p>
            <a:pPr lvl="3">
              <a:lnSpc>
                <a:spcPct val="100000"/>
              </a:lnSpc>
            </a:pPr>
            <a:r>
              <a:rPr lang="ko-KR" altLang="en-US" sz="1200" b="1">
                <a:solidFill>
                  <a:srgbClr val="B011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ㄴㄴㄴㅏㅏㅏ</a:t>
            </a:r>
            <a:r>
              <a:rPr lang="en-US" altLang="ko-KR" sz="1200" b="1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반복 허용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lvl="3">
              <a:lnSpc>
                <a:spcPct val="100000"/>
              </a:lnSpc>
            </a:pPr>
            <a:r>
              <a:rPr lang="ko-KR" altLang="en-US" sz="1200" b="1">
                <a:solidFill>
                  <a:srgbClr val="B011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ㄴ</a:t>
            </a:r>
            <a:r>
              <a:rPr lang="en-US" altLang="ko-KR" sz="1200" b="1">
                <a:solidFill>
                  <a:srgbClr val="B011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200" b="1">
                <a:solidFill>
                  <a:srgbClr val="B011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ㄴ</a:t>
            </a:r>
            <a:r>
              <a:rPr lang="en-US" altLang="ko-KR" sz="1200" b="1">
                <a:solidFill>
                  <a:srgbClr val="B011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--</a:t>
            </a:r>
            <a:r>
              <a:rPr lang="ko-KR" altLang="en-US" sz="1200" b="1">
                <a:solidFill>
                  <a:srgbClr val="B011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ㅏ</a:t>
            </a:r>
            <a:r>
              <a:rPr lang="en-US" altLang="ko-KR" sz="1200" b="1">
                <a:solidFill>
                  <a:srgbClr val="B011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(-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</a:t>
            </a:r>
            <a:r>
              <a:rPr 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Blank 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토큰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lvl="3">
              <a:lnSpc>
                <a:spcPct val="100000"/>
              </a:lnSpc>
            </a:pPr>
            <a:r>
              <a:rPr lang="en-US" altLang="ko-KR" sz="1200" b="1">
                <a:solidFill>
                  <a:srgbClr val="00B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---</a:t>
            </a:r>
            <a:r>
              <a:rPr lang="ko-KR" altLang="en-US" sz="1200" b="1">
                <a:solidFill>
                  <a:srgbClr val="00B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ㄴㅏ</a:t>
            </a:r>
            <a:r>
              <a:rPr lang="en-US" altLang="ko-KR" sz="1200" b="1">
                <a:solidFill>
                  <a:srgbClr val="00B0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---</a:t>
            </a:r>
          </a:p>
          <a:p>
            <a:pPr lvl="2">
              <a:lnSpc>
                <a:spcPct val="100000"/>
              </a:lnSpc>
            </a:pPr>
            <a:r>
              <a:rPr 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CTC Loss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이 수많은 가능한 경로들의 확률을 모두 합산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Summation)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하여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 합이 최대가 되도록 모델을 학습시킨다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즉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"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위치에서 정답이 나오든 상관없으니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시퀀스 안에서 정답의 순서만 맞추라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 가르치는 방식이다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19EA64-636F-7C5D-5E50-FB16568C4293}"/>
              </a:ext>
            </a:extLst>
          </p:cNvPr>
          <p:cNvGrpSpPr/>
          <p:nvPr/>
        </p:nvGrpSpPr>
        <p:grpSpPr>
          <a:xfrm>
            <a:off x="1421849" y="4233420"/>
            <a:ext cx="5598594" cy="1654643"/>
            <a:chOff x="1702967" y="3943698"/>
            <a:chExt cx="9290592" cy="2673830"/>
          </a:xfrm>
        </p:grpSpPr>
        <p:pic>
          <p:nvPicPr>
            <p:cNvPr id="6" name="Picture 2" descr="OpenAI's Most Recent Model: Whisper (explained)">
              <a:extLst>
                <a:ext uri="{FF2B5EF4-FFF2-40B4-BE49-F238E27FC236}">
                  <a16:creationId xmlns:a16="http://schemas.microsoft.com/office/drawing/2014/main" id="{038E8174-E436-00CF-006B-C59EA1A06A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5969" y="4059680"/>
              <a:ext cx="3565001" cy="25578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2341CE27-0605-2F5C-08E7-921890C77729}"/>
                </a:ext>
              </a:extLst>
            </p:cNvPr>
            <p:cNvSpPr/>
            <p:nvPr/>
          </p:nvSpPr>
          <p:spPr>
            <a:xfrm>
              <a:off x="1925011" y="4338357"/>
              <a:ext cx="480958" cy="197809"/>
            </a:xfrm>
            <a:prstGeom prst="roundRect">
              <a:avLst/>
            </a:prstGeom>
            <a:solidFill>
              <a:srgbClr val="BE0E00">
                <a:alpha val="3098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400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lora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0C3F330-FEF6-F3AA-3EB9-C2D85DEA1290}"/>
                </a:ext>
              </a:extLst>
            </p:cNvPr>
            <p:cNvSpPr txBox="1"/>
            <p:nvPr/>
          </p:nvSpPr>
          <p:spPr>
            <a:xfrm>
              <a:off x="1708817" y="4206060"/>
              <a:ext cx="519252" cy="397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🔥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3B633AC-41A3-7903-9E40-18669889ED70}"/>
                </a:ext>
              </a:extLst>
            </p:cNvPr>
            <p:cNvSpPr/>
            <p:nvPr/>
          </p:nvSpPr>
          <p:spPr>
            <a:xfrm>
              <a:off x="1925011" y="4582865"/>
              <a:ext cx="480958" cy="197809"/>
            </a:xfrm>
            <a:prstGeom prst="roundRect">
              <a:avLst/>
            </a:prstGeom>
            <a:solidFill>
              <a:srgbClr val="BE0E00">
                <a:alpha val="3098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400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lora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3072D401-B7C6-379A-DBF2-FC225EBA39F7}"/>
                </a:ext>
              </a:extLst>
            </p:cNvPr>
            <p:cNvSpPr/>
            <p:nvPr/>
          </p:nvSpPr>
          <p:spPr>
            <a:xfrm>
              <a:off x="1925011" y="5007719"/>
              <a:ext cx="480958" cy="197809"/>
            </a:xfrm>
            <a:prstGeom prst="roundRect">
              <a:avLst/>
            </a:prstGeom>
            <a:solidFill>
              <a:srgbClr val="BE0E00">
                <a:alpha val="3098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400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lora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55A894CC-7B16-DC09-F3A5-3AB7ECCEB2B2}"/>
                </a:ext>
              </a:extLst>
            </p:cNvPr>
            <p:cNvSpPr/>
            <p:nvPr/>
          </p:nvSpPr>
          <p:spPr>
            <a:xfrm>
              <a:off x="1925011" y="5269420"/>
              <a:ext cx="480958" cy="197809"/>
            </a:xfrm>
            <a:prstGeom prst="roundRect">
              <a:avLst/>
            </a:prstGeom>
            <a:solidFill>
              <a:srgbClr val="BE0E00">
                <a:alpha val="30980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sz="400" dirty="0">
                  <a:solidFill>
                    <a:sysClr val="windowText" lastClr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lora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1FEDB46-4899-B8D5-E121-3C500BFC898A}"/>
                </a:ext>
              </a:extLst>
            </p:cNvPr>
            <p:cNvSpPr txBox="1"/>
            <p:nvPr/>
          </p:nvSpPr>
          <p:spPr>
            <a:xfrm>
              <a:off x="1702967" y="4450431"/>
              <a:ext cx="519252" cy="397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🔥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09DD85-07E9-EE3B-A4BD-FE293953451C}"/>
                </a:ext>
              </a:extLst>
            </p:cNvPr>
            <p:cNvSpPr txBox="1"/>
            <p:nvPr/>
          </p:nvSpPr>
          <p:spPr>
            <a:xfrm>
              <a:off x="1702967" y="4875419"/>
              <a:ext cx="519252" cy="397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🔥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294D06-CB3B-8D4D-7789-230477D07762}"/>
                </a:ext>
              </a:extLst>
            </p:cNvPr>
            <p:cNvSpPr txBox="1"/>
            <p:nvPr/>
          </p:nvSpPr>
          <p:spPr>
            <a:xfrm>
              <a:off x="1702967" y="5137723"/>
              <a:ext cx="519252" cy="397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🔥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87DF1F3-F51C-9704-C2D8-6FEB05679DFB}"/>
                </a:ext>
              </a:extLst>
            </p:cNvPr>
            <p:cNvSpPr txBox="1"/>
            <p:nvPr/>
          </p:nvSpPr>
          <p:spPr>
            <a:xfrm>
              <a:off x="5584997" y="4485557"/>
              <a:ext cx="519252" cy="397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❄️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51CEA84-F22D-C514-B5A2-D59BF3AE5DC5}"/>
                </a:ext>
              </a:extLst>
            </p:cNvPr>
            <p:cNvSpPr txBox="1"/>
            <p:nvPr/>
          </p:nvSpPr>
          <p:spPr>
            <a:xfrm>
              <a:off x="5584997" y="4740039"/>
              <a:ext cx="519252" cy="397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❄️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282C78A-E46A-04A2-F364-ED4B81740DDE}"/>
                </a:ext>
              </a:extLst>
            </p:cNvPr>
            <p:cNvSpPr txBox="1"/>
            <p:nvPr/>
          </p:nvSpPr>
          <p:spPr>
            <a:xfrm>
              <a:off x="5584997" y="5250812"/>
              <a:ext cx="519252" cy="397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❄️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6A7695F-CF93-0893-99D0-BF3DD096A5AD}"/>
                </a:ext>
              </a:extLst>
            </p:cNvPr>
            <p:cNvSpPr txBox="1"/>
            <p:nvPr/>
          </p:nvSpPr>
          <p:spPr>
            <a:xfrm>
              <a:off x="5584997" y="5505293"/>
              <a:ext cx="519252" cy="397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❄️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0CBF307-4261-5A20-112F-04723E8E2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9879"/>
            <a:stretch>
              <a:fillRect/>
            </a:stretch>
          </p:blipFill>
          <p:spPr>
            <a:xfrm>
              <a:off x="6451928" y="4286571"/>
              <a:ext cx="4541631" cy="2230328"/>
            </a:xfrm>
            <a:prstGeom prst="rect">
              <a:avLst/>
            </a:prstGeom>
          </p:spPr>
        </p:pic>
        <p:cxnSp>
          <p:nvCxnSpPr>
            <p:cNvPr id="20" name="Elbow Connector 19">
              <a:extLst>
                <a:ext uri="{FF2B5EF4-FFF2-40B4-BE49-F238E27FC236}">
                  <a16:creationId xmlns:a16="http://schemas.microsoft.com/office/drawing/2014/main" id="{C82442C0-08F6-7CAE-1577-ADC924C976FE}"/>
                </a:ext>
              </a:extLst>
            </p:cNvPr>
            <p:cNvCxnSpPr>
              <a:cxnSpLocks/>
            </p:cNvCxnSpPr>
            <p:nvPr/>
          </p:nvCxnSpPr>
          <p:spPr>
            <a:xfrm>
              <a:off x="3693978" y="3943698"/>
              <a:ext cx="2757950" cy="1332558"/>
            </a:xfrm>
            <a:prstGeom prst="bentConnector3">
              <a:avLst>
                <a:gd name="adj1" fmla="val 90668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A636B0D-17A4-5A8A-CAEA-D5CF6647919C}"/>
                </a:ext>
              </a:extLst>
            </p:cNvPr>
            <p:cNvCxnSpPr/>
            <p:nvPr/>
          </p:nvCxnSpPr>
          <p:spPr>
            <a:xfrm>
              <a:off x="3693978" y="3943698"/>
              <a:ext cx="0" cy="218399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89AFA09-9CE3-523A-1056-55D93FB2E867}"/>
              </a:ext>
            </a:extLst>
          </p:cNvPr>
          <p:cNvSpPr txBox="1"/>
          <p:nvPr/>
        </p:nvSpPr>
        <p:spPr>
          <a:xfrm>
            <a:off x="8600955" y="4915638"/>
            <a:ext cx="1972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</a:t>
            </a:r>
            <a:r>
              <a:rPr lang="en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round Truth G2P/IPA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6651457-B680-B156-856C-E9479E4541C4}"/>
              </a:ext>
            </a:extLst>
          </p:cNvPr>
          <p:cNvCxnSpPr/>
          <p:nvPr/>
        </p:nvCxnSpPr>
        <p:spPr>
          <a:xfrm>
            <a:off x="7153138" y="5053815"/>
            <a:ext cx="1251857" cy="0"/>
          </a:xfrm>
          <a:prstGeom prst="straightConnector1">
            <a:avLst/>
          </a:prstGeom>
          <a:ln w="9525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76978C0-F22B-6CF9-8F10-5D5270CA2629}"/>
                  </a:ext>
                </a:extLst>
              </p:cNvPr>
              <p:cNvSpPr txBox="1"/>
              <p:nvPr/>
            </p:nvSpPr>
            <p:spPr>
              <a:xfrm>
                <a:off x="7525012" y="4735644"/>
                <a:ext cx="5793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𝐶𝑇𝐶</m:t>
                          </m:r>
                        </m:sub>
                      </m:sSub>
                    </m:oMath>
                  </m:oMathPara>
                </a14:m>
                <a:endParaRPr lang="en-KR" sz="14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76978C0-F22B-6CF9-8F10-5D5270CA2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5012" y="4735644"/>
                <a:ext cx="579389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itle 1">
            <a:extLst>
              <a:ext uri="{FF2B5EF4-FFF2-40B4-BE49-F238E27FC236}">
                <a16:creationId xmlns:a16="http://schemas.microsoft.com/office/drawing/2014/main" id="{C7F30AED-53D5-956A-48E7-DE6D9C7FE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</p:spPr>
        <p:txBody>
          <a:bodyPr/>
          <a:lstStyle/>
          <a:p>
            <a:r>
              <a:rPr lang="en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*Basic Research Design</a:t>
            </a:r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4A565CD7-9151-B290-5C18-B8C4AE7D4E8F}"/>
              </a:ext>
            </a:extLst>
          </p:cNvPr>
          <p:cNvSpPr/>
          <p:nvPr/>
        </p:nvSpPr>
        <p:spPr>
          <a:xfrm>
            <a:off x="4014368" y="260606"/>
            <a:ext cx="231493" cy="656851"/>
          </a:xfrm>
          <a:prstGeom prst="leftBrac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E5F833-D040-3604-B0CE-9860CF0D85BA}"/>
              </a:ext>
            </a:extLst>
          </p:cNvPr>
          <p:cNvSpPr txBox="1"/>
          <p:nvPr/>
        </p:nvSpPr>
        <p:spPr>
          <a:xfrm>
            <a:off x="4245861" y="127366"/>
            <a:ext cx="748923" cy="92333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</a:t>
            </a:r>
          </a:p>
          <a:p>
            <a:r>
              <a:rPr lang="en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What</a:t>
            </a:r>
          </a:p>
          <a:p>
            <a:r>
              <a:rPr lang="en-KR" sz="18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How</a:t>
            </a:r>
          </a:p>
        </p:txBody>
      </p:sp>
    </p:spTree>
    <p:extLst>
      <p:ext uri="{BB962C8B-B14F-4D97-AF65-F5344CB8AC3E}">
        <p14:creationId xmlns:p14="http://schemas.microsoft.com/office/powerpoint/2010/main" val="3326413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B5E73-BB5C-2F0E-380E-DE25D29A2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Preliminary Experiments B</a:t>
            </a: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en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 on Hypotheses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013B829-AA26-1043-35FF-2FA6D92C4ACF}"/>
              </a:ext>
            </a:extLst>
          </p:cNvPr>
          <p:cNvSpPr/>
          <p:nvPr/>
        </p:nvSpPr>
        <p:spPr>
          <a:xfrm>
            <a:off x="365126" y="1137959"/>
            <a:ext cx="4267259" cy="1540288"/>
          </a:xfrm>
          <a:prstGeom prst="roundRect">
            <a:avLst>
              <a:gd name="adj" fmla="val 845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Hypothesis 1 ]</a:t>
            </a:r>
          </a:p>
          <a:p>
            <a:pPr algn="ctr"/>
            <a:endParaRPr lang="en-US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“Encoder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</a:t>
            </a:r>
            <a:r>
              <a:rPr 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Middle Layer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사용하거나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모두 사용하되 </a:t>
            </a:r>
            <a:r>
              <a:rPr 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Middle Layer</a:t>
            </a:r>
            <a:r>
              <a:rPr lang="ko-KR" altLang="en-US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가중치를 더 준다면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성능이 향상될 것이다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.”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3C510E3-A66B-46F8-3908-2EEEAFDC8267}"/>
              </a:ext>
            </a:extLst>
          </p:cNvPr>
          <p:cNvSpPr/>
          <p:nvPr/>
        </p:nvSpPr>
        <p:spPr>
          <a:xfrm>
            <a:off x="4833667" y="1137959"/>
            <a:ext cx="6993207" cy="1540288"/>
          </a:xfrm>
          <a:prstGeom prst="roundRect">
            <a:avLst>
              <a:gd name="adj" fmla="val 845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Research Design 1 ]</a:t>
            </a:r>
          </a:p>
          <a:p>
            <a:pPr algn="ctr"/>
            <a:endParaRPr lang="en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Baseline A: 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encoder-only </a:t>
            </a:r>
            <a:r>
              <a:rPr lang="en-US" altLang="ko-KR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LoRA</a:t>
            </a:r>
            <a:endParaRPr lang="en-US" altLang="ko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Baseline B: 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encoder-only </a:t>
            </a:r>
            <a:r>
              <a:rPr lang="en-US" altLang="ko-KR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LoRA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 final-layer phonetic CTC (</a:t>
            </a:r>
            <a:r>
              <a:rPr lang="ko-KR" altLang="en-US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현재 방식</a:t>
            </a:r>
            <a:r>
              <a:rPr lang="en-US" altLang="ko-KR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Proposed C: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encoder-only </a:t>
            </a:r>
            <a:r>
              <a:rPr lang="en-US" altLang="ko-KR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LoRA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 single intermediate-layer phonetic CTC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Proposed D: 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encoder-only </a:t>
            </a:r>
            <a:r>
              <a:rPr lang="en-US" altLang="ko-KR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LoRA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 multi-layer phonetic CTC (</a:t>
            </a:r>
            <a:r>
              <a:rPr lang="ko-KR" altLang="en-US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</a:t>
            </a:r>
            <a:r>
              <a:rPr lang="en-US" altLang="ko-KR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mid + final)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87FC72-994C-03DE-7ABF-E47B9044E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88" y="2767877"/>
            <a:ext cx="8778874" cy="2048404"/>
          </a:xfrm>
          <a:prstGeom prst="rect">
            <a:avLst/>
          </a:prstGeom>
        </p:spPr>
      </p:pic>
      <p:pic>
        <p:nvPicPr>
          <p:cNvPr id="8" name="Google Shape;168;p6">
            <a:extLst>
              <a:ext uri="{FF2B5EF4-FFF2-40B4-BE49-F238E27FC236}">
                <a16:creationId xmlns:a16="http://schemas.microsoft.com/office/drawing/2014/main" id="{927C1A34-6252-0C14-DD8E-2C39E11D7C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126" y="4816281"/>
            <a:ext cx="3240000" cy="1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69;p6">
            <a:extLst>
              <a:ext uri="{FF2B5EF4-FFF2-40B4-BE49-F238E27FC236}">
                <a16:creationId xmlns:a16="http://schemas.microsoft.com/office/drawing/2014/main" id="{05828AFB-F953-F125-05DA-307C76A49C4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82764" y="4810460"/>
            <a:ext cx="3240000" cy="1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70;p6">
            <a:extLst>
              <a:ext uri="{FF2B5EF4-FFF2-40B4-BE49-F238E27FC236}">
                <a16:creationId xmlns:a16="http://schemas.microsoft.com/office/drawing/2014/main" id="{2430E14A-E2E6-3DC9-833A-86A7225F67D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84128" y="4820041"/>
            <a:ext cx="3240000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1F91227-C547-6211-8B06-CA960CA7F6AB}"/>
              </a:ext>
            </a:extLst>
          </p:cNvPr>
          <p:cNvSpPr/>
          <p:nvPr/>
        </p:nvSpPr>
        <p:spPr>
          <a:xfrm>
            <a:off x="8496961" y="2976113"/>
            <a:ext cx="3329914" cy="1448035"/>
          </a:xfrm>
          <a:prstGeom prst="roundRect">
            <a:avLst>
              <a:gd name="adj" fmla="val 845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Result ]</a:t>
            </a:r>
          </a:p>
          <a:p>
            <a:pPr algn="ctr"/>
            <a:endParaRPr lang="en-US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28600" lvl="0" indent="-228600">
              <a:lnSpc>
                <a:spcPct val="90000"/>
              </a:lnSpc>
              <a:buClr>
                <a:schemeClr val="dk1"/>
              </a:buClr>
              <a:buSzPts val="180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레이어별 </a:t>
            </a:r>
            <a:r>
              <a:rPr lang="en-US" sz="1200" dirty="0">
                <a:solidFill>
                  <a:schemeClr val="tx1"/>
                </a:solidFill>
              </a:rPr>
              <a:t>mean CER </a:t>
            </a:r>
            <a:r>
              <a:rPr lang="ko-KR" altLang="en-US" sz="1200" dirty="0">
                <a:solidFill>
                  <a:schemeClr val="tx1"/>
                </a:solidFill>
              </a:rPr>
              <a:t>차이가 작다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sz="1200" dirty="0">
                <a:solidFill>
                  <a:schemeClr val="tx1"/>
                </a:solidFill>
              </a:rPr>
              <a:t>X)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late-layer</a:t>
            </a:r>
            <a:r>
              <a:rPr lang="ko-KR" altLang="en-US" sz="1200" dirty="0">
                <a:solidFill>
                  <a:schemeClr val="tx1"/>
                </a:solidFill>
              </a:rPr>
              <a:t>에서 </a:t>
            </a:r>
            <a:r>
              <a:rPr lang="en-US" sz="1200" dirty="0">
                <a:solidFill>
                  <a:schemeClr val="tx1"/>
                </a:solidFill>
              </a:rPr>
              <a:t>instability</a:t>
            </a:r>
            <a:r>
              <a:rPr lang="ko-KR" altLang="en-US" sz="1200" dirty="0">
                <a:solidFill>
                  <a:schemeClr val="tx1"/>
                </a:solidFill>
              </a:rPr>
              <a:t>가 커진다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sz="1200" dirty="0">
                <a:solidFill>
                  <a:schemeClr val="tx1"/>
                </a:solidFill>
              </a:rPr>
              <a:t>O)</a:t>
            </a:r>
          </a:p>
        </p:txBody>
      </p:sp>
    </p:spTree>
    <p:extLst>
      <p:ext uri="{BB962C8B-B14F-4D97-AF65-F5344CB8AC3E}">
        <p14:creationId xmlns:p14="http://schemas.microsoft.com/office/powerpoint/2010/main" val="959070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CF8E1-E18D-C21D-4C79-104441FF0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Preliminary Experiments B</a:t>
            </a: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en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 on Hypotheses</a:t>
            </a:r>
            <a:endParaRPr lang="en-KR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9E7883A-53BC-2607-09E9-9B8A4A244136}"/>
              </a:ext>
            </a:extLst>
          </p:cNvPr>
          <p:cNvSpPr/>
          <p:nvPr/>
        </p:nvSpPr>
        <p:spPr>
          <a:xfrm>
            <a:off x="365126" y="1137959"/>
            <a:ext cx="4267259" cy="1453652"/>
          </a:xfrm>
          <a:prstGeom prst="roundRect">
            <a:avLst>
              <a:gd name="adj" fmla="val 845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Hypothesis 2 ]</a:t>
            </a:r>
          </a:p>
          <a:p>
            <a:pPr algn="ctr"/>
            <a:endParaRPr lang="en-US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“Articulatory Feature</a:t>
            </a:r>
            <a:r>
              <a:rPr lang="ko-KR" altLang="en-US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따른</a:t>
            </a:r>
            <a:endParaRPr lang="en-US" altLang="ko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개의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Head</a:t>
            </a:r>
            <a:r>
              <a:rPr lang="ko-KR" altLang="en-US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훈련하면 성능이 향상될 것이다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.”</a:t>
            </a:r>
            <a:endParaRPr lang="en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DF5C529-7D36-144D-A078-B1B12EC89915}"/>
              </a:ext>
            </a:extLst>
          </p:cNvPr>
          <p:cNvSpPr/>
          <p:nvPr/>
        </p:nvSpPr>
        <p:spPr>
          <a:xfrm>
            <a:off x="4833667" y="1137958"/>
            <a:ext cx="6993207" cy="5211084"/>
          </a:xfrm>
          <a:prstGeom prst="roundRect">
            <a:avLst>
              <a:gd name="adj" fmla="val 414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Research Design 2 ]</a:t>
            </a:r>
          </a:p>
          <a:p>
            <a:pPr algn="ctr"/>
            <a:endParaRPr lang="en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499E659-03E3-B1B5-B38D-74C5690EAF4E}"/>
              </a:ext>
            </a:extLst>
          </p:cNvPr>
          <p:cNvGrpSpPr/>
          <p:nvPr/>
        </p:nvGrpSpPr>
        <p:grpSpPr>
          <a:xfrm>
            <a:off x="7662543" y="1785353"/>
            <a:ext cx="3956324" cy="4284220"/>
            <a:chOff x="3075531" y="524619"/>
            <a:chExt cx="3856987" cy="449888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083A48C-C18C-5480-37C3-71D10767A375}"/>
                </a:ext>
              </a:extLst>
            </p:cNvPr>
            <p:cNvGrpSpPr/>
            <p:nvPr/>
          </p:nvGrpSpPr>
          <p:grpSpPr>
            <a:xfrm>
              <a:off x="3075531" y="524619"/>
              <a:ext cx="3856987" cy="4498883"/>
              <a:chOff x="29007" y="-2803045"/>
              <a:chExt cx="7896550" cy="829266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EFA59A7-6AC1-012E-AFE1-DB1274716E34}"/>
                  </a:ext>
                </a:extLst>
              </p:cNvPr>
              <p:cNvGrpSpPr/>
              <p:nvPr/>
            </p:nvGrpSpPr>
            <p:grpSpPr>
              <a:xfrm>
                <a:off x="29007" y="-1543232"/>
                <a:ext cx="7352759" cy="7032850"/>
                <a:chOff x="1332218" y="1349426"/>
                <a:chExt cx="6285389" cy="5268104"/>
              </a:xfrm>
            </p:grpSpPr>
            <p:pic>
              <p:nvPicPr>
                <p:cNvPr id="11" name="Picture 2" descr="OpenAI's Most Recent Model: Whisper (explained)">
                  <a:extLst>
                    <a:ext uri="{FF2B5EF4-FFF2-40B4-BE49-F238E27FC236}">
                      <a16:creationId xmlns:a16="http://schemas.microsoft.com/office/drawing/2014/main" id="{0FAE9627-871C-50E1-BFCF-E51ADC21326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405970" y="4059681"/>
                  <a:ext cx="3565001" cy="25578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2" name="Rounded Rectangle 11">
                  <a:extLst>
                    <a:ext uri="{FF2B5EF4-FFF2-40B4-BE49-F238E27FC236}">
                      <a16:creationId xmlns:a16="http://schemas.microsoft.com/office/drawing/2014/main" id="{77AC8AB8-8C57-3817-457C-15A829C758B4}"/>
                    </a:ext>
                  </a:extLst>
                </p:cNvPr>
                <p:cNvSpPr/>
                <p:nvPr/>
              </p:nvSpPr>
              <p:spPr>
                <a:xfrm>
                  <a:off x="1332221" y="4338357"/>
                  <a:ext cx="1073752" cy="197810"/>
                </a:xfrm>
                <a:prstGeom prst="roundRect">
                  <a:avLst/>
                </a:prstGeom>
                <a:solidFill>
                  <a:srgbClr val="BE0E00">
                    <a:alpha val="30980"/>
                  </a:srgb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KR" sz="500" dirty="0">
                      <a:solidFill>
                        <a:sysClr val="windowText" lastClr="000000"/>
                      </a:solidFill>
                    </a:rPr>
                    <a:t>lora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6A43B5F-7266-F35A-E4BF-D4A8EB129DE0}"/>
                    </a:ext>
                  </a:extLst>
                </p:cNvPr>
                <p:cNvSpPr txBox="1"/>
                <p:nvPr/>
              </p:nvSpPr>
              <p:spPr>
                <a:xfrm>
                  <a:off x="1797155" y="4266437"/>
                  <a:ext cx="457852" cy="2549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KR" sz="600" dirty="0"/>
                    <a:t>🔥</a:t>
                  </a:r>
                </a:p>
              </p:txBody>
            </p:sp>
            <p:sp>
              <p:nvSpPr>
                <p:cNvPr id="14" name="Rounded Rectangle 13">
                  <a:extLst>
                    <a:ext uri="{FF2B5EF4-FFF2-40B4-BE49-F238E27FC236}">
                      <a16:creationId xmlns:a16="http://schemas.microsoft.com/office/drawing/2014/main" id="{0FE65EC1-4171-7829-1EE2-A422BF76421E}"/>
                    </a:ext>
                  </a:extLst>
                </p:cNvPr>
                <p:cNvSpPr/>
                <p:nvPr/>
              </p:nvSpPr>
              <p:spPr>
                <a:xfrm>
                  <a:off x="1332218" y="4582864"/>
                  <a:ext cx="1073752" cy="197810"/>
                </a:xfrm>
                <a:prstGeom prst="roundRect">
                  <a:avLst/>
                </a:prstGeom>
                <a:solidFill>
                  <a:srgbClr val="BE0E00">
                    <a:alpha val="30980"/>
                  </a:srgb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KR" sz="500" dirty="0">
                      <a:solidFill>
                        <a:sysClr val="windowText" lastClr="000000"/>
                      </a:solidFill>
                    </a:rPr>
                    <a:t>lora</a:t>
                  </a:r>
                </a:p>
              </p:txBody>
            </p:sp>
            <p:sp>
              <p:nvSpPr>
                <p:cNvPr id="15" name="Rounded Rectangle 14">
                  <a:extLst>
                    <a:ext uri="{FF2B5EF4-FFF2-40B4-BE49-F238E27FC236}">
                      <a16:creationId xmlns:a16="http://schemas.microsoft.com/office/drawing/2014/main" id="{7E75E7C0-5ACF-8728-9453-48FB97C85A97}"/>
                    </a:ext>
                  </a:extLst>
                </p:cNvPr>
                <p:cNvSpPr/>
                <p:nvPr/>
              </p:nvSpPr>
              <p:spPr>
                <a:xfrm>
                  <a:off x="1332218" y="5007720"/>
                  <a:ext cx="1073751" cy="197810"/>
                </a:xfrm>
                <a:prstGeom prst="roundRect">
                  <a:avLst/>
                </a:prstGeom>
                <a:solidFill>
                  <a:srgbClr val="BE0E00">
                    <a:alpha val="30980"/>
                  </a:srgb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KR" sz="500" dirty="0">
                      <a:solidFill>
                        <a:sysClr val="windowText" lastClr="000000"/>
                      </a:solidFill>
                    </a:rPr>
                    <a:t>lora</a:t>
                  </a:r>
                </a:p>
              </p:txBody>
            </p:sp>
            <p:sp>
              <p:nvSpPr>
                <p:cNvPr id="16" name="Rounded Rectangle 15">
                  <a:extLst>
                    <a:ext uri="{FF2B5EF4-FFF2-40B4-BE49-F238E27FC236}">
                      <a16:creationId xmlns:a16="http://schemas.microsoft.com/office/drawing/2014/main" id="{605F0FD9-FC17-6F46-7BA6-60F8D009F96A}"/>
                    </a:ext>
                  </a:extLst>
                </p:cNvPr>
                <p:cNvSpPr/>
                <p:nvPr/>
              </p:nvSpPr>
              <p:spPr>
                <a:xfrm>
                  <a:off x="1332218" y="5269421"/>
                  <a:ext cx="1073751" cy="197810"/>
                </a:xfrm>
                <a:prstGeom prst="roundRect">
                  <a:avLst/>
                </a:prstGeom>
                <a:solidFill>
                  <a:srgbClr val="BE0E00">
                    <a:alpha val="30980"/>
                  </a:srgb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KR" sz="500" dirty="0">
                      <a:solidFill>
                        <a:sysClr val="windowText" lastClr="000000"/>
                      </a:solidFill>
                    </a:rPr>
                    <a:t>lora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69040D3-6FE5-B68F-D70E-89E5B8BE0218}"/>
                    </a:ext>
                  </a:extLst>
                </p:cNvPr>
                <p:cNvSpPr txBox="1"/>
                <p:nvPr/>
              </p:nvSpPr>
              <p:spPr>
                <a:xfrm>
                  <a:off x="1791308" y="4510808"/>
                  <a:ext cx="457852" cy="2549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KR" sz="600" dirty="0"/>
                    <a:t>🔥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D82EB21-0166-0ED8-7047-4852148AECA0}"/>
                    </a:ext>
                  </a:extLst>
                </p:cNvPr>
                <p:cNvSpPr txBox="1"/>
                <p:nvPr/>
              </p:nvSpPr>
              <p:spPr>
                <a:xfrm>
                  <a:off x="1791308" y="4935796"/>
                  <a:ext cx="457852" cy="2549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KR" sz="600" dirty="0"/>
                    <a:t>🔥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7F8E694-C8B0-3B28-A1A5-57F233D881CF}"/>
                    </a:ext>
                  </a:extLst>
                </p:cNvPr>
                <p:cNvSpPr txBox="1"/>
                <p:nvPr/>
              </p:nvSpPr>
              <p:spPr>
                <a:xfrm>
                  <a:off x="1791308" y="5198103"/>
                  <a:ext cx="457852" cy="2549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KR" sz="600" dirty="0"/>
                    <a:t>🔥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2E0C916-CADD-2510-B12C-18256D8A1489}"/>
                    </a:ext>
                  </a:extLst>
                </p:cNvPr>
                <p:cNvSpPr txBox="1"/>
                <p:nvPr/>
              </p:nvSpPr>
              <p:spPr>
                <a:xfrm>
                  <a:off x="5660332" y="4542912"/>
                  <a:ext cx="457852" cy="2549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KR" sz="600" dirty="0"/>
                    <a:t>❄️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191BB37-4195-06A7-97C6-47546DBFA39B}"/>
                    </a:ext>
                  </a:extLst>
                </p:cNvPr>
                <p:cNvSpPr txBox="1"/>
                <p:nvPr/>
              </p:nvSpPr>
              <p:spPr>
                <a:xfrm>
                  <a:off x="5660332" y="4797394"/>
                  <a:ext cx="457852" cy="2549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KR" sz="600" dirty="0"/>
                    <a:t>❄️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585FB66-D731-8B73-B9EE-DFCC1C62CC7F}"/>
                    </a:ext>
                  </a:extLst>
                </p:cNvPr>
                <p:cNvSpPr txBox="1"/>
                <p:nvPr/>
              </p:nvSpPr>
              <p:spPr>
                <a:xfrm>
                  <a:off x="5660332" y="5308166"/>
                  <a:ext cx="457852" cy="2549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KR" sz="600" dirty="0"/>
                    <a:t>❄️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CEBD17B-C798-3747-E73D-6657DEBC66A0}"/>
                    </a:ext>
                  </a:extLst>
                </p:cNvPr>
                <p:cNvSpPr txBox="1"/>
                <p:nvPr/>
              </p:nvSpPr>
              <p:spPr>
                <a:xfrm>
                  <a:off x="5660332" y="5562649"/>
                  <a:ext cx="457852" cy="2549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KR" sz="600" dirty="0"/>
                    <a:t>❄️</a:t>
                  </a:r>
                </a:p>
              </p:txBody>
            </p:sp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8B3035F1-CD2B-B3B2-C70E-C631487080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t="9879"/>
                <a:stretch>
                  <a:fillRect/>
                </a:stretch>
              </p:blipFill>
              <p:spPr>
                <a:xfrm>
                  <a:off x="3075976" y="1349426"/>
                  <a:ext cx="4541631" cy="1934035"/>
                </a:xfrm>
                <a:prstGeom prst="rect">
                  <a:avLst/>
                </a:prstGeom>
              </p:spPr>
            </p:pic>
            <p:cxnSp>
              <p:nvCxnSpPr>
                <p:cNvPr id="25" name="Elbow Connector 24">
                  <a:extLst>
                    <a:ext uri="{FF2B5EF4-FFF2-40B4-BE49-F238E27FC236}">
                      <a16:creationId xmlns:a16="http://schemas.microsoft.com/office/drawing/2014/main" id="{0617B8CD-68A9-FBD2-A514-C107B42B962B}"/>
                    </a:ext>
                  </a:extLst>
                </p:cNvPr>
                <p:cNvCxnSpPr>
                  <a:cxnSpLocks/>
                  <a:endCxn id="24" idx="1"/>
                </p:cNvCxnSpPr>
                <p:nvPr/>
              </p:nvCxnSpPr>
              <p:spPr>
                <a:xfrm rot="16200000" flipV="1">
                  <a:off x="2571353" y="2821068"/>
                  <a:ext cx="1627255" cy="618005"/>
                </a:xfrm>
                <a:prstGeom prst="bentConnector4">
                  <a:avLst>
                    <a:gd name="adj1" fmla="val 20287"/>
                    <a:gd name="adj2" fmla="val 178176"/>
                  </a:avLst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0B73FA13-ED1D-1F29-8857-96B1C0D9691C}"/>
                    </a:ext>
                  </a:extLst>
                </p:cNvPr>
                <p:cNvCxnSpPr/>
                <p:nvPr/>
              </p:nvCxnSpPr>
              <p:spPr>
                <a:xfrm>
                  <a:off x="3693978" y="3943698"/>
                  <a:ext cx="0" cy="218399"/>
                </a:xfrm>
                <a:prstGeom prst="lin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6FA0E0-EE1E-B899-4BAD-555757C0A232}"/>
                  </a:ext>
                </a:extLst>
              </p:cNvPr>
              <p:cNvSpPr txBox="1"/>
              <p:nvPr/>
            </p:nvSpPr>
            <p:spPr>
              <a:xfrm>
                <a:off x="5896972" y="-2803045"/>
                <a:ext cx="2028585" cy="1007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 dirty="0"/>
                  <a:t>G</a:t>
                </a:r>
                <a:r>
                  <a:rPr lang="en-KR" sz="600" dirty="0"/>
                  <a:t>round</a:t>
                </a:r>
              </a:p>
              <a:p>
                <a:pPr algn="ctr"/>
                <a:r>
                  <a:rPr lang="en-KR" sz="600" dirty="0"/>
                  <a:t>Truth</a:t>
                </a:r>
              </a:p>
              <a:p>
                <a:pPr algn="ctr"/>
                <a:r>
                  <a:rPr lang="en-KR" sz="600" dirty="0"/>
                  <a:t>Articulatory</a:t>
                </a: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BC93B55C-B898-4795-6885-302359E217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64231" y="-1838076"/>
                <a:ext cx="0" cy="989634"/>
              </a:xfrm>
              <a:prstGeom prst="straightConnector1">
                <a:avLst/>
              </a:prstGeom>
              <a:ln w="9525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6D66C9FB-5913-8C28-F896-1F9F80F19491}"/>
                      </a:ext>
                    </a:extLst>
                  </p:cNvPr>
                  <p:cNvSpPr txBox="1"/>
                  <p:nvPr/>
                </p:nvSpPr>
                <p:spPr>
                  <a:xfrm>
                    <a:off x="6813361" y="-1549820"/>
                    <a:ext cx="717816" cy="3403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𝐶𝑇𝐶</m:t>
                              </m:r>
                            </m:sub>
                          </m:sSub>
                        </m:oMath>
                      </m:oMathPara>
                    </a14:m>
                    <a:endParaRPr lang="en-KR" sz="600" dirty="0"/>
                  </a:p>
                </p:txBody>
              </p:sp>
            </mc:Choice>
            <mc:Fallback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6D66C9FB-5913-8C28-F896-1F9F80F194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13361" y="-1549820"/>
                    <a:ext cx="717816" cy="34038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K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939E832C-CCBF-27E7-B0AB-22C9DEC3313D}"/>
                </a:ext>
              </a:extLst>
            </p:cNvPr>
            <p:cNvSpPr/>
            <p:nvPr/>
          </p:nvSpPr>
          <p:spPr>
            <a:xfrm>
              <a:off x="5859968" y="1395922"/>
              <a:ext cx="381420" cy="943121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1DD5645-E243-5909-9440-8494C7DDF533}"/>
                </a:ext>
              </a:extLst>
            </p:cNvPr>
            <p:cNvSpPr txBox="1"/>
            <p:nvPr/>
          </p:nvSpPr>
          <p:spPr>
            <a:xfrm>
              <a:off x="5859966" y="2302088"/>
              <a:ext cx="410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x</a:t>
              </a:r>
              <a:r>
                <a:rPr lang="en-KR" dirty="0">
                  <a:solidFill>
                    <a:srgbClr val="C00000"/>
                  </a:solidFill>
                </a:rPr>
                <a:t>6</a:t>
              </a: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8FB139E5-700F-E4F5-32D9-39FA27A45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6302" y="1604157"/>
            <a:ext cx="1939628" cy="296264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9BF7B58-A9DD-4EC4-3607-8A12F4D60A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3028" y="4653048"/>
            <a:ext cx="1872850" cy="1493821"/>
          </a:xfrm>
          <a:prstGeom prst="rect">
            <a:avLst/>
          </a:prstGeom>
        </p:spPr>
      </p:pic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20BD6FB-98E9-FE75-956B-323CF02B459C}"/>
              </a:ext>
            </a:extLst>
          </p:cNvPr>
          <p:cNvSpPr/>
          <p:nvPr/>
        </p:nvSpPr>
        <p:spPr>
          <a:xfrm>
            <a:off x="355898" y="2771801"/>
            <a:ext cx="4267259" cy="2137895"/>
          </a:xfrm>
          <a:prstGeom prst="roundRect">
            <a:avLst>
              <a:gd name="adj" fmla="val 845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Training Objective ]</a:t>
            </a:r>
          </a:p>
          <a:p>
            <a:pPr algn="ctr"/>
            <a:endParaRPr lang="en-US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1283435-142E-7D8F-38B3-530C909ED331}"/>
              </a:ext>
            </a:extLst>
          </p:cNvPr>
          <p:cNvSpPr/>
          <p:nvPr/>
        </p:nvSpPr>
        <p:spPr>
          <a:xfrm>
            <a:off x="352471" y="5139793"/>
            <a:ext cx="4267259" cy="1176827"/>
          </a:xfrm>
          <a:prstGeom prst="roundRect">
            <a:avLst>
              <a:gd name="adj" fmla="val 845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Result ]</a:t>
            </a:r>
          </a:p>
          <a:p>
            <a:pPr algn="ctr"/>
            <a:endParaRPr lang="en-US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Still on Training…</a:t>
            </a:r>
            <a:endParaRPr lang="en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B62EEE3-E89C-55C6-FE71-DC7BFF5DF9E9}"/>
                  </a:ext>
                </a:extLst>
              </p:cNvPr>
              <p:cNvSpPr txBox="1"/>
              <p:nvPr/>
            </p:nvSpPr>
            <p:spPr>
              <a:xfrm>
                <a:off x="449960" y="3513202"/>
                <a:ext cx="181562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𝐴𝑆𝑅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𝐴𝑅𝑇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B62EEE3-E89C-55C6-FE71-DC7BFF5DF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60" y="3513202"/>
                <a:ext cx="1815625" cy="338554"/>
              </a:xfrm>
              <a:prstGeom prst="rect">
                <a:avLst/>
              </a:prstGeom>
              <a:blipFill>
                <a:blip r:embed="rId7"/>
                <a:stretch>
                  <a:fillRect b="-178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4777D49-1BED-96E7-6256-7185255D1366}"/>
                  </a:ext>
                </a:extLst>
              </p:cNvPr>
              <p:cNvSpPr txBox="1"/>
              <p:nvPr/>
            </p:nvSpPr>
            <p:spPr>
              <a:xfrm>
                <a:off x="602507" y="3817293"/>
                <a:ext cx="3867021" cy="379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𝐴𝑆𝑅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{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𝑝𝑙𝑎𝑐𝑒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𝐶𝑇𝐶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𝑚𝑎𝑛𝑛𝑒𝑟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𝐶𝑇𝐶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𝑙𝑎𝑟𝑦𝑛𝑔𝑒𝑎𝑙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𝐶𝑇𝐶</m:t>
                          </m:r>
                        </m:sup>
                      </m:sSubSup>
                    </m:oMath>
                  </m:oMathPara>
                </a14:m>
                <a:endParaRPr lang="en-KR" sz="16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4777D49-1BED-96E7-6256-7185255D1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07" y="3817293"/>
                <a:ext cx="3867021" cy="379527"/>
              </a:xfrm>
              <a:prstGeom prst="rect">
                <a:avLst/>
              </a:prstGeom>
              <a:blipFill>
                <a:blip r:embed="rId8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BBC7C48-F375-F4C2-98FB-48FC31275F8B}"/>
                  </a:ext>
                </a:extLst>
              </p:cNvPr>
              <p:cNvSpPr txBox="1"/>
              <p:nvPr/>
            </p:nvSpPr>
            <p:spPr>
              <a:xfrm>
                <a:off x="1327670" y="4162786"/>
                <a:ext cx="3196323" cy="383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h𝑒𝑖𝑔h𝑡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𝐶𝑇𝐶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𝑏𝑎𝑐𝑘𝑛𝑒𝑠𝑠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𝐶𝑇𝐶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𝑟𝑜𝑢𝑛𝑑𝑖𝑛𝑔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𝐶𝑇𝐶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KR" sz="16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BBC7C48-F375-F4C2-98FB-48FC31275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670" y="4162786"/>
                <a:ext cx="3196323" cy="383118"/>
              </a:xfrm>
              <a:prstGeom prst="rect">
                <a:avLst/>
              </a:prstGeom>
              <a:blipFill>
                <a:blip r:embed="rId9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27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953A7-F137-7F35-483F-6095E57F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Preliminary Experiments B</a:t>
            </a: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en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 on Hypotheses</a:t>
            </a:r>
            <a:endParaRPr lang="en-KR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BFC076A-C958-15F4-556A-AE5BCD0CB175}"/>
              </a:ext>
            </a:extLst>
          </p:cNvPr>
          <p:cNvSpPr/>
          <p:nvPr/>
        </p:nvSpPr>
        <p:spPr>
          <a:xfrm>
            <a:off x="365126" y="1137958"/>
            <a:ext cx="4267259" cy="5354917"/>
          </a:xfrm>
          <a:prstGeom prst="roundRect">
            <a:avLst>
              <a:gd name="adj" fmla="val 845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 Hypothesis 3 ]</a:t>
            </a:r>
          </a:p>
          <a:p>
            <a:pPr algn="ctr"/>
            <a:endParaRPr lang="en-US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“Regularization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이나 </a:t>
            </a:r>
            <a:r>
              <a:rPr 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Smoothing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 같은</a:t>
            </a:r>
            <a:endParaRPr lang="en-US" altLang="ko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완화 기법을 적용하면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 안정적인 정렬을 형성하고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L2 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발음 변이에 대한 강건성을 개선할 수 있다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.”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89E988F-9D74-6BEF-E99E-AF8204844E2C}"/>
              </a:ext>
            </a:extLst>
          </p:cNvPr>
          <p:cNvSpPr/>
          <p:nvPr/>
        </p:nvSpPr>
        <p:spPr>
          <a:xfrm>
            <a:off x="4804854" y="3143854"/>
            <a:ext cx="7022020" cy="3349021"/>
          </a:xfrm>
          <a:prstGeom prst="roundRect">
            <a:avLst>
              <a:gd name="adj" fmla="val 845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Alignment Sharpness </a:t>
            </a: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정량화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(New Evaluation Metrics)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Peak Location: 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peak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나온 위치</a:t>
            </a: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Peak Latency: 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모델이 잡은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peak 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위치가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GT 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 위치에서 얼마나 벗어났는지</a:t>
            </a: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Local Entropy: peak 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주변에서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posterior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얼마나 퍼져 있는지</a:t>
            </a: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Peak Width: half-maximum 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기준으로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peak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몇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frame 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폭으로 퍼져 있는지</a:t>
            </a: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Blanck Ratio: CTC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blank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얼마나 많이 차지하는지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Entropy Regularization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만약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posterior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너무 빨리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collapse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된다고 판단되면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one-hot</a:t>
            </a:r>
            <a:r>
              <a:rPr kumimoji="0" lang="ko-KR" alt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처럼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굳지 않도록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entropy</a:t>
            </a:r>
            <a:r>
              <a:rPr kumimoji="0" lang="ko-KR" alt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약간 유지하게 만든다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Non-blank only entropy, Peak window entropy</a:t>
            </a:r>
            <a:endParaRPr kumimoji="0" lang="en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1AA1A3F-B651-CC5F-36EB-DA724A58F420}"/>
              </a:ext>
            </a:extLst>
          </p:cNvPr>
          <p:cNvSpPr/>
          <p:nvPr/>
        </p:nvSpPr>
        <p:spPr>
          <a:xfrm>
            <a:off x="4804854" y="1137959"/>
            <a:ext cx="6977150" cy="1889912"/>
          </a:xfrm>
          <a:prstGeom prst="roundRect">
            <a:avLst>
              <a:gd name="adj" fmla="val 8451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[Research Design 3 ]</a:t>
            </a:r>
          </a:p>
          <a:p>
            <a:pPr algn="ctr"/>
            <a:endParaRPr lang="en-US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Baseline: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Encoder </a:t>
            </a:r>
            <a:r>
              <a:rPr kumimoji="0" lang="en-US" altLang="ko-KR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LoRA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+ Phonetic CTC supervision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Proposed A: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Entropy Regularization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Proposed B: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Confusion-aware smoothing </a:t>
            </a:r>
            <a:endParaRPr kumimoji="0" lang="en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7707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D5E57-6E16-5A2D-B138-ED438BC7D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Next Plan</a:t>
            </a:r>
          </a:p>
        </p:txBody>
      </p:sp>
      <p:cxnSp>
        <p:nvCxnSpPr>
          <p:cNvPr id="4" name="Google Shape;131;p4">
            <a:extLst>
              <a:ext uri="{FF2B5EF4-FFF2-40B4-BE49-F238E27FC236}">
                <a16:creationId xmlns:a16="http://schemas.microsoft.com/office/drawing/2014/main" id="{A1B9F5EA-8A71-34E9-2FC5-018AC890C9C7}"/>
              </a:ext>
            </a:extLst>
          </p:cNvPr>
          <p:cNvCxnSpPr/>
          <p:nvPr/>
        </p:nvCxnSpPr>
        <p:spPr>
          <a:xfrm>
            <a:off x="1383737" y="1917813"/>
            <a:ext cx="8520913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" name="Google Shape;132;p4">
            <a:extLst>
              <a:ext uri="{FF2B5EF4-FFF2-40B4-BE49-F238E27FC236}">
                <a16:creationId xmlns:a16="http://schemas.microsoft.com/office/drawing/2014/main" id="{69EF808D-B978-48FC-B3CE-0D8EC43223E5}"/>
              </a:ext>
            </a:extLst>
          </p:cNvPr>
          <p:cNvCxnSpPr/>
          <p:nvPr/>
        </p:nvCxnSpPr>
        <p:spPr>
          <a:xfrm>
            <a:off x="1383737" y="4039956"/>
            <a:ext cx="8452944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Google Shape;133;p4">
            <a:extLst>
              <a:ext uri="{FF2B5EF4-FFF2-40B4-BE49-F238E27FC236}">
                <a16:creationId xmlns:a16="http://schemas.microsoft.com/office/drawing/2014/main" id="{4226C1DD-6FDD-B2B9-A851-CD50A747A337}"/>
              </a:ext>
            </a:extLst>
          </p:cNvPr>
          <p:cNvSpPr/>
          <p:nvPr/>
        </p:nvSpPr>
        <p:spPr>
          <a:xfrm>
            <a:off x="9124737" y="1916465"/>
            <a:ext cx="1543643" cy="2183493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221B51E2-ECE1-E217-F32D-2FACBEFD8C21}"/>
              </a:ext>
            </a:extLst>
          </p:cNvPr>
          <p:cNvSpPr/>
          <p:nvPr/>
        </p:nvSpPr>
        <p:spPr>
          <a:xfrm rot="10800000" flipH="1">
            <a:off x="9015361" y="1856461"/>
            <a:ext cx="1653019" cy="2183494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8" name="Google Shape;135;p4">
            <a:extLst>
              <a:ext uri="{FF2B5EF4-FFF2-40B4-BE49-F238E27FC236}">
                <a16:creationId xmlns:a16="http://schemas.microsoft.com/office/drawing/2014/main" id="{9116BFA7-CFAF-2A84-E887-8CC6D4731296}"/>
              </a:ext>
            </a:extLst>
          </p:cNvPr>
          <p:cNvSpPr txBox="1"/>
          <p:nvPr/>
        </p:nvSpPr>
        <p:spPr>
          <a:xfrm>
            <a:off x="1446687" y="2154992"/>
            <a:ext cx="12041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Week 3-4</a:t>
            </a:r>
            <a:endParaRPr sz="1800">
              <a:solidFill>
                <a:schemeClr val="dk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9" name="Google Shape;136;p4">
            <a:extLst>
              <a:ext uri="{FF2B5EF4-FFF2-40B4-BE49-F238E27FC236}">
                <a16:creationId xmlns:a16="http://schemas.microsoft.com/office/drawing/2014/main" id="{E3282724-6091-7F0B-C2AC-51F87D1E3B94}"/>
              </a:ext>
            </a:extLst>
          </p:cNvPr>
          <p:cNvSpPr txBox="1"/>
          <p:nvPr/>
        </p:nvSpPr>
        <p:spPr>
          <a:xfrm>
            <a:off x="3441537" y="2154914"/>
            <a:ext cx="135192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strike="sngStrike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Week 5-7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Google Shape;137;p4">
            <a:extLst>
              <a:ext uri="{FF2B5EF4-FFF2-40B4-BE49-F238E27FC236}">
                <a16:creationId xmlns:a16="http://schemas.microsoft.com/office/drawing/2014/main" id="{B1141B0E-590D-3672-2DD1-6C35C190E967}"/>
              </a:ext>
            </a:extLst>
          </p:cNvPr>
          <p:cNvSpPr txBox="1"/>
          <p:nvPr/>
        </p:nvSpPr>
        <p:spPr>
          <a:xfrm>
            <a:off x="5676602" y="2154992"/>
            <a:ext cx="127150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strike="sngStrike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Week 7-9</a:t>
            </a:r>
            <a:endParaRPr b="1" strike="sngStrike" dirty="0">
              <a:solidFill>
                <a:srgbClr val="00206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Google Shape;138;p4">
            <a:extLst>
              <a:ext uri="{FF2B5EF4-FFF2-40B4-BE49-F238E27FC236}">
                <a16:creationId xmlns:a16="http://schemas.microsoft.com/office/drawing/2014/main" id="{0ADFE2C5-AAF5-D6C0-8849-3C6244AFBD17}"/>
              </a:ext>
            </a:extLst>
          </p:cNvPr>
          <p:cNvSpPr txBox="1"/>
          <p:nvPr/>
        </p:nvSpPr>
        <p:spPr>
          <a:xfrm>
            <a:off x="2374912" y="4209683"/>
            <a:ext cx="141208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Week 16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Google Shape;139;p4">
            <a:extLst>
              <a:ext uri="{FF2B5EF4-FFF2-40B4-BE49-F238E27FC236}">
                <a16:creationId xmlns:a16="http://schemas.microsoft.com/office/drawing/2014/main" id="{0C5EC92B-AF49-D869-4F9C-85D61FB28DF1}"/>
              </a:ext>
            </a:extLst>
          </p:cNvPr>
          <p:cNvSpPr txBox="1"/>
          <p:nvPr/>
        </p:nvSpPr>
        <p:spPr>
          <a:xfrm>
            <a:off x="4853565" y="4200779"/>
            <a:ext cx="10679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Week 15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Google Shape;140;p4">
            <a:extLst>
              <a:ext uri="{FF2B5EF4-FFF2-40B4-BE49-F238E27FC236}">
                <a16:creationId xmlns:a16="http://schemas.microsoft.com/office/drawing/2014/main" id="{1D3EEB3C-6ADA-7CC2-F205-59B10F03E693}"/>
              </a:ext>
            </a:extLst>
          </p:cNvPr>
          <p:cNvSpPr txBox="1"/>
          <p:nvPr/>
        </p:nvSpPr>
        <p:spPr>
          <a:xfrm>
            <a:off x="2091181" y="4579015"/>
            <a:ext cx="148790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F3F3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Final Paper</a:t>
            </a:r>
            <a:endParaRPr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F3F3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Presentation</a:t>
            </a:r>
            <a:endParaRPr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Google Shape;141;p4">
            <a:extLst>
              <a:ext uri="{FF2B5EF4-FFF2-40B4-BE49-F238E27FC236}">
                <a16:creationId xmlns:a16="http://schemas.microsoft.com/office/drawing/2014/main" id="{3FAF62CD-D7F0-7AC6-37D4-3A026D391375}"/>
              </a:ext>
            </a:extLst>
          </p:cNvPr>
          <p:cNvSpPr txBox="1"/>
          <p:nvPr/>
        </p:nvSpPr>
        <p:spPr>
          <a:xfrm>
            <a:off x="4342334" y="4561010"/>
            <a:ext cx="24531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</a:pPr>
            <a:r>
              <a:rPr lang="en-US" sz="1400" dirty="0">
                <a:solidFill>
                  <a:srgbClr val="3F3F3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Ablation Experiments</a:t>
            </a:r>
            <a:endParaRPr sz="1400" dirty="0">
              <a:solidFill>
                <a:srgbClr val="3F3F3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</a:pPr>
            <a:r>
              <a:rPr lang="en-US" sz="1400" dirty="0">
                <a:solidFill>
                  <a:srgbClr val="3F3F3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Final quantitative results</a:t>
            </a:r>
            <a:endParaRPr sz="1400" dirty="0">
              <a:solidFill>
                <a:srgbClr val="3F3F3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5" name="Google Shape;142;p4">
            <a:extLst>
              <a:ext uri="{FF2B5EF4-FFF2-40B4-BE49-F238E27FC236}">
                <a16:creationId xmlns:a16="http://schemas.microsoft.com/office/drawing/2014/main" id="{8D4A3032-0F3B-CE7F-D955-ED095B4976C3}"/>
              </a:ext>
            </a:extLst>
          </p:cNvPr>
          <p:cNvSpPr txBox="1"/>
          <p:nvPr/>
        </p:nvSpPr>
        <p:spPr>
          <a:xfrm>
            <a:off x="7338917" y="4220550"/>
            <a:ext cx="14173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Week 13-14</a:t>
            </a:r>
            <a:endParaRPr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Google Shape;143;p4">
            <a:extLst>
              <a:ext uri="{FF2B5EF4-FFF2-40B4-BE49-F238E27FC236}">
                <a16:creationId xmlns:a16="http://schemas.microsoft.com/office/drawing/2014/main" id="{D54C98BD-DE44-7CE8-FB10-99AD732483D8}"/>
              </a:ext>
            </a:extLst>
          </p:cNvPr>
          <p:cNvSpPr txBox="1"/>
          <p:nvPr/>
        </p:nvSpPr>
        <p:spPr>
          <a:xfrm>
            <a:off x="7899781" y="2538323"/>
            <a:ext cx="147829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Hypothesis 3</a:t>
            </a:r>
            <a:endParaRPr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Google Shape;144;p4">
            <a:extLst>
              <a:ext uri="{FF2B5EF4-FFF2-40B4-BE49-F238E27FC236}">
                <a16:creationId xmlns:a16="http://schemas.microsoft.com/office/drawing/2014/main" id="{753D9DDA-838E-EB41-E6E6-322DDDAD40F8}"/>
              </a:ext>
            </a:extLst>
          </p:cNvPr>
          <p:cNvSpPr txBox="1"/>
          <p:nvPr/>
        </p:nvSpPr>
        <p:spPr>
          <a:xfrm>
            <a:off x="1232685" y="2548444"/>
            <a:ext cx="169309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Related Works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Char char="•"/>
            </a:pPr>
            <a:r>
              <a:rPr lang="en-US" sz="1400" b="1" strike="sngStrike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Change Data</a:t>
            </a:r>
            <a:endParaRPr strike="sngStrike" dirty="0">
              <a:solidFill>
                <a:srgbClr val="00206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strike="sngStrike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Make IPA/G2P</a:t>
            </a:r>
            <a:endParaRPr sz="1400" strike="sngStrike" dirty="0">
              <a:solidFill>
                <a:srgbClr val="00206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8" name="Google Shape;145;p4">
            <a:extLst>
              <a:ext uri="{FF2B5EF4-FFF2-40B4-BE49-F238E27FC236}">
                <a16:creationId xmlns:a16="http://schemas.microsoft.com/office/drawing/2014/main" id="{B46EA2B4-ED0E-987A-F78C-33601ADDFC7F}"/>
              </a:ext>
            </a:extLst>
          </p:cNvPr>
          <p:cNvSpPr txBox="1"/>
          <p:nvPr/>
        </p:nvSpPr>
        <p:spPr>
          <a:xfrm>
            <a:off x="7839566" y="2154914"/>
            <a:ext cx="14782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Week 10-12</a:t>
            </a:r>
            <a:endParaRPr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Google Shape;146;p4">
            <a:extLst>
              <a:ext uri="{FF2B5EF4-FFF2-40B4-BE49-F238E27FC236}">
                <a16:creationId xmlns:a16="http://schemas.microsoft.com/office/drawing/2014/main" id="{B92BABDA-AFC0-3964-6E98-0F29B582BB2A}"/>
              </a:ext>
            </a:extLst>
          </p:cNvPr>
          <p:cNvSpPr txBox="1"/>
          <p:nvPr/>
        </p:nvSpPr>
        <p:spPr>
          <a:xfrm>
            <a:off x="3455870" y="2538324"/>
            <a:ext cx="12715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trike="sngStrike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Hypothesis 1</a:t>
            </a:r>
            <a:endParaRPr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Google Shape;147;p4">
            <a:extLst>
              <a:ext uri="{FF2B5EF4-FFF2-40B4-BE49-F238E27FC236}">
                <a16:creationId xmlns:a16="http://schemas.microsoft.com/office/drawing/2014/main" id="{D8611B2A-2E4D-E5C5-CDAE-6003BC5B4B2F}"/>
              </a:ext>
            </a:extLst>
          </p:cNvPr>
          <p:cNvSpPr txBox="1"/>
          <p:nvPr/>
        </p:nvSpPr>
        <p:spPr>
          <a:xfrm>
            <a:off x="5645750" y="2548444"/>
            <a:ext cx="1320917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strike="sngStrike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Hypothesis 2</a:t>
            </a:r>
            <a:endParaRPr b="1" strike="sngStrike">
              <a:solidFill>
                <a:srgbClr val="00206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Google Shape;148;p4">
            <a:extLst>
              <a:ext uri="{FF2B5EF4-FFF2-40B4-BE49-F238E27FC236}">
                <a16:creationId xmlns:a16="http://schemas.microsoft.com/office/drawing/2014/main" id="{400BD66E-6AC9-8D19-9693-63C0C2CAAFBD}"/>
              </a:ext>
            </a:extLst>
          </p:cNvPr>
          <p:cNvSpPr txBox="1"/>
          <p:nvPr/>
        </p:nvSpPr>
        <p:spPr>
          <a:xfrm>
            <a:off x="7054568" y="4552600"/>
            <a:ext cx="196079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F3F3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New Idea</a:t>
            </a:r>
            <a:endParaRPr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F3F3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specifically for Korean</a:t>
            </a:r>
            <a:endParaRPr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Google Shape;149;p4">
            <a:extLst>
              <a:ext uri="{FF2B5EF4-FFF2-40B4-BE49-F238E27FC236}">
                <a16:creationId xmlns:a16="http://schemas.microsoft.com/office/drawing/2014/main" id="{8490E4B6-6AE5-4AD4-8D5D-BA57DE096FEF}"/>
              </a:ext>
            </a:extLst>
          </p:cNvPr>
          <p:cNvSpPr/>
          <p:nvPr/>
        </p:nvSpPr>
        <p:spPr>
          <a:xfrm>
            <a:off x="1976638" y="1828799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23" name="Google Shape;150;p4">
            <a:extLst>
              <a:ext uri="{FF2B5EF4-FFF2-40B4-BE49-F238E27FC236}">
                <a16:creationId xmlns:a16="http://schemas.microsoft.com/office/drawing/2014/main" id="{43214659-A4FA-A502-CE40-66D082F7A109}"/>
              </a:ext>
            </a:extLst>
          </p:cNvPr>
          <p:cNvSpPr/>
          <p:nvPr/>
        </p:nvSpPr>
        <p:spPr>
          <a:xfrm>
            <a:off x="3948014" y="1826465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24" name="Google Shape;151;p4">
            <a:extLst>
              <a:ext uri="{FF2B5EF4-FFF2-40B4-BE49-F238E27FC236}">
                <a16:creationId xmlns:a16="http://schemas.microsoft.com/office/drawing/2014/main" id="{A20B81D4-6CC0-50B7-752A-F18785D26534}"/>
              </a:ext>
            </a:extLst>
          </p:cNvPr>
          <p:cNvSpPr/>
          <p:nvPr/>
        </p:nvSpPr>
        <p:spPr>
          <a:xfrm>
            <a:off x="6144557" y="1826465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25" name="Google Shape;152;p4">
            <a:extLst>
              <a:ext uri="{FF2B5EF4-FFF2-40B4-BE49-F238E27FC236}">
                <a16:creationId xmlns:a16="http://schemas.microsoft.com/office/drawing/2014/main" id="{C4AD0456-7324-0A87-56A1-76E3FDED9B62}"/>
              </a:ext>
            </a:extLst>
          </p:cNvPr>
          <p:cNvSpPr/>
          <p:nvPr/>
        </p:nvSpPr>
        <p:spPr>
          <a:xfrm>
            <a:off x="8451842" y="1826465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26" name="Google Shape;153;p4">
            <a:extLst>
              <a:ext uri="{FF2B5EF4-FFF2-40B4-BE49-F238E27FC236}">
                <a16:creationId xmlns:a16="http://schemas.microsoft.com/office/drawing/2014/main" id="{B65F7A8E-2D3F-6706-6CA0-EEEF15D049CF}"/>
              </a:ext>
            </a:extLst>
          </p:cNvPr>
          <p:cNvSpPr/>
          <p:nvPr/>
        </p:nvSpPr>
        <p:spPr>
          <a:xfrm>
            <a:off x="2791765" y="3972015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27" name="Google Shape;154;p4">
            <a:extLst>
              <a:ext uri="{FF2B5EF4-FFF2-40B4-BE49-F238E27FC236}">
                <a16:creationId xmlns:a16="http://schemas.microsoft.com/office/drawing/2014/main" id="{0A5E13D6-341D-46C4-FFE0-640BCDF66CAE}"/>
              </a:ext>
            </a:extLst>
          </p:cNvPr>
          <p:cNvSpPr/>
          <p:nvPr/>
        </p:nvSpPr>
        <p:spPr>
          <a:xfrm>
            <a:off x="5308341" y="3965219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28" name="Google Shape;155;p4">
            <a:extLst>
              <a:ext uri="{FF2B5EF4-FFF2-40B4-BE49-F238E27FC236}">
                <a16:creationId xmlns:a16="http://schemas.microsoft.com/office/drawing/2014/main" id="{8482F243-2E87-4453-C923-5DF0B7035F5E}"/>
              </a:ext>
            </a:extLst>
          </p:cNvPr>
          <p:cNvSpPr/>
          <p:nvPr/>
        </p:nvSpPr>
        <p:spPr>
          <a:xfrm>
            <a:off x="7944965" y="3963642"/>
            <a:ext cx="180000" cy="1800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8899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1339</TotalTime>
  <Words>1259</Words>
  <Application>Microsoft Macintosh PowerPoint</Application>
  <PresentationFormat>Widescreen</PresentationFormat>
  <Paragraphs>297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 Math</vt:lpstr>
      <vt:lpstr>Pretendard</vt:lpstr>
      <vt:lpstr>Play</vt:lpstr>
      <vt:lpstr>Office Theme</vt:lpstr>
      <vt:lpstr>Phonetic-Aware Encoder Tuning: Boosting Robustness against L2 Pronunciation Variations via CTC Supervision</vt:lpstr>
      <vt:lpstr>Introduction</vt:lpstr>
      <vt:lpstr>Research Goal</vt:lpstr>
      <vt:lpstr>Dataset</vt:lpstr>
      <vt:lpstr>*Basic Research Design</vt:lpstr>
      <vt:lpstr>*Basic Research Design</vt:lpstr>
      <vt:lpstr>*Basic Research Design</vt:lpstr>
      <vt:lpstr>*Basic Research Design</vt:lpstr>
      <vt:lpstr>Preliminary Experiments Based on Hypotheses</vt:lpstr>
      <vt:lpstr>Preliminary Experiments Based on Hypotheses</vt:lpstr>
      <vt:lpstr>Preliminary Experiments Based on Hypotheses</vt:lpstr>
      <vt:lpstr>Next Plan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정하연</dc:creator>
  <cp:lastModifiedBy>정하연</cp:lastModifiedBy>
  <cp:revision>44</cp:revision>
  <dcterms:created xsi:type="dcterms:W3CDTF">2025-07-25T04:06:09Z</dcterms:created>
  <dcterms:modified xsi:type="dcterms:W3CDTF">2026-04-10T06:11:28Z</dcterms:modified>
</cp:coreProperties>
</file>