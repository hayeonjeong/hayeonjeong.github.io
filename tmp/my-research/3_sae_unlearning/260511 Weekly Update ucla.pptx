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77" r:id="rId3"/>
    <p:sldId id="382" r:id="rId4"/>
    <p:sldId id="383" r:id="rId5"/>
    <p:sldId id="371" r:id="rId6"/>
    <p:sldId id="379" r:id="rId7"/>
    <p:sldId id="380" r:id="rId8"/>
    <p:sldId id="389" r:id="rId9"/>
    <p:sldId id="386" r:id="rId10"/>
    <p:sldId id="393" r:id="rId11"/>
    <p:sldId id="391" r:id="rId12"/>
    <p:sldId id="392" r:id="rId13"/>
    <p:sldId id="390" r:id="rId14"/>
    <p:sldId id="374" r:id="rId15"/>
    <p:sldId id="372" r:id="rId16"/>
    <p:sldId id="376" r:id="rId17"/>
    <p:sldId id="384" r:id="rId18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3E00BF-5D40-8E89-F5F2-4B0618AD9405}" name="정하연" initials="정" userId="S::hayeon.jeong@o365.yonsei.ac.kr::e95db288-6b69-43e1-a5d2-7b2a41a97e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AC"/>
    <a:srgbClr val="DEDF00"/>
    <a:srgbClr val="BF4959"/>
    <a:srgbClr val="FB8682"/>
    <a:srgbClr val="66C8F5"/>
    <a:srgbClr val="88D6F5"/>
    <a:srgbClr val="FBA4A3"/>
    <a:srgbClr val="FBA6A1"/>
    <a:srgbClr val="FBCECB"/>
    <a:srgbClr val="F1C6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92"/>
    <p:restoredTop sz="81208"/>
  </p:normalViewPr>
  <p:slideViewPr>
    <p:cSldViewPr snapToGrid="0">
      <p:cViewPr>
        <p:scale>
          <a:sx n="106" d="100"/>
          <a:sy n="106" d="100"/>
        </p:scale>
        <p:origin x="117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A1999-0D2D-334E-B65B-715E1558EE94}" type="datetimeFigureOut">
              <a:rPr lang="en-KR" smtClean="0"/>
              <a:t>5/11/26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8AA30-34BB-0C47-9851-CC14E2038A7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550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/>
              <a:t>영어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 haven’t had many opportunities to discuss research in English yet,</a:t>
            </a:r>
          </a:p>
          <a:p>
            <a:pPr marL="171450" indent="-171450">
              <a:buFontTx/>
              <a:buChar char="-"/>
            </a:pPr>
            <a:r>
              <a:rPr lang="en-US" dirty="0"/>
              <a:t>I hope you’ll understand if I sound a bit awkward or unintentionally  impolite at times.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녹음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Also, do you mind if I record this meeting…? In case of misunderstanding the contents from this meeting,</a:t>
            </a:r>
            <a:r>
              <a:rPr lang="en-US" altLang="ko-KR" dirty="0"/>
              <a:t>,,</a:t>
            </a:r>
          </a:p>
          <a:p>
            <a:pPr marL="171450" indent="-171450">
              <a:buFontTx/>
              <a:buChar char="-"/>
            </a:pPr>
            <a:r>
              <a:rPr lang="en-US" dirty="0"/>
              <a:t>could I record our meeting for next several times? Until I get used to discuss research in English?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ko-KR" altLang="en-US" dirty="0"/>
              <a:t>이제까지 </a:t>
            </a:r>
            <a:r>
              <a:rPr lang="ko-KR" altLang="en-US" dirty="0" err="1"/>
              <a:t>한거</a:t>
            </a:r>
            <a:r>
              <a:rPr lang="en-US" altLang="ko-KR" dirty="0"/>
              <a:t>,</a:t>
            </a:r>
            <a:r>
              <a:rPr lang="ko-KR" altLang="en-US" dirty="0"/>
              <a:t> 다른 것도 관심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So, I would like to share the research that I was doing for last two months…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as I mentioned in the email, there is no complete method and results yet,,,</a:t>
            </a:r>
          </a:p>
          <a:p>
            <a:pPr marL="171450" indent="-171450">
              <a:buFontTx/>
              <a:buChar char="-"/>
            </a:pPr>
            <a:r>
              <a:rPr lang="en-US" dirty="0"/>
              <a:t>So, I also would like to say, I am open to other topics about interpretability or safety, and so on ,,,, on generative models or multimodal models.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시작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b="1" u="sng" dirty="0"/>
              <a:t>Shall I begin?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0746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 모델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ko-KR" altLang="en-US" dirty="0" err="1"/>
              <a:t>익숙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The model I’m </a:t>
            </a:r>
            <a:r>
              <a:rPr lang="en-US" altLang="ko-KR" b="1" u="sng" dirty="0"/>
              <a:t>focusing</a:t>
            </a:r>
            <a:r>
              <a:rPr lang="en-US" altLang="ko-KR" dirty="0"/>
              <a:t> on is UMM.</a:t>
            </a:r>
          </a:p>
          <a:p>
            <a:pPr marL="171450" indent="-171450">
              <a:buFontTx/>
              <a:buChar char="-"/>
            </a:pPr>
            <a:r>
              <a:rPr lang="en-US" b="1" u="sng" dirty="0"/>
              <a:t>I was wondering</a:t>
            </a:r>
            <a:r>
              <a:rPr lang="en-US" b="0" u="none" dirty="0"/>
              <a:t> </a:t>
            </a:r>
            <a:r>
              <a:rPr lang="en-US" dirty="0"/>
              <a:t>if you’re </a:t>
            </a:r>
            <a:r>
              <a:rPr lang="en-US" b="1" u="sng" dirty="0"/>
              <a:t>familiar with</a:t>
            </a:r>
            <a:r>
              <a:rPr lang="en-US" b="0" u="none" dirty="0"/>
              <a:t> </a:t>
            </a:r>
            <a:r>
              <a:rPr lang="en-US" dirty="0"/>
              <a:t>this model.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ko-KR" altLang="en-US" dirty="0"/>
              <a:t>설명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dirty="0"/>
              <a:t>Task </a:t>
            </a:r>
            <a:r>
              <a:rPr lang="ko-KR" altLang="en-US" dirty="0"/>
              <a:t>예시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3</a:t>
            </a:r>
            <a:r>
              <a:rPr lang="ko-KR" altLang="en-US" dirty="0"/>
              <a:t>문장 읽기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dirty="0"/>
              <a:t>To put it simply, for example,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If we only put text paragraph or prompts, the model act exactly same as Large Language Model. So, it can do any kind of text tasks.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Also, if we put image (or image and description or direction,), the model act as T2I (Text to Image) model. Then, it generates or edits the images that we put.</a:t>
            </a:r>
          </a:p>
          <a:p>
            <a:endParaRPr lang="en-US" dirty="0"/>
          </a:p>
          <a:p>
            <a:r>
              <a:rPr lang="ko-KR" altLang="en-US" dirty="0"/>
              <a:t>최근 구조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dirty="0"/>
              <a:t>AR + Diffusion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 modality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autoregressive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image modality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diffusion-based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65600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02994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모델을 공부하면서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멀티모달</a:t>
            </a:r>
            <a:r>
              <a:rPr lang="ko-KR" altLang="en-US" dirty="0"/>
              <a:t> 생성 </a:t>
            </a:r>
            <a:r>
              <a:rPr lang="ko-KR" altLang="en-US" dirty="0" err="1"/>
              <a:t>테스크에서</a:t>
            </a:r>
            <a:r>
              <a:rPr lang="ko-KR" altLang="en-US" dirty="0"/>
              <a:t> 발생할 수 있는</a:t>
            </a:r>
            <a:endParaRPr lang="en-US" altLang="ko-KR" dirty="0"/>
          </a:p>
          <a:p>
            <a:r>
              <a:rPr lang="ko-KR" altLang="en-US" dirty="0"/>
              <a:t>흔한 문제들을 생각하기 시작했습니다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While studying the model, I started to think about </a:t>
            </a:r>
            <a:r>
              <a:rPr lang="en-US" b="1" u="sng" dirty="0"/>
              <a:t>some common problem scenarios</a:t>
            </a:r>
            <a:r>
              <a:rPr lang="en-US" b="0" u="none" dirty="0"/>
              <a:t> </a:t>
            </a:r>
            <a:r>
              <a:rPr lang="en-US" dirty="0"/>
              <a:t>that could happen in multimodal generation tasks.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58749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D136-18DE-0608-0B36-4F48776CF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95F95-0888-14D9-12B0-0EBF3CC15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1DFAE-5C28-A110-32F9-F775636B0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side</a:t>
            </a:r>
            <a:r>
              <a:rPr lang="ko-KR" altLang="en-US" dirty="0"/>
              <a:t>에서는 모델이 </a:t>
            </a:r>
            <a:r>
              <a:rPr lang="en-US" altLang="ko-KR" dirty="0"/>
              <a:t>concept</a:t>
            </a:r>
            <a:r>
              <a:rPr lang="ko-KR" altLang="en-US" dirty="0"/>
              <a:t>을 이해하고 설명할 수 있어야 합니다</a:t>
            </a:r>
            <a:r>
              <a:rPr lang="en-US" altLang="ko-KR" dirty="0"/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모델은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figure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누구인지 설명할 수 있어야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저작권 캐릭터가 무엇인지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작가의 화풍이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가짜 신분증이 왜 위험한지도 설명할 수 있어야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같은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generation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위험할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모델이 개인 얼굴을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realistic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하게 새로 생성하면 안 되는 경우가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보호된 캐릭터와 거의 같은 이미지를 생성하면 안 될 수도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작가의 스타일을 그대로 따라 새 그림을 만드는 것도 제한해야 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 실제처럼 보이는 신분증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노골적인 폭력 이미지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성적 이미지는 생성 억제가 필요합니다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ABBCD-DDCE-D96E-C8D4-1E5B7E979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38467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3F80-B6D9-95BA-4225-C9F0B569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9CF1D-BA36-62C3-F4BA-43A61CAF8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6DE59-00C5-F28B-246D-F6F6E93A1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목표는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selective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대한 모든 지식을 없애려는 것이 아닙니다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 understanding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유지하고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unsafe rendering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억제하려는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knows but can't draw"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 설정입니다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anything is </a:t>
            </a:r>
            <a:r>
              <a:rPr lang="en-US" b="1" u="sng" dirty="0"/>
              <a:t>unclear</a:t>
            </a:r>
            <a:r>
              <a:rPr lang="en-US" dirty="0"/>
              <a:t> so far, please let me know.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EFF50-150B-442A-68BF-C32BE400B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6480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method I was trying,,,</a:t>
            </a:r>
          </a:p>
          <a:p>
            <a:r>
              <a:rPr lang="en-US" dirty="0"/>
              <a:t>There are 8 steps.</a:t>
            </a:r>
          </a:p>
          <a:p>
            <a:endParaRPr lang="en-US" dirty="0"/>
          </a:p>
          <a:p>
            <a:r>
              <a:rPr lang="ko-KR" altLang="en-US" dirty="0"/>
              <a:t>첫번째로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unlearncanvas</a:t>
            </a:r>
            <a:r>
              <a:rPr lang="ko-KR" altLang="en-US" dirty="0"/>
              <a:t>라는 </a:t>
            </a:r>
            <a:r>
              <a:rPr lang="en-US" altLang="ko-KR" dirty="0"/>
              <a:t>unlearning</a:t>
            </a:r>
            <a:r>
              <a:rPr lang="ko-KR" altLang="en-US" dirty="0"/>
              <a:t> </a:t>
            </a:r>
            <a:r>
              <a:rPr lang="en-US" altLang="ko-KR" dirty="0"/>
              <a:t>task</a:t>
            </a:r>
            <a:r>
              <a:rPr lang="ko-KR" altLang="en-US" dirty="0" err="1"/>
              <a:t>에</a:t>
            </a:r>
            <a:r>
              <a:rPr lang="ko-KR" altLang="en-US" dirty="0"/>
              <a:t> 자주 쓰이는 프롬프트 셋을 준비합니다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총 </a:t>
            </a:r>
            <a:r>
              <a:rPr lang="en-US" altLang="ko-KR" dirty="0"/>
              <a:t>20</a:t>
            </a:r>
            <a:r>
              <a:rPr lang="ko-KR" altLang="en-US" dirty="0"/>
              <a:t>개 클래스 별 </a:t>
            </a:r>
            <a:r>
              <a:rPr lang="en-US" altLang="ko-KR" dirty="0"/>
              <a:t>80</a:t>
            </a:r>
            <a:r>
              <a:rPr lang="ko-KR" altLang="en-US" dirty="0"/>
              <a:t>개의 다양한 프롬프트가 있고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여기 있는 모든 개념을 동시에 모두 </a:t>
            </a:r>
            <a:r>
              <a:rPr lang="en-US" altLang="ko-KR" dirty="0"/>
              <a:t>suppress</a:t>
            </a:r>
            <a:r>
              <a:rPr lang="ko-KR" altLang="en-US" dirty="0" err="1"/>
              <a:t>하는게</a:t>
            </a:r>
            <a:r>
              <a:rPr lang="ko-KR" altLang="en-US" dirty="0"/>
              <a:t> 목표입니다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그래서 이 모든 프롬프트를 </a:t>
            </a:r>
            <a:r>
              <a:rPr lang="en-US" altLang="ko-KR" dirty="0"/>
              <a:t>SAE</a:t>
            </a:r>
            <a:r>
              <a:rPr lang="ko-KR" altLang="en-US" dirty="0" err="1"/>
              <a:t>에</a:t>
            </a:r>
            <a:r>
              <a:rPr lang="ko-KR" altLang="en-US" dirty="0"/>
              <a:t> 학습시킵니다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77183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부분은 </a:t>
            </a:r>
            <a:r>
              <a:rPr lang="en-US" dirty="0"/>
              <a:t>Sparse Autoencoder(SAE)</a:t>
            </a:r>
            <a:r>
              <a:rPr lang="ko-KR" altLang="en-US" dirty="0"/>
              <a:t>의 기본 구조와 학습 </a:t>
            </a:r>
            <a:r>
              <a:rPr lang="en-US" dirty="0"/>
              <a:t>objective</a:t>
            </a:r>
            <a:r>
              <a:rPr lang="ko-KR" altLang="en-US" dirty="0" err="1"/>
              <a:t>를</a:t>
            </a:r>
            <a:r>
              <a:rPr lang="ko-KR" altLang="en-US" dirty="0"/>
              <a:t> 정리한 것입니다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앞에서 </a:t>
            </a:r>
            <a:r>
              <a:rPr lang="ko-KR" altLang="en-US" dirty="0" err="1"/>
              <a:t>언급하는걸</a:t>
            </a:r>
            <a:r>
              <a:rPr lang="ko-KR" altLang="en-US" dirty="0"/>
              <a:t> 까먹었는데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베이글</a:t>
            </a:r>
            <a:r>
              <a:rPr lang="ko-KR" altLang="en-US" dirty="0"/>
              <a:t> 모델에서 </a:t>
            </a:r>
            <a:r>
              <a:rPr lang="en-US" altLang="ko-KR" dirty="0"/>
              <a:t>28</a:t>
            </a:r>
            <a:r>
              <a:rPr lang="ko-KR" altLang="en-US" dirty="0"/>
              <a:t>개 블록 중에 딱 하나의 레이어 </a:t>
            </a:r>
            <a:r>
              <a:rPr lang="en-US" altLang="ko-KR" dirty="0"/>
              <a:t>24</a:t>
            </a:r>
            <a:r>
              <a:rPr lang="ko-KR" altLang="en-US" dirty="0" err="1"/>
              <a:t>를</a:t>
            </a:r>
            <a:r>
              <a:rPr lang="ko-KR" altLang="en-US" dirty="0"/>
              <a:t> 지정해서</a:t>
            </a:r>
            <a:r>
              <a:rPr lang="en-US" altLang="ko-KR" dirty="0"/>
              <a:t>,</a:t>
            </a:r>
            <a:r>
              <a:rPr lang="ko-KR" altLang="en-US" dirty="0"/>
              <a:t> 그 바로 뒤에 </a:t>
            </a:r>
            <a:r>
              <a:rPr lang="en-US" altLang="ko-KR" dirty="0"/>
              <a:t>SAE</a:t>
            </a:r>
            <a:r>
              <a:rPr lang="ko-KR" altLang="en-US" dirty="0" err="1"/>
              <a:t>를</a:t>
            </a:r>
            <a:r>
              <a:rPr lang="ko-KR" altLang="en-US" dirty="0"/>
              <a:t> 붙인다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먼저 입력 </a:t>
            </a:r>
            <a:r>
              <a:rPr lang="en-US" dirty="0"/>
              <a:t>activation x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dirty="0"/>
              <a:t>encoder</a:t>
            </a:r>
            <a:r>
              <a:rPr lang="ko-KR" altLang="en-US" dirty="0" err="1"/>
              <a:t>에</a:t>
            </a:r>
            <a:r>
              <a:rPr lang="ko-KR" altLang="en-US" dirty="0"/>
              <a:t> 통과시켜 </a:t>
            </a:r>
            <a:r>
              <a:rPr lang="en-US" dirty="0"/>
              <a:t>latent representation z</a:t>
            </a:r>
            <a:r>
              <a:rPr lang="ko-KR" altLang="en-US" dirty="0" err="1"/>
              <a:t>를</a:t>
            </a:r>
            <a:r>
              <a:rPr lang="ko-KR" altLang="en-US" dirty="0"/>
              <a:t> 만듭니다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dirty="0" err="1"/>
              <a:t>ReLU</a:t>
            </a:r>
            <a:r>
              <a:rPr lang="ko-KR" altLang="en-US" dirty="0" err="1"/>
              <a:t>를</a:t>
            </a:r>
            <a:r>
              <a:rPr lang="ko-KR" altLang="en-US" dirty="0"/>
              <a:t> 적용하고</a:t>
            </a:r>
            <a:r>
              <a:rPr lang="en-US" altLang="ko-KR" dirty="0"/>
              <a:t>, </a:t>
            </a:r>
            <a:r>
              <a:rPr lang="en-US" dirty="0"/>
              <a:t>Top-K</a:t>
            </a:r>
            <a:r>
              <a:rPr lang="ko-KR" altLang="en-US" dirty="0" err="1"/>
              <a:t>를</a:t>
            </a:r>
            <a:r>
              <a:rPr lang="ko-KR" altLang="en-US" dirty="0"/>
              <a:t> 사용해서 가장 큰 </a:t>
            </a:r>
            <a:r>
              <a:rPr lang="en-US" dirty="0"/>
              <a:t>activation 32</a:t>
            </a:r>
            <a:r>
              <a:rPr lang="ko-KR" altLang="en-US" dirty="0"/>
              <a:t>개만 남기도록 해서 </a:t>
            </a:r>
            <a:r>
              <a:rPr lang="en-US" dirty="0"/>
              <a:t>sparse representation</a:t>
            </a:r>
            <a:r>
              <a:rPr lang="ko-KR" altLang="en-US" dirty="0"/>
              <a:t>을 강제합니다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다음 </a:t>
            </a:r>
            <a:r>
              <a:rPr lang="en-US" dirty="0"/>
              <a:t>decoder</a:t>
            </a:r>
            <a:r>
              <a:rPr lang="ko-KR" altLang="en-US" dirty="0"/>
              <a:t>가 </a:t>
            </a:r>
            <a:r>
              <a:rPr lang="en-US" dirty="0"/>
              <a:t>sparse latent z</a:t>
            </a:r>
            <a:r>
              <a:rPr lang="ko-KR" altLang="en-US" dirty="0" err="1"/>
              <a:t>를</a:t>
            </a:r>
            <a:r>
              <a:rPr lang="ko-KR" altLang="en-US" dirty="0"/>
              <a:t> 이용해서 원래 </a:t>
            </a:r>
            <a:r>
              <a:rPr lang="en-US" dirty="0"/>
              <a:t>activation \hat{x}</a:t>
            </a:r>
            <a:r>
              <a:rPr lang="ko-KR" altLang="en-US" dirty="0" err="1"/>
              <a:t>를</a:t>
            </a:r>
            <a:r>
              <a:rPr lang="ko-KR" altLang="en-US" dirty="0"/>
              <a:t> 복원합니다</a:t>
            </a:r>
            <a:r>
              <a:rPr lang="en-US" altLang="ko-KR" dirty="0"/>
              <a:t>.</a:t>
            </a:r>
          </a:p>
          <a:p>
            <a:r>
              <a:rPr lang="en-US" dirty="0"/>
              <a:t>Loss</a:t>
            </a:r>
            <a:r>
              <a:rPr lang="ko-KR" altLang="en-US" dirty="0"/>
              <a:t>는 </a:t>
            </a:r>
            <a:r>
              <a:rPr lang="en-US" dirty="0"/>
              <a:t>reconstruction loss</a:t>
            </a:r>
            <a:r>
              <a:rPr lang="ko-KR" altLang="en-US" dirty="0"/>
              <a:t>와 </a:t>
            </a:r>
            <a:r>
              <a:rPr lang="en-US" dirty="0"/>
              <a:t>auxiliary loss</a:t>
            </a:r>
            <a:r>
              <a:rPr lang="ko-KR" altLang="en-US" dirty="0"/>
              <a:t>로 구성됩니다</a:t>
            </a:r>
            <a:r>
              <a:rPr lang="en-US" altLang="ko-KR" dirty="0"/>
              <a:t>. </a:t>
            </a:r>
            <a:r>
              <a:rPr lang="en-US" dirty="0"/>
              <a:t>Reconstruction loss</a:t>
            </a:r>
            <a:r>
              <a:rPr lang="ko-KR" altLang="en-US" dirty="0"/>
              <a:t>는 입력과 복원 결과의 차이를 최소화하는 역할이고</a:t>
            </a:r>
            <a:r>
              <a:rPr lang="en-US" altLang="ko-KR" dirty="0"/>
              <a:t>, </a:t>
            </a:r>
            <a:r>
              <a:rPr lang="en-US" dirty="0"/>
              <a:t>auxiliary loss</a:t>
            </a:r>
            <a:r>
              <a:rPr lang="ko-KR" altLang="en-US" dirty="0"/>
              <a:t>는 일부 </a:t>
            </a:r>
            <a:r>
              <a:rPr lang="en-US" dirty="0"/>
              <a:t>latent</a:t>
            </a:r>
            <a:r>
              <a:rPr lang="ko-KR" altLang="en-US" dirty="0"/>
              <a:t>가 전혀 활성화되지 않는 </a:t>
            </a:r>
            <a:r>
              <a:rPr lang="en-US" dirty="0"/>
              <a:t>dead latent </a:t>
            </a:r>
            <a:r>
              <a:rPr lang="ko-KR" altLang="en-US" dirty="0"/>
              <a:t>문제를 완화하기 위해 추가됩니다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 전체적으로는</a:t>
            </a:r>
            <a:r>
              <a:rPr lang="en-US" altLang="ko-KR" dirty="0"/>
              <a:t>, </a:t>
            </a:r>
            <a:r>
              <a:rPr lang="ko-KR" altLang="en-US" dirty="0"/>
              <a:t>모델 내부 </a:t>
            </a:r>
            <a:r>
              <a:rPr lang="en-US" dirty="0"/>
              <a:t>activation</a:t>
            </a:r>
            <a:r>
              <a:rPr lang="ko-KR" altLang="en-US" dirty="0"/>
              <a:t>을 </a:t>
            </a:r>
            <a:r>
              <a:rPr lang="en-US" dirty="0"/>
              <a:t>sparse</a:t>
            </a:r>
            <a:r>
              <a:rPr lang="ko-KR" altLang="en-US" dirty="0"/>
              <a:t>한 </a:t>
            </a:r>
            <a:r>
              <a:rPr lang="en-US" dirty="0"/>
              <a:t>feature</a:t>
            </a:r>
            <a:r>
              <a:rPr lang="ko-KR" altLang="en-US" dirty="0"/>
              <a:t>들의 조합으로 분해하고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en-US" dirty="0"/>
              <a:t>latent</a:t>
            </a:r>
            <a:r>
              <a:rPr lang="ko-KR" altLang="en-US" dirty="0"/>
              <a:t>가 더 </a:t>
            </a:r>
            <a:r>
              <a:rPr lang="en-US" dirty="0"/>
              <a:t>disentangled</a:t>
            </a:r>
            <a:r>
              <a:rPr lang="ko-KR" altLang="en-US" dirty="0"/>
              <a:t>된 의미 있는 </a:t>
            </a:r>
            <a:r>
              <a:rPr lang="en-US" dirty="0"/>
              <a:t>feature</a:t>
            </a:r>
            <a:r>
              <a:rPr lang="ko-KR" altLang="en-US" dirty="0" err="1"/>
              <a:t>를</a:t>
            </a:r>
            <a:r>
              <a:rPr lang="ko-KR" altLang="en-US" dirty="0"/>
              <a:t> 학습하도록 만드는 구조라고 볼 수 있습니다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en-US" dirty="0"/>
              <a:t>This part explains the </a:t>
            </a:r>
            <a:r>
              <a:rPr lang="en-US" b="1" u="sng" dirty="0"/>
              <a:t>basic structure </a:t>
            </a:r>
            <a:r>
              <a:rPr lang="en-US" dirty="0"/>
              <a:t>and </a:t>
            </a:r>
            <a:r>
              <a:rPr lang="en-US" b="1" u="sng" dirty="0"/>
              <a:t>training objective </a:t>
            </a:r>
            <a:r>
              <a:rPr lang="en-US" dirty="0"/>
              <a:t>of the Sparse Autoencoder, or SAE.</a:t>
            </a:r>
          </a:p>
          <a:p>
            <a:r>
              <a:rPr lang="en-US" dirty="0"/>
              <a:t>I forgot to mention this earlier, but in the Bagel model, there are 28 blocks, and I attach the SAE to only one specific layer, which is layer 24.</a:t>
            </a:r>
          </a:p>
          <a:p>
            <a:endParaRPr lang="en-US" dirty="0"/>
          </a:p>
          <a:p>
            <a:r>
              <a:rPr lang="en-US" dirty="0"/>
              <a:t>First, the </a:t>
            </a:r>
            <a:r>
              <a:rPr lang="en-US" b="1" u="sng" dirty="0"/>
              <a:t>input activation x</a:t>
            </a:r>
            <a:r>
              <a:rPr lang="en-US" b="0" u="none" dirty="0"/>
              <a:t> </a:t>
            </a:r>
            <a:r>
              <a:rPr lang="en-US" b="1" u="sng" dirty="0"/>
              <a:t>passes through</a:t>
            </a:r>
            <a:r>
              <a:rPr lang="en-US" dirty="0"/>
              <a:t> the encoder and </a:t>
            </a:r>
            <a:r>
              <a:rPr lang="en-US" b="1" u="sng" dirty="0"/>
              <a:t>becomes</a:t>
            </a:r>
            <a:r>
              <a:rPr lang="en-US" dirty="0"/>
              <a:t> a latent representation z.</a:t>
            </a:r>
          </a:p>
          <a:p>
            <a:r>
              <a:rPr lang="en-US" dirty="0"/>
              <a:t>After applying </a:t>
            </a:r>
            <a:r>
              <a:rPr lang="en-US" dirty="0" err="1"/>
              <a:t>ReLU</a:t>
            </a:r>
            <a:r>
              <a:rPr lang="en-US" dirty="0"/>
              <a:t>, Top-K is used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dirty="0"/>
              <a:t>so that only the 32 </a:t>
            </a:r>
            <a:r>
              <a:rPr lang="en-US" b="1" u="sng" dirty="0"/>
              <a:t>largest</a:t>
            </a:r>
            <a:r>
              <a:rPr lang="en-US" dirty="0"/>
              <a:t> activations </a:t>
            </a:r>
            <a:r>
              <a:rPr lang="en-US" b="1" u="sng" dirty="0"/>
              <a:t>remain</a:t>
            </a:r>
            <a:r>
              <a:rPr lang="en-US" dirty="0"/>
              <a:t>.</a:t>
            </a:r>
          </a:p>
          <a:p>
            <a:r>
              <a:rPr lang="en-US" dirty="0"/>
              <a:t>This forces the representation to be sparse.</a:t>
            </a:r>
          </a:p>
          <a:p>
            <a:endParaRPr lang="en-US" dirty="0"/>
          </a:p>
          <a:p>
            <a:r>
              <a:rPr lang="en-US" dirty="0"/>
              <a:t>Then, the decoder TAKES z AND reconstruct the original activation \hat{x}.</a:t>
            </a:r>
          </a:p>
          <a:p>
            <a:endParaRPr lang="en-US" dirty="0"/>
          </a:p>
          <a:p>
            <a:r>
              <a:rPr lang="en-US" dirty="0"/>
              <a:t>The loss consists of two parts: the reconstruction loss and the auxiliary loss.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reconstruction loss minimizes the difference between the original activation and the reconstructed activation.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auxiliary loss reduces the dead latent problem, where some latent are never activated during training.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Overall, the goal is to decompose the model’s internal activations into a small number of sparse features, so that each latent can learn more meaningful and disentangled features.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15961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64F7F-2F0E-C4E4-29E9-52EE6A6D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4D745-0B8B-EA3F-A8A1-BB9E17D7B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4E43E-EA2F-4A3B-49DF-C400A9F39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그렇게 </a:t>
            </a:r>
            <a:r>
              <a:rPr lang="en-US" altLang="ko-KR" dirty="0"/>
              <a:t>unsupervised learned SAE</a:t>
            </a:r>
            <a:r>
              <a:rPr lang="ko-KR" altLang="en-US" dirty="0" err="1"/>
              <a:t>를</a:t>
            </a:r>
            <a:r>
              <a:rPr lang="ko-KR" altLang="en-US" dirty="0"/>
              <a:t> 가지고 각 개념마다 어떤 </a:t>
            </a:r>
            <a:r>
              <a:rPr lang="en-US" altLang="ko-KR" dirty="0"/>
              <a:t>SAE feature</a:t>
            </a:r>
            <a:r>
              <a:rPr lang="ko-KR" altLang="en-US" dirty="0"/>
              <a:t>의 조합이 </a:t>
            </a:r>
            <a:r>
              <a:rPr lang="ko-KR" altLang="en-US" dirty="0" err="1"/>
              <a:t>의미있는지</a:t>
            </a:r>
            <a:r>
              <a:rPr lang="ko-KR" altLang="en-US" dirty="0"/>
              <a:t> 판단하기 위해 추가 작업을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horse</a:t>
            </a:r>
            <a:r>
              <a:rPr lang="ko-KR" altLang="en-US" dirty="0"/>
              <a:t>라는 개념을 지우고 싶으면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이렇게 아무것도 없는 프롬프트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cow, deer</a:t>
            </a:r>
            <a:r>
              <a:rPr lang="ko-KR" altLang="en-US" dirty="0" err="1"/>
              <a:t>처럼</a:t>
            </a:r>
            <a:r>
              <a:rPr lang="ko-KR" altLang="en-US" dirty="0"/>
              <a:t> 비슷한 개념</a:t>
            </a: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프롬프트를 준비한다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After that, there is another step to identify which combinations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EE1B1-57A4-3BB8-2DB6-0933DE502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92377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그리고 각 </a:t>
            </a:r>
            <a:r>
              <a:rPr lang="en-US" altLang="ko-KR" dirty="0"/>
              <a:t>feature</a:t>
            </a:r>
            <a:r>
              <a:rPr lang="ko-KR" altLang="en-US" dirty="0" err="1"/>
              <a:t>에</a:t>
            </a:r>
            <a:r>
              <a:rPr lang="ko-KR" altLang="en-US" dirty="0"/>
              <a:t> 대한 준비한 프롬프트 별 </a:t>
            </a:r>
            <a:r>
              <a:rPr lang="en-US" altLang="ko-KR" dirty="0"/>
              <a:t>activation</a:t>
            </a:r>
            <a:r>
              <a:rPr lang="ko-KR" altLang="en-US" dirty="0"/>
              <a:t>을 계산한다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지우려는 </a:t>
            </a:r>
            <a:r>
              <a:rPr lang="en-US" altLang="ko-KR" dirty="0"/>
              <a:t>target</a:t>
            </a:r>
            <a:r>
              <a:rPr lang="ko-KR" altLang="en-US" dirty="0"/>
              <a:t>에서는 잘 활성화되고</a:t>
            </a:r>
            <a:r>
              <a:rPr lang="en-US" altLang="ko-KR" dirty="0"/>
              <a:t>,</a:t>
            </a:r>
            <a:r>
              <a:rPr lang="ko-KR" altLang="en-US" dirty="0"/>
              <a:t> 다른 </a:t>
            </a:r>
            <a:r>
              <a:rPr lang="ko-KR" altLang="en-US" dirty="0" err="1"/>
              <a:t>개념들에서는</a:t>
            </a:r>
            <a:r>
              <a:rPr lang="ko-KR" altLang="en-US" dirty="0"/>
              <a:t> 활성화되지 않는 </a:t>
            </a:r>
            <a:r>
              <a:rPr lang="en-US" altLang="ko-KR" dirty="0"/>
              <a:t>feature</a:t>
            </a:r>
            <a:r>
              <a:rPr lang="ko-KR" altLang="en-US" dirty="0" err="1"/>
              <a:t>를</a:t>
            </a:r>
            <a:r>
              <a:rPr lang="ko-KR" altLang="en-US" dirty="0"/>
              <a:t> 고른다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95305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이건 여러 이미지에서 </a:t>
            </a:r>
            <a:r>
              <a:rPr lang="en-US" altLang="ko-KR" dirty="0"/>
              <a:t>horse </a:t>
            </a:r>
            <a:r>
              <a:rPr lang="ko-KR" altLang="en-US" dirty="0"/>
              <a:t>이미지가 </a:t>
            </a:r>
            <a:r>
              <a:rPr lang="en-US" altLang="ko-KR" dirty="0"/>
              <a:t>feature </a:t>
            </a:r>
            <a:r>
              <a:rPr lang="ko-KR" altLang="en-US" dirty="0"/>
              <a:t>별로 </a:t>
            </a:r>
            <a:r>
              <a:rPr lang="en-US" altLang="ko-KR" dirty="0"/>
              <a:t>(</a:t>
            </a:r>
            <a:r>
              <a:rPr lang="en-US" altLang="ko-KR"/>
              <a:t>on average, </a:t>
            </a:r>
            <a:r>
              <a:rPr lang="ko-KR" altLang="en-US"/>
              <a:t>평균적으로</a:t>
            </a:r>
            <a:r>
              <a:rPr lang="en-US" altLang="ko-KR" dirty="0"/>
              <a:t>)</a:t>
            </a:r>
            <a:r>
              <a:rPr lang="ko-KR" altLang="en-US" dirty="0"/>
              <a:t> 어떤 곳에 더 집중하는지 </a:t>
            </a:r>
            <a:r>
              <a:rPr lang="en-US" altLang="ko-KR" dirty="0"/>
              <a:t>heatmap</a:t>
            </a:r>
            <a:r>
              <a:rPr lang="ko-KR" altLang="en-US" dirty="0"/>
              <a:t>을 그려본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근데 사실 이건 아직 앞의 식에서 </a:t>
            </a:r>
            <a:r>
              <a:rPr lang="en-US" altLang="ko-KR" dirty="0" err="1"/>
              <a:t>B_i</a:t>
            </a:r>
            <a:r>
              <a:rPr lang="en-US" altLang="ko-KR" dirty="0"/>
              <a:t>, </a:t>
            </a:r>
            <a:r>
              <a:rPr lang="en-US" altLang="ko-KR" dirty="0" err="1"/>
              <a:t>R_i</a:t>
            </a:r>
            <a:r>
              <a:rPr lang="ko-KR" altLang="en-US" dirty="0"/>
              <a:t>가 포함되지 않은 형태라서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Counterfactual prompt</a:t>
            </a:r>
            <a:r>
              <a:rPr lang="ko-KR" altLang="en-US" dirty="0"/>
              <a:t>들을 이용해서 필터링하면 명확하게 </a:t>
            </a:r>
            <a:r>
              <a:rPr lang="ko-KR" altLang="en-US" dirty="0" err="1"/>
              <a:t>몇개의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가 객체 위치에만 추출 되는지는 확인을 해 </a:t>
            </a:r>
            <a:r>
              <a:rPr lang="ko-KR" altLang="en-US" dirty="0" err="1"/>
              <a:t>봐야한다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배경 부분이 너무 달라서 </a:t>
            </a:r>
            <a:r>
              <a:rPr lang="en-US" altLang="ko-KR" dirty="0"/>
              <a:t>object </a:t>
            </a:r>
            <a:r>
              <a:rPr lang="ko-KR" altLang="en-US" dirty="0"/>
              <a:t>부분 보다 배경의 차이로 인해 </a:t>
            </a:r>
            <a:r>
              <a:rPr lang="en-US" altLang="ko-KR" dirty="0"/>
              <a:t>score</a:t>
            </a:r>
            <a:r>
              <a:rPr lang="ko-KR" altLang="en-US" dirty="0"/>
              <a:t>가 높을 수도 있는 단점이 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08670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그렇게 높은 </a:t>
            </a:r>
            <a:r>
              <a:rPr lang="en-US" altLang="ko-KR" dirty="0"/>
              <a:t>score</a:t>
            </a:r>
            <a:r>
              <a:rPr lang="ko-KR" altLang="en-US" dirty="0" err="1"/>
              <a:t>를</a:t>
            </a:r>
            <a:r>
              <a:rPr lang="ko-KR" altLang="en-US" dirty="0"/>
              <a:t> 가진 </a:t>
            </a:r>
            <a:r>
              <a:rPr lang="en-US" altLang="ko-KR" dirty="0"/>
              <a:t>feature</a:t>
            </a:r>
            <a:r>
              <a:rPr lang="ko-KR" altLang="en-US" dirty="0"/>
              <a:t>들의 </a:t>
            </a:r>
            <a:r>
              <a:rPr lang="en-US" altLang="ko-KR" dirty="0"/>
              <a:t>meta data</a:t>
            </a:r>
            <a:r>
              <a:rPr lang="ko-KR" altLang="en-US" dirty="0" err="1"/>
              <a:t>를</a:t>
            </a:r>
            <a:r>
              <a:rPr lang="ko-KR" altLang="en-US" dirty="0"/>
              <a:t> 저장해둔 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inference </a:t>
            </a:r>
            <a:r>
              <a:rPr lang="ko-KR" altLang="en-US" dirty="0"/>
              <a:t>시에 그 </a:t>
            </a:r>
            <a:r>
              <a:rPr lang="en-US" altLang="ko-KR" dirty="0"/>
              <a:t>feature</a:t>
            </a:r>
            <a:r>
              <a:rPr lang="ko-KR" altLang="en-US" dirty="0" err="1"/>
              <a:t>에만</a:t>
            </a:r>
            <a:r>
              <a:rPr lang="ko-KR" altLang="en-US" dirty="0"/>
              <a:t> *</a:t>
            </a:r>
            <a:r>
              <a:rPr lang="en-US" altLang="ko-KR" dirty="0"/>
              <a:t>0</a:t>
            </a:r>
            <a:r>
              <a:rPr lang="ko-KR" altLang="en-US" dirty="0"/>
              <a:t>을 곱해서 </a:t>
            </a:r>
            <a:r>
              <a:rPr lang="en-US" altLang="ko-KR" dirty="0"/>
              <a:t>suppress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이상적으로는 그렇게 하면 말의 개념이 사라지고 배경이나 </a:t>
            </a:r>
            <a:r>
              <a:rPr lang="en-US" altLang="ko-KR" dirty="0"/>
              <a:t>cow, deer</a:t>
            </a:r>
            <a:r>
              <a:rPr lang="ko-KR" altLang="en-US" dirty="0"/>
              <a:t>의 형태가 나오는 것이다</a:t>
            </a:r>
            <a:r>
              <a:rPr lang="en-US" altLang="ko-KR" dirty="0"/>
              <a:t>.</a:t>
            </a:r>
            <a:endParaRPr lang="en-US" dirty="0"/>
          </a:p>
          <a:p>
            <a:r>
              <a:rPr lang="en-US" dirty="0"/>
              <a:t>---------------------------------------------------</a:t>
            </a:r>
          </a:p>
          <a:p>
            <a:r>
              <a:rPr lang="en-US" dirty="0"/>
              <a:t>I wanted to apply interventions, then see the generated results.</a:t>
            </a:r>
          </a:p>
          <a:p>
            <a:r>
              <a:rPr lang="en-US" dirty="0"/>
              <a:t>If the horse concept were removed, it would suggest that the approach has potential.</a:t>
            </a:r>
          </a:p>
          <a:p>
            <a:r>
              <a:rPr lang="en-US" dirty="0"/>
              <a:t>However, the Yonsei server uses a </a:t>
            </a:r>
            <a:r>
              <a:rPr lang="en-US" b="1" u="sng" dirty="0"/>
              <a:t>queue-based</a:t>
            </a:r>
            <a:r>
              <a:rPr lang="en-US" dirty="0"/>
              <a:t> GPU allocation system.</a:t>
            </a:r>
          </a:p>
          <a:p>
            <a:r>
              <a:rPr lang="en-US" dirty="0"/>
              <a:t>Recently, the queue has been very </a:t>
            </a:r>
            <a:r>
              <a:rPr lang="en-US" b="1" u="sng" dirty="0"/>
              <a:t>crowded</a:t>
            </a:r>
            <a:r>
              <a:rPr lang="en-US" dirty="0"/>
              <a:t>, and even after waiting for two days, I could not get access to a GPU.</a:t>
            </a:r>
          </a:p>
          <a:p>
            <a:r>
              <a:rPr lang="en-US" dirty="0"/>
              <a:t>As a result, I was not able to generate and evaluate the image outputs yet.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03462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짧게 정리하면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지우고 싶은 개념 프롬프트들로 </a:t>
            </a:r>
            <a:r>
              <a:rPr lang="en-US" altLang="ko-KR" dirty="0"/>
              <a:t>unsupervised SAE</a:t>
            </a:r>
            <a:r>
              <a:rPr lang="ko-KR" altLang="en-US" dirty="0" err="1"/>
              <a:t>를</a:t>
            </a:r>
            <a:r>
              <a:rPr lang="ko-KR" altLang="en-US" dirty="0"/>
              <a:t> 학습시키고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거기서 </a:t>
            </a:r>
            <a:r>
              <a:rPr lang="en-US" altLang="ko-KR" dirty="0" err="1"/>
              <a:t>topK</a:t>
            </a:r>
            <a:r>
              <a:rPr lang="en-US" altLang="ko-KR" dirty="0"/>
              <a:t> feature</a:t>
            </a:r>
            <a:r>
              <a:rPr lang="ko-KR" altLang="en-US" dirty="0" err="1"/>
              <a:t>를</a:t>
            </a:r>
            <a:r>
              <a:rPr lang="ko-KR" altLang="en-US" dirty="0"/>
              <a:t> 필터링한 다음</a:t>
            </a:r>
            <a:r>
              <a:rPr lang="en-US" altLang="ko-KR" dirty="0"/>
              <a:t>,</a:t>
            </a:r>
          </a:p>
          <a:p>
            <a:r>
              <a:rPr lang="en-US" altLang="ko-KR" dirty="0" err="1"/>
              <a:t>Counterfactural</a:t>
            </a:r>
            <a:r>
              <a:rPr lang="en-US" altLang="ko-KR" dirty="0"/>
              <a:t> prompt</a:t>
            </a:r>
            <a:r>
              <a:rPr lang="ko-KR" altLang="en-US" dirty="0" err="1"/>
              <a:t>를</a:t>
            </a:r>
            <a:r>
              <a:rPr lang="ko-KR" altLang="en-US" dirty="0"/>
              <a:t> 이용해서 그 개념이 특히 어떤 </a:t>
            </a:r>
            <a:r>
              <a:rPr lang="en-US" altLang="ko-KR" dirty="0"/>
              <a:t>feature</a:t>
            </a:r>
            <a:r>
              <a:rPr lang="ko-KR" altLang="en-US" dirty="0"/>
              <a:t>에서 </a:t>
            </a:r>
            <a:r>
              <a:rPr lang="en-US" altLang="ko-KR" dirty="0"/>
              <a:t>unique</a:t>
            </a:r>
            <a:r>
              <a:rPr lang="ko-KR" altLang="en-US" dirty="0"/>
              <a:t>한 특징을 보이는지 찾는다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그 </a:t>
            </a:r>
            <a:r>
              <a:rPr lang="en-US" altLang="ko-KR" dirty="0" err="1"/>
              <a:t>feautre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intervention</a:t>
            </a:r>
            <a:r>
              <a:rPr lang="ko-KR" altLang="en-US" dirty="0"/>
              <a:t>에서 </a:t>
            </a:r>
            <a:r>
              <a:rPr lang="en-US" altLang="ko-KR" dirty="0" err="1"/>
              <a:t>suprress</a:t>
            </a:r>
            <a:r>
              <a:rPr lang="ko-KR" altLang="en-US" dirty="0"/>
              <a:t>하면 개념이 나오지 않는다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54674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the contributions that I </a:t>
            </a:r>
            <a:r>
              <a:rPr lang="en-US" b="1" i="0" u="sng" dirty="0"/>
              <a:t>ideally envision</a:t>
            </a:r>
            <a:r>
              <a:rPr lang="en-US" dirty="0"/>
              <a:t> are the following: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the best of my knowledge, this would be the first work on unlearning for UMMs.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would also be the first work on modality-selective unlearning.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use SAE-based methods to perform unlearning while preserving image generation quality. Although the core technique itself is based on existing methods, we apply it in the context of UMM unlearning.</a:t>
            </a:r>
          </a:p>
          <a:p>
            <a:r>
              <a:rPr lang="en-US" dirty="0"/>
              <a:t>In addition, we introduce counterfactual prompts to better separate the target concept from related concepts during the unlearning process.</a:t>
            </a:r>
          </a:p>
          <a:p>
            <a:endParaRPr lang="en-US" dirty="0"/>
          </a:p>
          <a:p>
            <a:r>
              <a:rPr lang="en-US" dirty="0"/>
              <a:t>The last part </a:t>
            </a:r>
            <a:r>
              <a:rPr lang="en-US" b="1" u="sng" dirty="0"/>
              <a:t>will depend on</a:t>
            </a:r>
            <a:r>
              <a:rPr lang="en-US" dirty="0"/>
              <a:t> the method, but </a:t>
            </a:r>
            <a:r>
              <a:rPr lang="en-US" b="1" u="sng" dirty="0"/>
              <a:t>for now</a:t>
            </a:r>
            <a:r>
              <a:rPr lang="en-US" b="0" u="none" dirty="0"/>
              <a:t> </a:t>
            </a:r>
            <a:r>
              <a:rPr lang="en-US" dirty="0"/>
              <a:t>I </a:t>
            </a:r>
            <a:r>
              <a:rPr lang="en-US" b="1" u="sng" dirty="0"/>
              <a:t>set it up</a:t>
            </a:r>
            <a:r>
              <a:rPr lang="en-US" dirty="0"/>
              <a:t> </a:t>
            </a:r>
            <a:r>
              <a:rPr lang="en-US" b="1" u="sng" dirty="0"/>
              <a:t>like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27062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dirty="0"/>
              <a:t>These are the remaining research questions and discussions so far.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One possible future direction is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to go beyond simple text prompts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and also use the think/reasoning mode of UMM models.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By analyzing the images generated from the model’s own reasoning process, we may better detect the concepts that the model still internally remembers.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However, the model may also generate additional unintended features by itself.</a:t>
            </a:r>
          </a:p>
          <a:p>
            <a:pPr marL="685800" lvl="1" indent="-228600">
              <a:buFont typeface="+mj-lt"/>
              <a:buAutoNum type="arabicPeriod"/>
            </a:pPr>
            <a:endParaRPr lang="en-US" dirty="0"/>
          </a:p>
          <a:p>
            <a:pPr marL="228600" lvl="0" indent="-228600">
              <a:buFont typeface="+mj-lt"/>
              <a:buAutoNum type="arabicPeriod"/>
            </a:pPr>
            <a:r>
              <a:rPr lang="en-US" dirty="0"/>
              <a:t>Also, the separation between object and background is often unclear during inference, especially in non-general cases such as when the object appears at the corner of the image.</a:t>
            </a:r>
            <a:br>
              <a:rPr lang="en-US" dirty="0"/>
            </a:b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Additionally, the current approach is closer to blocking or filtering than to complete unlearning.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This is why I am still thinking carefully about whether I should continue this direction further.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602869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That’s everything I wanted to share.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That’s all I prepared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04435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9D99-0E39-375C-ECD9-E8BEB12F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B2AF-6CDC-754A-BF21-D403DB356990}" type="datetime1">
              <a:rPr lang="en-US" smtClean="0"/>
              <a:t>5/11/26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02B2-45BC-3664-B16F-C0B3EE41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CCC7B9-62B8-31DD-0229-DD887C013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C0C649-1748-F3E0-5235-F50DCBC93A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KR" sz="4800" dirty="0"/>
              <a:t>Title</a:t>
            </a:r>
            <a:endParaRPr lang="en-KR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78C4E3D-CBDE-2C38-6A80-96C3A43688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KR" dirty="0"/>
              <a:t>Subtitle</a:t>
            </a:r>
          </a:p>
          <a:p>
            <a:endParaRPr lang="en-KR" dirty="0"/>
          </a:p>
          <a:p>
            <a:r>
              <a:rPr lang="en-KR" dirty="0"/>
              <a:t>2025.XX.XX</a:t>
            </a:r>
          </a:p>
          <a:p>
            <a:r>
              <a:rPr lang="en-KR" dirty="0"/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304102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F7FA-047A-76DC-F53A-607DB621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0F43-BAD3-5D4B-842C-1BECF5783CC1}" type="datetime1">
              <a:rPr lang="en-US" smtClean="0"/>
              <a:t>5/11/26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5B7E-5821-3FBF-9C90-D608FD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E1898-3AA5-9E6C-895D-AE7A7A5E1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TITLE HERE</a:t>
            </a:r>
            <a:endParaRPr lang="en-KR" sz="2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C890D-0675-EFBB-C750-C787E03D1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lnSpc>
                <a:spcPct val="100000"/>
              </a:lnSpc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lnSpc>
                <a:spcPct val="100000"/>
              </a:lnSpc>
              <a:defRPr sz="12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 level</a:t>
            </a:r>
          </a:p>
          <a:p>
            <a:pPr lvl="1"/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Second level</a:t>
            </a:r>
          </a:p>
          <a:p>
            <a:pPr lvl="2"/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Third level</a:t>
            </a:r>
          </a:p>
          <a:p>
            <a:pPr lvl="3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Fourth level</a:t>
            </a:r>
          </a:p>
          <a:p>
            <a:pPr lvl="4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Fifth level</a:t>
            </a:r>
            <a:endParaRPr lang="en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8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4C1A-47A3-8FCD-C17B-E8AF0ACF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6B84-CF83-1768-F770-9FA317B2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DBD9-8556-9FE5-B37E-326DFB75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5020-5E6C-944D-954D-F6513999B2B9}" type="datetime1">
              <a:rPr lang="en-US" smtClean="0"/>
              <a:t>5/11/26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80EC-89C7-61E5-4253-9CEC3EBC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206E-DB2D-383A-E617-3091FE96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914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12B1-914A-A85B-9656-EED84B57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66D-9F19-7222-0134-B4027F458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9AC8F-15F8-233F-E3BD-B13B29E0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BA0E-4D9B-5669-1A40-025EAF60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84A6-EFC5-6A45-8FBB-8A86ED1092A9}" type="datetime1">
              <a:rPr lang="en-US" smtClean="0"/>
              <a:t>5/11/26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C0FD-58FC-157A-9180-051DFAF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6963-6C2A-C55A-CF1E-B938E2B3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0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B35-4B06-C984-E6E9-6571DE79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A03E-07D5-B7A7-F884-24381BF8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BA994-F460-612A-0B6F-B0A0EB041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33F7-78B9-904C-9642-3458037A1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6DCBC-7069-5BD8-46DB-C7BFDDEB4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9A386-0F81-8914-A12C-6597AB2E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3992-39AF-5043-AD44-4F8B2806E4F7}" type="datetime1">
              <a:rPr lang="en-US" smtClean="0"/>
              <a:t>5/11/26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F0178-97F1-0E9D-871E-D44CC8A3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2DD4-2D02-1CE4-91A9-5691335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573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EE20-AEF8-99D5-79CA-EC438D94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D7C7D-4C4C-5FC3-6C82-38A2D672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487C-F38D-EB4A-BAF1-3FA8DF0EA4DE}" type="datetime1">
              <a:rPr lang="en-US" smtClean="0"/>
              <a:t>5/11/26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72D74-F34B-1C70-5400-CE4D88C4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35DD3-871B-9B15-1A69-DF4F89CD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05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DA536-F8D8-E1A0-0A07-D6F8F756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10FE-8F71-CD45-B42C-796254A68CC4}" type="datetime1">
              <a:rPr lang="en-US" smtClean="0"/>
              <a:t>5/11/26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05598-D70E-7061-D1A4-71066E4B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6DE1-2B0C-747F-D616-2E139236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641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AA48-AC31-E217-26B4-54FEF3C6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5F99-968F-CA1D-9EF4-69C689EC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8E2D5-46B5-C951-B600-B0A6F1C6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9B3FD-14F9-C37C-27AE-A6FEA1C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F998-C5FC-F44C-ACA6-43C0BD0BBBF8}" type="datetime1">
              <a:rPr lang="en-US" smtClean="0"/>
              <a:t>5/11/26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EE16C-9D2A-FD18-5F30-C0F0D9B2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FC3E-58AE-89CD-BA74-3985BDB5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7752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9053-6310-F6B5-FF99-73CF29FE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13669-4EC8-9849-8202-9D2220CD7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1B808-8321-4034-7019-7D47978A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785D-94BD-4D14-E338-CFC24081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3009-010A-3643-99D4-2D4D54D3FB5B}" type="datetime1">
              <a:rPr lang="en-US" smtClean="0"/>
              <a:t>5/11/26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19A7F-3AE0-5DBC-B468-D3B13EF7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C2B9-B059-6DC8-C0E4-9E89E04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011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D59A-D378-CAD2-FF2E-9693BAA6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1652-27E2-AD5A-2784-87FE064C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654B-96B5-CC2A-79D0-7C2C5268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3623-CFE3-3B48-AD01-8ACA46C16D40}" type="datetime1">
              <a:rPr lang="en-US" smtClean="0"/>
              <a:t>5/11/26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7CB8-48BD-8C01-F4EF-4C100458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211DF-0CCD-85FB-B94A-9B7D1FA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66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894D5-5C64-B67F-3B71-D3700DC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9A60-8BAD-D3CB-5195-B600C771E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8497-FBC8-C5AC-D8DF-9B075D0A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C6B8-EB47-EA4D-BC75-D06A0CC2D4D7}" type="datetime1">
              <a:rPr lang="en-US" smtClean="0"/>
              <a:t>5/11/26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AE0D-CC99-FAC3-A922-1779477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7524-24A2-143E-DD2F-F8626A94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34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D6AA-BF94-B7A4-BEB5-94B7D494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497E-9634-6648-B43C-50321F9D4515}" type="datetime1">
              <a:rPr lang="en-US" smtClean="0"/>
              <a:t>5/11/26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34F99-7664-F70B-A87F-D3FE00DA7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76F92-44D7-C25D-E466-0C232BC87030}"/>
              </a:ext>
            </a:extLst>
          </p:cNvPr>
          <p:cNvSpPr txBox="1">
            <a:spLocks/>
          </p:cNvSpPr>
          <p:nvPr userDrawn="1"/>
        </p:nvSpPr>
        <p:spPr>
          <a:xfrm>
            <a:off x="9328728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42FE30C-30E7-744B-836A-23530458DF33}" type="slidenum">
              <a:rPr lang="en-KR" sz="120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/>
              <a:t>‹#›</a:t>
            </a:fld>
            <a:endParaRPr lang="en-KR" sz="12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4AD03-5656-19EF-4D4F-52CD0BA93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416FE89-1A01-8113-1810-88E693C4B77F}"/>
              </a:ext>
            </a:extLst>
          </p:cNvPr>
          <p:cNvGrpSpPr/>
          <p:nvPr userDrawn="1"/>
        </p:nvGrpSpPr>
        <p:grpSpPr>
          <a:xfrm>
            <a:off x="1295385" y="6506523"/>
            <a:ext cx="922375" cy="271843"/>
            <a:chOff x="116897" y="6241468"/>
            <a:chExt cx="765162" cy="23598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4A174EB-1A82-432B-0C16-697A22C17BA5}"/>
                </a:ext>
              </a:extLst>
            </p:cNvPr>
            <p:cNvGrpSpPr/>
            <p:nvPr userDrawn="1"/>
          </p:nvGrpSpPr>
          <p:grpSpPr>
            <a:xfrm>
              <a:off x="116897" y="6241468"/>
              <a:ext cx="741838" cy="235985"/>
              <a:chOff x="4838700" y="1485900"/>
              <a:chExt cx="7879666" cy="254725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B029C1D-20FD-B4E0-29AF-2B23C5DEC29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 b="34454"/>
              <a:stretch>
                <a:fillRect/>
              </a:stretch>
            </p:blipFill>
            <p:spPr>
              <a:xfrm>
                <a:off x="4838700" y="1485900"/>
                <a:ext cx="2514600" cy="2547257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69A72C3-F457-786A-63CE-25A46D75741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 t="70799" b="10827"/>
              <a:stretch>
                <a:fillRect/>
              </a:stretch>
            </p:blipFill>
            <p:spPr>
              <a:xfrm>
                <a:off x="6925260" y="1487292"/>
                <a:ext cx="5793106" cy="1645028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2C0EE7-84AC-3754-1583-52C466D1D3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rcRect t="87059"/>
            <a:stretch>
              <a:fillRect/>
            </a:stretch>
          </p:blipFill>
          <p:spPr>
            <a:xfrm>
              <a:off x="336662" y="6361948"/>
              <a:ext cx="545397" cy="1073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997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0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5.png"/><Relationship Id="rId15" Type="http://schemas.openxmlformats.org/officeDocument/2006/relationships/image" Target="../media/image13.png"/><Relationship Id="rId10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10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FD3EF-4AF0-5D47-76F7-C49B36472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54060"/>
            <a:ext cx="10363200" cy="2387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KR" sz="1800" dirty="0">
                <a:solidFill>
                  <a:schemeClr val="bg1">
                    <a:lumMod val="75000"/>
                  </a:schemeClr>
                </a:solidFill>
              </a:rPr>
              <a:t>UMM Unlearning</a:t>
            </a:r>
            <a:br>
              <a:rPr lang="en-KR" sz="2800" dirty="0"/>
            </a:br>
            <a:r>
              <a:rPr lang="en-US" altLang="ko-KR" sz="2400" dirty="0"/>
              <a:t>Knows But Can't Draw: Toward Modality-Selective Concept Suppression</a:t>
            </a:r>
            <a:br>
              <a:rPr lang="en-US" altLang="ko-KR" sz="2400" dirty="0"/>
            </a:br>
            <a:r>
              <a:rPr lang="en-US" altLang="ko-KR" sz="2400" dirty="0"/>
              <a:t>in Unified Multimodal Models</a:t>
            </a:r>
            <a:endParaRPr lang="en-KR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3B2ECD5-0A5C-4884-393F-48FD7CB6B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May 13th, 2026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23174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C33C-6B05-D291-5112-780D5D54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B936E-7291-2524-7942-F6C5A0E2A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UMM (Unified Multimodal Models)</a:t>
            </a:r>
          </a:p>
          <a:p>
            <a:pPr lvl="1"/>
            <a:r>
              <a:rPr lang="en-US" altLang="ko-KR" dirty="0"/>
              <a:t>One model handles text &amp; image(</a:t>
            </a:r>
            <a:r>
              <a:rPr lang="en-US" altLang="ko-KR" dirty="0" err="1"/>
              <a:t>vae</a:t>
            </a:r>
            <a:r>
              <a:rPr lang="en-US" altLang="ko-KR" dirty="0"/>
              <a:t>) tokens.</a:t>
            </a:r>
          </a:p>
          <a:p>
            <a:pPr lvl="1"/>
            <a:r>
              <a:rPr lang="en-US" altLang="ko-KR" dirty="0"/>
              <a:t>Text tokens support understanding.</a:t>
            </a:r>
          </a:p>
          <a:p>
            <a:pPr lvl="1"/>
            <a:r>
              <a:rPr lang="en-US" dirty="0"/>
              <a:t>VAE tokens drive image generation.</a:t>
            </a:r>
          </a:p>
          <a:p>
            <a:pPr lvl="1"/>
            <a:r>
              <a:rPr lang="en-US" dirty="0"/>
              <a:t>The tokens meet in a shared transformer.</a:t>
            </a:r>
          </a:p>
          <a:p>
            <a:pPr lvl="1"/>
            <a:r>
              <a:rPr lang="en-US" dirty="0"/>
              <a:t>We hook the VAE-side hidden state.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75DA99-3C95-E8C7-F44F-0F5996330E9F}"/>
              </a:ext>
            </a:extLst>
          </p:cNvPr>
          <p:cNvGrpSpPr/>
          <p:nvPr/>
        </p:nvGrpSpPr>
        <p:grpSpPr>
          <a:xfrm>
            <a:off x="7989789" y="1517284"/>
            <a:ext cx="3261516" cy="3053669"/>
            <a:chOff x="419820" y="1332013"/>
            <a:chExt cx="5504525" cy="479274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7070F14-67CB-4184-A8FE-78E68615D0CC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A4F6781-B87C-AE05-D0B4-C3AE01DFC1A8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Sequence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F6B8655-B540-8615-389C-B9ED8BDBD92B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AF3F7CF-8067-753D-F6ED-699726A961AF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F3E86E5-4CB7-1160-15EE-1AA603187CAB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9B9FB9C4-2072-94F4-1889-10789E789415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48F1763-D851-0F1C-EE36-F8DDDDDFE5B1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EA3040D-F403-29D8-6910-55CFD3ECF1B9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9C85A24-9F3B-B369-5303-47D36D02E986}"/>
                </a:ext>
              </a:extLst>
            </p:cNvPr>
            <p:cNvCxnSpPr>
              <a:cxnSpLocks/>
              <a:stCxn id="36" idx="2"/>
              <a:endCxn id="38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FA7DDC0-2540-E6F3-290C-D34D18AE9943}"/>
                </a:ext>
              </a:extLst>
            </p:cNvPr>
            <p:cNvCxnSpPr>
              <a:cxnSpLocks/>
              <a:stCxn id="37" idx="2"/>
              <a:endCxn id="39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C8C3A0F-30E9-6766-ED72-ADB321539209}"/>
                </a:ext>
              </a:extLst>
            </p:cNvPr>
            <p:cNvCxnSpPr>
              <a:cxnSpLocks/>
              <a:stCxn id="38" idx="2"/>
              <a:endCxn id="40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B21210D-8DA2-42E7-356F-41F79C0C45C8}"/>
                </a:ext>
              </a:extLst>
            </p:cNvPr>
            <p:cNvCxnSpPr>
              <a:cxnSpLocks/>
              <a:stCxn id="39" idx="2"/>
              <a:endCxn id="41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E6B2B4A-7BCA-1E17-35BE-66D5EE0A66F1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84C5131-CD14-EADF-81DB-6597E77F37B1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3FC7137-1C01-698C-5F25-886593CA3F90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578560A-A6B0-A3F1-03B9-0A747435B8CD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EB739B8-4B01-CB7A-8136-FADA0DEF4CD8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DE5CD0-22B1-A8F5-401F-37B79B2D1345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B7B5BF7-682A-0FDF-7AA8-F54E75C86BF3}"/>
                </a:ext>
              </a:extLst>
            </p:cNvPr>
            <p:cNvCxnSpPr>
              <a:cxnSpLocks/>
              <a:stCxn id="41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2EEAFA8-48A6-926B-DC3C-CBDA39376407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7B82B1D-BA9F-2469-78BF-FACD55C26226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2E47C7D-27C8-BE83-4081-5D74F967C29D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725323A-838E-3DE6-2857-ABF0CB763ED6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A9D51A8-26E5-FCAF-B4CA-F80ACD826FC9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4E38322-6B1A-7BB9-5E53-6C26DEE76927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47EEA2B-8E12-E8E1-FC76-8DA8CDCAB840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B67EFC0-EE90-B538-FFF7-FF652AFDD4BE}"/>
                </a:ext>
              </a:extLst>
            </p:cNvPr>
            <p:cNvCxnSpPr>
              <a:cxnSpLocks/>
              <a:stCxn id="54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5BD5F90-83A0-C56E-6DF7-9449809F8447}"/>
                </a:ext>
              </a:extLst>
            </p:cNvPr>
            <p:cNvSpPr txBox="1"/>
            <p:nvPr/>
          </p:nvSpPr>
          <p:spPr>
            <a:xfrm>
              <a:off x="5147349" y="1941746"/>
              <a:ext cx="776996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/>
                <a:t>X </a:t>
              </a:r>
              <a:r>
                <a:rPr lang="en-US" sz="1000" dirty="0"/>
                <a:t>NN</a:t>
              </a:r>
              <a:endParaRPr lang="en-KR" sz="1000" dirty="0"/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1A99FA5-C5C8-C5EA-B84B-6F760C7B68ED}"/>
              </a:ext>
            </a:extLst>
          </p:cNvPr>
          <p:cNvCxnSpPr>
            <a:stCxn id="55" idx="2"/>
          </p:cNvCxnSpPr>
          <p:nvPr/>
        </p:nvCxnSpPr>
        <p:spPr>
          <a:xfrm flipH="1">
            <a:off x="8656794" y="4491592"/>
            <a:ext cx="5980" cy="45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9DE995-679C-634C-EA5B-D96549EC8FAE}"/>
              </a:ext>
            </a:extLst>
          </p:cNvPr>
          <p:cNvCxnSpPr/>
          <p:nvPr/>
        </p:nvCxnSpPr>
        <p:spPr>
          <a:xfrm flipH="1">
            <a:off x="10149707" y="4490794"/>
            <a:ext cx="5980" cy="45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25C585F-E041-DB7D-3694-D44C37D97329}"/>
              </a:ext>
            </a:extLst>
          </p:cNvPr>
          <p:cNvSpPr txBox="1"/>
          <p:nvPr/>
        </p:nvSpPr>
        <p:spPr>
          <a:xfrm>
            <a:off x="8136560" y="4909309"/>
            <a:ext cx="100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Generated</a:t>
            </a:r>
          </a:p>
          <a:p>
            <a:pPr algn="ctr"/>
            <a:r>
              <a:rPr lang="en-US" sz="1400" dirty="0"/>
              <a:t>Text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2F6369-5DDC-375E-183E-13B53048E7EF}"/>
              </a:ext>
            </a:extLst>
          </p:cNvPr>
          <p:cNvSpPr txBox="1"/>
          <p:nvPr/>
        </p:nvSpPr>
        <p:spPr>
          <a:xfrm>
            <a:off x="9643312" y="4908511"/>
            <a:ext cx="100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Generated</a:t>
            </a:r>
          </a:p>
          <a:p>
            <a:pPr algn="ctr"/>
            <a:r>
              <a:rPr lang="en-US" sz="1400" dirty="0"/>
              <a:t>Image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74843A93-5337-E846-7C8B-3FE161C2C6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704" y="2968637"/>
            <a:ext cx="6338191" cy="3390466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6694553E-6855-CB9B-44A1-A0E33999CBEF}"/>
              </a:ext>
            </a:extLst>
          </p:cNvPr>
          <p:cNvSpPr txBox="1"/>
          <p:nvPr/>
        </p:nvSpPr>
        <p:spPr>
          <a:xfrm>
            <a:off x="8088565" y="5431731"/>
            <a:ext cx="10967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(any text tasks)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E3B591-FF6C-B292-79CF-E8FD40C38621}"/>
              </a:ext>
            </a:extLst>
          </p:cNvPr>
          <p:cNvSpPr txBox="1"/>
          <p:nvPr/>
        </p:nvSpPr>
        <p:spPr>
          <a:xfrm>
            <a:off x="9463114" y="5431731"/>
            <a:ext cx="1401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(generation, editing)</a:t>
            </a:r>
          </a:p>
        </p:txBody>
      </p:sp>
    </p:spTree>
    <p:extLst>
      <p:ext uri="{BB962C8B-B14F-4D97-AF65-F5344CB8AC3E}">
        <p14:creationId xmlns:p14="http://schemas.microsoft.com/office/powerpoint/2010/main" val="262025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956A-5286-7AE8-E4B3-D24762401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D5D2-EFC8-5CB3-653A-6EE7216D9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Model Architecture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69CEF-CEB0-04FA-B50C-638C253C8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Applicability Assessment Criteria</a:t>
            </a:r>
            <a:endParaRPr lang="en-US" dirty="0"/>
          </a:p>
          <a:p>
            <a:pPr lvl="1"/>
            <a:r>
              <a:rPr lang="en-US" dirty="0"/>
              <a:t>Whether </a:t>
            </a:r>
            <a:r>
              <a:rPr lang="en-US" u="sng" dirty="0"/>
              <a:t>generation-side tokens or </a:t>
            </a:r>
            <a:r>
              <a:rPr lang="en-US" u="sng" dirty="0" err="1"/>
              <a:t>latents</a:t>
            </a:r>
            <a:r>
              <a:rPr lang="en-US" u="sng" dirty="0"/>
              <a:t> can be separated</a:t>
            </a:r>
          </a:p>
          <a:p>
            <a:pPr lvl="1"/>
            <a:r>
              <a:rPr lang="en-US" dirty="0"/>
              <a:t>Whether they meet the text stream in a </a:t>
            </a:r>
            <a:r>
              <a:rPr lang="en-US" u="sng" dirty="0"/>
              <a:t>shared context</a:t>
            </a:r>
          </a:p>
          <a:p>
            <a:pPr lvl="1"/>
            <a:r>
              <a:rPr lang="en-US" dirty="0"/>
              <a:t>Whether hook-based </a:t>
            </a:r>
            <a:r>
              <a:rPr lang="en-US" u="sng" dirty="0"/>
              <a:t>intervention</a:t>
            </a:r>
            <a:r>
              <a:rPr lang="en-US" dirty="0"/>
              <a:t> can be </a:t>
            </a:r>
            <a:r>
              <a:rPr lang="en-US" u="sng" dirty="0"/>
              <a:t>restricted to the generation side</a:t>
            </a:r>
          </a:p>
          <a:p>
            <a:r>
              <a:rPr lang="en-US" b="1" dirty="0"/>
              <a:t>Models by Release Order and Applicability Assessment</a:t>
            </a:r>
            <a:endParaRPr lang="en-US" dirty="0"/>
          </a:p>
          <a:p>
            <a:pPr lvl="1"/>
            <a:endParaRPr lang="en-K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08B1EF-B2B3-1917-7B5F-A0553499B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94974"/>
              </p:ext>
            </p:extLst>
          </p:nvPr>
        </p:nvGraphicFramePr>
        <p:xfrm>
          <a:off x="656354" y="2758859"/>
          <a:ext cx="9944212" cy="341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525">
                  <a:extLst>
                    <a:ext uri="{9D8B030D-6E8A-4147-A177-3AD203B41FA5}">
                      <a16:colId xmlns:a16="http://schemas.microsoft.com/office/drawing/2014/main" val="548007243"/>
                    </a:ext>
                  </a:extLst>
                </a:gridCol>
                <a:gridCol w="932259">
                  <a:extLst>
                    <a:ext uri="{9D8B030D-6E8A-4147-A177-3AD203B41FA5}">
                      <a16:colId xmlns:a16="http://schemas.microsoft.com/office/drawing/2014/main" val="2321952273"/>
                    </a:ext>
                  </a:extLst>
                </a:gridCol>
                <a:gridCol w="777765">
                  <a:extLst>
                    <a:ext uri="{9D8B030D-6E8A-4147-A177-3AD203B41FA5}">
                      <a16:colId xmlns:a16="http://schemas.microsoft.com/office/drawing/2014/main" val="3764824149"/>
                    </a:ext>
                  </a:extLst>
                </a:gridCol>
                <a:gridCol w="5297679">
                  <a:extLst>
                    <a:ext uri="{9D8B030D-6E8A-4147-A177-3AD203B41FA5}">
                      <a16:colId xmlns:a16="http://schemas.microsoft.com/office/drawing/2014/main" val="2444744357"/>
                    </a:ext>
                  </a:extLst>
                </a:gridCol>
                <a:gridCol w="728283">
                  <a:extLst>
                    <a:ext uri="{9D8B030D-6E8A-4147-A177-3AD203B41FA5}">
                      <a16:colId xmlns:a16="http://schemas.microsoft.com/office/drawing/2014/main" val="2184336415"/>
                    </a:ext>
                  </a:extLst>
                </a:gridCol>
                <a:gridCol w="1116701">
                  <a:extLst>
                    <a:ext uri="{9D8B030D-6E8A-4147-A177-3AD203B41FA5}">
                      <a16:colId xmlns:a16="http://schemas.microsoft.com/office/drawing/2014/main" val="69210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Model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Applicability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Github</a:t>
                      </a:r>
                      <a:endParaRPr lang="en-US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/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Released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Title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Release Date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33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Transfusion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Transfusion: Predict the Next Token and Diffuse Images with One Multi-Modal Model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496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2024-08-20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88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Show-o: One Single Transformer to Unify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631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2024-08-22</a:t>
                      </a:r>
                    </a:p>
                  </a:txBody>
                  <a:tcPr anchor="ctr">
                    <a:solidFill>
                      <a:srgbClr val="FFEFAC">
                        <a:alpha val="4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50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MonoFormer</a:t>
                      </a: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MonoFormer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One Transformer for Both Diffusion and Autoregression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</a:t>
                      </a: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2024-09-24</a:t>
                      </a:r>
                    </a:p>
                  </a:txBody>
                  <a:tcPr anchor="ctr">
                    <a:solidFill>
                      <a:schemeClr val="bg1">
                        <a:alpha val="4902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32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JanusFlow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JanusFlow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Harmonizing Autoregression and Rectified Flow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2024-11-12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13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LMFusion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LMFusion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Adapting Pretrained Language Models for Multimodal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2024-12-19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65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Nexus-Gen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Nexus-Gen: Unified Image Understanding, Generation, and Editing via Prefilled Autoregression in Shared Embedding Space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2025-04-30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6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Mogao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Mogao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An Omni Foundation Model for Interleaved Multi-Modal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2025-05-08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232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BAGEL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Emerging Properties in Unified Multimodal Pretraining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486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2025-05-20</a:t>
                      </a:r>
                    </a:p>
                  </a:txBody>
                  <a:tcPr anchor="ctr">
                    <a:solidFill>
                      <a:srgbClr val="FFEFAC">
                        <a:alpha val="509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581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9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CDE3-9045-5336-FFE0-ED3C266C3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C8C85-387B-EE09-7A75-A3378FC6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Model Architecture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2E59-ACEE-BF9C-D3CD-588016806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Models by Release Order and Applicability Assessment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E47F83-8856-7BB8-7FFC-F8849D3CD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1124"/>
              </p:ext>
            </p:extLst>
          </p:nvPr>
        </p:nvGraphicFramePr>
        <p:xfrm>
          <a:off x="712998" y="1577427"/>
          <a:ext cx="9944212" cy="3093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525">
                  <a:extLst>
                    <a:ext uri="{9D8B030D-6E8A-4147-A177-3AD203B41FA5}">
                      <a16:colId xmlns:a16="http://schemas.microsoft.com/office/drawing/2014/main" val="548007243"/>
                    </a:ext>
                  </a:extLst>
                </a:gridCol>
                <a:gridCol w="928167">
                  <a:extLst>
                    <a:ext uri="{9D8B030D-6E8A-4147-A177-3AD203B41FA5}">
                      <a16:colId xmlns:a16="http://schemas.microsoft.com/office/drawing/2014/main" val="2321952273"/>
                    </a:ext>
                  </a:extLst>
                </a:gridCol>
                <a:gridCol w="725213">
                  <a:extLst>
                    <a:ext uri="{9D8B030D-6E8A-4147-A177-3AD203B41FA5}">
                      <a16:colId xmlns:a16="http://schemas.microsoft.com/office/drawing/2014/main" val="3764824149"/>
                    </a:ext>
                  </a:extLst>
                </a:gridCol>
                <a:gridCol w="5354323">
                  <a:extLst>
                    <a:ext uri="{9D8B030D-6E8A-4147-A177-3AD203B41FA5}">
                      <a16:colId xmlns:a16="http://schemas.microsoft.com/office/drawing/2014/main" val="2444744357"/>
                    </a:ext>
                  </a:extLst>
                </a:gridCol>
                <a:gridCol w="728283">
                  <a:extLst>
                    <a:ext uri="{9D8B030D-6E8A-4147-A177-3AD203B41FA5}">
                      <a16:colId xmlns:a16="http://schemas.microsoft.com/office/drawing/2014/main" val="2184336415"/>
                    </a:ext>
                  </a:extLst>
                </a:gridCol>
                <a:gridCol w="1116701">
                  <a:extLst>
                    <a:ext uri="{9D8B030D-6E8A-4147-A177-3AD203B41FA5}">
                      <a16:colId xmlns:a16="http://schemas.microsoft.com/office/drawing/2014/main" val="69210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Model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Applicability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Github</a:t>
                      </a:r>
                      <a:endParaRPr lang="en-US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/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Released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Release Date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33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OpenUni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OpenUni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 Simple Baseline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2025-05-29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88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Show-o2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Show-o2: Improved Native Unified Multimodal Models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2025-06-18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50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LightFusion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LightFusion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A Light-weighted, Double Fusion Framework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2025-10-27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32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HBridge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HBridge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H-Shape Bridging of Heterogeneous Experts for Unified Multimodal Understanding and Generation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2025-11-25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13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TUNA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b="0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TUNA: Taming Unified Visual Representations for Native Unified Multimodal Models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2025-12-01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65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EMMA: Efficient Multimodal Understanding, Generation, and Editing with a Unified Architecture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2025-12-04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6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InternVL-U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InternVL</a:t>
                      </a: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-U: Democratizing Unified Multimodal Models for Understanding, Reasoning, Generation and Editing</a:t>
                      </a:r>
                      <a:endParaRPr lang="en-KR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2026-03-10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232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598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2D32-422B-A2A1-6014-1FACFC2E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7831078-BEE3-FA57-1CDB-9FC93DA904D5}"/>
              </a:ext>
            </a:extLst>
          </p:cNvPr>
          <p:cNvGrpSpPr/>
          <p:nvPr/>
        </p:nvGrpSpPr>
        <p:grpSpPr>
          <a:xfrm>
            <a:off x="6644465" y="1454222"/>
            <a:ext cx="3261516" cy="3053669"/>
            <a:chOff x="419820" y="1332013"/>
            <a:chExt cx="5504525" cy="47927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5B5678-2F32-36C1-66FF-7347C908CB39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F65B63-7F86-28B1-B550-ACBC9324CACF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Sequence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34CA4F-C7E0-32AF-7CB2-D18DEF85C95E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5C8F42-D97F-3A67-FE05-DB615CA7E98C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6B78B-2A56-36E9-9A00-4C3080D911EA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E7390DC-28CA-F89C-FFA5-7A1DCFFBC166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A8BCF3-5DD0-5687-6EA3-2342DCAC15FA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E65650C-B43F-8EB4-A8D6-AABBC6CBF90C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D556146-2FD3-C96B-C54F-5D2A80568A78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BAB4F60-FE03-9DAE-0F9F-703C5628D1A0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A28A176-2F94-92E1-2D47-DED0AAC990A4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39FDD7C-08B0-F3F0-B3A2-DD7742BC3CEA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15DDAB2-47E0-E3DE-2A7E-171072F3AF02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61DADC1-CD62-BA57-5610-A98DE44B3C63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34F201E-88C2-1213-3659-E401C22654A7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453A5EC-E37E-A271-84D7-32D3F09FF358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7FE6337-B326-0046-C6CA-CF7166505084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0AE339E-6851-DD21-36A1-24F95683DE2B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0CFAD67-AE1E-C578-7A95-BBC978FAB559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A5D976-F13C-0802-9102-617621F6722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BD0FCBB-00B0-76F7-DBAA-E4E6F790963E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E044AF58-00B9-C773-4ABB-48713558DD81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908D7D5F-9E34-269B-2A55-D1BFF38BE7D1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89DE43A-CE3C-0AEE-DBB0-B0E07C548D99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2A58577-3FE6-2781-5CBB-A175520910A8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C1B00FD-83DA-807E-58BA-72AEF1C8D8C3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6CF2410-BDDB-0761-1094-7E666C6772AE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A4BFC9-D8CD-A12C-A87E-EE752F29FD22}"/>
                </a:ext>
              </a:extLst>
            </p:cNvPr>
            <p:cNvSpPr txBox="1"/>
            <p:nvPr/>
          </p:nvSpPr>
          <p:spPr>
            <a:xfrm>
              <a:off x="5147349" y="1941746"/>
              <a:ext cx="776996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/>
                <a:t>X </a:t>
              </a:r>
              <a:r>
                <a:rPr lang="en-US" sz="1000" dirty="0"/>
                <a:t>NN</a:t>
              </a:r>
              <a:endParaRPr lang="en-KR" sz="1000" dirty="0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DD5210-5BDD-0709-B383-28CE0F60ED5F}"/>
              </a:ext>
            </a:extLst>
          </p:cNvPr>
          <p:cNvCxnSpPr/>
          <p:nvPr/>
        </p:nvCxnSpPr>
        <p:spPr>
          <a:xfrm flipH="1">
            <a:off x="7311470" y="4428530"/>
            <a:ext cx="5980" cy="45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6C9C1C-42CE-827D-3FC2-CF235FD627A6}"/>
              </a:ext>
            </a:extLst>
          </p:cNvPr>
          <p:cNvCxnSpPr/>
          <p:nvPr/>
        </p:nvCxnSpPr>
        <p:spPr>
          <a:xfrm flipH="1">
            <a:off x="8804383" y="4427732"/>
            <a:ext cx="5980" cy="45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D963E95-DEAE-9FFB-7B15-10BD0A21F583}"/>
              </a:ext>
            </a:extLst>
          </p:cNvPr>
          <p:cNvSpPr txBox="1"/>
          <p:nvPr/>
        </p:nvSpPr>
        <p:spPr>
          <a:xfrm>
            <a:off x="6791236" y="4846247"/>
            <a:ext cx="100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Generated</a:t>
            </a:r>
          </a:p>
          <a:p>
            <a:pPr algn="ctr"/>
            <a:r>
              <a:rPr lang="en-US" sz="1400" dirty="0"/>
              <a:t>Text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BEF219-2607-A2F4-D6CE-92B80BCD6A1E}"/>
              </a:ext>
            </a:extLst>
          </p:cNvPr>
          <p:cNvSpPr txBox="1"/>
          <p:nvPr/>
        </p:nvSpPr>
        <p:spPr>
          <a:xfrm>
            <a:off x="8297988" y="4845449"/>
            <a:ext cx="100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Generated</a:t>
            </a:r>
          </a:p>
          <a:p>
            <a:pPr algn="ctr"/>
            <a:r>
              <a:rPr lang="en-US" sz="1400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35429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5625A-D6CC-F930-0202-628BD5B0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44A7-EBAD-87DD-02A7-EAF0970FD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4858B-8C74-54E3-3549-D254EE9E8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Scenarios</a:t>
            </a:r>
          </a:p>
          <a:p>
            <a:pPr lvl="1"/>
            <a:r>
              <a:rPr lang="en-US" altLang="ko-KR" dirty="0"/>
              <a:t>Celebrity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/>
              <a:t>private</a:t>
            </a:r>
            <a:r>
              <a:rPr lang="ko-KR" altLang="en-US" dirty="0"/>
              <a:t> </a:t>
            </a:r>
            <a:r>
              <a:rPr lang="en-US" altLang="ko-KR" dirty="0"/>
              <a:t>faces</a:t>
            </a:r>
          </a:p>
          <a:p>
            <a:pPr lvl="1"/>
            <a:r>
              <a:rPr lang="en-US" altLang="ko-KR" dirty="0"/>
              <a:t>Copyrighted</a:t>
            </a:r>
            <a:r>
              <a:rPr lang="ko-KR" altLang="en-US" dirty="0"/>
              <a:t> </a:t>
            </a:r>
            <a:r>
              <a:rPr lang="en-US" altLang="ko-KR" dirty="0"/>
              <a:t>characters</a:t>
            </a:r>
          </a:p>
          <a:p>
            <a:pPr lvl="1"/>
            <a:r>
              <a:rPr lang="en-US" altLang="ko-KR" dirty="0"/>
              <a:t>Artist-specific</a:t>
            </a:r>
            <a:r>
              <a:rPr lang="ko-KR" altLang="en-US" dirty="0"/>
              <a:t> </a:t>
            </a:r>
            <a:r>
              <a:rPr lang="en-US" altLang="ko-KR" dirty="0"/>
              <a:t>styles</a:t>
            </a:r>
          </a:p>
          <a:p>
            <a:pPr lvl="1"/>
            <a:r>
              <a:rPr lang="en-US" altLang="ko-KR" dirty="0"/>
              <a:t>IDs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private</a:t>
            </a:r>
            <a:r>
              <a:rPr lang="ko-KR" altLang="en-US" dirty="0"/>
              <a:t> </a:t>
            </a:r>
            <a:r>
              <a:rPr lang="en-US" altLang="ko-KR" dirty="0"/>
              <a:t>documents</a:t>
            </a:r>
          </a:p>
          <a:p>
            <a:pPr lvl="1"/>
            <a:r>
              <a:rPr lang="en-US" altLang="ko-KR" dirty="0"/>
              <a:t>Graphic</a:t>
            </a:r>
            <a:r>
              <a:rPr lang="ko-KR" altLang="en-US" dirty="0"/>
              <a:t> </a:t>
            </a:r>
            <a:r>
              <a:rPr lang="en-US" altLang="ko-KR" dirty="0"/>
              <a:t>violence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/>
              <a:t>sexual</a:t>
            </a:r>
            <a:r>
              <a:rPr lang="ko-KR" altLang="en-US" dirty="0"/>
              <a:t> </a:t>
            </a:r>
            <a:r>
              <a:rPr lang="en-US" altLang="ko-KR" dirty="0"/>
              <a:t>concept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AF7CF4-FB78-4469-5B4B-3D09294FD4A1}"/>
              </a:ext>
            </a:extLst>
          </p:cNvPr>
          <p:cNvGrpSpPr/>
          <p:nvPr/>
        </p:nvGrpSpPr>
        <p:grpSpPr>
          <a:xfrm>
            <a:off x="6644465" y="1454222"/>
            <a:ext cx="3261516" cy="3053669"/>
            <a:chOff x="419820" y="1332013"/>
            <a:chExt cx="5504525" cy="47927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202311-22ED-E881-1085-F3D4396C1EFB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93C770-91BE-374B-DF39-3438BD4CCA43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Sequence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3593C63-A452-10A6-682F-0AAFF769812C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382CAD-4EB4-7C1C-C355-2D29CCBA2EDA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7B73916-4CE2-7ABD-A11A-D74A90BF0DEF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408E296-1164-F0B8-F84F-2D19B7C4BFE0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D6AEE7-BC0F-984B-2111-C920426A68AB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B83C2C-CB4B-FB74-E60E-ED39B45F404D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A39BA85-E5E1-F19E-61BD-84AB49E30179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FA9515D-505F-91B9-5428-D49CE43478D1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9E01E43-771C-E1C1-7E36-B1BA5FF5AADE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617A2E1-7A13-C09C-A6FC-3A9EC9350AD6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F3C77C0-1BC6-954E-CD57-DB99299983BA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997B3BA-C801-3B1C-E091-087ABCAF13F4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067A62A-3056-8CC2-F321-B2AE89D717F1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23F9ED1-B09E-8003-1116-E7E614A269FE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FE1DF13-FDE7-35E1-88D6-093A2BC4492C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9C1C455-9348-ADB4-8EE2-DBF762B00FA6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669123-AE40-2C29-37B1-E71904F4E239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9507398-3235-6E67-FE2E-C925659403A3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8000E5-8DAB-9021-215B-637270E5CC60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EEB8B5D-7B18-4B65-F0FD-417E1F422437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9126234E-D193-9AF7-FB83-C83BAA383B2B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0209840-1FE2-781B-27E9-9B8452C57617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58026F7-2090-9024-4F0B-43F659973948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9BCCDC8-32CB-BE7A-EF5F-34A0B2989C75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D1D5294-7258-F999-3128-66761C631C24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64C2CED-2A6C-D0BF-3C32-7451E981FCB9}"/>
                </a:ext>
              </a:extLst>
            </p:cNvPr>
            <p:cNvSpPr txBox="1"/>
            <p:nvPr/>
          </p:nvSpPr>
          <p:spPr>
            <a:xfrm>
              <a:off x="5147349" y="1941746"/>
              <a:ext cx="776996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/>
                <a:t>X </a:t>
              </a:r>
              <a:r>
                <a:rPr lang="en-US" sz="1000" dirty="0"/>
                <a:t>NN</a:t>
              </a:r>
              <a:endParaRPr lang="en-KR" sz="1000" dirty="0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233D884-6824-9F18-19B4-B8E3CB6CD2FD}"/>
              </a:ext>
            </a:extLst>
          </p:cNvPr>
          <p:cNvCxnSpPr/>
          <p:nvPr/>
        </p:nvCxnSpPr>
        <p:spPr>
          <a:xfrm flipH="1">
            <a:off x="7311470" y="4428530"/>
            <a:ext cx="5980" cy="45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D8C4CA7-89D9-DDBA-8DC7-1D5AD7E291F4}"/>
              </a:ext>
            </a:extLst>
          </p:cNvPr>
          <p:cNvCxnSpPr/>
          <p:nvPr/>
        </p:nvCxnSpPr>
        <p:spPr>
          <a:xfrm flipH="1">
            <a:off x="8804383" y="4427732"/>
            <a:ext cx="5980" cy="45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B116080-806C-2D06-3CEE-E1690756039D}"/>
              </a:ext>
            </a:extLst>
          </p:cNvPr>
          <p:cNvSpPr txBox="1"/>
          <p:nvPr/>
        </p:nvSpPr>
        <p:spPr>
          <a:xfrm>
            <a:off x="6791236" y="4846247"/>
            <a:ext cx="100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Generated</a:t>
            </a:r>
          </a:p>
          <a:p>
            <a:pPr algn="ctr"/>
            <a:r>
              <a:rPr lang="en-US" sz="1400" dirty="0"/>
              <a:t>Text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C38FDA-A9AB-38CB-C95F-ABEFB480F3D4}"/>
              </a:ext>
            </a:extLst>
          </p:cNvPr>
          <p:cNvSpPr txBox="1"/>
          <p:nvPr/>
        </p:nvSpPr>
        <p:spPr>
          <a:xfrm>
            <a:off x="8297988" y="4845449"/>
            <a:ext cx="100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Generated</a:t>
            </a:r>
          </a:p>
          <a:p>
            <a:pPr algn="ctr"/>
            <a:r>
              <a:rPr lang="en-US" sz="1400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07992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29B5-9C53-3D63-B63E-24B487A3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824A-00C3-C713-B441-0FC06C6EC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8385F-2227-DD38-D70E-0A871F6A7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Scenarios</a:t>
            </a:r>
          </a:p>
          <a:p>
            <a:pPr lvl="1"/>
            <a:r>
              <a:rPr lang="en-US" altLang="ko-KR" dirty="0"/>
              <a:t>Celebrity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/>
              <a:t>private</a:t>
            </a:r>
            <a:r>
              <a:rPr lang="ko-KR" altLang="en-US" dirty="0"/>
              <a:t> </a:t>
            </a:r>
            <a:r>
              <a:rPr lang="en-US" altLang="ko-KR" dirty="0"/>
              <a:t>faces</a:t>
            </a:r>
          </a:p>
          <a:p>
            <a:pPr lvl="1"/>
            <a:r>
              <a:rPr lang="en-US" altLang="ko-KR" dirty="0"/>
              <a:t>Copyrighted</a:t>
            </a:r>
            <a:r>
              <a:rPr lang="ko-KR" altLang="en-US" dirty="0"/>
              <a:t> </a:t>
            </a:r>
            <a:r>
              <a:rPr lang="en-US" altLang="ko-KR" dirty="0"/>
              <a:t>characters</a:t>
            </a:r>
          </a:p>
          <a:p>
            <a:pPr lvl="1"/>
            <a:r>
              <a:rPr lang="en-US" altLang="ko-KR" dirty="0"/>
              <a:t>Artist-specific</a:t>
            </a:r>
            <a:r>
              <a:rPr lang="ko-KR" altLang="en-US" dirty="0"/>
              <a:t> </a:t>
            </a:r>
            <a:r>
              <a:rPr lang="en-US" altLang="ko-KR" dirty="0"/>
              <a:t>styles</a:t>
            </a:r>
          </a:p>
          <a:p>
            <a:pPr lvl="1"/>
            <a:r>
              <a:rPr lang="en-US" altLang="ko-KR" dirty="0"/>
              <a:t>IDs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private</a:t>
            </a:r>
            <a:r>
              <a:rPr lang="ko-KR" altLang="en-US" dirty="0"/>
              <a:t> </a:t>
            </a:r>
            <a:r>
              <a:rPr lang="en-US" altLang="ko-KR" dirty="0"/>
              <a:t>documents</a:t>
            </a:r>
          </a:p>
          <a:p>
            <a:pPr lvl="1"/>
            <a:r>
              <a:rPr lang="en-US" altLang="ko-KR" dirty="0"/>
              <a:t>Graphic</a:t>
            </a:r>
            <a:r>
              <a:rPr lang="ko-KR" altLang="en-US" dirty="0"/>
              <a:t> </a:t>
            </a:r>
            <a:r>
              <a:rPr lang="en-US" altLang="ko-KR" dirty="0"/>
              <a:t>violence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/>
              <a:t>sexual</a:t>
            </a:r>
            <a:r>
              <a:rPr lang="ko-KR" altLang="en-US" dirty="0"/>
              <a:t> </a:t>
            </a:r>
            <a:r>
              <a:rPr lang="en-US" altLang="ko-KR" dirty="0"/>
              <a:t>concept</a:t>
            </a:r>
          </a:p>
          <a:p>
            <a:pPr lvl="1"/>
            <a:endParaRPr lang="en-US" dirty="0"/>
          </a:p>
          <a:p>
            <a:r>
              <a:rPr lang="en-US" altLang="ko-KR" b="1" dirty="0"/>
              <a:t>Goal</a:t>
            </a:r>
          </a:p>
          <a:p>
            <a:pPr lvl="1"/>
            <a:r>
              <a:rPr lang="en-US" altLang="ko-KR" dirty="0"/>
              <a:t>Not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erase</a:t>
            </a:r>
            <a:r>
              <a:rPr lang="ko-KR" altLang="en-US" dirty="0"/>
              <a:t> </a:t>
            </a:r>
            <a:r>
              <a:rPr lang="en-US" altLang="ko-KR" dirty="0"/>
              <a:t>concepts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whole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r>
              <a:rPr lang="ko-KR" altLang="en-US" dirty="0"/>
              <a:t> </a:t>
            </a:r>
            <a:r>
              <a:rPr lang="en-US" altLang="ko-KR" dirty="0"/>
              <a:t>completely,</a:t>
            </a:r>
          </a:p>
          <a:p>
            <a:pPr lvl="1"/>
            <a:r>
              <a:rPr lang="en-US" altLang="ko-KR" dirty="0"/>
              <a:t>Only</a:t>
            </a:r>
            <a:r>
              <a:rPr lang="ko-KR" altLang="en-US" dirty="0"/>
              <a:t> </a:t>
            </a:r>
            <a:r>
              <a:rPr lang="en-US" altLang="ko-KR" dirty="0"/>
              <a:t>unsafe</a:t>
            </a:r>
            <a:r>
              <a:rPr lang="ko-KR" altLang="en-US" dirty="0"/>
              <a:t> </a:t>
            </a:r>
            <a:r>
              <a:rPr lang="en-US" altLang="ko-KR" dirty="0"/>
              <a:t>generation</a:t>
            </a:r>
            <a:r>
              <a:rPr lang="ko-KR" altLang="en-US" dirty="0"/>
              <a:t> </a:t>
            </a:r>
            <a:r>
              <a:rPr lang="en-US" altLang="ko-KR" dirty="0"/>
              <a:t>side</a:t>
            </a:r>
          </a:p>
          <a:p>
            <a:pPr lvl="1"/>
            <a:endParaRPr lang="en-US" altLang="ko-KR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A47762-1401-76BC-9AAD-245785D38CED}"/>
              </a:ext>
            </a:extLst>
          </p:cNvPr>
          <p:cNvGrpSpPr/>
          <p:nvPr/>
        </p:nvGrpSpPr>
        <p:grpSpPr>
          <a:xfrm>
            <a:off x="6644465" y="1454222"/>
            <a:ext cx="3261516" cy="3053669"/>
            <a:chOff x="419820" y="1332013"/>
            <a:chExt cx="5504525" cy="47927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85B98E-AFF1-76AF-C437-750958CDC1E8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2D121A-F849-583D-F7C6-1CF7866FC926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Sequence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DD7B61-6773-985B-49D0-6C52B9DF92CD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9495D3-94CB-0C3A-CA41-CCB5733F0B72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3C67742-1255-B1A2-82EB-4917A1F939E9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95489DB-3221-AA8D-36E7-E98552DFFC0A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98AE5B-4DE0-CFC3-14B2-85D5B809FD52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879CC9-C181-07E2-BC97-491E6EB25AD5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61A4F3B-CD7B-A8C8-B63B-AD3745F11FEB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2E14A50-F074-5F1D-3173-5A591987E40E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13E5378-EA0E-6BD8-1916-D5230168CDFF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AE28CD7-7CDD-A9B8-B371-1D649FDB35EE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B8D627A-7B65-FA51-37E7-507A5C711753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2013CD4-AD40-ED5E-D845-F87E6F49AF31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038A535-6D0B-BCE6-702C-A64D95AFCBC5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C252558-B77D-4521-A713-572E332817FA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08750D-631E-7B8B-7393-BE8C1926BD0F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0842A40-03C1-9DE0-8793-1C43AB42F589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7E491C-D563-FA70-8EF7-A7D3A3E8A862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1E8E994-37AB-70A2-A21E-C9C27588AB0C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F961F62-7559-50E2-F5B2-A49DAC8927D5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51EFCBC-9EAD-B259-EBDB-8BD658FCF0AC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881EDBF9-0957-EFA1-E767-6C30DE3AADFB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3FD98E8-C414-61CB-8B6B-FF51FD6900D1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43F0767-F5EE-6ACC-2727-DD54D747172E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377B48-D39D-D661-AFE0-E138E79B64FF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364A7C5-E348-1F60-279B-8F5248686F1A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1C3E24A-8AC8-9FBC-E58B-F59991FB3C80}"/>
                </a:ext>
              </a:extLst>
            </p:cNvPr>
            <p:cNvSpPr txBox="1"/>
            <p:nvPr/>
          </p:nvSpPr>
          <p:spPr>
            <a:xfrm>
              <a:off x="5147349" y="1941746"/>
              <a:ext cx="776996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/>
                <a:t>X </a:t>
              </a:r>
              <a:r>
                <a:rPr lang="en-US" sz="1000" dirty="0"/>
                <a:t>NN</a:t>
              </a:r>
              <a:endParaRPr lang="en-KR" sz="1000" dirty="0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9CE226-E80B-CA8E-A955-197ED02CAE5E}"/>
              </a:ext>
            </a:extLst>
          </p:cNvPr>
          <p:cNvCxnSpPr/>
          <p:nvPr/>
        </p:nvCxnSpPr>
        <p:spPr>
          <a:xfrm flipH="1">
            <a:off x="7311470" y="4428530"/>
            <a:ext cx="5980" cy="45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5DE463D-3EB9-8CE8-A57C-514303F56565}"/>
              </a:ext>
            </a:extLst>
          </p:cNvPr>
          <p:cNvCxnSpPr/>
          <p:nvPr/>
        </p:nvCxnSpPr>
        <p:spPr>
          <a:xfrm flipH="1">
            <a:off x="8804383" y="4427732"/>
            <a:ext cx="5980" cy="45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8EDDBD1-8B4E-42D5-822F-E31EBB913AB1}"/>
              </a:ext>
            </a:extLst>
          </p:cNvPr>
          <p:cNvSpPr txBox="1"/>
          <p:nvPr/>
        </p:nvSpPr>
        <p:spPr>
          <a:xfrm>
            <a:off x="6791236" y="4846247"/>
            <a:ext cx="100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Generated</a:t>
            </a:r>
          </a:p>
          <a:p>
            <a:pPr algn="ctr"/>
            <a:r>
              <a:rPr lang="en-US" sz="1400" dirty="0"/>
              <a:t>Text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FD1EB0-BB02-06EA-D88A-B1DEDC95AB0F}"/>
              </a:ext>
            </a:extLst>
          </p:cNvPr>
          <p:cNvSpPr txBox="1"/>
          <p:nvPr/>
        </p:nvSpPr>
        <p:spPr>
          <a:xfrm>
            <a:off x="8297988" y="4845449"/>
            <a:ext cx="100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Generated</a:t>
            </a:r>
          </a:p>
          <a:p>
            <a:pPr algn="ctr"/>
            <a:r>
              <a:rPr lang="en-US" sz="1400" dirty="0"/>
              <a:t>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DA2D3-795B-782B-32C2-20373395EEC8}"/>
              </a:ext>
            </a:extLst>
          </p:cNvPr>
          <p:cNvSpPr txBox="1"/>
          <p:nvPr/>
        </p:nvSpPr>
        <p:spPr>
          <a:xfrm>
            <a:off x="167425" y="55765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63FC8-9E1E-74D3-7278-CDDDEA54EC3E}"/>
              </a:ext>
            </a:extLst>
          </p:cNvPr>
          <p:cNvSpPr txBox="1"/>
          <p:nvPr/>
        </p:nvSpPr>
        <p:spPr>
          <a:xfrm>
            <a:off x="801397" y="4138559"/>
            <a:ext cx="287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ym typeface="Wingdings" pitchFamily="2" charset="2"/>
              </a:rPr>
              <a:t></a:t>
            </a:r>
            <a:r>
              <a:rPr lang="ko-KR" altLang="en-US" b="1" i="1" dirty="0">
                <a:sym typeface="Wingdings" pitchFamily="2" charset="2"/>
              </a:rPr>
              <a:t> </a:t>
            </a:r>
            <a:r>
              <a:rPr lang="en-US" altLang="ko-KR" b="1" i="1" dirty="0">
                <a:sym typeface="Wingdings" pitchFamily="2" charset="2"/>
              </a:rPr>
              <a:t>Knows</a:t>
            </a:r>
            <a:r>
              <a:rPr lang="ko-KR" altLang="en-US" b="1" i="1" dirty="0">
                <a:sym typeface="Wingdings" pitchFamily="2" charset="2"/>
              </a:rPr>
              <a:t> </a:t>
            </a:r>
            <a:r>
              <a:rPr lang="en-US" altLang="ko-KR" b="1" i="1" dirty="0">
                <a:sym typeface="Wingdings" pitchFamily="2" charset="2"/>
              </a:rPr>
              <a:t>but</a:t>
            </a:r>
            <a:r>
              <a:rPr lang="ko-KR" altLang="en-US" b="1" i="1" dirty="0">
                <a:sym typeface="Wingdings" pitchFamily="2" charset="2"/>
              </a:rPr>
              <a:t> </a:t>
            </a:r>
            <a:r>
              <a:rPr lang="en-US" altLang="ko-KR" b="1" i="1" dirty="0">
                <a:sym typeface="Wingdings" pitchFamily="2" charset="2"/>
              </a:rPr>
              <a:t>can’t</a:t>
            </a:r>
            <a:r>
              <a:rPr lang="ko-KR" altLang="en-US" b="1" i="1" dirty="0">
                <a:sym typeface="Wingdings" pitchFamily="2" charset="2"/>
              </a:rPr>
              <a:t> </a:t>
            </a:r>
            <a:r>
              <a:rPr lang="en-US" altLang="ko-KR" b="1" i="1" dirty="0">
                <a:sym typeface="Wingdings" pitchFamily="2" charset="2"/>
              </a:rPr>
              <a:t>draw…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6384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DB13-1CA1-1619-FED8-BA5F3F80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Method: Contrastive 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F893D-F079-FA40-EE43-AE912AA98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Unsupervised SAE Training</a:t>
            </a:r>
          </a:p>
          <a:p>
            <a:pPr lvl="1"/>
            <a:r>
              <a:rPr lang="en-US" dirty="0"/>
              <a:t>Train a </a:t>
            </a:r>
            <a:r>
              <a:rPr lang="en-US" dirty="0" err="1"/>
              <a:t>TopK</a:t>
            </a:r>
            <a:r>
              <a:rPr lang="en-US" dirty="0"/>
              <a:t> SAE on the VAE-side hidden states of UMM(Bagel)</a:t>
            </a:r>
          </a:p>
          <a:p>
            <a:pPr marL="342900" indent="-342900">
              <a:buFont typeface="+mj-lt"/>
              <a:buAutoNum type="arabicPeriod"/>
            </a:pPr>
            <a:endParaRPr lang="en-US" i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23083D-E8D4-B434-115D-68C76E550F4C}"/>
              </a:ext>
            </a:extLst>
          </p:cNvPr>
          <p:cNvCxnSpPr>
            <a:cxnSpLocks/>
          </p:cNvCxnSpPr>
          <p:nvPr/>
        </p:nvCxnSpPr>
        <p:spPr>
          <a:xfrm>
            <a:off x="496711" y="1516284"/>
            <a:ext cx="0" cy="48506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B90D7B4-BDFF-8B7A-CB57-D7879953046D}"/>
              </a:ext>
            </a:extLst>
          </p:cNvPr>
          <p:cNvSpPr txBox="1"/>
          <p:nvPr/>
        </p:nvSpPr>
        <p:spPr>
          <a:xfrm>
            <a:off x="7326491" y="1077421"/>
            <a:ext cx="4368798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200" b="1"/>
              <a:t>UnlearnCanvas</a:t>
            </a:r>
          </a:p>
          <a:p>
            <a:pPr lvl="1"/>
            <a:r>
              <a:rPr lang="en-US" sz="1200" dirty="0">
                <a:highlight>
                  <a:srgbClr val="FFFF00"/>
                </a:highlight>
              </a:rPr>
              <a:t>20 object classes</a:t>
            </a:r>
          </a:p>
          <a:p>
            <a:pPr marL="457200" lvl="1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	× </a:t>
            </a:r>
            <a:r>
              <a:rPr lang="en-US" altLang="ko-KR" sz="1200" dirty="0">
                <a:highlight>
                  <a:srgbClr val="FFFF00"/>
                </a:highlight>
              </a:rPr>
              <a:t>80 </a:t>
            </a:r>
            <a:r>
              <a:rPr lang="en-US" sz="1200" dirty="0">
                <a:highlight>
                  <a:srgbClr val="FFFF00"/>
                </a:highlight>
              </a:rPr>
              <a:t>anchor prompts per class</a:t>
            </a:r>
          </a:p>
          <a:p>
            <a:pPr marL="457200" lvl="1" indent="0">
              <a:buNone/>
            </a:pPr>
            <a:r>
              <a:rPr lang="en-US" sz="1200" dirty="0"/>
              <a:t>	× (51 style postfix + 1 base prompt)</a:t>
            </a:r>
          </a:p>
          <a:p>
            <a:pPr marL="457200" lvl="1" indent="0">
              <a:buNone/>
            </a:pPr>
            <a:r>
              <a:rPr lang="en-US" sz="1200" dirty="0"/>
              <a:t>	= 83,200</a:t>
            </a:r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F89C2E-489C-3EDE-8B35-50EB42EEB667}"/>
              </a:ext>
            </a:extLst>
          </p:cNvPr>
          <p:cNvSpPr txBox="1"/>
          <p:nvPr/>
        </p:nvSpPr>
        <p:spPr>
          <a:xfrm>
            <a:off x="7801099" y="2119398"/>
            <a:ext cx="335540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A </a:t>
            </a:r>
            <a:r>
              <a:rPr lang="en-US" sz="900" u="sng" dirty="0">
                <a:solidFill>
                  <a:srgbClr val="C00000"/>
                </a:solidFill>
              </a:rPr>
              <a:t>dog</a:t>
            </a:r>
            <a:r>
              <a:rPr lang="en-US" sz="900" dirty="0">
                <a:solidFill>
                  <a:srgbClr val="C00000"/>
                </a:solidFill>
              </a:rPr>
              <a:t> wearing aviator goggles piloting an airplane</a:t>
            </a:r>
          </a:p>
          <a:p>
            <a:r>
              <a:rPr lang="en-US" sz="900" dirty="0">
                <a:solidFill>
                  <a:srgbClr val="0070C0"/>
                </a:solidFill>
              </a:rPr>
              <a:t>A </a:t>
            </a:r>
            <a:r>
              <a:rPr lang="en-US" sz="900" u="sng" dirty="0">
                <a:solidFill>
                  <a:srgbClr val="0070C0"/>
                </a:solidFill>
              </a:rPr>
              <a:t>dachshund</a:t>
            </a:r>
            <a:r>
              <a:rPr lang="en-US" sz="900" dirty="0">
                <a:solidFill>
                  <a:srgbClr val="0070C0"/>
                </a:solidFill>
              </a:rPr>
              <a:t> stretched out like a limousine</a:t>
            </a:r>
          </a:p>
          <a:p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A </a:t>
            </a:r>
            <a:r>
              <a:rPr lang="en-US" sz="900" u="sng" dirty="0">
                <a:solidFill>
                  <a:schemeClr val="accent6">
                    <a:lumMod val="75000"/>
                  </a:schemeClr>
                </a:solidFill>
              </a:rPr>
              <a:t>poodle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 with an elaborate hairstyle as a florist</a:t>
            </a:r>
          </a:p>
          <a:p>
            <a:r>
              <a:rPr lang="en-US" sz="900" dirty="0">
                <a:solidFill>
                  <a:schemeClr val="accent2"/>
                </a:solidFill>
              </a:rPr>
              <a:t>A </a:t>
            </a:r>
            <a:r>
              <a:rPr lang="en-US" sz="900" u="sng" dirty="0">
                <a:solidFill>
                  <a:schemeClr val="accent2"/>
                </a:solidFill>
              </a:rPr>
              <a:t>dog</a:t>
            </a:r>
            <a:r>
              <a:rPr lang="en-US" sz="900" dirty="0">
                <a:solidFill>
                  <a:schemeClr val="accent2"/>
                </a:solidFill>
              </a:rPr>
              <a:t> astronaut floating in space with a bone-shaped spaceship</a:t>
            </a:r>
          </a:p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</a:t>
            </a:r>
            <a:r>
              <a:rPr lang="en-US" sz="9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beagle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detective with a magnifying glass</a:t>
            </a:r>
            <a:endParaRPr lang="en-KR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55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89FCC94-B4E5-C54F-4A7C-D42B02964E18}"/>
              </a:ext>
            </a:extLst>
          </p:cNvPr>
          <p:cNvGrpSpPr/>
          <p:nvPr/>
        </p:nvGrpSpPr>
        <p:grpSpPr>
          <a:xfrm>
            <a:off x="8371721" y="845595"/>
            <a:ext cx="3261516" cy="3053669"/>
            <a:chOff x="419820" y="1332013"/>
            <a:chExt cx="5504525" cy="47927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1DCCBA0-CC37-B962-8DEE-2331C0187A5C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E2F6723-3854-A24C-159F-EFE080133AA0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Sequence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BF93CF-5C41-8644-EF70-226DEF27EF26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0CAEBD-5161-9657-28C8-31DE7BCDB9A5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A74A983-B8BF-D3C4-AA24-6BFF5551C155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F7AAD93-241B-94D9-6C4F-D5081DA099B0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DE34B84-4529-CC9E-93B0-E8571C150429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D9ABB50-C26C-6C79-B671-67ECF33538F7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6DEB048-1A3D-B9FE-9E0C-FEEF7E90EC6C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6638379-5270-70C7-4D82-E94FEB97CBE8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2495D4C-DD5A-AF00-13D6-B0A632F841F0}"/>
                </a:ext>
              </a:extLst>
            </p:cNvPr>
            <p:cNvCxnSpPr>
              <a:cxnSpLocks/>
              <a:stCxn id="26" idx="2"/>
              <a:endCxn id="28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C7EB05A-5743-958A-633F-9BA8E7C64D61}"/>
                </a:ext>
              </a:extLst>
            </p:cNvPr>
            <p:cNvCxnSpPr>
              <a:cxnSpLocks/>
              <a:stCxn id="27" idx="2"/>
              <a:endCxn id="29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8CD58CD-F654-A89E-518F-8C7DE061DFAB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B68DF38-596A-668F-ADAE-88A638BE0655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A5B42D6-4CC3-0227-D506-9DA8A3BEF2BC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DCCDD6E-4E10-07C9-530C-C2336EBB4288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2A02AF-5604-2DCD-FEB1-CA98CF747ED2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814E686-76AE-DBBD-70C7-4580A32F27C7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533CA33-CB28-79AB-5A5B-A66B209A6F26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1C93C6A-EEC2-8C88-9785-722C046E7936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D4E257A-8EFF-6BF3-7687-511C8742ADB9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F0113D7-7D1A-8E02-4AE1-79B02FE97584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F2D01208-3E36-3D10-192E-FB586D70B1A0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97B1D30-D51B-0F8F-D071-8E7BC184CD5F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62432C1-B6C9-7517-4BC7-904D9A3E47B0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17E4137-585C-748A-2665-7FB9835317A5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EF9CEEF-DC07-E99D-665E-F1CE99C9DFE2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B085C2-0180-45A6-59F5-3C7B8579CDCC}"/>
                </a:ext>
              </a:extLst>
            </p:cNvPr>
            <p:cNvSpPr txBox="1"/>
            <p:nvPr/>
          </p:nvSpPr>
          <p:spPr>
            <a:xfrm>
              <a:off x="5147349" y="1941746"/>
              <a:ext cx="776996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/>
                <a:t>X </a:t>
              </a:r>
              <a:r>
                <a:rPr lang="en-US" sz="1000" dirty="0"/>
                <a:t>NN</a:t>
              </a:r>
              <a:endParaRPr lang="en-KR" sz="10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9B83EE4-5AEC-B051-89E2-6A88C1406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en-US" dirty="0"/>
              <a:t>Method</a:t>
            </a:r>
            <a:r>
              <a:rPr lang="en-US" altLang="ko-KR" dirty="0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6E4474-AE6E-6349-BD98-E68D43ED6C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Unsupervised Learning on SAE</a:t>
                </a:r>
              </a:p>
              <a:p>
                <a:pPr lvl="1"/>
                <a:r>
                  <a:rPr lang="en-US" b="1" dirty="0"/>
                  <a:t>SAE Forward:</a:t>
                </a:r>
              </a:p>
              <a:p>
                <a:pPr marL="1200150" lvl="2" indent="-28575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𝑒𝑛𝑐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𝑒𝑛𝑐</m:t>
                        </m:r>
                      </m:sub>
                    </m:sSub>
                  </m:oMath>
                </a14:m>
                <a:endParaRPr lang="en-US" dirty="0"/>
              </a:p>
              <a:p>
                <a:pPr marL="1200150" lvl="2" indent="-28575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𝑇𝑜𝑝𝐾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=32</m:t>
                        </m:r>
                      </m:e>
                    </m:d>
                  </m:oMath>
                </a14:m>
                <a:endParaRPr lang="en-US" dirty="0"/>
              </a:p>
              <a:p>
                <a:pPr marL="1200150" lvl="2" indent="-28575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𝑝𝑟𝑒</m:t>
                    </m:r>
                  </m:oMath>
                </a14:m>
                <a:endParaRPr lang="en-US" dirty="0"/>
              </a:p>
              <a:p>
                <a:pPr marL="742950" lvl="1" indent="-285750"/>
                <a:r>
                  <a:rPr lang="en-US" b="1" dirty="0"/>
                  <a:t>Loss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6E4474-AE6E-6349-BD98-E68D43ED6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10"/>
                <a:stretch>
                  <a:fillRect l="-222" t="-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0E7B04F-6466-88A0-461B-55973805E7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6338" y="1493575"/>
            <a:ext cx="3469918" cy="3897086"/>
          </a:xfrm>
          <a:prstGeom prst="rect">
            <a:avLst/>
          </a:prstGeom>
        </p:spPr>
      </p:pic>
      <p:sp>
        <p:nvSpPr>
          <p:cNvPr id="6" name="Trapezoid 5">
            <a:extLst>
              <a:ext uri="{FF2B5EF4-FFF2-40B4-BE49-F238E27FC236}">
                <a16:creationId xmlns:a16="http://schemas.microsoft.com/office/drawing/2014/main" id="{805ECDC1-21AC-2C4E-AE34-135F5C5F9A3F}"/>
              </a:ext>
            </a:extLst>
          </p:cNvPr>
          <p:cNvSpPr/>
          <p:nvPr/>
        </p:nvSpPr>
        <p:spPr>
          <a:xfrm rot="10800000" flipV="1">
            <a:off x="10070524" y="4707708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778143-AD37-868C-B12B-028A26C5DE18}"/>
                  </a:ext>
                </a:extLst>
              </p:cNvPr>
              <p:cNvSpPr txBox="1"/>
              <p:nvPr/>
            </p:nvSpPr>
            <p:spPr>
              <a:xfrm>
                <a:off x="10237262" y="4696382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778143-AD37-868C-B12B-028A26C5D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7262" y="4696382"/>
                <a:ext cx="646011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00404E-F67A-9712-D01C-EA93E77AE44E}"/>
                  </a:ext>
                </a:extLst>
              </p:cNvPr>
              <p:cNvSpPr txBox="1"/>
              <p:nvPr/>
            </p:nvSpPr>
            <p:spPr>
              <a:xfrm>
                <a:off x="9600328" y="5322844"/>
                <a:ext cx="347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KR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00404E-F67A-9712-D01C-EA93E77AE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328" y="5322844"/>
                <a:ext cx="34733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360EB2-D642-A986-F445-B66A4BD23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675316"/>
              </p:ext>
            </p:extLst>
          </p:nvPr>
        </p:nvGraphicFramePr>
        <p:xfrm>
          <a:off x="9923710" y="4303197"/>
          <a:ext cx="1249680" cy="2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4256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i2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i3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42562"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304913"/>
                  </a:ext>
                </a:extLst>
              </a:tr>
            </a:tbl>
          </a:graphicData>
        </a:graphic>
      </p:graphicFrame>
      <p:sp>
        <p:nvSpPr>
          <p:cNvPr id="10" name="Trapezoid 9">
            <a:extLst>
              <a:ext uri="{FF2B5EF4-FFF2-40B4-BE49-F238E27FC236}">
                <a16:creationId xmlns:a16="http://schemas.microsoft.com/office/drawing/2014/main" id="{355E0FDF-E592-9572-C803-581FCFCC5054}"/>
              </a:ext>
            </a:extLst>
          </p:cNvPr>
          <p:cNvSpPr/>
          <p:nvPr/>
        </p:nvSpPr>
        <p:spPr>
          <a:xfrm flipV="1">
            <a:off x="10068693" y="6012291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CB34FE-6595-8CD4-EC39-F29A018523A6}"/>
                  </a:ext>
                </a:extLst>
              </p:cNvPr>
              <p:cNvSpPr txBox="1"/>
              <p:nvPr/>
            </p:nvSpPr>
            <p:spPr>
              <a:xfrm>
                <a:off x="10209145" y="5996854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CB34FE-6595-8CD4-EC39-F29A01852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145" y="5996854"/>
                <a:ext cx="661207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6242D0-2C47-4B77-A5FC-A9BFE5635670}"/>
                  </a:ext>
                </a:extLst>
              </p:cNvPr>
              <p:cNvSpPr txBox="1"/>
              <p:nvPr/>
            </p:nvSpPr>
            <p:spPr>
              <a:xfrm>
                <a:off x="9637225" y="4242732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6242D0-2C47-4B77-A5FC-A9BFE5635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225" y="4242732"/>
                <a:ext cx="34336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7E4F8B-CCC9-A41D-9486-406EFF941FAF}"/>
                  </a:ext>
                </a:extLst>
              </p:cNvPr>
              <p:cNvSpPr txBox="1"/>
              <p:nvPr/>
            </p:nvSpPr>
            <p:spPr>
              <a:xfrm>
                <a:off x="9624954" y="6444388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7E4F8B-CCC9-A41D-9486-406EFF941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954" y="6444388"/>
                <a:ext cx="34336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1A94D43-5E2B-2F9A-AA41-EA77893DB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838123"/>
              </p:ext>
            </p:extLst>
          </p:nvPr>
        </p:nvGraphicFramePr>
        <p:xfrm>
          <a:off x="9923710" y="5190419"/>
          <a:ext cx="124968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26826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i2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i3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41748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5B9103-BD24-3521-38E9-44629FFE4882}"/>
              </a:ext>
            </a:extLst>
          </p:cNvPr>
          <p:cNvCxnSpPr>
            <a:cxnSpLocks/>
          </p:cNvCxnSpPr>
          <p:nvPr/>
        </p:nvCxnSpPr>
        <p:spPr>
          <a:xfrm>
            <a:off x="10547739" y="4579925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E9CF59-C567-7427-077E-13012E2CE1F5}"/>
              </a:ext>
            </a:extLst>
          </p:cNvPr>
          <p:cNvCxnSpPr>
            <a:cxnSpLocks/>
          </p:cNvCxnSpPr>
          <p:nvPr/>
        </p:nvCxnSpPr>
        <p:spPr>
          <a:xfrm>
            <a:off x="10547739" y="5057121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CC2706-77DE-9AA4-2D50-05F538687241}"/>
              </a:ext>
            </a:extLst>
          </p:cNvPr>
          <p:cNvCxnSpPr>
            <a:cxnSpLocks/>
          </p:cNvCxnSpPr>
          <p:nvPr/>
        </p:nvCxnSpPr>
        <p:spPr>
          <a:xfrm>
            <a:off x="10547345" y="5877467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48A6E9-6C4B-011F-12B4-A351AA626D51}"/>
              </a:ext>
            </a:extLst>
          </p:cNvPr>
          <p:cNvCxnSpPr>
            <a:cxnSpLocks/>
          </p:cNvCxnSpPr>
          <p:nvPr/>
        </p:nvCxnSpPr>
        <p:spPr>
          <a:xfrm>
            <a:off x="10547345" y="636612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AF371A-F782-325C-9A4F-331FF170CB1E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0545720" y="3819903"/>
            <a:ext cx="2830" cy="19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5DA5928-994D-1D11-7BC7-448B83D5E31E}"/>
              </a:ext>
            </a:extLst>
          </p:cNvPr>
          <p:cNvSpPr txBox="1"/>
          <p:nvPr/>
        </p:nvSpPr>
        <p:spPr>
          <a:xfrm>
            <a:off x="8711786" y="-21939"/>
            <a:ext cx="26404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C00000"/>
                </a:solidFill>
              </a:rPr>
              <a:t>A dog wearing aviator goggles piloting an airplane</a:t>
            </a:r>
          </a:p>
          <a:p>
            <a:r>
              <a:rPr lang="en-US" sz="700" dirty="0">
                <a:solidFill>
                  <a:srgbClr val="0070C0"/>
                </a:solidFill>
              </a:rPr>
              <a:t>A dachshund stretched out like a limousine</a:t>
            </a:r>
          </a:p>
          <a:p>
            <a:r>
              <a:rPr lang="en-US" sz="700" dirty="0">
                <a:solidFill>
                  <a:schemeClr val="accent6">
                    <a:lumMod val="75000"/>
                  </a:schemeClr>
                </a:solidFill>
              </a:rPr>
              <a:t>A poodle with an elaborate hairstyle as a florist</a:t>
            </a:r>
          </a:p>
          <a:p>
            <a:r>
              <a:rPr lang="en-US" sz="700" dirty="0">
                <a:solidFill>
                  <a:schemeClr val="accent2"/>
                </a:solidFill>
              </a:rPr>
              <a:t>A dog astronaut floating in space with a bone-shaped spaceship</a:t>
            </a:r>
          </a:p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beagle detective with a magnifying glass</a:t>
            </a:r>
            <a:endParaRPr lang="en-KR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5" name="Left Brace 54">
            <a:extLst>
              <a:ext uri="{FF2B5EF4-FFF2-40B4-BE49-F238E27FC236}">
                <a16:creationId xmlns:a16="http://schemas.microsoft.com/office/drawing/2014/main" id="{14DCDD60-E23A-39BF-9290-BB5CFF2B3048}"/>
              </a:ext>
            </a:extLst>
          </p:cNvPr>
          <p:cNvSpPr/>
          <p:nvPr/>
        </p:nvSpPr>
        <p:spPr>
          <a:xfrm>
            <a:off x="8635587" y="72473"/>
            <a:ext cx="76200" cy="4204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A17C31F-0A33-5FC6-A79F-D207B034B599}"/>
              </a:ext>
            </a:extLst>
          </p:cNvPr>
          <p:cNvCxnSpPr/>
          <p:nvPr/>
        </p:nvCxnSpPr>
        <p:spPr>
          <a:xfrm>
            <a:off x="9794360" y="597673"/>
            <a:ext cx="0" cy="247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Left Brace 59">
            <a:extLst>
              <a:ext uri="{FF2B5EF4-FFF2-40B4-BE49-F238E27FC236}">
                <a16:creationId xmlns:a16="http://schemas.microsoft.com/office/drawing/2014/main" id="{1F12327C-93D4-11E5-2069-E2185934376E}"/>
              </a:ext>
            </a:extLst>
          </p:cNvPr>
          <p:cNvSpPr/>
          <p:nvPr/>
        </p:nvSpPr>
        <p:spPr>
          <a:xfrm flipH="1">
            <a:off x="11202620" y="4303198"/>
            <a:ext cx="149632" cy="274320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Left Brace 60">
            <a:extLst>
              <a:ext uri="{FF2B5EF4-FFF2-40B4-BE49-F238E27FC236}">
                <a16:creationId xmlns:a16="http://schemas.microsoft.com/office/drawing/2014/main" id="{0A5DC41A-9A93-9CD8-DE19-0920A776FBDF}"/>
              </a:ext>
            </a:extLst>
          </p:cNvPr>
          <p:cNvSpPr/>
          <p:nvPr/>
        </p:nvSpPr>
        <p:spPr>
          <a:xfrm flipH="1">
            <a:off x="11212652" y="6498488"/>
            <a:ext cx="149632" cy="274320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37D590D9-B30C-F1D2-43D2-BFADD4F09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74760"/>
              </p:ext>
            </p:extLst>
          </p:nvPr>
        </p:nvGraphicFramePr>
        <p:xfrm>
          <a:off x="9922505" y="6502745"/>
          <a:ext cx="1249680" cy="2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4256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i2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i3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42562"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304913"/>
                  </a:ext>
                </a:extLst>
              </a:tr>
            </a:tbl>
          </a:graphicData>
        </a:graphic>
      </p:graphicFrame>
      <p:sp>
        <p:nvSpPr>
          <p:cNvPr id="65" name="Left Brace 64">
            <a:extLst>
              <a:ext uri="{FF2B5EF4-FFF2-40B4-BE49-F238E27FC236}">
                <a16:creationId xmlns:a16="http://schemas.microsoft.com/office/drawing/2014/main" id="{26A4DEEF-FF80-1313-5D36-F645E133DC80}"/>
              </a:ext>
            </a:extLst>
          </p:cNvPr>
          <p:cNvSpPr/>
          <p:nvPr/>
        </p:nvSpPr>
        <p:spPr>
          <a:xfrm flipH="1">
            <a:off x="11201373" y="5193165"/>
            <a:ext cx="149632" cy="683054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F5B792-1DCB-E708-2DCA-01AFB501C2A8}"/>
              </a:ext>
            </a:extLst>
          </p:cNvPr>
          <p:cNvSpPr txBox="1"/>
          <p:nvPr/>
        </p:nvSpPr>
        <p:spPr>
          <a:xfrm>
            <a:off x="11287468" y="4306807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3584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EE1EB8-A120-BF15-FD02-87890C0C842F}"/>
              </a:ext>
            </a:extLst>
          </p:cNvPr>
          <p:cNvSpPr txBox="1"/>
          <p:nvPr/>
        </p:nvSpPr>
        <p:spPr>
          <a:xfrm>
            <a:off x="11311783" y="6496423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3584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52D41F-85F0-60B6-FB8A-3EB0E09B0F25}"/>
              </a:ext>
            </a:extLst>
          </p:cNvPr>
          <p:cNvSpPr txBox="1"/>
          <p:nvPr/>
        </p:nvSpPr>
        <p:spPr>
          <a:xfrm>
            <a:off x="11287468" y="5233237"/>
            <a:ext cx="67678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3584</a:t>
            </a:r>
          </a:p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*32</a:t>
            </a:r>
          </a:p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=57,344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53F43E0-FC21-6EC1-8CD1-35FF3BB7C483}"/>
              </a:ext>
            </a:extLst>
          </p:cNvPr>
          <p:cNvSpPr txBox="1"/>
          <p:nvPr/>
        </p:nvSpPr>
        <p:spPr>
          <a:xfrm>
            <a:off x="10850277" y="4653614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*32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F9A2DB-6EA9-CEB1-719C-3735D451B602}"/>
              </a:ext>
            </a:extLst>
          </p:cNvPr>
          <p:cNvSpPr txBox="1"/>
          <p:nvPr/>
        </p:nvSpPr>
        <p:spPr>
          <a:xfrm>
            <a:off x="10888000" y="6104519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/32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30FC96-F380-C346-3737-50899A6E8947}"/>
              </a:ext>
            </a:extLst>
          </p:cNvPr>
          <p:cNvSpPr txBox="1"/>
          <p:nvPr/>
        </p:nvSpPr>
        <p:spPr>
          <a:xfrm>
            <a:off x="8074216" y="124255"/>
            <a:ext cx="561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Training</a:t>
            </a:r>
          </a:p>
          <a:p>
            <a:pPr algn="ctr"/>
            <a:r>
              <a:rPr lang="en-US" sz="800" dirty="0"/>
              <a:t>prompts</a:t>
            </a:r>
          </a:p>
        </p:txBody>
      </p:sp>
      <p:sp>
        <p:nvSpPr>
          <p:cNvPr id="79" name="Left Brace 78">
            <a:extLst>
              <a:ext uri="{FF2B5EF4-FFF2-40B4-BE49-F238E27FC236}">
                <a16:creationId xmlns:a16="http://schemas.microsoft.com/office/drawing/2014/main" id="{F6732C46-E122-DD2F-421D-899B77A94B3F}"/>
              </a:ext>
            </a:extLst>
          </p:cNvPr>
          <p:cNvSpPr/>
          <p:nvPr/>
        </p:nvSpPr>
        <p:spPr>
          <a:xfrm rot="16200000" flipH="1">
            <a:off x="10488503" y="3588923"/>
            <a:ext cx="113839" cy="1253525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EFC0FD-79A7-2DA8-772F-C19D48739289}"/>
              </a:ext>
            </a:extLst>
          </p:cNvPr>
          <p:cNvSpPr txBox="1"/>
          <p:nvPr/>
        </p:nvSpPr>
        <p:spPr>
          <a:xfrm>
            <a:off x="9726545" y="3938796"/>
            <a:ext cx="1667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1024(64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64)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100" dirty="0" err="1">
                <a:solidFill>
                  <a:schemeClr val="bg1">
                    <a:lumMod val="50000"/>
                  </a:schemeClr>
                </a:solidFill>
              </a:rPr>
              <a:t>vae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 tokens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30828E0-9F76-9C6E-FCE2-5820AACE49E3}"/>
              </a:ext>
            </a:extLst>
          </p:cNvPr>
          <p:cNvSpPr txBox="1"/>
          <p:nvPr/>
        </p:nvSpPr>
        <p:spPr>
          <a:xfrm>
            <a:off x="9070075" y="4292104"/>
            <a:ext cx="6222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Input</a:t>
            </a:r>
          </a:p>
          <a:p>
            <a:pPr algn="ctr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activation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9422025-76E2-EA38-5B15-E9F008758BB1}"/>
              </a:ext>
            </a:extLst>
          </p:cNvPr>
          <p:cNvSpPr txBox="1"/>
          <p:nvPr/>
        </p:nvSpPr>
        <p:spPr>
          <a:xfrm>
            <a:off x="8860186" y="5344768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Latent</a:t>
            </a:r>
          </a:p>
          <a:p>
            <a:pPr algn="ctr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representation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887CF3-032C-10A2-7252-5E9ADD8FB63E}"/>
              </a:ext>
            </a:extLst>
          </p:cNvPr>
          <p:cNvSpPr txBox="1"/>
          <p:nvPr/>
        </p:nvSpPr>
        <p:spPr>
          <a:xfrm>
            <a:off x="9077960" y="6472028"/>
            <a:ext cx="6222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output</a:t>
            </a:r>
          </a:p>
          <a:p>
            <a:pPr algn="ctr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activation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366B7CA-C43E-4C8C-1D84-003069F7A7FE}"/>
              </a:ext>
            </a:extLst>
          </p:cNvPr>
          <p:cNvSpPr txBox="1"/>
          <p:nvPr/>
        </p:nvSpPr>
        <p:spPr>
          <a:xfrm>
            <a:off x="365125" y="5746278"/>
            <a:ext cx="7508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ym typeface="Wingdings" pitchFamily="2" charset="2"/>
              </a:rPr>
              <a:t> </a:t>
            </a:r>
            <a:r>
              <a:rPr lang="en-US" sz="1400" i="1" dirty="0"/>
              <a:t>Overall, the goal is to </a:t>
            </a:r>
            <a:r>
              <a:rPr lang="en-US" sz="1400" b="1" i="1" dirty="0"/>
              <a:t>decompose the model’s internal activations </a:t>
            </a:r>
            <a:r>
              <a:rPr lang="en-US" sz="1400" i="1" dirty="0"/>
              <a:t>into a </a:t>
            </a:r>
            <a:r>
              <a:rPr lang="en-US" sz="1400" b="1" i="1" dirty="0"/>
              <a:t>small number of sparse features</a:t>
            </a:r>
            <a:r>
              <a:rPr lang="en-US" sz="1400" i="1" dirty="0"/>
              <a:t>, so that each latent can learn more </a:t>
            </a:r>
            <a:r>
              <a:rPr lang="en-US" sz="1400" b="1" i="1" dirty="0"/>
              <a:t>meaningful and disentangled features</a:t>
            </a:r>
            <a:r>
              <a:rPr lang="en-US" sz="14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0063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752CE-221C-8CE6-FAC5-890D5481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76870-3059-7BD3-2B8C-5D53AE8F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Method: Contrastive 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DD478-B23E-AA6E-443F-A21B98BAF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en-US" b="1" dirty="0"/>
              <a:t>Construction of a Matched Prompt Set</a:t>
            </a:r>
            <a:endParaRPr lang="en-US" altLang="ko-KR" b="1" dirty="0"/>
          </a:p>
          <a:p>
            <a:pPr lvl="1"/>
            <a:r>
              <a:rPr lang="en-US" dirty="0"/>
              <a:t>To identify which combinations of SAE features are meaningful for each concepts.</a:t>
            </a:r>
          </a:p>
          <a:p>
            <a:pPr lvl="1"/>
            <a:r>
              <a:rPr lang="en-US" dirty="0"/>
              <a:t>For the same scene, construct target, background, and retain prompts</a:t>
            </a:r>
            <a:r>
              <a:rPr lang="en-US" altLang="ko-KR" dirty="0"/>
              <a:t>.</a:t>
            </a:r>
          </a:p>
          <a:p>
            <a:pPr lvl="2"/>
            <a:r>
              <a:rPr lang="en-US" b="1" i="1" dirty="0"/>
              <a:t>Target</a:t>
            </a:r>
            <a:r>
              <a:rPr lang="en-US" i="1" dirty="0"/>
              <a:t>: A </a:t>
            </a:r>
            <a:r>
              <a:rPr lang="en-US" b="1" i="1" u="sng" dirty="0"/>
              <a:t>horse</a:t>
            </a:r>
            <a:r>
              <a:rPr lang="en-US" i="1" dirty="0"/>
              <a:t> in a forest.</a:t>
            </a:r>
          </a:p>
          <a:p>
            <a:pPr lvl="2"/>
            <a:r>
              <a:rPr lang="en-US" b="1" i="1" dirty="0"/>
              <a:t>Background</a:t>
            </a:r>
            <a:r>
              <a:rPr lang="en-US" i="1" dirty="0"/>
              <a:t>: An </a:t>
            </a:r>
            <a:r>
              <a:rPr lang="en-US" b="1" i="1" u="sng" dirty="0"/>
              <a:t>empty</a:t>
            </a:r>
            <a:r>
              <a:rPr lang="en-US" i="1" dirty="0"/>
              <a:t> forest.</a:t>
            </a:r>
          </a:p>
          <a:p>
            <a:pPr lvl="2"/>
            <a:r>
              <a:rPr lang="en-US" b="1" i="1" dirty="0"/>
              <a:t>Retain</a:t>
            </a:r>
            <a:r>
              <a:rPr lang="en-US" i="1" dirty="0"/>
              <a:t>: A </a:t>
            </a:r>
            <a:r>
              <a:rPr lang="en-US" b="1" i="1" u="sng" dirty="0"/>
              <a:t>cow</a:t>
            </a:r>
            <a:r>
              <a:rPr lang="en-US" i="1" dirty="0"/>
              <a:t> in a forest.</a:t>
            </a:r>
          </a:p>
          <a:p>
            <a:pPr lvl="2"/>
            <a:r>
              <a:rPr lang="en-US" b="1" i="1" dirty="0"/>
              <a:t>Retain</a:t>
            </a:r>
            <a:r>
              <a:rPr lang="en-US" i="1" dirty="0"/>
              <a:t>: A </a:t>
            </a:r>
            <a:r>
              <a:rPr lang="en-US" b="1" i="1" u="sng" dirty="0"/>
              <a:t>deer</a:t>
            </a:r>
            <a:r>
              <a:rPr lang="en-US" i="1" dirty="0"/>
              <a:t> in a forest.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A1CFB3-85CA-C6B2-59B4-3AC92D1DB47D}"/>
              </a:ext>
            </a:extLst>
          </p:cNvPr>
          <p:cNvCxnSpPr>
            <a:cxnSpLocks/>
          </p:cNvCxnSpPr>
          <p:nvPr/>
        </p:nvCxnSpPr>
        <p:spPr>
          <a:xfrm>
            <a:off x="496711" y="1504709"/>
            <a:ext cx="0" cy="4862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91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A0036-379E-5A73-3B60-6BAEF40D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5E87-75FC-E93C-399D-253918CB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Method: Contrastive Feature Selection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2F3A94-B8A4-176B-DEC2-885107FBB0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en-US" b="1" dirty="0"/>
                  <a:t>Compute Feature activation</a:t>
                </a:r>
                <a:endParaRPr lang="en-US" altLang="ko-KR" b="1" dirty="0"/>
              </a:p>
              <a:p>
                <a:pPr lvl="1"/>
                <a:r>
                  <a:rPr lang="en-US" dirty="0"/>
                  <a:t>For each SAE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compute its activation on the target, background, and retain prompts.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= activation on target prompts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= activation on background prompts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= activation on retain prompts</a:t>
                </a:r>
              </a:p>
              <a:p>
                <a:pPr marL="342900" indent="-342900">
                  <a:buFont typeface="+mj-lt"/>
                  <a:buAutoNum type="arabicPeriod" startAt="3"/>
                </a:pPr>
                <a:r>
                  <a:rPr lang="en-US" b="1" dirty="0"/>
                  <a:t>Compute Contrastive score</a:t>
                </a:r>
                <a:endParaRPr lang="en-US" altLang="ko-KR" b="1" dirty="0"/>
              </a:p>
              <a:p>
                <a:pPr lvl="1"/>
                <a:r>
                  <a:rPr lang="en-US" altLang="ko-KR" dirty="0"/>
                  <a:t>Define the feature score as: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𝑠𝑐𝑜𝑟</m:t>
                    </m:r>
                    <m:sSub>
                      <m:sSubPr>
                        <m:ctrlP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ko-KR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l-GR" altLang="ko-KR" i="1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ko-KR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l-GR" altLang="ko-KR" i="1" dirty="0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US" altLang="ko-KR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dirty="0"/>
                  <a:t>In other words, features that are strong for “horse” but weak for empty/cow/deer prompts receive higher scores.</a:t>
                </a:r>
              </a:p>
              <a:p>
                <a:pPr marL="342900" indent="-342900">
                  <a:buFont typeface="+mj-lt"/>
                  <a:buAutoNum type="arabicPeriod" startAt="5"/>
                </a:pPr>
                <a:r>
                  <a:rPr lang="en-US" b="1" dirty="0"/>
                  <a:t>Select the feature bundle</a:t>
                </a:r>
              </a:p>
              <a:p>
                <a:pPr lvl="1"/>
                <a:r>
                  <a:rPr lang="en-US" dirty="0"/>
                  <a:t>Choose a small bundle of features with high scores.</a:t>
                </a:r>
              </a:p>
              <a:p>
                <a:pPr lvl="1"/>
                <a:r>
                  <a:rPr lang="en-US" dirty="0"/>
                  <a:t>Reduce overly similar features and prioritize features that improve target coverage.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2F3A94-B8A4-176B-DEC2-885107FBB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22" t="-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3524542-3DA1-0B7C-FD1D-DD1A7EC4B999}"/>
              </a:ext>
            </a:extLst>
          </p:cNvPr>
          <p:cNvSpPr txBox="1"/>
          <p:nvPr/>
        </p:nvSpPr>
        <p:spPr>
          <a:xfrm rot="5400000">
            <a:off x="9763499" y="3033439"/>
            <a:ext cx="12561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i="1" u="sng" dirty="0"/>
              <a:t>* </a:t>
            </a:r>
            <a:r>
              <a:rPr lang="en-US" altLang="ko-KR" sz="1400" i="1" u="sng" dirty="0"/>
              <a:t>preservation</a:t>
            </a:r>
            <a:endParaRPr lang="en-US" sz="1400" i="1" u="sng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D0B580-AF3C-D429-7D3F-A48053EEBEA2}"/>
              </a:ext>
            </a:extLst>
          </p:cNvPr>
          <p:cNvCxnSpPr>
            <a:cxnSpLocks/>
          </p:cNvCxnSpPr>
          <p:nvPr/>
        </p:nvCxnSpPr>
        <p:spPr>
          <a:xfrm>
            <a:off x="530578" y="3773258"/>
            <a:ext cx="0" cy="25936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7AF23E-F294-A814-7360-33019DE9467D}"/>
              </a:ext>
            </a:extLst>
          </p:cNvPr>
          <p:cNvCxnSpPr>
            <a:cxnSpLocks/>
          </p:cNvCxnSpPr>
          <p:nvPr/>
        </p:nvCxnSpPr>
        <p:spPr>
          <a:xfrm>
            <a:off x="530578" y="1495778"/>
            <a:ext cx="0" cy="10407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22B67A-EAE2-19C8-53CC-E30B9E209751}"/>
              </a:ext>
            </a:extLst>
          </p:cNvPr>
          <p:cNvCxnSpPr>
            <a:cxnSpLocks/>
          </p:cNvCxnSpPr>
          <p:nvPr/>
        </p:nvCxnSpPr>
        <p:spPr>
          <a:xfrm>
            <a:off x="530578" y="799292"/>
            <a:ext cx="0" cy="338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AF55A1F-77DA-45B4-2F06-A1EC521E2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582" y="4473169"/>
            <a:ext cx="5523818" cy="228317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F0F4DC-C1E3-585C-EEE8-CB8269901EEA}"/>
              </a:ext>
            </a:extLst>
          </p:cNvPr>
          <p:cNvCxnSpPr>
            <a:cxnSpLocks/>
          </p:cNvCxnSpPr>
          <p:nvPr/>
        </p:nvCxnSpPr>
        <p:spPr>
          <a:xfrm>
            <a:off x="530578" y="2887080"/>
            <a:ext cx="0" cy="541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B3023-D651-6C30-1117-D19D035CCAD9}"/>
              </a:ext>
            </a:extLst>
          </p:cNvPr>
          <p:cNvSpPr/>
          <p:nvPr/>
        </p:nvSpPr>
        <p:spPr>
          <a:xfrm>
            <a:off x="3082774" y="5720041"/>
            <a:ext cx="995931" cy="1008931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5788C-80F0-B329-9EA6-466A081DA8CF}"/>
              </a:ext>
            </a:extLst>
          </p:cNvPr>
          <p:cNvSpPr/>
          <p:nvPr/>
        </p:nvSpPr>
        <p:spPr>
          <a:xfrm>
            <a:off x="4174961" y="5720040"/>
            <a:ext cx="995931" cy="1008931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E37532-11E0-CD5F-2E87-4125545EB2D4}"/>
              </a:ext>
            </a:extLst>
          </p:cNvPr>
          <p:cNvSpPr/>
          <p:nvPr/>
        </p:nvSpPr>
        <p:spPr>
          <a:xfrm>
            <a:off x="5274525" y="4605827"/>
            <a:ext cx="995931" cy="1008931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91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5F3C5E-A51F-47E6-4B8D-94313074B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14" y="1794933"/>
            <a:ext cx="10965571" cy="45324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0776E3-FE23-AC6C-C8F4-ED49B04BC60F}"/>
              </a:ext>
            </a:extLst>
          </p:cNvPr>
          <p:cNvSpPr/>
          <p:nvPr/>
        </p:nvSpPr>
        <p:spPr>
          <a:xfrm>
            <a:off x="5102578" y="2043289"/>
            <a:ext cx="1975555" cy="2017862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A8189D-7171-4FA0-5F4B-CD916846CED6}"/>
              </a:ext>
            </a:extLst>
          </p:cNvPr>
          <p:cNvSpPr/>
          <p:nvPr/>
        </p:nvSpPr>
        <p:spPr>
          <a:xfrm>
            <a:off x="2940756" y="4216401"/>
            <a:ext cx="1975555" cy="2017862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87208-504E-BC83-05F9-8F59A47AED6C}"/>
              </a:ext>
            </a:extLst>
          </p:cNvPr>
          <p:cNvSpPr/>
          <p:nvPr/>
        </p:nvSpPr>
        <p:spPr>
          <a:xfrm>
            <a:off x="761982" y="4216401"/>
            <a:ext cx="1975555" cy="2017862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59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7746-A0CD-9EB7-E047-50B1DFAD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Method: Contrastive Feature Selection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DA852-023B-389E-C7F4-E7AE1B2CD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126" y="1137958"/>
                <a:ext cx="7601437" cy="5354917"/>
              </a:xfrm>
            </p:spPr>
            <p:txBody>
              <a:bodyPr/>
              <a:lstStyle/>
              <a:p>
                <a:pPr marL="342900" indent="-342900">
                  <a:buFont typeface="+mj-lt"/>
                  <a:buAutoNum type="arabicPeriod" startAt="6"/>
                </a:pPr>
                <a:r>
                  <a:rPr lang="en-US" b="1" dirty="0"/>
                  <a:t>Set the threshold and suppression strength</a:t>
                </a:r>
                <a:endParaRPr lang="en-US" altLang="ko-KR" b="1" dirty="0"/>
              </a:p>
              <a:p>
                <a:pPr lvl="1"/>
                <a:r>
                  <a:rPr lang="en-US" dirty="0"/>
                  <a:t>Define the threshold based on the activation distributions from the retain/background prompts.</a:t>
                </a:r>
                <a:endParaRPr lang="en-US" altLang="ko-KR" dirty="0"/>
              </a:p>
              <a:p>
                <a:pPr lvl="1"/>
                <a:r>
                  <a:rPr lang="en-US" dirty="0"/>
                  <a:t>Then adjust the suppression strength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using validation prompts.</a:t>
                </a:r>
              </a:p>
              <a:p>
                <a:pPr marL="342900" indent="-342900">
                  <a:buFont typeface="+mj-lt"/>
                  <a:buAutoNum type="arabicPeriod" startAt="6"/>
                </a:pPr>
                <a:r>
                  <a:rPr lang="en-US" b="1" dirty="0"/>
                  <a:t>Store the concept feature bank</a:t>
                </a:r>
                <a:endParaRPr lang="en-US" altLang="ko-KR" b="1" dirty="0"/>
              </a:p>
              <a:p>
                <a:pPr lvl="1"/>
                <a:r>
                  <a:rPr lang="en-US" dirty="0"/>
                  <a:t>Finally, store the following information for each concept:</a:t>
                </a:r>
              </a:p>
              <a:p>
                <a:pPr lvl="2"/>
                <a:r>
                  <a:rPr lang="en-US" altLang="ko-KR" dirty="0"/>
                  <a:t>concept: Horses</a:t>
                </a:r>
              </a:p>
              <a:p>
                <a:pPr lvl="2"/>
                <a:r>
                  <a:rPr lang="en-US" altLang="ko-KR" dirty="0"/>
                  <a:t>features: [z6019, ...]</a:t>
                </a:r>
              </a:p>
              <a:p>
                <a:pPr lvl="2"/>
                <a:r>
                  <a:rPr lang="en-US" altLang="ko-KR" dirty="0"/>
                  <a:t>threshold</a:t>
                </a:r>
              </a:p>
              <a:p>
                <a:pPr lvl="2"/>
                <a:r>
                  <a:rPr lang="en-US" altLang="ko-KR" dirty="0"/>
                  <a:t>gamma</a:t>
                </a:r>
              </a:p>
              <a:p>
                <a:pPr lvl="2"/>
                <a:r>
                  <a:rPr lang="en-US" altLang="ko-KR" dirty="0"/>
                  <a:t>layer</a:t>
                </a:r>
              </a:p>
              <a:p>
                <a:pPr lvl="2"/>
                <a:r>
                  <a:rPr lang="en-US" altLang="ko-KR" dirty="0"/>
                  <a:t>denoising steps</a:t>
                </a:r>
              </a:p>
              <a:p>
                <a:pPr marL="342900" indent="-342900">
                  <a:buFont typeface="+mj-lt"/>
                  <a:buAutoNum type="arabicPeriod" startAt="6"/>
                </a:pPr>
                <a:r>
                  <a:rPr lang="en-US" b="1" dirty="0"/>
                  <a:t>Inference-time intervention</a:t>
                </a:r>
              </a:p>
              <a:p>
                <a:pPr lvl="1"/>
                <a:r>
                  <a:rPr lang="en-US" dirty="0"/>
                  <a:t>During image generation, suppress the selected features only when their activation becomes stronger than the threshold.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0DA852-023B-389E-C7F4-E7AE1B2CD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126" y="1137958"/>
                <a:ext cx="7601437" cy="5354917"/>
              </a:xfrm>
              <a:blipFill>
                <a:blip r:embed="rId3"/>
                <a:stretch>
                  <a:fillRect l="-333" t="-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6FA63F-8E5B-69E9-37C7-A58E94E5344A}"/>
              </a:ext>
            </a:extLst>
          </p:cNvPr>
          <p:cNvCxnSpPr>
            <a:cxnSpLocks/>
          </p:cNvCxnSpPr>
          <p:nvPr/>
        </p:nvCxnSpPr>
        <p:spPr>
          <a:xfrm>
            <a:off x="508000" y="1473200"/>
            <a:ext cx="0" cy="7232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C45F88-78F9-9D25-5FD4-9BF5DAE7A82B}"/>
              </a:ext>
            </a:extLst>
          </p:cNvPr>
          <p:cNvCxnSpPr>
            <a:cxnSpLocks/>
          </p:cNvCxnSpPr>
          <p:nvPr/>
        </p:nvCxnSpPr>
        <p:spPr>
          <a:xfrm>
            <a:off x="508000" y="2638311"/>
            <a:ext cx="0" cy="1772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48035B-3148-E688-F7A8-832B8C250EE3}"/>
              </a:ext>
            </a:extLst>
          </p:cNvPr>
          <p:cNvCxnSpPr>
            <a:cxnSpLocks/>
          </p:cNvCxnSpPr>
          <p:nvPr/>
        </p:nvCxnSpPr>
        <p:spPr>
          <a:xfrm flipH="1">
            <a:off x="508000" y="841624"/>
            <a:ext cx="5644" cy="2963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D496AF-7AC8-A897-5816-D6DF46DB35B7}"/>
              </a:ext>
            </a:extLst>
          </p:cNvPr>
          <p:cNvGrpSpPr/>
          <p:nvPr/>
        </p:nvGrpSpPr>
        <p:grpSpPr>
          <a:xfrm>
            <a:off x="8371721" y="996067"/>
            <a:ext cx="3261516" cy="3053669"/>
            <a:chOff x="419820" y="1332013"/>
            <a:chExt cx="5504525" cy="479274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306B1A-360F-8634-D3F0-D75A8D346FB1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7FB0C5-9CD3-3326-913C-FDD7BC657CC0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Sequence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AA8BF07-6361-887B-27CF-F64FD7A5B601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6A06954-2C89-391E-662B-DBC895D72819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71D0A1E-44B1-46C5-1547-F6D217875DFE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AA0CF6D-134D-A946-13ED-E3B39B4C7FE1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B96E048-C071-4C62-191E-C72674C19A35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D6AACCE-CF9D-494F-F005-4656F0DB7DCF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6D87805-5996-5DA8-54C3-234CC2F5AFFF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D18C85B-7027-077E-063E-1AF1AC5281D1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CE82539-2A45-A66B-481C-E5D83BE33605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A0D065E-1F79-4408-2DA5-95DC6039619D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9A4C399-9672-70E9-6983-538B385C992A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2BA9E24-2A0A-B6DC-9EB4-77A7BC63B4C6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7F880E6-F276-EA79-0F5B-AC8B9B582304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5AB3CD3-D92A-81B6-836B-54E8C3FF2EC2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7511F1-D350-F85C-3246-4A653C55D1CB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C7A16D7-B7F4-CC6E-268D-CDA7AB67AE3A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76A5BD4-E02C-2712-0736-258EDB72230B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8F543E-1EF1-E7A8-8373-B060109D633B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ACEB5DC-E00C-152A-2C8B-11B6E5468730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C16B1A26-ECAD-25E4-A8FE-84FCF5512712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4A7CD13-8C73-A9ED-AEA7-BF31E91D54E8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549BB5E-04AD-4524-2249-5B53BAAD0383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6CAA9E2-2273-E4A9-7812-691F02D63506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AA5FD1E-7E1A-A6A5-67C8-0316A84369D9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E2C288D-89E0-C664-AC1D-BB4043824775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C7BE18A-00A7-A008-AF90-2079C44DC91F}"/>
                </a:ext>
              </a:extLst>
            </p:cNvPr>
            <p:cNvSpPr txBox="1"/>
            <p:nvPr/>
          </p:nvSpPr>
          <p:spPr>
            <a:xfrm>
              <a:off x="5147349" y="1941746"/>
              <a:ext cx="776996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/>
                <a:t>X </a:t>
              </a:r>
              <a:r>
                <a:rPr lang="en-US" sz="1000" dirty="0"/>
                <a:t>NN</a:t>
              </a:r>
              <a:endParaRPr lang="en-KR" sz="1000" dirty="0"/>
            </a:p>
          </p:txBody>
        </p: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F1882B04-9D37-1DC5-6154-93895B022AF0}"/>
              </a:ext>
            </a:extLst>
          </p:cNvPr>
          <p:cNvSpPr/>
          <p:nvPr/>
        </p:nvSpPr>
        <p:spPr>
          <a:xfrm rot="10800000" flipV="1">
            <a:off x="10070524" y="4568811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A251DE5-AA20-4865-5082-F2C79F693276}"/>
                  </a:ext>
                </a:extLst>
              </p:cNvPr>
              <p:cNvSpPr txBox="1"/>
              <p:nvPr/>
            </p:nvSpPr>
            <p:spPr>
              <a:xfrm>
                <a:off x="10237262" y="4557485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A251DE5-AA20-4865-5082-F2C79F693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7262" y="4557485"/>
                <a:ext cx="646011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E3CAAAC-1AB6-4011-CA51-02E160D9CA2B}"/>
                  </a:ext>
                </a:extLst>
              </p:cNvPr>
              <p:cNvSpPr txBox="1"/>
              <p:nvPr/>
            </p:nvSpPr>
            <p:spPr>
              <a:xfrm>
                <a:off x="9600328" y="5183948"/>
                <a:ext cx="347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KR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E3CAAAC-1AB6-4011-CA51-02E160D9C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328" y="5183948"/>
                <a:ext cx="34733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90515D90-0599-B8FD-555E-0B36BF8E1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137061"/>
              </p:ext>
            </p:extLst>
          </p:nvPr>
        </p:nvGraphicFramePr>
        <p:xfrm>
          <a:off x="9923710" y="4164300"/>
          <a:ext cx="1249680" cy="2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4256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i2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i3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42562"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304913"/>
                  </a:ext>
                </a:extLst>
              </a:tr>
            </a:tbl>
          </a:graphicData>
        </a:graphic>
      </p:graphicFrame>
      <p:sp>
        <p:nvSpPr>
          <p:cNvPr id="52" name="Trapezoid 51">
            <a:extLst>
              <a:ext uri="{FF2B5EF4-FFF2-40B4-BE49-F238E27FC236}">
                <a16:creationId xmlns:a16="http://schemas.microsoft.com/office/drawing/2014/main" id="{F6E792E5-D403-D448-B623-170647292404}"/>
              </a:ext>
            </a:extLst>
          </p:cNvPr>
          <p:cNvSpPr/>
          <p:nvPr/>
        </p:nvSpPr>
        <p:spPr>
          <a:xfrm flipV="1">
            <a:off x="10068693" y="5873394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F511E5-B504-CDAE-A7F8-50C84C424384}"/>
                  </a:ext>
                </a:extLst>
              </p:cNvPr>
              <p:cNvSpPr txBox="1"/>
              <p:nvPr/>
            </p:nvSpPr>
            <p:spPr>
              <a:xfrm>
                <a:off x="10209145" y="5857957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F511E5-B504-CDAE-A7F8-50C84C424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145" y="5857957"/>
                <a:ext cx="66120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348E109-68D8-92AF-1FFD-F08D14A82202}"/>
                  </a:ext>
                </a:extLst>
              </p:cNvPr>
              <p:cNvSpPr txBox="1"/>
              <p:nvPr/>
            </p:nvSpPr>
            <p:spPr>
              <a:xfrm>
                <a:off x="9637225" y="4103836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348E109-68D8-92AF-1FFD-F08D14A82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225" y="4103836"/>
                <a:ext cx="34336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4BA3CBF-4286-8E18-CD36-1C30842B5678}"/>
                  </a:ext>
                </a:extLst>
              </p:cNvPr>
              <p:cNvSpPr txBox="1"/>
              <p:nvPr/>
            </p:nvSpPr>
            <p:spPr>
              <a:xfrm>
                <a:off x="9648104" y="6305491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4BA3CBF-4286-8E18-CD36-1C30842B5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104" y="6305491"/>
                <a:ext cx="34336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F5B3CFE0-3510-F55B-125D-B143BCF9F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532384"/>
              </p:ext>
            </p:extLst>
          </p:nvPr>
        </p:nvGraphicFramePr>
        <p:xfrm>
          <a:off x="9923710" y="5051522"/>
          <a:ext cx="124968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26826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i2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i3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417485"/>
                  </a:ext>
                </a:extLst>
              </a:tr>
            </a:tbl>
          </a:graphicData>
        </a:graphic>
      </p:graphicFrame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4B97A27-B018-753A-B178-6209DE4B23EC}"/>
              </a:ext>
            </a:extLst>
          </p:cNvPr>
          <p:cNvCxnSpPr>
            <a:cxnSpLocks/>
          </p:cNvCxnSpPr>
          <p:nvPr/>
        </p:nvCxnSpPr>
        <p:spPr>
          <a:xfrm>
            <a:off x="10547739" y="444102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DD49B13-4502-3174-9A9B-AF4C866490EA}"/>
              </a:ext>
            </a:extLst>
          </p:cNvPr>
          <p:cNvCxnSpPr>
            <a:cxnSpLocks/>
          </p:cNvCxnSpPr>
          <p:nvPr/>
        </p:nvCxnSpPr>
        <p:spPr>
          <a:xfrm>
            <a:off x="10547739" y="4918224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2CC7AEE-B89A-0470-36F2-F4A15F9E5ABD}"/>
              </a:ext>
            </a:extLst>
          </p:cNvPr>
          <p:cNvCxnSpPr>
            <a:cxnSpLocks/>
          </p:cNvCxnSpPr>
          <p:nvPr/>
        </p:nvCxnSpPr>
        <p:spPr>
          <a:xfrm>
            <a:off x="10547345" y="573857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B8E202B-A511-CF24-79D3-CCF088C5FC9A}"/>
              </a:ext>
            </a:extLst>
          </p:cNvPr>
          <p:cNvCxnSpPr>
            <a:cxnSpLocks/>
          </p:cNvCxnSpPr>
          <p:nvPr/>
        </p:nvCxnSpPr>
        <p:spPr>
          <a:xfrm>
            <a:off x="10547345" y="6227232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8C46B26-D0FA-18CC-42C9-388969F9D9E7}"/>
              </a:ext>
            </a:extLst>
          </p:cNvPr>
          <p:cNvCxnSpPr>
            <a:cxnSpLocks/>
            <a:stCxn id="42" idx="2"/>
            <a:endCxn id="51" idx="0"/>
          </p:cNvCxnSpPr>
          <p:nvPr/>
        </p:nvCxnSpPr>
        <p:spPr>
          <a:xfrm>
            <a:off x="10545720" y="3970375"/>
            <a:ext cx="2830" cy="193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E98BC81-F48A-F890-9CC5-8D88CEA8DE8A}"/>
              </a:ext>
            </a:extLst>
          </p:cNvPr>
          <p:cNvSpPr txBox="1"/>
          <p:nvPr/>
        </p:nvSpPr>
        <p:spPr>
          <a:xfrm>
            <a:off x="8711786" y="128533"/>
            <a:ext cx="26404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C00000"/>
                </a:solidFill>
              </a:rPr>
              <a:t>A dog wearing aviator goggles piloting an airplane</a:t>
            </a:r>
          </a:p>
          <a:p>
            <a:r>
              <a:rPr lang="en-US" sz="700" dirty="0">
                <a:solidFill>
                  <a:srgbClr val="0070C0"/>
                </a:solidFill>
              </a:rPr>
              <a:t>A dachshund stretched out like a limousine</a:t>
            </a:r>
          </a:p>
          <a:p>
            <a:r>
              <a:rPr lang="en-US" sz="700" dirty="0">
                <a:solidFill>
                  <a:schemeClr val="accent6">
                    <a:lumMod val="75000"/>
                  </a:schemeClr>
                </a:solidFill>
              </a:rPr>
              <a:t>A poodle with an elaborate hairstyle as a florist</a:t>
            </a:r>
          </a:p>
          <a:p>
            <a:r>
              <a:rPr lang="en-US" sz="700" dirty="0">
                <a:solidFill>
                  <a:schemeClr val="accent2"/>
                </a:solidFill>
              </a:rPr>
              <a:t>A dog astronaut floating in space with a bone-shaped spaceship</a:t>
            </a:r>
          </a:p>
          <a:p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beagle detective with a magnifying glass</a:t>
            </a:r>
            <a:endParaRPr lang="en-KR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BD055AAA-4DE8-5A95-FDBE-33A5393916C7}"/>
              </a:ext>
            </a:extLst>
          </p:cNvPr>
          <p:cNvSpPr/>
          <p:nvPr/>
        </p:nvSpPr>
        <p:spPr>
          <a:xfrm>
            <a:off x="8635587" y="222945"/>
            <a:ext cx="76200" cy="4204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EA47AB3-FB51-BA8D-7A27-D27F7E9457AE}"/>
              </a:ext>
            </a:extLst>
          </p:cNvPr>
          <p:cNvCxnSpPr/>
          <p:nvPr/>
        </p:nvCxnSpPr>
        <p:spPr>
          <a:xfrm>
            <a:off x="9794360" y="748145"/>
            <a:ext cx="0" cy="247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Left Brace 64">
            <a:extLst>
              <a:ext uri="{FF2B5EF4-FFF2-40B4-BE49-F238E27FC236}">
                <a16:creationId xmlns:a16="http://schemas.microsoft.com/office/drawing/2014/main" id="{216829D6-BA48-F517-01DD-F1B729B3FCE6}"/>
              </a:ext>
            </a:extLst>
          </p:cNvPr>
          <p:cNvSpPr/>
          <p:nvPr/>
        </p:nvSpPr>
        <p:spPr>
          <a:xfrm flipH="1">
            <a:off x="11202620" y="4164301"/>
            <a:ext cx="149632" cy="274320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0CDB3F76-5A6F-7747-932B-2D3C0DE6A3B6}"/>
              </a:ext>
            </a:extLst>
          </p:cNvPr>
          <p:cNvSpPr/>
          <p:nvPr/>
        </p:nvSpPr>
        <p:spPr>
          <a:xfrm flipH="1">
            <a:off x="11212652" y="6359591"/>
            <a:ext cx="149632" cy="274320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F30EDF17-71BB-1882-F4B6-94E65C31D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611951"/>
              </p:ext>
            </p:extLst>
          </p:nvPr>
        </p:nvGraphicFramePr>
        <p:xfrm>
          <a:off x="9922505" y="6363848"/>
          <a:ext cx="1249680" cy="2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4256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i2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i3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42562"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304913"/>
                  </a:ext>
                </a:extLst>
              </a:tr>
            </a:tbl>
          </a:graphicData>
        </a:graphic>
      </p:graphicFrame>
      <p:sp>
        <p:nvSpPr>
          <p:cNvPr id="68" name="Left Brace 67">
            <a:extLst>
              <a:ext uri="{FF2B5EF4-FFF2-40B4-BE49-F238E27FC236}">
                <a16:creationId xmlns:a16="http://schemas.microsoft.com/office/drawing/2014/main" id="{CBF9BC75-9847-C7B5-C895-BDB5F386A330}"/>
              </a:ext>
            </a:extLst>
          </p:cNvPr>
          <p:cNvSpPr/>
          <p:nvPr/>
        </p:nvSpPr>
        <p:spPr>
          <a:xfrm flipH="1">
            <a:off x="11201373" y="5054268"/>
            <a:ext cx="149632" cy="683054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EFDA88F-F44F-F4F8-A985-EA6E1AB02F49}"/>
              </a:ext>
            </a:extLst>
          </p:cNvPr>
          <p:cNvSpPr/>
          <p:nvPr/>
        </p:nvSpPr>
        <p:spPr>
          <a:xfrm>
            <a:off x="9926764" y="5464132"/>
            <a:ext cx="1246626" cy="134849"/>
          </a:xfrm>
          <a:prstGeom prst="rect">
            <a:avLst/>
          </a:prstGeom>
          <a:solidFill>
            <a:srgbClr val="BF495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A61AA33-B884-EC41-7C93-E77F2014AF2C}"/>
              </a:ext>
            </a:extLst>
          </p:cNvPr>
          <p:cNvSpPr txBox="1"/>
          <p:nvPr/>
        </p:nvSpPr>
        <p:spPr>
          <a:xfrm>
            <a:off x="11287468" y="4167910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3584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103D49-4318-A3D6-1236-AA419AA59F88}"/>
              </a:ext>
            </a:extLst>
          </p:cNvPr>
          <p:cNvSpPr txBox="1"/>
          <p:nvPr/>
        </p:nvSpPr>
        <p:spPr>
          <a:xfrm>
            <a:off x="11311783" y="6357526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3584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255A76-AE28-317A-470E-16068B518380}"/>
              </a:ext>
            </a:extLst>
          </p:cNvPr>
          <p:cNvSpPr txBox="1"/>
          <p:nvPr/>
        </p:nvSpPr>
        <p:spPr>
          <a:xfrm>
            <a:off x="11310970" y="4930795"/>
            <a:ext cx="67678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3584</a:t>
            </a:r>
          </a:p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*32</a:t>
            </a:r>
          </a:p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=57,344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F34766E-6C57-2559-84F7-4B3336B93932}"/>
              </a:ext>
            </a:extLst>
          </p:cNvPr>
          <p:cNvSpPr txBox="1"/>
          <p:nvPr/>
        </p:nvSpPr>
        <p:spPr>
          <a:xfrm>
            <a:off x="10850277" y="4514717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*32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F6E89E-2D28-63F1-F517-892DBEE07ABE}"/>
              </a:ext>
            </a:extLst>
          </p:cNvPr>
          <p:cNvSpPr txBox="1"/>
          <p:nvPr/>
        </p:nvSpPr>
        <p:spPr>
          <a:xfrm>
            <a:off x="10888000" y="5965622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/32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CAA9B-E6B6-DE91-3765-2D112174F712}"/>
              </a:ext>
            </a:extLst>
          </p:cNvPr>
          <p:cNvSpPr txBox="1"/>
          <p:nvPr/>
        </p:nvSpPr>
        <p:spPr>
          <a:xfrm>
            <a:off x="8074216" y="274727"/>
            <a:ext cx="561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Test</a:t>
            </a:r>
          </a:p>
          <a:p>
            <a:pPr algn="ctr"/>
            <a:r>
              <a:rPr lang="en-US" sz="800" dirty="0"/>
              <a:t>prompts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DB840C9-C07E-15D4-8977-5E5534BD38D5}"/>
              </a:ext>
            </a:extLst>
          </p:cNvPr>
          <p:cNvSpPr txBox="1"/>
          <p:nvPr/>
        </p:nvSpPr>
        <p:spPr>
          <a:xfrm>
            <a:off x="8307697" y="5585485"/>
            <a:ext cx="12410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Feature z6019 </a:t>
            </a:r>
            <a:r>
              <a:rPr lang="en-US" sz="1100" i="1" dirty="0">
                <a:highlight>
                  <a:srgbClr val="FFFF00"/>
                </a:highlight>
              </a:rPr>
              <a:t>* 0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1EF07A7-D910-2501-624C-22E1CC126FB8}"/>
              </a:ext>
            </a:extLst>
          </p:cNvPr>
          <p:cNvCxnSpPr>
            <a:endCxn id="81" idx="3"/>
          </p:cNvCxnSpPr>
          <p:nvPr/>
        </p:nvCxnSpPr>
        <p:spPr>
          <a:xfrm flipH="1">
            <a:off x="9548742" y="5530959"/>
            <a:ext cx="373763" cy="185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5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7B91-5B05-BBE5-8EFE-8E222F08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  <a:r>
              <a:rPr lang="ko-KR" altLang="en-US" dirty="0"/>
              <a:t> </a:t>
            </a:r>
            <a:r>
              <a:rPr lang="en-US" altLang="ko-KR" dirty="0"/>
              <a:t>(In</a:t>
            </a:r>
            <a:r>
              <a:rPr lang="ko-KR" altLang="en-US" dirty="0"/>
              <a:t> </a:t>
            </a:r>
            <a:r>
              <a:rPr lang="en-US" altLang="ko-KR" dirty="0"/>
              <a:t>Short)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E198F-F853-90AF-C641-10BCB9062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Collect prompts for the target concept.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BAGEL and cache VAE-side hidden states.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Train an unsupervised </a:t>
            </a:r>
            <a:r>
              <a:rPr lang="en-US" dirty="0" err="1"/>
              <a:t>TopK</a:t>
            </a:r>
            <a:r>
              <a:rPr lang="en-US" dirty="0"/>
              <a:t> SAE on the cached states.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Rank SAE features by target-concept activation.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counterfactual prompts to filter concept-specific features.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candidate features, such as z6019 for Horses.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Suppress selected features during image generation.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Evaluate target suppression and image preservation.</a:t>
            </a:r>
          </a:p>
        </p:txBody>
      </p:sp>
    </p:spTree>
    <p:extLst>
      <p:ext uri="{BB962C8B-B14F-4D97-AF65-F5344CB8AC3E}">
        <p14:creationId xmlns:p14="http://schemas.microsoft.com/office/powerpoint/2010/main" val="1784092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7119-681D-058B-7436-B1886E8C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 (Goals)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BDECD-28BA-3A77-771C-7DF9812F3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first work unlearning/suppression work on UMM</a:t>
            </a:r>
          </a:p>
          <a:p>
            <a:r>
              <a:rPr lang="en-US" altLang="ko-KR" dirty="0"/>
              <a:t>The first work of modality selective unlearning/suppression</a:t>
            </a:r>
          </a:p>
          <a:p>
            <a:r>
              <a:rPr lang="en-US" dirty="0"/>
              <a:t>We use SAE-based methods to perform </a:t>
            </a:r>
            <a:r>
              <a:rPr lang="en-US" altLang="ko-KR" dirty="0"/>
              <a:t>unlearning/suppression</a:t>
            </a:r>
            <a:r>
              <a:rPr lang="en-US" dirty="0"/>
              <a:t> while preserving image generation quality. Although the core technique itself is based on existing methods</a:t>
            </a:r>
            <a:r>
              <a:rPr lang="ko-KR" altLang="en-US" dirty="0"/>
              <a:t>*</a:t>
            </a:r>
            <a:r>
              <a:rPr lang="en-US" dirty="0"/>
              <a:t>, we apply it in the context of UMM unlearning.</a:t>
            </a:r>
          </a:p>
          <a:p>
            <a:pPr lvl="1"/>
            <a:r>
              <a:rPr lang="en-US" dirty="0"/>
              <a:t>In addition, we introduce counterfactual prompts to better separate the target concept from related concepts during the unlearning process. (no need to train more for preservation)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FA626E-6517-7CB6-E58F-D22F4C04C999}"/>
              </a:ext>
            </a:extLst>
          </p:cNvPr>
          <p:cNvSpPr txBox="1"/>
          <p:nvPr/>
        </p:nvSpPr>
        <p:spPr>
          <a:xfrm>
            <a:off x="4643318" y="6169709"/>
            <a:ext cx="7138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*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SAeUron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: Interpretable Concept Unlearning in Diffusion Models with Sparse Autoencoders (ICML 2025)</a:t>
            </a:r>
          </a:p>
          <a:p>
            <a:pPr algn="r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**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ItD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Sparse Autoencoder as a Zero-Shot Classifier for Concept Erasing in Text-to-Image Diffusion Models</a:t>
            </a:r>
          </a:p>
          <a:p>
            <a:pPr algn="r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***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SAEmnesia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Erasing Concepts in Diffusion Models with Supervised Sparse Autoencoders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84300A7F-8693-28C9-7340-C19F238B6ACB}"/>
              </a:ext>
            </a:extLst>
          </p:cNvPr>
          <p:cNvSpPr/>
          <p:nvPr/>
        </p:nvSpPr>
        <p:spPr>
          <a:xfrm rot="10800000" flipV="1">
            <a:off x="2408083" y="3833511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5E3342-CFEE-9B9A-4C76-364C863E7CE8}"/>
                  </a:ext>
                </a:extLst>
              </p:cNvPr>
              <p:cNvSpPr txBox="1"/>
              <p:nvPr/>
            </p:nvSpPr>
            <p:spPr>
              <a:xfrm>
                <a:off x="2574821" y="3822185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5E3342-CFEE-9B9A-4C76-364C863E7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821" y="3822185"/>
                <a:ext cx="646011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8245C7-84C5-48B4-0F2F-1EB5C0667695}"/>
                  </a:ext>
                </a:extLst>
              </p:cNvPr>
              <p:cNvSpPr txBox="1"/>
              <p:nvPr/>
            </p:nvSpPr>
            <p:spPr>
              <a:xfrm>
                <a:off x="1937887" y="4448648"/>
                <a:ext cx="347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KR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8245C7-84C5-48B4-0F2F-1EB5C0667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887" y="4448648"/>
                <a:ext cx="347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F22D78-6E22-7E78-96E0-305DC6795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708586"/>
              </p:ext>
            </p:extLst>
          </p:nvPr>
        </p:nvGraphicFramePr>
        <p:xfrm>
          <a:off x="2261269" y="3429000"/>
          <a:ext cx="1249680" cy="2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4256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i2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i3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42562"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304913"/>
                  </a:ext>
                </a:extLst>
              </a:tr>
            </a:tbl>
          </a:graphicData>
        </a:graphic>
      </p:graphicFrame>
      <p:sp>
        <p:nvSpPr>
          <p:cNvPr id="9" name="Trapezoid 8">
            <a:extLst>
              <a:ext uri="{FF2B5EF4-FFF2-40B4-BE49-F238E27FC236}">
                <a16:creationId xmlns:a16="http://schemas.microsoft.com/office/drawing/2014/main" id="{8083A01D-A592-56ED-BEBE-73A5BDB82EB7}"/>
              </a:ext>
            </a:extLst>
          </p:cNvPr>
          <p:cNvSpPr/>
          <p:nvPr/>
        </p:nvSpPr>
        <p:spPr>
          <a:xfrm flipV="1">
            <a:off x="2406252" y="5138094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E9491B-2F4C-A1B9-9EFB-6CBEDD602E11}"/>
                  </a:ext>
                </a:extLst>
              </p:cNvPr>
              <p:cNvSpPr txBox="1"/>
              <p:nvPr/>
            </p:nvSpPr>
            <p:spPr>
              <a:xfrm>
                <a:off x="2546704" y="5122657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E9491B-2F4C-A1B9-9EFB-6CBEDD602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704" y="5122657"/>
                <a:ext cx="661207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899BD9-A19C-BB4A-F4DE-B7FF7C2A5254}"/>
                  </a:ext>
                </a:extLst>
              </p:cNvPr>
              <p:cNvSpPr txBox="1"/>
              <p:nvPr/>
            </p:nvSpPr>
            <p:spPr>
              <a:xfrm>
                <a:off x="1974784" y="3368536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899BD9-A19C-BB4A-F4DE-B7FF7C2A5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784" y="3368536"/>
                <a:ext cx="3433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FC9694-42A6-BFF9-F8CF-5522E3320F59}"/>
                  </a:ext>
                </a:extLst>
              </p:cNvPr>
              <p:cNvSpPr txBox="1"/>
              <p:nvPr/>
            </p:nvSpPr>
            <p:spPr>
              <a:xfrm>
                <a:off x="1985663" y="5570191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FC9694-42A6-BFF9-F8CF-5522E3320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663" y="5570191"/>
                <a:ext cx="34336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2BAC2C8-E6DA-A5F0-EBB3-C62D22F69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5919"/>
              </p:ext>
            </p:extLst>
          </p:nvPr>
        </p:nvGraphicFramePr>
        <p:xfrm>
          <a:off x="2261269" y="4316222"/>
          <a:ext cx="124968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26826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i2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i3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  <a:tr h="126826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417485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285CFB-7D2A-45BB-1914-4E9FD1A60E83}"/>
              </a:ext>
            </a:extLst>
          </p:cNvPr>
          <p:cNvCxnSpPr>
            <a:cxnSpLocks/>
          </p:cNvCxnSpPr>
          <p:nvPr/>
        </p:nvCxnSpPr>
        <p:spPr>
          <a:xfrm>
            <a:off x="2885298" y="370572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F338BB-4E7A-A4A4-E858-7705EE7F31D4}"/>
              </a:ext>
            </a:extLst>
          </p:cNvPr>
          <p:cNvCxnSpPr>
            <a:cxnSpLocks/>
          </p:cNvCxnSpPr>
          <p:nvPr/>
        </p:nvCxnSpPr>
        <p:spPr>
          <a:xfrm>
            <a:off x="2885298" y="4182924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296780-7B31-710E-B457-FE19B1CA2799}"/>
              </a:ext>
            </a:extLst>
          </p:cNvPr>
          <p:cNvCxnSpPr>
            <a:cxnSpLocks/>
          </p:cNvCxnSpPr>
          <p:nvPr/>
        </p:nvCxnSpPr>
        <p:spPr>
          <a:xfrm>
            <a:off x="2884904" y="500327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7DD12F-7A3B-9022-49EA-7416BFA4497A}"/>
              </a:ext>
            </a:extLst>
          </p:cNvPr>
          <p:cNvCxnSpPr>
            <a:cxnSpLocks/>
          </p:cNvCxnSpPr>
          <p:nvPr/>
        </p:nvCxnSpPr>
        <p:spPr>
          <a:xfrm>
            <a:off x="2884904" y="5491932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Left Brace 18">
            <a:extLst>
              <a:ext uri="{FF2B5EF4-FFF2-40B4-BE49-F238E27FC236}">
                <a16:creationId xmlns:a16="http://schemas.microsoft.com/office/drawing/2014/main" id="{98DF2B1B-3FE1-45B8-B7E3-391275F57BF8}"/>
              </a:ext>
            </a:extLst>
          </p:cNvPr>
          <p:cNvSpPr/>
          <p:nvPr/>
        </p:nvSpPr>
        <p:spPr>
          <a:xfrm flipH="1">
            <a:off x="3540179" y="3429001"/>
            <a:ext cx="149632" cy="274320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7273F06E-DB6F-1C77-0D6E-346FED358A55}"/>
              </a:ext>
            </a:extLst>
          </p:cNvPr>
          <p:cNvSpPr/>
          <p:nvPr/>
        </p:nvSpPr>
        <p:spPr>
          <a:xfrm flipH="1">
            <a:off x="3550211" y="5624291"/>
            <a:ext cx="149632" cy="274320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5CD2380-9ADD-42AB-A619-86089911C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937834"/>
              </p:ext>
            </p:extLst>
          </p:nvPr>
        </p:nvGraphicFramePr>
        <p:xfrm>
          <a:off x="2260064" y="5628548"/>
          <a:ext cx="1249680" cy="2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4256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i1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i2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i3</a:t>
                      </a:r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42562"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KR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304913"/>
                  </a:ext>
                </a:extLst>
              </a:tr>
            </a:tbl>
          </a:graphicData>
        </a:graphic>
      </p:graphicFrame>
      <p:sp>
        <p:nvSpPr>
          <p:cNvPr id="22" name="Left Brace 21">
            <a:extLst>
              <a:ext uri="{FF2B5EF4-FFF2-40B4-BE49-F238E27FC236}">
                <a16:creationId xmlns:a16="http://schemas.microsoft.com/office/drawing/2014/main" id="{B89C8429-2B17-1C86-B2A2-2CFC2BB17F0B}"/>
              </a:ext>
            </a:extLst>
          </p:cNvPr>
          <p:cNvSpPr/>
          <p:nvPr/>
        </p:nvSpPr>
        <p:spPr>
          <a:xfrm flipH="1">
            <a:off x="3538932" y="4318968"/>
            <a:ext cx="149632" cy="683054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67D54B-1D8D-36E9-B725-1213DDE3F28F}"/>
              </a:ext>
            </a:extLst>
          </p:cNvPr>
          <p:cNvSpPr txBox="1"/>
          <p:nvPr/>
        </p:nvSpPr>
        <p:spPr>
          <a:xfrm>
            <a:off x="3625027" y="3432610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3584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70380A-8F00-B98C-DD7E-87090CF0469C}"/>
              </a:ext>
            </a:extLst>
          </p:cNvPr>
          <p:cNvSpPr txBox="1"/>
          <p:nvPr/>
        </p:nvSpPr>
        <p:spPr>
          <a:xfrm>
            <a:off x="3649342" y="5622226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3584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86C5AA-BAD4-5EA0-F648-0F4954C3D36F}"/>
              </a:ext>
            </a:extLst>
          </p:cNvPr>
          <p:cNvSpPr txBox="1"/>
          <p:nvPr/>
        </p:nvSpPr>
        <p:spPr>
          <a:xfrm>
            <a:off x="3648529" y="4195495"/>
            <a:ext cx="67678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3584</a:t>
            </a:r>
          </a:p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*32</a:t>
            </a:r>
          </a:p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=57,344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E298F4-EABE-069D-E6AC-62E7F91690E8}"/>
              </a:ext>
            </a:extLst>
          </p:cNvPr>
          <p:cNvSpPr txBox="1"/>
          <p:nvPr/>
        </p:nvSpPr>
        <p:spPr>
          <a:xfrm>
            <a:off x="3187836" y="3779417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*32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FE90E-1D13-7CBC-B8A2-694ABEF6560D}"/>
              </a:ext>
            </a:extLst>
          </p:cNvPr>
          <p:cNvSpPr txBox="1"/>
          <p:nvPr/>
        </p:nvSpPr>
        <p:spPr>
          <a:xfrm>
            <a:off x="3225559" y="5230322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/32</a:t>
            </a:r>
          </a:p>
        </p:txBody>
      </p:sp>
    </p:spTree>
    <p:extLst>
      <p:ext uri="{BB962C8B-B14F-4D97-AF65-F5344CB8AC3E}">
        <p14:creationId xmlns:p14="http://schemas.microsoft.com/office/powerpoint/2010/main" val="322320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A9BEC-1669-628A-818B-24891BBF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Research Questions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Discussions so far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18916-7F10-1714-F0BE-6325C14D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Remaining Research Questions</a:t>
            </a:r>
          </a:p>
          <a:p>
            <a:pPr lvl="1"/>
            <a:r>
              <a:rPr lang="en-US" dirty="0"/>
              <a:t>Beyond simple text prompts (+ think/reasoning mode)</a:t>
            </a:r>
          </a:p>
          <a:p>
            <a:pPr lvl="2"/>
            <a:r>
              <a:rPr lang="en-US" dirty="0"/>
              <a:t>May better detect concepts internally remembered by the model</a:t>
            </a:r>
          </a:p>
          <a:p>
            <a:pPr lvl="2"/>
            <a:r>
              <a:rPr lang="en-US" dirty="0"/>
              <a:t>The model may still generate unintended features on its own</a:t>
            </a:r>
          </a:p>
          <a:p>
            <a:pPr lvl="1"/>
            <a:r>
              <a:rPr lang="en-US" dirty="0"/>
              <a:t>Object/background separation is often unclear during inference</a:t>
            </a:r>
          </a:p>
          <a:p>
            <a:pPr lvl="1"/>
            <a:r>
              <a:rPr lang="en-US" dirty="0"/>
              <a:t>Non-general cases (e.g., objects at image corners) remain challenging</a:t>
            </a:r>
          </a:p>
          <a:p>
            <a:pPr lvl="1"/>
            <a:r>
              <a:rPr lang="en-US" dirty="0"/>
              <a:t>Closer to blocking/filtering than true complete unlearning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Discussion</a:t>
            </a:r>
          </a:p>
          <a:p>
            <a:pPr lvl="1"/>
            <a:r>
              <a:rPr lang="en-US" dirty="0"/>
              <a:t>Which Layer to attach SAE? (can be decided by ablation, but why? Should be explained technically)</a:t>
            </a:r>
          </a:p>
          <a:p>
            <a:pPr lvl="1"/>
            <a:r>
              <a:rPr lang="en-US" dirty="0"/>
              <a:t>How big is SAE is?</a:t>
            </a:r>
          </a:p>
          <a:p>
            <a:pPr lvl="2"/>
            <a:r>
              <a:rPr lang="en-US" dirty="0"/>
              <a:t>SAE:</a:t>
            </a:r>
          </a:p>
          <a:p>
            <a:pPr lvl="3"/>
            <a:r>
              <a:rPr lang="en-US" dirty="0" err="1"/>
              <a:t>input_dim</a:t>
            </a:r>
            <a:r>
              <a:rPr lang="en-US" dirty="0"/>
              <a:t> = 3,584</a:t>
            </a:r>
          </a:p>
          <a:p>
            <a:pPr lvl="3"/>
            <a:r>
              <a:rPr lang="en-US" dirty="0" err="1"/>
              <a:t>latent_dim</a:t>
            </a:r>
            <a:r>
              <a:rPr lang="en-US" dirty="0"/>
              <a:t> = 57,344</a:t>
            </a:r>
          </a:p>
          <a:p>
            <a:pPr lvl="3"/>
            <a:r>
              <a:rPr lang="en-US" dirty="0"/>
              <a:t>params = 411,102,720 ≈ 0.41B</a:t>
            </a:r>
          </a:p>
          <a:p>
            <a:pPr lvl="2"/>
            <a:r>
              <a:rPr lang="en-US" dirty="0"/>
              <a:t>BAGEL </a:t>
            </a:r>
            <a:r>
              <a:rPr lang="en-US" dirty="0" err="1"/>
              <a:t>ema.safetensors</a:t>
            </a:r>
            <a:r>
              <a:rPr lang="en-US" dirty="0"/>
              <a:t>:</a:t>
            </a:r>
          </a:p>
          <a:p>
            <a:pPr lvl="3"/>
            <a:r>
              <a:rPr lang="en-US" dirty="0"/>
              <a:t>params = 14,607,260,128 ≈ 14.6B</a:t>
            </a:r>
          </a:p>
          <a:p>
            <a:pPr lvl="2"/>
            <a:r>
              <a:rPr lang="en-US" dirty="0"/>
              <a:t>ratio:</a:t>
            </a:r>
          </a:p>
          <a:p>
            <a:pPr lvl="3"/>
            <a:r>
              <a:rPr lang="en-US" dirty="0"/>
              <a:t>0.411B / 14.607B ≈ 2.8%</a:t>
            </a:r>
          </a:p>
          <a:p>
            <a:pPr lvl="1"/>
            <a:r>
              <a:rPr lang="en-US" dirty="0"/>
              <a:t>How long it takes to train?</a:t>
            </a:r>
          </a:p>
          <a:p>
            <a:pPr lvl="2"/>
            <a:r>
              <a:rPr lang="en-US" dirty="0"/>
              <a:t>2.5h on pro600</a:t>
            </a:r>
            <a:r>
              <a:rPr lang="en-US" altLang="ko-KR" dirty="0"/>
              <a:t>0</a:t>
            </a:r>
            <a:r>
              <a:rPr lang="ko-KR" altLang="en-US" dirty="0"/>
              <a:t> </a:t>
            </a:r>
            <a:r>
              <a:rPr lang="en-US" altLang="ko-KR" dirty="0"/>
              <a:t>(Only</a:t>
            </a:r>
            <a:r>
              <a:rPr lang="ko-KR" altLang="en-US" dirty="0"/>
              <a:t> </a:t>
            </a:r>
            <a:r>
              <a:rPr lang="en-US" altLang="ko-KR" dirty="0"/>
              <a:t>objects)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71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C2596-0D8F-6712-1A58-BED6561F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Interest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F9A7E-6B63-2654-1A57-69815C98C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 Models</a:t>
            </a:r>
          </a:p>
          <a:p>
            <a:r>
              <a:rPr lang="en-US" dirty="0"/>
              <a:t>Computer Vision</a:t>
            </a:r>
          </a:p>
          <a:p>
            <a:r>
              <a:rPr lang="en-US" dirty="0"/>
              <a:t>Multimodal Models</a:t>
            </a:r>
          </a:p>
          <a:p>
            <a:r>
              <a:rPr lang="en-US" dirty="0"/>
              <a:t>Interpretability</a:t>
            </a:r>
          </a:p>
        </p:txBody>
      </p:sp>
    </p:spTree>
    <p:extLst>
      <p:ext uri="{BB962C8B-B14F-4D97-AF65-F5344CB8AC3E}">
        <p14:creationId xmlns:p14="http://schemas.microsoft.com/office/powerpoint/2010/main" val="3692681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58ECF49-9510-284B-8608-77DD3AF33700}" vid="{D7FC2EE1-7D83-D345-BC33-911F7B4FB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46727</TotalTime>
  <Words>3291</Words>
  <Application>Microsoft Macintosh PowerPoint</Application>
  <PresentationFormat>Widescreen</PresentationFormat>
  <Paragraphs>575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Pretendard</vt:lpstr>
      <vt:lpstr>Pretendard Medium</vt:lpstr>
      <vt:lpstr>Pretendard SemiBold</vt:lpstr>
      <vt:lpstr>Aptos</vt:lpstr>
      <vt:lpstr>Arial</vt:lpstr>
      <vt:lpstr>Cambria Math</vt:lpstr>
      <vt:lpstr>Wingdings</vt:lpstr>
      <vt:lpstr>Office Theme</vt:lpstr>
      <vt:lpstr>UMM Unlearning Knows But Can't Draw: Toward Modality-Selective Concept Suppression in Unified Multimodal Models</vt:lpstr>
      <vt:lpstr>Base Model Architecture</vt:lpstr>
      <vt:lpstr>Base Model Architecture</vt:lpstr>
      <vt:lpstr>Base Model Architecture</vt:lpstr>
      <vt:lpstr>Problem Statement</vt:lpstr>
      <vt:lpstr>Problem Statement</vt:lpstr>
      <vt:lpstr>Problem Statement</vt:lpstr>
      <vt:lpstr>Method: Contrastive Feature Selection</vt:lpstr>
      <vt:lpstr>(Method)</vt:lpstr>
      <vt:lpstr>Method: Contrastive Feature Selection</vt:lpstr>
      <vt:lpstr>Method: Contrastive Feature Selection</vt:lpstr>
      <vt:lpstr>PowerPoint Presentation</vt:lpstr>
      <vt:lpstr>Method: Contrastive Feature Selection</vt:lpstr>
      <vt:lpstr>Methods (In Short)</vt:lpstr>
      <vt:lpstr>Contributions (Goals)</vt:lpstr>
      <vt:lpstr>Remaining Research Questions / Discussions so far</vt:lpstr>
      <vt:lpstr>Research Interest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정하연</dc:creator>
  <cp:lastModifiedBy>정하연</cp:lastModifiedBy>
  <cp:revision>744</cp:revision>
  <dcterms:created xsi:type="dcterms:W3CDTF">2025-07-25T04:06:09Z</dcterms:created>
  <dcterms:modified xsi:type="dcterms:W3CDTF">2026-05-13T21:54:34Z</dcterms:modified>
</cp:coreProperties>
</file>