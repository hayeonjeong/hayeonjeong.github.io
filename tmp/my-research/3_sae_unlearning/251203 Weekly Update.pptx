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2" r:id="rId4"/>
    <p:sldId id="267" r:id="rId5"/>
    <p:sldId id="282" r:id="rId6"/>
    <p:sldId id="268" r:id="rId7"/>
    <p:sldId id="270" r:id="rId8"/>
    <p:sldId id="272" r:id="rId9"/>
    <p:sldId id="281" r:id="rId10"/>
    <p:sldId id="266" r:id="rId11"/>
    <p:sldId id="283" r:id="rId12"/>
    <p:sldId id="258" r:id="rId1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92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6"/>
    <p:restoredTop sz="94653"/>
  </p:normalViewPr>
  <p:slideViewPr>
    <p:cSldViewPr snapToGrid="0">
      <p:cViewPr>
        <p:scale>
          <a:sx n="124" d="100"/>
          <a:sy n="124" d="100"/>
        </p:scale>
        <p:origin x="2080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A1999-0D2D-334E-B65B-715E1558EE94}" type="datetimeFigureOut">
              <a:rPr lang="en-KR" smtClean="0"/>
              <a:t>12/2/25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18AA30-34BB-0C47-9851-CC14E2038A7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9550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B9D99-0E39-375C-ECD9-E8BEB12F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EB2AF-6CDC-754A-BF21-D403DB356990}" type="datetime1">
              <a:rPr lang="en-US" smtClean="0"/>
              <a:t>12/2/25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02B2-45BC-3664-B16F-C0B3EE41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6CCC7B9-62B8-31DD-0229-DD887C0135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CC0C649-1748-F3E0-5235-F50DCBC93A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40848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KR" sz="4800" dirty="0"/>
              <a:t>Title</a:t>
            </a:r>
            <a:endParaRPr lang="en-KR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78C4E3D-CBDE-2C38-6A80-96C3A43688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KR" dirty="0"/>
              <a:t>Subtitle</a:t>
            </a:r>
          </a:p>
          <a:p>
            <a:endParaRPr lang="en-KR" dirty="0"/>
          </a:p>
          <a:p>
            <a:r>
              <a:rPr lang="en-KR" dirty="0"/>
              <a:t>2025.XX.XX</a:t>
            </a:r>
          </a:p>
          <a:p>
            <a:r>
              <a:rPr lang="en-KR" dirty="0"/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304102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CF7FA-047A-76DC-F53A-607DB621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0F43-BAD3-5D4B-842C-1BECF5783CC1}" type="datetime1">
              <a:rPr lang="en-US" smtClean="0"/>
              <a:t>12/2/25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5B7E-5821-3FBF-9C90-D608FD48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AE1898-3AA5-9E6C-895D-AE7A7A5E1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TITLE HERE</a:t>
            </a:r>
            <a:endParaRPr lang="en-KR" sz="2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AC890D-0675-EFBB-C750-C787E03D1F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lnSpc>
                <a:spcPct val="100000"/>
              </a:lnSpc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lnSpc>
                <a:spcPct val="100000"/>
              </a:lnSpc>
              <a:defRPr sz="12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lnSpc>
                <a:spcPct val="100000"/>
              </a:lnSpc>
              <a:defRPr sz="11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lnSpc>
                <a:spcPct val="100000"/>
              </a:lnSpc>
              <a:defRPr sz="11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First level</a:t>
            </a:r>
          </a:p>
          <a:p>
            <a:pPr lvl="1"/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Second level</a:t>
            </a:r>
          </a:p>
          <a:p>
            <a:pPr lvl="2"/>
            <a:r>
              <a:rPr 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Third level</a:t>
            </a:r>
          </a:p>
          <a:p>
            <a:pPr lvl="3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Fourth level</a:t>
            </a:r>
          </a:p>
          <a:p>
            <a:pPr lvl="4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Fifth level</a:t>
            </a:r>
            <a:endParaRPr lang="en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8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4C1A-47A3-8FCD-C17B-E8AF0ACF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06B84-CF83-1768-F770-9FA317B27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DDBD9-8556-9FE5-B37E-326DFB75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5020-5E6C-944D-954D-F6513999B2B9}" type="datetime1">
              <a:rPr lang="en-US" smtClean="0"/>
              <a:t>12/2/25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A80EC-89C7-61E5-4253-9CEC3EBC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206E-DB2D-383A-E617-3091FE96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9914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12B1-914A-A85B-9656-EED84B57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766D-9F19-7222-0134-B4027F458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9AC8F-15F8-233F-E3BD-B13B29E01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FBA0E-4D9B-5669-1A40-025EAF60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84A6-EFC5-6A45-8FBB-8A86ED1092A9}" type="datetime1">
              <a:rPr lang="en-US" smtClean="0"/>
              <a:t>12/2/25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FC0FD-58FC-157A-9180-051DFAF8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F6963-6C2A-C55A-CF1E-B938E2B3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902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DB35-4B06-C984-E6E9-6571DE79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2A03E-07D5-B7A7-F884-24381BF8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BA994-F460-612A-0B6F-B0A0EB041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733F7-78B9-904C-9642-3458037A1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6DCBC-7069-5BD8-46DB-C7BFDDEB4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9A386-0F81-8914-A12C-6597AB2E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3992-39AF-5043-AD44-4F8B2806E4F7}" type="datetime1">
              <a:rPr lang="en-US" smtClean="0"/>
              <a:t>12/2/25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F0178-97F1-0E9D-871E-D44CC8A37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72DD4-2D02-1CE4-91A9-5691335D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5730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EE20-AEF8-99D5-79CA-EC438D94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D7C7D-4C4C-5FC3-6C82-38A2D6724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487C-F38D-EB4A-BAF1-3FA8DF0EA4DE}" type="datetime1">
              <a:rPr lang="en-US" smtClean="0"/>
              <a:t>12/2/25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72D74-F34B-1C70-5400-CE4D88C4C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35DD3-871B-9B15-1A69-DF4F89CD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1056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DA536-F8D8-E1A0-0A07-D6F8F756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10FE-8F71-CD45-B42C-796254A68CC4}" type="datetime1">
              <a:rPr lang="en-US" smtClean="0"/>
              <a:t>12/2/25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05598-D70E-7061-D1A4-71066E4B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16DE1-2B0C-747F-D616-2E139236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6414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AA48-AC31-E217-26B4-54FEF3C6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5F99-968F-CA1D-9EF4-69C689EC7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8E2D5-46B5-C951-B600-B0A6F1C65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9B3FD-14F9-C37C-27AE-A6FEA1CC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F998-C5FC-F44C-ACA6-43C0BD0BBBF8}" type="datetime1">
              <a:rPr lang="en-US" smtClean="0"/>
              <a:t>12/2/25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EE16C-9D2A-FD18-5F30-C0F0D9B2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4FC3E-58AE-89CD-BA74-3985BDB5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67752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9053-6310-F6B5-FF99-73CF29FE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13669-4EC8-9849-8202-9D2220CD7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1B808-8321-4034-7019-7D47978A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D785D-94BD-4D14-E338-CFC24081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3009-010A-3643-99D4-2D4D54D3FB5B}" type="datetime1">
              <a:rPr lang="en-US" smtClean="0"/>
              <a:t>12/2/25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19A7F-3AE0-5DBC-B468-D3B13EF7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C2B9-B059-6DC8-C0E4-9E89E048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8011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D59A-D378-CAD2-FF2E-9693BAA65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31652-27E2-AD5A-2784-87FE064C1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654B-96B5-CC2A-79D0-7C2C5268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3623-CFE3-3B48-AD01-8ACA46C16D40}" type="datetime1">
              <a:rPr lang="en-US" smtClean="0"/>
              <a:t>12/2/25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D7CB8-48BD-8C01-F4EF-4C100458B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211DF-0CCD-85FB-B94A-9B7D1FAC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8667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894D5-5C64-B67F-3B71-D3700DC1A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39A60-8BAD-D3CB-5195-B600C771E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F8497-FBC8-C5AC-D8DF-9B075D0A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C6B8-EB47-EA4D-BC75-D06A0CC2D4D7}" type="datetime1">
              <a:rPr lang="en-US" smtClean="0"/>
              <a:t>12/2/25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4AE0D-CC99-FAC3-A922-17794776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F7524-24A2-143E-DD2F-F8626A94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7348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8D6AA-BF94-B7A4-BEB5-94B7D494D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E497E-9634-6648-B43C-50321F9D4515}" type="datetime1">
              <a:rPr lang="en-US" smtClean="0"/>
              <a:t>12/2/25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34F99-7664-F70B-A87F-D3FE00DA7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5176F92-44D7-C25D-E466-0C232BC87030}"/>
              </a:ext>
            </a:extLst>
          </p:cNvPr>
          <p:cNvSpPr txBox="1">
            <a:spLocks/>
          </p:cNvSpPr>
          <p:nvPr userDrawn="1"/>
        </p:nvSpPr>
        <p:spPr>
          <a:xfrm>
            <a:off x="9328728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42FE30C-30E7-744B-836A-23530458DF33}" type="slidenum">
              <a:rPr lang="en-KR" sz="1200" smtClean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/>
              <a:t>‹#›</a:t>
            </a:fld>
            <a:endParaRPr lang="en-KR" sz="12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14AD03-5656-19EF-4D4F-52CD0BA9370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7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2FD3EF-4AF0-5D47-76F7-C49B364727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KR" sz="2800" dirty="0"/>
              <a:t>Weekly Update</a:t>
            </a:r>
            <a:endParaRPr lang="en-KR" sz="32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3B2ECD5-0A5C-4884-393F-48FD7CB6B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2025.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12</a:t>
            </a:r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.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03</a:t>
            </a:r>
            <a:endParaRPr lang="en-KR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231745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6B49-9C9F-73A7-2892-968296072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06423-B665-98F8-00CC-D9E959094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/>
              <a:t>CVPR</a:t>
            </a:r>
            <a:r>
              <a:rPr lang="en-KR" altLang="ko-KR" dirty="0"/>
              <a:t> </a:t>
            </a:r>
            <a:r>
              <a:rPr lang="en-US" altLang="ko-KR" dirty="0"/>
              <a:t>2026</a:t>
            </a:r>
            <a:endParaRPr lang="en-KR" sz="1600" dirty="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600" dirty="0"/>
              <a:t>UMM Unlearning</a:t>
            </a:r>
            <a:endParaRPr lang="en-KR" sz="1600" dirty="0"/>
          </a:p>
          <a:p>
            <a:pPr lvl="1">
              <a:lnSpc>
                <a:spcPct val="100000"/>
              </a:lnSpc>
            </a:pPr>
            <a:endParaRPr lang="en-KR" sz="1400" dirty="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KR" sz="1600" dirty="0"/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3367154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A0EFB-474E-AF34-EBB1-CFC7CB1F5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1659-C65F-CBC8-658B-ED8C76A2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CVPR 2026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419F-BBCB-1426-C869-0BCA76CA2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KR" strike="sngStrike" dirty="0"/>
              <a:t>Previous Works cannot resolve this phenomenon?</a:t>
            </a:r>
            <a:endParaRPr lang="en-KR" dirty="0"/>
          </a:p>
          <a:p>
            <a:pPr marL="342900" indent="-342900">
              <a:buFont typeface="+mj-lt"/>
              <a:buAutoNum type="arabicPeriod"/>
            </a:pPr>
            <a:r>
              <a:rPr lang="en-KR" dirty="0"/>
              <a:t>More Training Experiments on More Classes/Instances</a:t>
            </a:r>
          </a:p>
          <a:p>
            <a:pPr lvl="1"/>
            <a:r>
              <a:rPr lang="en-KR" dirty="0"/>
              <a:t>‘dvddog’ and more</a:t>
            </a:r>
          </a:p>
          <a:p>
            <a:pPr lvl="1"/>
            <a:r>
              <a:rPr lang="en-KR" dirty="0"/>
              <a:t>Does size of the content in training data matters?</a:t>
            </a:r>
          </a:p>
          <a:p>
            <a:pPr marL="342900" indent="-342900">
              <a:buFont typeface="+mj-lt"/>
              <a:buAutoNum type="arabicPeriod"/>
            </a:pPr>
            <a:r>
              <a:rPr lang="en-KR" dirty="0">
                <a:solidFill>
                  <a:srgbClr val="0070C0"/>
                </a:solidFill>
              </a:rPr>
              <a:t>Temporal Analysis</a:t>
            </a:r>
          </a:p>
          <a:p>
            <a:pPr lvl="1"/>
            <a:r>
              <a:rPr lang="en-KR" dirty="0">
                <a:solidFill>
                  <a:srgbClr val="0070C0"/>
                </a:solidFill>
              </a:rPr>
              <a:t>Compared btw ‘Dominating’ and ‘Others’</a:t>
            </a:r>
          </a:p>
          <a:p>
            <a:pPr lvl="1"/>
            <a:r>
              <a:rPr lang="en-KR" dirty="0">
                <a:solidFill>
                  <a:srgbClr val="0070C0"/>
                </a:solidFill>
              </a:rPr>
              <a:t>Should be Compared btw ‘Dominanting’ and ‘Dominated’</a:t>
            </a:r>
          </a:p>
          <a:p>
            <a:pPr marL="342900" indent="-342900">
              <a:buFont typeface="+mj-lt"/>
              <a:buAutoNum type="arabicPeriod"/>
            </a:pPr>
            <a:r>
              <a:rPr lang="en-KR" dirty="0"/>
              <a:t>Additional Experiments on SD2.1 (All Analysis P</a:t>
            </a:r>
            <a:r>
              <a:rPr lang="en-US" dirty="0"/>
              <a:t>a</a:t>
            </a:r>
            <a:r>
              <a:rPr lang="en-KR" dirty="0"/>
              <a:t>rt)</a:t>
            </a:r>
          </a:p>
          <a:p>
            <a:pPr lvl="1"/>
            <a:r>
              <a:rPr lang="en-US" dirty="0"/>
              <a:t>F</a:t>
            </a:r>
            <a:r>
              <a:rPr lang="en-KR" dirty="0"/>
              <a:t>ine-tuning experiment</a:t>
            </a:r>
          </a:p>
          <a:p>
            <a:pPr lvl="1"/>
            <a:r>
              <a:rPr lang="en-US" dirty="0"/>
              <a:t>F</a:t>
            </a:r>
            <a:r>
              <a:rPr lang="en-KR" dirty="0"/>
              <a:t>ocus score</a:t>
            </a:r>
          </a:p>
          <a:p>
            <a:pPr lvl="1"/>
            <a:r>
              <a:rPr lang="en-KR" dirty="0"/>
              <a:t>Temporal Analysis</a:t>
            </a:r>
          </a:p>
          <a:p>
            <a:pPr lvl="1"/>
            <a:r>
              <a:rPr lang="en-KR" dirty="0"/>
              <a:t>Head Ablation</a:t>
            </a:r>
          </a:p>
          <a:p>
            <a:pPr marL="342900" indent="-342900">
              <a:buFont typeface="+mj-lt"/>
              <a:buAutoNum type="arabicPeriod"/>
            </a:pPr>
            <a:r>
              <a:rPr lang="en-KR" dirty="0"/>
              <a:t>Strengthen the minor argument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intra-category cosine distances – Try more training images</a:t>
            </a:r>
          </a:p>
          <a:p>
            <a:pPr lvl="1"/>
            <a:r>
              <a:rPr lang="en-US" dirty="0"/>
              <a:t>Head ablation - Others </a:t>
            </a:r>
            <a:r>
              <a:rPr lang="ko-KR" altLang="en-US" dirty="0"/>
              <a:t>카테고리에 대한 추가 분석</a:t>
            </a:r>
            <a:endParaRPr lang="en-KR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Dominated Token</a:t>
            </a:r>
            <a:r>
              <a:rPr lang="ko-KR" altLang="en-US" dirty="0" err="1">
                <a:solidFill>
                  <a:srgbClr val="0070C0"/>
                </a:solidFill>
              </a:rPr>
              <a:t>에</a:t>
            </a:r>
            <a:r>
              <a:rPr lang="ko-KR" altLang="en-US" dirty="0">
                <a:solidFill>
                  <a:srgbClr val="0070C0"/>
                </a:solidFill>
              </a:rPr>
              <a:t> 대해서 </a:t>
            </a:r>
            <a:r>
              <a:rPr lang="en-US" dirty="0">
                <a:solidFill>
                  <a:srgbClr val="0070C0"/>
                </a:solidFill>
              </a:rPr>
              <a:t>Layer 7</a:t>
            </a:r>
            <a:r>
              <a:rPr lang="ko-KR" altLang="en-US" dirty="0" err="1">
                <a:solidFill>
                  <a:srgbClr val="0070C0"/>
                </a:solidFill>
              </a:rPr>
              <a:t>를</a:t>
            </a:r>
            <a:r>
              <a:rPr lang="ko-KR" altLang="en-US" dirty="0">
                <a:solidFill>
                  <a:srgbClr val="0070C0"/>
                </a:solidFill>
              </a:rPr>
              <a:t> 추적하는 이유</a:t>
            </a:r>
            <a:endParaRPr lang="en-KR" altLang="ko-KR" dirty="0">
              <a:solidFill>
                <a:srgbClr val="0070C0"/>
              </a:solidFill>
            </a:endParaRPr>
          </a:p>
          <a:p>
            <a:pPr lvl="1"/>
            <a:r>
              <a:rPr lang="en-KR" dirty="0"/>
              <a:t>Ablation Study (epsilon, LPIPS/SSCD threshold)</a:t>
            </a:r>
          </a:p>
        </p:txBody>
      </p:sp>
    </p:spTree>
    <p:extLst>
      <p:ext uri="{BB962C8B-B14F-4D97-AF65-F5344CB8AC3E}">
        <p14:creationId xmlns:p14="http://schemas.microsoft.com/office/powerpoint/2010/main" val="3932026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DCA7-8C15-86E2-08A2-DF5A64592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07EA-808B-786F-AC17-BFEBC617A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CVPR 2026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5AA51-C82A-5C00-F0B2-7D9472B53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en-KR" b="1" dirty="0"/>
              <a:t>More Training Experiments on More Classes/Instances</a:t>
            </a:r>
          </a:p>
          <a:p>
            <a:pPr lvl="1"/>
            <a:r>
              <a:rPr lang="en-US" dirty="0"/>
              <a:t>Experimental Setup. We fine-tune SD 1.4’s </a:t>
            </a:r>
            <a:r>
              <a:rPr lang="en-US" dirty="0" err="1"/>
              <a:t>UNet</a:t>
            </a:r>
            <a:r>
              <a:rPr lang="en-US" dirty="0"/>
              <a:t> using </a:t>
            </a:r>
            <a:r>
              <a:rPr lang="en-US" dirty="0" err="1"/>
              <a:t>DreamBooth</a:t>
            </a:r>
            <a:r>
              <a:rPr lang="en-US" dirty="0"/>
              <a:t> [29] to learn a new concept token </a:t>
            </a:r>
            <a:r>
              <a:rPr lang="en-US" i="1" u="sng" dirty="0"/>
              <a:t>“</a:t>
            </a:r>
            <a:r>
              <a:rPr lang="en-US" i="1" u="sng" dirty="0" err="1"/>
              <a:t>dvddog</a:t>
            </a:r>
            <a:r>
              <a:rPr lang="en-US" i="1" u="sng" dirty="0"/>
              <a:t>” </a:t>
            </a:r>
            <a:r>
              <a:rPr lang="en-US" b="1" i="1" dirty="0"/>
              <a:t> </a:t>
            </a:r>
            <a:r>
              <a:rPr lang="en-US" dirty="0"/>
              <a:t>from 120 ImageNet [30] dog images. </a:t>
            </a:r>
            <a:r>
              <a:rPr lang="en-US" i="1" u="sng" dirty="0"/>
              <a:t>To systematically control visual diversity</a:t>
            </a:r>
            <a:r>
              <a:rPr lang="en-US" dirty="0"/>
              <a:t>, we create six training variants by varying the number of dog breeds: D1,D2,D4,D6,D8,D10, where the subscript indicates the number of breeds. D1 uses all 120 images from a single breed (minimal diversity), while D10 uses 12 images from each of 10 breeds (maximal diversity).</a:t>
            </a:r>
          </a:p>
          <a:p>
            <a:pPr lvl="1"/>
            <a:r>
              <a:rPr lang="en-US" b="1" i="1" dirty="0">
                <a:solidFill>
                  <a:srgbClr val="0070C0"/>
                </a:solidFill>
              </a:rPr>
              <a:t>Measure the similarity btw the training sets of D1,D2,D4,D6,D8, and D10, and construct the training set in a more systematic way. (or not?)</a:t>
            </a:r>
          </a:p>
          <a:p>
            <a:pPr lvl="1"/>
            <a:r>
              <a:rPr lang="en-US" b="1" i="1" dirty="0">
                <a:solidFill>
                  <a:srgbClr val="0070C0"/>
                </a:solidFill>
              </a:rPr>
              <a:t>Train on more instances</a:t>
            </a:r>
            <a:endParaRPr lang="en-KR" dirty="0"/>
          </a:p>
          <a:p>
            <a:pPr marL="457200" lvl="1" indent="0">
              <a:buNone/>
            </a:pPr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249A7D-7320-823B-A9FA-2A4A65120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64" y="4498764"/>
            <a:ext cx="4442545" cy="18564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B050B9-315F-6EF6-A734-3EA4EDD6B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09" y="3041602"/>
            <a:ext cx="4562260" cy="3356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728E6E-3E49-8431-BCC9-6ACC8E691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426" y="4311978"/>
            <a:ext cx="2755824" cy="204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03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2E4334-B0A5-7A9C-EF7A-4B478FBE4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781" y="4305621"/>
            <a:ext cx="1828800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D56B64-96BD-74C0-03FD-6C2D225E0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81" y="4305621"/>
            <a:ext cx="1828800" cy="18288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C4337C3-DFE2-E10F-0C29-EE79E5CD0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6" y="1137958"/>
            <a:ext cx="11416878" cy="5354917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en-KR" b="1" dirty="0"/>
              <a:t>More Training Experiments on More Classes/Instances</a:t>
            </a:r>
          </a:p>
          <a:p>
            <a:pPr lvl="1"/>
            <a:r>
              <a:rPr lang="en-US" dirty="0"/>
              <a:t>Experimental Setup. We fine-tune SD 1.4’s </a:t>
            </a:r>
            <a:r>
              <a:rPr lang="en-US" dirty="0" err="1"/>
              <a:t>UNet</a:t>
            </a:r>
            <a:r>
              <a:rPr lang="en-US" dirty="0"/>
              <a:t> using </a:t>
            </a:r>
            <a:r>
              <a:rPr lang="en-US" dirty="0" err="1"/>
              <a:t>DreamBooth</a:t>
            </a:r>
            <a:r>
              <a:rPr lang="en-US" dirty="0"/>
              <a:t> [29] to learn a new concept token </a:t>
            </a:r>
            <a:r>
              <a:rPr lang="en-US" i="1" u="sng" dirty="0"/>
              <a:t>“</a:t>
            </a:r>
            <a:r>
              <a:rPr lang="en-US" i="1" u="sng" dirty="0" err="1"/>
              <a:t>dvddog</a:t>
            </a:r>
            <a:r>
              <a:rPr lang="en-US" i="1" u="sng" dirty="0"/>
              <a:t>” </a:t>
            </a:r>
            <a:r>
              <a:rPr lang="en-US" b="1" i="1" dirty="0"/>
              <a:t> </a:t>
            </a:r>
            <a:r>
              <a:rPr lang="en-US" dirty="0"/>
              <a:t>from 120 ImageNet [30] dog images. </a:t>
            </a:r>
            <a:r>
              <a:rPr lang="en-US" i="1" u="sng" dirty="0"/>
              <a:t>To systematically control visual diversity</a:t>
            </a:r>
            <a:r>
              <a:rPr lang="en-US" dirty="0"/>
              <a:t>, we create six training variants by varying the number of dog breeds: D1,D2,D4,D6,D8,D10, where the subscript indicates the number of breeds. D1 uses all 120 images from a single breed (minimal diversity), while D10 uses 12 images from each of 10 breeds (maximal diversity).</a:t>
            </a:r>
          </a:p>
          <a:p>
            <a:pPr lvl="1"/>
            <a:r>
              <a:rPr lang="en-US" altLang="ko-KR" b="1" i="1" dirty="0">
                <a:solidFill>
                  <a:srgbClr val="0070C0"/>
                </a:solidFill>
              </a:rPr>
              <a:t>Does</a:t>
            </a:r>
            <a:r>
              <a:rPr lang="en-KR" altLang="ko-KR" b="1" i="1" dirty="0">
                <a:solidFill>
                  <a:srgbClr val="0070C0"/>
                </a:solidFill>
              </a:rPr>
              <a:t> </a:t>
            </a:r>
            <a:r>
              <a:rPr lang="en-KR" b="1" i="1" dirty="0">
                <a:solidFill>
                  <a:srgbClr val="0070C0"/>
                </a:solidFill>
              </a:rPr>
              <a:t>size of the content in training data matters?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04D5E86-A56F-FFDA-1AA0-8D8FDD94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</p:spPr>
        <p:txBody>
          <a:bodyPr/>
          <a:lstStyle/>
          <a:p>
            <a:r>
              <a:rPr lang="en-KR" dirty="0"/>
              <a:t>CVPR 2026 Submission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CB5382-4DF0-3037-433C-C95D61164030}"/>
              </a:ext>
            </a:extLst>
          </p:cNvPr>
          <p:cNvSpPr txBox="1"/>
          <p:nvPr/>
        </p:nvSpPr>
        <p:spPr>
          <a:xfrm>
            <a:off x="5041015" y="3828032"/>
            <a:ext cx="1636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err="1"/>
              <a:t>Sementation</a:t>
            </a:r>
            <a:r>
              <a:rPr lang="en-US" altLang="ko-KR" sz="1200" dirty="0"/>
              <a:t> by SAM3</a:t>
            </a:r>
          </a:p>
          <a:p>
            <a:pPr algn="ctr"/>
            <a:r>
              <a:rPr lang="en-US" altLang="ko-KR" sz="1200" dirty="0"/>
              <a:t>(threshold = 0.4)</a:t>
            </a:r>
            <a:endParaRPr lang="en-KR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B2A193-3FF1-2A7E-C10B-57FB1EAE2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581" y="4305621"/>
            <a:ext cx="1828800" cy="182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122CC3-0C45-986F-9D91-CA9AC54013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381" y="4289697"/>
            <a:ext cx="1828800" cy="182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276D0-B003-48A0-FE27-EEA0DA00BA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6181" y="4289697"/>
            <a:ext cx="1828800" cy="1828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69AA39-95A7-733D-5058-6B28650BA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1048" y="4289697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99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FCC14-3C84-86EF-2C79-32D7BA0B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E84C-AD81-7C72-FC51-93D894202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CVPR 2026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D4BF-4FAA-0612-800B-74285C9FB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6" y="1137958"/>
            <a:ext cx="11416878" cy="3886105"/>
          </a:xfrm>
        </p:spPr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en-KR" b="1" dirty="0"/>
              <a:t>Temporal Analysis</a:t>
            </a:r>
          </a:p>
          <a:p>
            <a:pPr lvl="1"/>
            <a:r>
              <a:rPr lang="en-KR" dirty="0"/>
              <a:t>Compared btw ‘Dominating’ and ‘Others’</a:t>
            </a:r>
          </a:p>
          <a:p>
            <a:pPr lvl="1"/>
            <a:endParaRPr lang="en-KR" dirty="0"/>
          </a:p>
          <a:p>
            <a:pPr lvl="1"/>
            <a:endParaRPr lang="en-KR" dirty="0"/>
          </a:p>
          <a:p>
            <a:pPr lvl="1"/>
            <a:endParaRPr lang="en-KR" dirty="0"/>
          </a:p>
          <a:p>
            <a:pPr lvl="1"/>
            <a:endParaRPr lang="en-KR" dirty="0"/>
          </a:p>
          <a:p>
            <a:pPr lvl="1"/>
            <a:endParaRPr lang="en-KR" dirty="0"/>
          </a:p>
          <a:p>
            <a:pPr lvl="1"/>
            <a:endParaRPr lang="en-KR" dirty="0"/>
          </a:p>
          <a:p>
            <a:pPr lvl="1"/>
            <a:endParaRPr lang="en-KR" dirty="0"/>
          </a:p>
          <a:p>
            <a:pPr lvl="1"/>
            <a:endParaRPr lang="en-KR" dirty="0"/>
          </a:p>
          <a:p>
            <a:pPr lvl="1"/>
            <a:endParaRPr lang="en-KR" dirty="0"/>
          </a:p>
          <a:p>
            <a:pPr lvl="1"/>
            <a:endParaRPr lang="en-KR" dirty="0"/>
          </a:p>
          <a:p>
            <a:pPr lvl="1"/>
            <a:r>
              <a:rPr lang="en-KR" b="1" i="1" dirty="0">
                <a:solidFill>
                  <a:srgbClr val="0070C0"/>
                </a:solidFill>
              </a:rPr>
              <a:t>Should be Compared btw ‘Dominanting’ and ‘Dominated’?</a:t>
            </a:r>
          </a:p>
          <a:p>
            <a:endParaRPr lang="en-KR" dirty="0"/>
          </a:p>
          <a:p>
            <a:pPr marL="457200" lvl="1" indent="0">
              <a:buNone/>
            </a:pPr>
            <a:endParaRPr lang="en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103123-2566-2571-A60D-D3CBB3FF6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58"/>
          <a:stretch>
            <a:fillRect/>
          </a:stretch>
        </p:blipFill>
        <p:spPr>
          <a:xfrm>
            <a:off x="972798" y="2765058"/>
            <a:ext cx="2514910" cy="46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FD0C57-0B82-1F10-D3DB-3855E7B2A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645" y="2350057"/>
            <a:ext cx="2213466" cy="36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A55D2D-4E86-425A-AD0A-673002D79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454" y="1827542"/>
            <a:ext cx="7772400" cy="23900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018EEB-AB97-15A6-A9FF-21EEAEB53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2596" y="4472718"/>
            <a:ext cx="2560320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13F1A9-0EA6-ED97-1138-036843F76E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2002" y="4472718"/>
            <a:ext cx="2560320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43706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1818-BD88-8007-CC7C-4C3DB6BF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0E74-12A1-0DF6-CCD4-C5FC9EC74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CVPR 2026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4FB3-1693-6334-3355-E7DDC7DC6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5"/>
            </a:pPr>
            <a:r>
              <a:rPr lang="en-KR" b="1" dirty="0"/>
              <a:t>Strengthen the minor argument</a:t>
            </a:r>
          </a:p>
          <a:p>
            <a:pPr lvl="1"/>
            <a:r>
              <a:rPr lang="en-US" dirty="0"/>
              <a:t>To quantify visual diversity, we collect LAION training images associated with the top-k most frequent prompts per concept keyword. We first rank all LAION captions (length 20–100 characters) that contain the keyword, keep the </a:t>
            </a:r>
            <a:r>
              <a:rPr lang="en-US" i="1" u="sng" dirty="0"/>
              <a:t>top-k prompts</a:t>
            </a:r>
            <a:r>
              <a:rPr lang="en-US" dirty="0"/>
              <a:t>, and download the training images linked to those prompts via their URLs. We then compute CLIP </a:t>
            </a:r>
            <a:r>
              <a:rPr lang="en-US" dirty="0" err="1"/>
              <a:t>ViT</a:t>
            </a:r>
            <a:r>
              <a:rPr lang="en-US" dirty="0"/>
              <a:t>-L/14 image embeddings and measure intra-category cosine distances to assess visual compactness.</a:t>
            </a:r>
          </a:p>
          <a:p>
            <a:pPr lvl="1"/>
            <a:r>
              <a:rPr lang="en-US" b="1" i="1" dirty="0">
                <a:solidFill>
                  <a:srgbClr val="0070C0"/>
                </a:solidFill>
              </a:rPr>
              <a:t>Try more training images</a:t>
            </a:r>
          </a:p>
          <a:p>
            <a:pPr lvl="1"/>
            <a:endParaRPr lang="en-KR" dirty="0"/>
          </a:p>
          <a:p>
            <a:pPr lvl="1"/>
            <a:endParaRPr lang="en-KR" dirty="0"/>
          </a:p>
          <a:p>
            <a:endParaRPr lang="en-KR" dirty="0"/>
          </a:p>
          <a:p>
            <a:pPr marL="457200" lvl="1" indent="0">
              <a:buNone/>
            </a:pPr>
            <a:endParaRPr lang="en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A2CEA6-D8A1-729E-EF94-4F6CD8B1D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097" y="2516319"/>
            <a:ext cx="4286074" cy="37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17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36D6-1CD9-49C5-1BE3-3F5DB436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C2F17-08E0-FF4A-52E8-AEE3C47D2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CVPR 2026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25EB6-F919-80CA-359B-A74284C0C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6" y="1137959"/>
            <a:ext cx="11416878" cy="2291042"/>
          </a:xfrm>
        </p:spPr>
        <p:txBody>
          <a:bodyPr/>
          <a:lstStyle/>
          <a:p>
            <a:pPr marL="342900" indent="-342900">
              <a:buFont typeface="+mj-lt"/>
              <a:buAutoNum type="arabicPeriod" startAt="5"/>
            </a:pPr>
            <a:r>
              <a:rPr lang="en-KR" b="1" dirty="0"/>
              <a:t>Strengthen the minor argument</a:t>
            </a:r>
          </a:p>
          <a:p>
            <a:pPr lvl="1"/>
            <a:r>
              <a:rPr lang="en-US" dirty="0"/>
              <a:t>To understand the temporal dynamics of both concepts, we track each token at the layer where it exhibits peak attention concentration. For the dominating concept, we examine lower-resolution layers (layers 8–10) where high focus scores were observed (Sec. 4.2.1). For the dominated concept, </a:t>
            </a:r>
            <a:r>
              <a:rPr lang="en-US" i="1" u="sng" dirty="0"/>
              <a:t>we track layer 7, where the dominated token’s attention exhibits the highest focus score </a:t>
            </a:r>
            <a:r>
              <a:rPr lang="en-US" dirty="0"/>
              <a:t>(Fig. 7).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Dominated Token</a:t>
            </a:r>
            <a:r>
              <a:rPr lang="ko-KR" altLang="en-US" dirty="0" err="1">
                <a:solidFill>
                  <a:srgbClr val="0070C0"/>
                </a:solidFill>
              </a:rPr>
              <a:t>에</a:t>
            </a:r>
            <a:r>
              <a:rPr lang="ko-KR" altLang="en-US" dirty="0">
                <a:solidFill>
                  <a:srgbClr val="0070C0"/>
                </a:solidFill>
              </a:rPr>
              <a:t> 대해서 </a:t>
            </a:r>
            <a:r>
              <a:rPr lang="en-US" dirty="0">
                <a:solidFill>
                  <a:srgbClr val="0070C0"/>
                </a:solidFill>
              </a:rPr>
              <a:t>Layer </a:t>
            </a:r>
            <a:r>
              <a:rPr lang="en-US" altLang="ko-KR" dirty="0">
                <a:solidFill>
                  <a:srgbClr val="0070C0"/>
                </a:solidFill>
              </a:rPr>
              <a:t>7</a:t>
            </a:r>
            <a:r>
              <a:rPr lang="ko-KR" altLang="en-US" dirty="0" err="1">
                <a:solidFill>
                  <a:srgbClr val="0070C0"/>
                </a:solidFill>
              </a:rPr>
              <a:t>를</a:t>
            </a:r>
            <a:r>
              <a:rPr lang="ko-KR" altLang="en-US" dirty="0">
                <a:solidFill>
                  <a:srgbClr val="0070C0"/>
                </a:solidFill>
              </a:rPr>
              <a:t> 추적하는 이유를 </a:t>
            </a:r>
            <a:r>
              <a:rPr lang="en-US" altLang="ko-KR" dirty="0">
                <a:solidFill>
                  <a:srgbClr val="0070C0"/>
                </a:solidFill>
              </a:rPr>
              <a:t>Fig.7</a:t>
            </a:r>
            <a:r>
              <a:rPr lang="ko-KR" altLang="en-US" dirty="0">
                <a:solidFill>
                  <a:srgbClr val="0070C0"/>
                </a:solidFill>
              </a:rPr>
              <a:t>을 기반으로 제시했지만</a:t>
            </a:r>
            <a:r>
              <a:rPr lang="en-US" altLang="ko-KR" dirty="0">
                <a:solidFill>
                  <a:srgbClr val="0070C0"/>
                </a:solidFill>
              </a:rPr>
              <a:t>,</a:t>
            </a:r>
            <a:r>
              <a:rPr lang="ko-KR" altLang="en-US" dirty="0">
                <a:solidFill>
                  <a:srgbClr val="0070C0"/>
                </a:solidFill>
              </a:rPr>
              <a:t> 조금 더 구체적 근거가 필요하지 않을지</a:t>
            </a:r>
            <a:endParaRPr lang="en-US" altLang="ko-KR" dirty="0">
              <a:solidFill>
                <a:srgbClr val="0070C0"/>
              </a:solidFill>
            </a:endParaRPr>
          </a:p>
          <a:p>
            <a:pPr lvl="2"/>
            <a:r>
              <a:rPr lang="ko-KR" altLang="en-US" dirty="0">
                <a:solidFill>
                  <a:srgbClr val="0070C0"/>
                </a:solidFill>
              </a:rPr>
              <a:t>문제점</a:t>
            </a:r>
            <a:r>
              <a:rPr lang="en-US" altLang="ko-KR" dirty="0">
                <a:solidFill>
                  <a:srgbClr val="0070C0"/>
                </a:solidFill>
              </a:rPr>
              <a:t>:</a:t>
            </a:r>
            <a:r>
              <a:rPr lang="ko-KR" altLang="en-US" dirty="0">
                <a:solidFill>
                  <a:srgbClr val="0070C0"/>
                </a:solidFill>
              </a:rPr>
              <a:t> 표준편차 </a:t>
            </a:r>
            <a:r>
              <a:rPr lang="en-US" altLang="ko-KR" dirty="0">
                <a:solidFill>
                  <a:srgbClr val="0070C0"/>
                </a:solidFill>
              </a:rPr>
              <a:t>-</a:t>
            </a:r>
            <a:r>
              <a:rPr lang="ko-KR" altLang="en-US" dirty="0">
                <a:solidFill>
                  <a:srgbClr val="0070C0"/>
                </a:solidFill>
              </a:rPr>
              <a:t> 매우 큼</a:t>
            </a:r>
            <a:endParaRPr lang="en-US" altLang="ko-KR" dirty="0">
              <a:solidFill>
                <a:srgbClr val="0070C0"/>
              </a:solidFill>
            </a:endParaRPr>
          </a:p>
          <a:p>
            <a:pPr lvl="2"/>
            <a:r>
              <a:rPr lang="ko-KR" altLang="en-US" dirty="0">
                <a:solidFill>
                  <a:srgbClr val="0070C0"/>
                </a:solidFill>
              </a:rPr>
              <a:t>대안</a:t>
            </a:r>
            <a:r>
              <a:rPr lang="en-US" altLang="ko-KR" dirty="0">
                <a:solidFill>
                  <a:srgbClr val="0070C0"/>
                </a:solidFill>
              </a:rPr>
              <a:t>: </a:t>
            </a:r>
            <a:r>
              <a:rPr lang="en-US" b="1" i="1" dirty="0" err="1">
                <a:solidFill>
                  <a:srgbClr val="0070C0"/>
                </a:solidFill>
              </a:rPr>
              <a:t>DvD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ko-KR" altLang="en-US" b="1" i="1" dirty="0">
                <a:solidFill>
                  <a:srgbClr val="0070C0"/>
                </a:solidFill>
              </a:rPr>
              <a:t>프롬프트의 대다수</a:t>
            </a:r>
            <a:r>
              <a:rPr lang="en-US" altLang="ko-KR" b="1" i="1" dirty="0">
                <a:solidFill>
                  <a:srgbClr val="0070C0"/>
                </a:solidFill>
              </a:rPr>
              <a:t>(ex. 80% </a:t>
            </a:r>
            <a:r>
              <a:rPr lang="ko-KR" altLang="en-US" b="1" i="1" dirty="0">
                <a:solidFill>
                  <a:srgbClr val="0070C0"/>
                </a:solidFill>
              </a:rPr>
              <a:t>이상</a:t>
            </a:r>
            <a:r>
              <a:rPr lang="en-US" altLang="ko-KR" b="1" i="1" dirty="0">
                <a:solidFill>
                  <a:srgbClr val="0070C0"/>
                </a:solidFill>
              </a:rPr>
              <a:t>)</a:t>
            </a:r>
            <a:r>
              <a:rPr lang="ko-KR" altLang="en-US" b="1" i="1" dirty="0">
                <a:solidFill>
                  <a:srgbClr val="0070C0"/>
                </a:solidFill>
              </a:rPr>
              <a:t>에서 </a:t>
            </a:r>
            <a:r>
              <a:rPr lang="en-US" altLang="ko-KR" b="1" i="1" dirty="0">
                <a:solidFill>
                  <a:srgbClr val="0070C0"/>
                </a:solidFill>
              </a:rPr>
              <a:t>Dominated Token</a:t>
            </a:r>
            <a:r>
              <a:rPr lang="ko-KR" altLang="en-US" b="1" i="1" dirty="0">
                <a:solidFill>
                  <a:srgbClr val="0070C0"/>
                </a:solidFill>
              </a:rPr>
              <a:t>이 실제로 </a:t>
            </a:r>
            <a:r>
              <a:rPr lang="en-US" altLang="ko-KR" b="1" i="1" dirty="0">
                <a:solidFill>
                  <a:srgbClr val="0070C0"/>
                </a:solidFill>
              </a:rPr>
              <a:t>layer7</a:t>
            </a:r>
            <a:r>
              <a:rPr lang="ko-KR" altLang="en-US" b="1" i="1" dirty="0">
                <a:solidFill>
                  <a:srgbClr val="0070C0"/>
                </a:solidFill>
              </a:rPr>
              <a:t>에서 </a:t>
            </a:r>
            <a:r>
              <a:rPr lang="en-US" altLang="ko-KR" b="1" i="1" dirty="0">
                <a:solidFill>
                  <a:srgbClr val="0070C0"/>
                </a:solidFill>
              </a:rPr>
              <a:t>peak attention</a:t>
            </a:r>
            <a:r>
              <a:rPr lang="ko-KR" altLang="en-US" b="1" i="1" dirty="0">
                <a:solidFill>
                  <a:srgbClr val="0070C0"/>
                </a:solidFill>
              </a:rPr>
              <a:t>을 보임을 증명</a:t>
            </a:r>
            <a:endParaRPr lang="en-KR" b="1" i="1" dirty="0">
              <a:solidFill>
                <a:srgbClr val="0070C0"/>
              </a:solidFill>
            </a:endParaRPr>
          </a:p>
          <a:p>
            <a:endParaRPr lang="en-KR" dirty="0"/>
          </a:p>
          <a:p>
            <a:pPr marL="457200" lvl="1" indent="0">
              <a:buNone/>
            </a:pPr>
            <a:endParaRPr lang="en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D47D09-F36E-C542-0AA7-3E8FBACCC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20" y="3633514"/>
            <a:ext cx="4161654" cy="19679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A19873-B8C1-9AC8-E776-7FE5E93C7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274" y="3633514"/>
            <a:ext cx="3680637" cy="18403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6ACFCF-EF6E-9182-B4DF-0C0BBCC3E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0445" y="3618010"/>
            <a:ext cx="3786065" cy="18930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890DFC-DFB5-2E71-D10E-69AFEC1E7ED1}"/>
              </a:ext>
            </a:extLst>
          </p:cNvPr>
          <p:cNvSpPr txBox="1"/>
          <p:nvPr/>
        </p:nvSpPr>
        <p:spPr>
          <a:xfrm>
            <a:off x="5571856" y="5601428"/>
            <a:ext cx="4866525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/>
              <a:t>layer7</a:t>
            </a:r>
            <a:r>
              <a:rPr lang="ko-KR" altLang="en-US" sz="1200" dirty="0"/>
              <a:t>에서 </a:t>
            </a:r>
            <a:r>
              <a:rPr lang="en-US" sz="1200" dirty="0" err="1"/>
              <a:t>nm_word</a:t>
            </a:r>
            <a:r>
              <a:rPr lang="en-US" sz="1200" dirty="0"/>
              <a:t> </a:t>
            </a:r>
            <a:r>
              <a:rPr lang="ko-KR" altLang="en-US" sz="1200" dirty="0"/>
              <a:t>토큰이 최대 </a:t>
            </a:r>
            <a:r>
              <a:rPr lang="en-US" sz="1200" dirty="0"/>
              <a:t>attention</a:t>
            </a:r>
            <a:r>
              <a:rPr lang="ko-KR" altLang="en-US" sz="1200" dirty="0"/>
              <a:t>인 </a:t>
            </a:r>
            <a:r>
              <a:rPr lang="en-US" sz="1200" dirty="0"/>
              <a:t>case </a:t>
            </a:r>
            <a:r>
              <a:rPr lang="ko-KR" altLang="en-US" sz="1200" dirty="0"/>
              <a:t>수</a:t>
            </a:r>
            <a:r>
              <a:rPr lang="en-US" sz="1200" dirty="0"/>
              <a:t>: 155</a:t>
            </a:r>
            <a:r>
              <a:rPr lang="en-US" altLang="ko-KR" sz="1200" dirty="0"/>
              <a:t>/300</a:t>
            </a:r>
            <a:endParaRPr lang="en-US" sz="1200" dirty="0"/>
          </a:p>
          <a:p>
            <a:r>
              <a:rPr lang="ko-KR" altLang="en-US" sz="1200" dirty="0"/>
              <a:t>비율</a:t>
            </a:r>
            <a:r>
              <a:rPr lang="en-US" altLang="ko-KR" sz="1200" dirty="0"/>
              <a:t>: 51.67%</a:t>
            </a:r>
          </a:p>
          <a:p>
            <a:r>
              <a:rPr lang="en-US" altLang="ko-KR" sz="1200" dirty="0"/>
              <a:t>------------------------------------------------------------------------------</a:t>
            </a:r>
          </a:p>
          <a:p>
            <a:r>
              <a:rPr lang="en-US" sz="1200" dirty="0"/>
              <a:t>layer5-10 </a:t>
            </a:r>
            <a:r>
              <a:rPr lang="ko-KR" altLang="en-US" sz="1200" dirty="0"/>
              <a:t>범위에서 </a:t>
            </a:r>
            <a:r>
              <a:rPr lang="en-US" sz="1200" dirty="0" err="1"/>
              <a:t>nm_word</a:t>
            </a:r>
            <a:r>
              <a:rPr lang="en-US" sz="1200" dirty="0"/>
              <a:t> </a:t>
            </a:r>
            <a:r>
              <a:rPr lang="ko-KR" altLang="en-US" sz="1200" dirty="0"/>
              <a:t>토큰이 최대 </a:t>
            </a:r>
            <a:r>
              <a:rPr lang="en-US" sz="1200" dirty="0"/>
              <a:t>attention</a:t>
            </a:r>
            <a:r>
              <a:rPr lang="ko-KR" altLang="en-US" sz="1200" dirty="0"/>
              <a:t>인 </a:t>
            </a:r>
            <a:r>
              <a:rPr lang="en-US" sz="1200" dirty="0"/>
              <a:t>case </a:t>
            </a:r>
            <a:r>
              <a:rPr lang="ko-KR" altLang="en-US" sz="1200" dirty="0"/>
              <a:t>수</a:t>
            </a:r>
            <a:r>
              <a:rPr lang="en-US" sz="1200" dirty="0"/>
              <a:t>: 194</a:t>
            </a:r>
            <a:r>
              <a:rPr lang="en-US" altLang="ko-KR" sz="1200" dirty="0"/>
              <a:t>/300</a:t>
            </a:r>
            <a:endParaRPr lang="en-US" sz="1200" dirty="0"/>
          </a:p>
          <a:p>
            <a:r>
              <a:rPr lang="ko-KR" altLang="en-US" sz="1200" dirty="0"/>
              <a:t>비율</a:t>
            </a:r>
            <a:r>
              <a:rPr lang="en-US" altLang="ko-KR" sz="1200" dirty="0"/>
              <a:t>: 64.67%</a:t>
            </a:r>
            <a:endParaRPr lang="en-KR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926369-D22C-2575-D082-6EE41C3F6E8E}"/>
              </a:ext>
            </a:extLst>
          </p:cNvPr>
          <p:cNvSpPr/>
          <p:nvPr/>
        </p:nvSpPr>
        <p:spPr>
          <a:xfrm>
            <a:off x="4402274" y="3429000"/>
            <a:ext cx="7504236" cy="32902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46122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89DDE39-B5DA-1277-4028-3F46D516A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</p:spPr>
        <p:txBody>
          <a:bodyPr/>
          <a:lstStyle/>
          <a:p>
            <a:r>
              <a:rPr lang="en-KR" dirty="0"/>
              <a:t>UMM Unlearning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86489D-F28C-E2A6-2D59-16D82FCD3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6" y="1137958"/>
            <a:ext cx="11416878" cy="5354917"/>
          </a:xfrm>
        </p:spPr>
        <p:txBody>
          <a:bodyPr/>
          <a:lstStyle/>
          <a:p>
            <a:r>
              <a:rPr lang="en-US" dirty="0"/>
              <a:t>Emerging Properties in Unified Multimodal Pretraining </a:t>
            </a:r>
            <a:r>
              <a:rPr lang="en-US" altLang="ko-KR" dirty="0"/>
              <a:t>(ByteDance, May 2025, BAGEL)</a:t>
            </a:r>
            <a:endParaRPr lang="en-K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0C2C8C-E397-D44E-253F-5E07D3C98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59" y="1638972"/>
            <a:ext cx="5513854" cy="22873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E1E18A-BC77-3F8A-BD5C-DA91D22C7B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340"/>
          <a:stretch>
            <a:fillRect/>
          </a:stretch>
        </p:blipFill>
        <p:spPr>
          <a:xfrm>
            <a:off x="6236413" y="4696659"/>
            <a:ext cx="5785670" cy="8815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D10015-8233-F75E-B1CD-343145FA34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362"/>
          <a:stretch>
            <a:fillRect/>
          </a:stretch>
        </p:blipFill>
        <p:spPr>
          <a:xfrm>
            <a:off x="1214352" y="4035632"/>
            <a:ext cx="4859213" cy="236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434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9A654-F7AC-9E36-223F-47727FE5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25570-43E9-674B-6834-02315D61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UMM Unlearning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CE403-1DA4-8180-1893-89F18988A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Unified Multimodal Understanding and Generation Models- Advances, Challenges, and Opportunities</a:t>
            </a:r>
            <a:endParaRPr lang="en-K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2F2147-0F63-9AB1-377C-8A624B796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350" y="1519347"/>
            <a:ext cx="3862876" cy="51096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E62F3F-CC3C-D319-A7C5-37D4592D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250"/>
          <a:stretch>
            <a:fillRect/>
          </a:stretch>
        </p:blipFill>
        <p:spPr>
          <a:xfrm>
            <a:off x="4880226" y="1595953"/>
            <a:ext cx="7049391" cy="10023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296E8D-F9CE-7265-F4A3-54DD60597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277" y="2598338"/>
            <a:ext cx="6225283" cy="40105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0B9437-D585-5517-78C3-05670A915BD1}"/>
              </a:ext>
            </a:extLst>
          </p:cNvPr>
          <p:cNvSpPr txBox="1"/>
          <p:nvPr/>
        </p:nvSpPr>
        <p:spPr>
          <a:xfrm>
            <a:off x="5894713" y="6608857"/>
            <a:ext cx="5020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*</a:t>
            </a:r>
            <a:r>
              <a:rPr lang="en-US" sz="1200" i="1" dirty="0" err="1"/>
              <a:t>EraseAnything</a:t>
            </a:r>
            <a:r>
              <a:rPr lang="en-US" sz="1200" i="1" dirty="0"/>
              <a:t>- Enabling Concept Erasure in Rectified Flow Transformers</a:t>
            </a:r>
            <a:endParaRPr lang="en-KR" sz="1200" i="1" dirty="0"/>
          </a:p>
        </p:txBody>
      </p:sp>
    </p:spTree>
    <p:extLst>
      <p:ext uri="{BB962C8B-B14F-4D97-AF65-F5344CB8AC3E}">
        <p14:creationId xmlns:p14="http://schemas.microsoft.com/office/powerpoint/2010/main" val="1429990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27F7-10CE-ADBF-FEAE-B7150A6CF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UMM Unlearning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C82B6-6BE2-D8C2-D1BC-F6222E440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Generation Unlearning in Diffusion Models</a:t>
            </a:r>
          </a:p>
          <a:p>
            <a:r>
              <a:rPr lang="en-KR" dirty="0"/>
              <a:t>Generation Unlearning in Autoregressive Models</a:t>
            </a:r>
          </a:p>
          <a:p>
            <a:r>
              <a:rPr lang="en-KR" dirty="0"/>
              <a:t>Generation Unlearning in UMM (similar as the rese</a:t>
            </a:r>
            <a:r>
              <a:rPr lang="en-US" dirty="0" err="1"/>
              <a:t>ar</a:t>
            </a:r>
            <a:r>
              <a:rPr lang="en-KR" dirty="0"/>
              <a:t>ch above)</a:t>
            </a:r>
          </a:p>
          <a:p>
            <a:r>
              <a:rPr lang="en-KR" dirty="0"/>
              <a:t>LLM Unlearning </a:t>
            </a:r>
            <a:r>
              <a:rPr lang="en-KR" dirty="0">
                <a:sym typeface="Wingdings" pitchFamily="2" charset="2"/>
              </a:rPr>
              <a:t> how generation changed?</a:t>
            </a:r>
          </a:p>
          <a:p>
            <a:r>
              <a:rPr lang="en-KR" dirty="0">
                <a:sym typeface="Wingdings" pitchFamily="2" charset="2"/>
              </a:rPr>
              <a:t>In the “thinking” mode…</a:t>
            </a:r>
            <a:endParaRPr lang="en-KR" dirty="0"/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50208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2B1D3-7454-3111-4E4C-26C6498A0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*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6EC5F-0FC1-0FB9-D3E7-89F3ED22B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6" y="1137958"/>
            <a:ext cx="5730874" cy="5354917"/>
          </a:xfrm>
        </p:spPr>
        <p:txBody>
          <a:bodyPr>
            <a:normAutofit/>
          </a:bodyPr>
          <a:lstStyle/>
          <a:p>
            <a:r>
              <a:rPr lang="en-KR" dirty="0"/>
              <a:t>Memorization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KR" dirty="0"/>
              <a:t>Previous Works cannot resolve this phenomenon?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KR" dirty="0"/>
              <a:t>More Training Experiments on More Classes/Instances</a:t>
            </a:r>
          </a:p>
          <a:p>
            <a:pPr lvl="2"/>
            <a:r>
              <a:rPr lang="en-KR" dirty="0"/>
              <a:t>‘dvddog’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KR" dirty="0"/>
              <a:t>Temporal Analysis</a:t>
            </a:r>
          </a:p>
          <a:p>
            <a:pPr lvl="2"/>
            <a:r>
              <a:rPr lang="en-KR" dirty="0"/>
              <a:t>Compared btw ‘Dominating’ and ‘Others’</a:t>
            </a:r>
          </a:p>
          <a:p>
            <a:pPr lvl="2"/>
            <a:r>
              <a:rPr lang="en-KR" dirty="0"/>
              <a:t>Should be Compared btw ‘Dominanting’ and ‘Dominated’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KR" dirty="0"/>
              <a:t>Additional Experiments on SD2.1 (All Analysis P</a:t>
            </a:r>
            <a:r>
              <a:rPr lang="en-US" dirty="0"/>
              <a:t>a</a:t>
            </a:r>
            <a:r>
              <a:rPr lang="en-KR" dirty="0"/>
              <a:t>rt)</a:t>
            </a:r>
          </a:p>
          <a:p>
            <a:pPr lvl="2"/>
            <a:r>
              <a:rPr lang="en-US" dirty="0"/>
              <a:t>F</a:t>
            </a:r>
            <a:r>
              <a:rPr lang="en-KR" dirty="0"/>
              <a:t>ine-tuning experiment</a:t>
            </a:r>
          </a:p>
          <a:p>
            <a:pPr lvl="2"/>
            <a:r>
              <a:rPr lang="en-US" dirty="0"/>
              <a:t>F</a:t>
            </a:r>
            <a:r>
              <a:rPr lang="en-KR" dirty="0"/>
              <a:t>ocus score</a:t>
            </a:r>
          </a:p>
          <a:p>
            <a:pPr lvl="2"/>
            <a:r>
              <a:rPr lang="en-KR" dirty="0"/>
              <a:t>Temporal Analysis</a:t>
            </a:r>
          </a:p>
          <a:p>
            <a:pPr lvl="2"/>
            <a:r>
              <a:rPr lang="en-KR" dirty="0"/>
              <a:t>Head Ablation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KR" dirty="0"/>
              <a:t>Strengthen the minor argument</a:t>
            </a:r>
          </a:p>
          <a:p>
            <a:r>
              <a:rPr lang="en-KR" sz="1600" dirty="0"/>
              <a:t>Unlearning</a:t>
            </a:r>
          </a:p>
          <a:p>
            <a:pPr lvl="1"/>
            <a:r>
              <a:rPr lang="en-KR" dirty="0"/>
              <a:t>UMM, Autoregressive Models</a:t>
            </a:r>
          </a:p>
          <a:p>
            <a:pPr lvl="1"/>
            <a:r>
              <a:rPr lang="en-KR" dirty="0"/>
              <a:t>Unlearning Methods in Diffusion</a:t>
            </a:r>
          </a:p>
          <a:p>
            <a:pPr lvl="1"/>
            <a:endParaRPr lang="en-K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111E667-7B9E-0813-4285-8D05BEA3DB60}"/>
              </a:ext>
            </a:extLst>
          </p:cNvPr>
          <p:cNvSpPr txBox="1">
            <a:spLocks/>
          </p:cNvSpPr>
          <p:nvPr/>
        </p:nvSpPr>
        <p:spPr>
          <a:xfrm>
            <a:off x="6073565" y="1137957"/>
            <a:ext cx="5730874" cy="535491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KR" dirty="0"/>
              <a:t>Milestone</a:t>
            </a:r>
          </a:p>
          <a:p>
            <a:pPr lvl="1"/>
            <a:r>
              <a:rPr lang="en-KR" dirty="0"/>
              <a:t>Rebuttal (Jan, 22, 2026) – 7 weeks</a:t>
            </a:r>
          </a:p>
          <a:p>
            <a:pPr lvl="1"/>
            <a:r>
              <a:rPr lang="en-KR" dirty="0"/>
              <a:t>UMM Unlearning</a:t>
            </a:r>
          </a:p>
        </p:txBody>
      </p:sp>
    </p:spTree>
    <p:extLst>
      <p:ext uri="{BB962C8B-B14F-4D97-AF65-F5344CB8AC3E}">
        <p14:creationId xmlns:p14="http://schemas.microsoft.com/office/powerpoint/2010/main" val="1312371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158ECF49-9510-284B-8608-77DD3AF33700}" vid="{D7FC2EE1-7D83-D345-BC33-911F7B4FB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1357</TotalTime>
  <Words>852</Words>
  <Application>Microsoft Macintosh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Pretendard</vt:lpstr>
      <vt:lpstr>Pretendard Medium</vt:lpstr>
      <vt:lpstr>Pretendard SemiBold</vt:lpstr>
      <vt:lpstr>Aptos</vt:lpstr>
      <vt:lpstr>Arial</vt:lpstr>
      <vt:lpstr>Wingdings</vt:lpstr>
      <vt:lpstr>Office Theme</vt:lpstr>
      <vt:lpstr>Weekly Update</vt:lpstr>
      <vt:lpstr>Table of Contents</vt:lpstr>
      <vt:lpstr>CVPR 2026 Submission</vt:lpstr>
      <vt:lpstr>CVPR 2026 Submission</vt:lpstr>
      <vt:lpstr>CVPR 2026 Submission</vt:lpstr>
      <vt:lpstr>CVPR 2026 Submission</vt:lpstr>
      <vt:lpstr>CVPR 2026 Submission</vt:lpstr>
      <vt:lpstr>CVPR 2026 Submission</vt:lpstr>
      <vt:lpstr>UMM Unlearning</vt:lpstr>
      <vt:lpstr>UMM Unlearning</vt:lpstr>
      <vt:lpstr>UMM Unlearning</vt:lpstr>
      <vt:lpstr>*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정하연</dc:creator>
  <cp:lastModifiedBy>정하연</cp:lastModifiedBy>
  <cp:revision>152</cp:revision>
  <dcterms:created xsi:type="dcterms:W3CDTF">2025-07-25T04:06:09Z</dcterms:created>
  <dcterms:modified xsi:type="dcterms:W3CDTF">2025-12-03T01:40:14Z</dcterms:modified>
</cp:coreProperties>
</file>