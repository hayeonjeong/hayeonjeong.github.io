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310" r:id="rId3"/>
    <p:sldId id="311" r:id="rId4"/>
    <p:sldId id="305" r:id="rId5"/>
    <p:sldId id="308" r:id="rId6"/>
    <p:sldId id="313" r:id="rId7"/>
    <p:sldId id="309" r:id="rId8"/>
    <p:sldId id="312" r:id="rId9"/>
  </p:sldIdLst>
  <p:sldSz cx="12192000" cy="6858000"/>
  <p:notesSz cx="6858000" cy="9144000"/>
  <p:defaultTex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C6C3"/>
    <a:srgbClr val="3792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70"/>
    <p:restoredTop sz="94494"/>
  </p:normalViewPr>
  <p:slideViewPr>
    <p:cSldViewPr snapToGrid="0">
      <p:cViewPr varScale="1">
        <p:scale>
          <a:sx n="148" d="100"/>
          <a:sy n="148" d="100"/>
        </p:scale>
        <p:origin x="14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A1999-0D2D-334E-B65B-715E1558EE94}" type="datetimeFigureOut">
              <a:rPr lang="en-KR" smtClean="0"/>
              <a:t>2/24/26</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18AA30-34BB-0C47-9851-CC14E2038A73}" type="slidenum">
              <a:rPr lang="en-KR" smtClean="0"/>
              <a:t>‹#›</a:t>
            </a:fld>
            <a:endParaRPr lang="en-KR"/>
          </a:p>
        </p:txBody>
      </p:sp>
    </p:spTree>
    <p:extLst>
      <p:ext uri="{BB962C8B-B14F-4D97-AF65-F5344CB8AC3E}">
        <p14:creationId xmlns:p14="http://schemas.microsoft.com/office/powerpoint/2010/main" val="995505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FB9D99-0E39-375C-ECD9-E8BEB12F3044}"/>
              </a:ext>
            </a:extLst>
          </p:cNvPr>
          <p:cNvSpPr>
            <a:spLocks noGrp="1"/>
          </p:cNvSpPr>
          <p:nvPr>
            <p:ph type="dt" sz="half" idx="10"/>
          </p:nvPr>
        </p:nvSpPr>
        <p:spPr/>
        <p:txBody>
          <a:bodyPr/>
          <a:lstStyle/>
          <a:p>
            <a:fld id="{615EB2AF-6CDC-754A-BF21-D403DB356990}" type="datetime1">
              <a:rPr lang="en-US" smtClean="0"/>
              <a:t>2/24/26</a:t>
            </a:fld>
            <a:endParaRPr lang="en-KR"/>
          </a:p>
        </p:txBody>
      </p:sp>
      <p:sp>
        <p:nvSpPr>
          <p:cNvPr id="5" name="Footer Placeholder 4">
            <a:extLst>
              <a:ext uri="{FF2B5EF4-FFF2-40B4-BE49-F238E27FC236}">
                <a16:creationId xmlns:a16="http://schemas.microsoft.com/office/drawing/2014/main" id="{44E702B2-45BC-3664-B16F-C0B3EE41A23D}"/>
              </a:ext>
            </a:extLst>
          </p:cNvPr>
          <p:cNvSpPr>
            <a:spLocks noGrp="1"/>
          </p:cNvSpPr>
          <p:nvPr>
            <p:ph type="ftr" sz="quarter" idx="11"/>
          </p:nvPr>
        </p:nvSpPr>
        <p:spPr/>
        <p:txBody>
          <a:bodyPr/>
          <a:lstStyle/>
          <a:p>
            <a:endParaRPr lang="en-KR"/>
          </a:p>
        </p:txBody>
      </p:sp>
      <p:pic>
        <p:nvPicPr>
          <p:cNvPr id="7" name="Graphic 6">
            <a:extLst>
              <a:ext uri="{FF2B5EF4-FFF2-40B4-BE49-F238E27FC236}">
                <a16:creationId xmlns:a16="http://schemas.microsoft.com/office/drawing/2014/main" id="{06CCC7B9-62B8-31DD-0229-DD887C0135F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0072" y="6522511"/>
            <a:ext cx="1100695" cy="242207"/>
          </a:xfrm>
          <a:prstGeom prst="rect">
            <a:avLst/>
          </a:prstGeom>
        </p:spPr>
      </p:pic>
      <p:sp>
        <p:nvSpPr>
          <p:cNvPr id="8" name="Title 1">
            <a:extLst>
              <a:ext uri="{FF2B5EF4-FFF2-40B4-BE49-F238E27FC236}">
                <a16:creationId xmlns:a16="http://schemas.microsoft.com/office/drawing/2014/main" id="{9CC0C649-1748-F3E0-5235-F50DCBC93A29}"/>
              </a:ext>
            </a:extLst>
          </p:cNvPr>
          <p:cNvSpPr>
            <a:spLocks noGrp="1"/>
          </p:cNvSpPr>
          <p:nvPr>
            <p:ph type="ctrTitle" hasCustomPrompt="1"/>
          </p:nvPr>
        </p:nvSpPr>
        <p:spPr>
          <a:xfrm>
            <a:off x="1524000" y="1340848"/>
            <a:ext cx="9144000" cy="2387600"/>
          </a:xfrm>
          <a:prstGeom prst="rect">
            <a:avLst/>
          </a:prstGeom>
        </p:spPr>
        <p:txBody>
          <a:bodyPr anchor="b"/>
          <a:lstStyle>
            <a:lvl1pPr marL="0" indent="0" algn="ctr">
              <a:buFont typeface="Arial" panose="020B0604020202020204" pitchFamily="34" charset="0"/>
              <a:buNone/>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KR" sz="4800" dirty="0"/>
              <a:t>Title</a:t>
            </a:r>
            <a:endParaRPr lang="en-KR" dirty="0"/>
          </a:p>
        </p:txBody>
      </p:sp>
      <p:sp>
        <p:nvSpPr>
          <p:cNvPr id="9" name="Subtitle 2">
            <a:extLst>
              <a:ext uri="{FF2B5EF4-FFF2-40B4-BE49-F238E27FC236}">
                <a16:creationId xmlns:a16="http://schemas.microsoft.com/office/drawing/2014/main" id="{478C4E3D-CBDE-2C38-6A80-96C3A43688E1}"/>
              </a:ext>
            </a:extLst>
          </p:cNvPr>
          <p:cNvSpPr>
            <a:spLocks noGrp="1"/>
          </p:cNvSpPr>
          <p:nvPr>
            <p:ph type="subTitle" idx="1" hasCustomPrompt="1"/>
          </p:nvPr>
        </p:nvSpPr>
        <p:spPr>
          <a:xfrm>
            <a:off x="1524000" y="3728448"/>
            <a:ext cx="9144000" cy="1568773"/>
          </a:xfrm>
          <a:prstGeom prst="rect">
            <a:avLst/>
          </a:prstGeom>
        </p:spPr>
        <p:txBody>
          <a:bodyPr anchor="ctr">
            <a:noAutofit/>
          </a:bodyPr>
          <a:lstStyle>
            <a:lvl1pPr marL="0" indent="0" algn="ctr">
              <a:buNone/>
              <a:defRPr sz="1400" b="0" i="0">
                <a:latin typeface="Pretendard" panose="02000503000000020004" pitchFamily="2" charset="-127"/>
                <a:ea typeface="Pretendard" panose="02000503000000020004" pitchFamily="2" charset="-127"/>
                <a:cs typeface="Pretendard" panose="02000503000000020004" pitchFamily="2" charset="-127"/>
              </a:defRPr>
            </a:lvl1pPr>
          </a:lstStyle>
          <a:p>
            <a:r>
              <a:rPr lang="en-KR" dirty="0"/>
              <a:t>Subtitle</a:t>
            </a:r>
          </a:p>
          <a:p>
            <a:endParaRPr lang="en-KR" dirty="0"/>
          </a:p>
          <a:p>
            <a:r>
              <a:rPr lang="en-KR" dirty="0"/>
              <a:t>2025.XX.XX</a:t>
            </a:r>
          </a:p>
          <a:p>
            <a:r>
              <a:rPr lang="en-KR" dirty="0"/>
              <a:t>Hayeon Jeong</a:t>
            </a:r>
          </a:p>
        </p:txBody>
      </p:sp>
    </p:spTree>
    <p:extLst>
      <p:ext uri="{BB962C8B-B14F-4D97-AF65-F5344CB8AC3E}">
        <p14:creationId xmlns:p14="http://schemas.microsoft.com/office/powerpoint/2010/main" val="3041020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8CF7FA-047A-76DC-F53A-607DB621F97A}"/>
              </a:ext>
            </a:extLst>
          </p:cNvPr>
          <p:cNvSpPr>
            <a:spLocks noGrp="1"/>
          </p:cNvSpPr>
          <p:nvPr>
            <p:ph type="dt" sz="half" idx="10"/>
          </p:nvPr>
        </p:nvSpPr>
        <p:spPr/>
        <p:txBody>
          <a:bodyPr/>
          <a:lstStyle/>
          <a:p>
            <a:fld id="{06BC0F43-BAD3-5D4B-842C-1BECF5783CC1}" type="datetime1">
              <a:rPr lang="en-US" smtClean="0"/>
              <a:t>2/24/26</a:t>
            </a:fld>
            <a:endParaRPr lang="en-KR"/>
          </a:p>
        </p:txBody>
      </p:sp>
      <p:sp>
        <p:nvSpPr>
          <p:cNvPr id="5" name="Footer Placeholder 4">
            <a:extLst>
              <a:ext uri="{FF2B5EF4-FFF2-40B4-BE49-F238E27FC236}">
                <a16:creationId xmlns:a16="http://schemas.microsoft.com/office/drawing/2014/main" id="{43525B7E-5821-3FBF-9C90-D608FD483886}"/>
              </a:ext>
            </a:extLst>
          </p:cNvPr>
          <p:cNvSpPr>
            <a:spLocks noGrp="1"/>
          </p:cNvSpPr>
          <p:nvPr>
            <p:ph type="ftr" sz="quarter" idx="11"/>
          </p:nvPr>
        </p:nvSpPr>
        <p:spPr/>
        <p:txBody>
          <a:bodyPr/>
          <a:lstStyle/>
          <a:p>
            <a:endParaRPr lang="en-KR"/>
          </a:p>
        </p:txBody>
      </p:sp>
      <p:sp>
        <p:nvSpPr>
          <p:cNvPr id="7" name="Title 1">
            <a:extLst>
              <a:ext uri="{FF2B5EF4-FFF2-40B4-BE49-F238E27FC236}">
                <a16:creationId xmlns:a16="http://schemas.microsoft.com/office/drawing/2014/main" id="{57AE1898-3AA5-9E6C-895D-AE7A7A5E10D5}"/>
              </a:ext>
            </a:extLst>
          </p:cNvPr>
          <p:cNvSpPr>
            <a:spLocks noGrp="1"/>
          </p:cNvSpPr>
          <p:nvPr>
            <p:ph type="title" hasCustomPrompt="1"/>
          </p:nvPr>
        </p:nvSpPr>
        <p:spPr>
          <a:xfrm>
            <a:off x="365126" y="365125"/>
            <a:ext cx="11416878" cy="656851"/>
          </a:xfrm>
          <a:prstGeom prst="rect">
            <a:avLst/>
          </a:prstGeom>
        </p:spPr>
        <p:txBody>
          <a:bodyPr>
            <a:normAutofit/>
          </a:bodyPr>
          <a:lstStyle>
            <a:lvl1pPr>
              <a:defRPr sz="2400" b="1" i="0">
                <a:latin typeface="Pretendard SemiBold" panose="02000503000000020004" pitchFamily="2" charset="-127"/>
                <a:ea typeface="Pretendard SemiBold" panose="02000503000000020004" pitchFamily="2" charset="-127"/>
                <a:cs typeface="Pretendard SemiBold" panose="02000503000000020004" pitchFamily="2" charset="-127"/>
              </a:defRPr>
            </a:lvl1pPr>
          </a:lstStyle>
          <a:p>
            <a:r>
              <a:rPr lang="en-US" sz="2800" b="1" dirty="0">
                <a:latin typeface="Pretendard" panose="02000503000000020004" pitchFamily="2" charset="-127"/>
                <a:ea typeface="Pretendard" panose="02000503000000020004" pitchFamily="2" charset="-127"/>
                <a:cs typeface="Pretendard" panose="02000503000000020004" pitchFamily="2" charset="-127"/>
              </a:rPr>
              <a:t>TITLE HERE</a:t>
            </a:r>
            <a:endParaRPr lang="en-KR" sz="2800" b="1"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8" name="Content Placeholder 2">
            <a:extLst>
              <a:ext uri="{FF2B5EF4-FFF2-40B4-BE49-F238E27FC236}">
                <a16:creationId xmlns:a16="http://schemas.microsoft.com/office/drawing/2014/main" id="{33AC890D-0675-EFBB-C750-C787E03D1F7B}"/>
              </a:ext>
            </a:extLst>
          </p:cNvPr>
          <p:cNvSpPr>
            <a:spLocks noGrp="1"/>
          </p:cNvSpPr>
          <p:nvPr>
            <p:ph idx="1" hasCustomPrompt="1"/>
          </p:nvPr>
        </p:nvSpPr>
        <p:spPr>
          <a:xfrm>
            <a:off x="365126" y="1137958"/>
            <a:ext cx="11416878" cy="5354917"/>
          </a:xfrm>
          <a:prstGeom prst="rect">
            <a:avLst/>
          </a:prstGeom>
        </p:spPr>
        <p:txBody>
          <a:bodyPr>
            <a:normAutofit/>
          </a:bodyPr>
          <a:lstStyle>
            <a:lvl1pPr>
              <a:lnSpc>
                <a:spcPct val="100000"/>
              </a:lnSpc>
              <a:defRPr sz="1600" b="0" i="0">
                <a:latin typeface="Pretendard" panose="02000503000000020004" pitchFamily="2" charset="-127"/>
                <a:ea typeface="Pretendard" panose="02000503000000020004" pitchFamily="2" charset="-127"/>
                <a:cs typeface="Pretendard" panose="02000503000000020004" pitchFamily="2" charset="-127"/>
              </a:defRPr>
            </a:lvl1pPr>
            <a:lvl2pPr>
              <a:lnSpc>
                <a:spcPct val="100000"/>
              </a:lnSpc>
              <a:defRPr sz="1400" b="0" i="0">
                <a:latin typeface="Pretendard" panose="02000503000000020004" pitchFamily="2" charset="-127"/>
                <a:ea typeface="Pretendard" panose="02000503000000020004" pitchFamily="2" charset="-127"/>
                <a:cs typeface="Pretendard" panose="02000503000000020004" pitchFamily="2" charset="-127"/>
              </a:defRPr>
            </a:lvl2pPr>
            <a:lvl3pPr>
              <a:lnSpc>
                <a:spcPct val="100000"/>
              </a:lnSpc>
              <a:defRPr sz="1200" b="0" i="0">
                <a:latin typeface="Pretendard" panose="02000503000000020004" pitchFamily="2" charset="-127"/>
                <a:ea typeface="Pretendard" panose="02000503000000020004" pitchFamily="2" charset="-127"/>
                <a:cs typeface="Pretendard" panose="02000503000000020004" pitchFamily="2" charset="-127"/>
              </a:defRPr>
            </a:lvl3pPr>
            <a:lvl4pPr>
              <a:lnSpc>
                <a:spcPct val="100000"/>
              </a:lnSpc>
              <a:defRPr sz="1100" b="0" i="0">
                <a:latin typeface="Pretendard" panose="02000503000000020004" pitchFamily="2" charset="-127"/>
                <a:ea typeface="Pretendard" panose="02000503000000020004" pitchFamily="2" charset="-127"/>
                <a:cs typeface="Pretendard" panose="02000503000000020004" pitchFamily="2" charset="-127"/>
              </a:defRPr>
            </a:lvl4pPr>
            <a:lvl5pPr>
              <a:lnSpc>
                <a:spcPct val="100000"/>
              </a:lnSpc>
              <a:defRPr sz="1100"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sz="1800" dirty="0">
                <a:latin typeface="Pretendard" panose="02000503000000020004" pitchFamily="2" charset="-127"/>
                <a:ea typeface="Pretendard" panose="02000503000000020004" pitchFamily="2" charset="-127"/>
                <a:cs typeface="Pretendard" panose="02000503000000020004" pitchFamily="2" charset="-127"/>
              </a:rPr>
              <a:t>First level</a:t>
            </a:r>
          </a:p>
          <a:p>
            <a:pPr lvl="1"/>
            <a:r>
              <a:rPr lang="en-US" sz="1600" dirty="0">
                <a:latin typeface="Pretendard" panose="02000503000000020004" pitchFamily="2" charset="-127"/>
                <a:ea typeface="Pretendard" panose="02000503000000020004" pitchFamily="2" charset="-127"/>
                <a:cs typeface="Pretendard" panose="02000503000000020004" pitchFamily="2" charset="-127"/>
              </a:rPr>
              <a:t>Second level</a:t>
            </a:r>
          </a:p>
          <a:p>
            <a:pPr lvl="2"/>
            <a:r>
              <a:rPr lang="en-US" sz="1400" dirty="0">
                <a:latin typeface="Pretendard" panose="02000503000000020004" pitchFamily="2" charset="-127"/>
                <a:ea typeface="Pretendard" panose="02000503000000020004" pitchFamily="2" charset="-127"/>
                <a:cs typeface="Pretendard" panose="02000503000000020004" pitchFamily="2" charset="-127"/>
              </a:rPr>
              <a:t>Third level</a:t>
            </a:r>
          </a:p>
          <a:p>
            <a:pPr lvl="3"/>
            <a:r>
              <a:rPr lang="en-US" sz="1200" dirty="0">
                <a:latin typeface="Pretendard" panose="02000503000000020004" pitchFamily="2" charset="-127"/>
                <a:ea typeface="Pretendard" panose="02000503000000020004" pitchFamily="2" charset="-127"/>
                <a:cs typeface="Pretendard" panose="02000503000000020004" pitchFamily="2" charset="-127"/>
              </a:rPr>
              <a:t>Fourth level</a:t>
            </a:r>
          </a:p>
          <a:p>
            <a:pPr lvl="4"/>
            <a:r>
              <a:rPr lang="en-US" sz="1200" dirty="0">
                <a:latin typeface="Pretendard" panose="02000503000000020004" pitchFamily="2" charset="-127"/>
                <a:ea typeface="Pretendard" panose="02000503000000020004" pitchFamily="2" charset="-127"/>
                <a:cs typeface="Pretendard" panose="02000503000000020004" pitchFamily="2" charset="-127"/>
              </a:rPr>
              <a:t>Fifth level</a:t>
            </a:r>
            <a:endParaRPr lang="en-KR" sz="1200" dirty="0">
              <a:latin typeface="Pretendard" panose="02000503000000020004" pitchFamily="2" charset="-127"/>
              <a:ea typeface="Pretendard" panose="02000503000000020004" pitchFamily="2" charset="-127"/>
              <a:cs typeface="Pretendard" panose="02000503000000020004" pitchFamily="2" charset="-127"/>
            </a:endParaRPr>
          </a:p>
        </p:txBody>
      </p:sp>
    </p:spTree>
    <p:extLst>
      <p:ext uri="{BB962C8B-B14F-4D97-AF65-F5344CB8AC3E}">
        <p14:creationId xmlns:p14="http://schemas.microsoft.com/office/powerpoint/2010/main" val="323785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C4C1A-47A3-8FCD-C17B-E8AF0ACFD81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KR"/>
          </a:p>
        </p:txBody>
      </p:sp>
      <p:sp>
        <p:nvSpPr>
          <p:cNvPr id="3" name="Text Placeholder 2">
            <a:extLst>
              <a:ext uri="{FF2B5EF4-FFF2-40B4-BE49-F238E27FC236}">
                <a16:creationId xmlns:a16="http://schemas.microsoft.com/office/drawing/2014/main" id="{55D06B84-CF83-1768-F770-9FA317B27470}"/>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DDBD9-8556-9FE5-B37E-326DFB751BA6}"/>
              </a:ext>
            </a:extLst>
          </p:cNvPr>
          <p:cNvSpPr>
            <a:spLocks noGrp="1"/>
          </p:cNvSpPr>
          <p:nvPr>
            <p:ph type="dt" sz="half" idx="10"/>
          </p:nvPr>
        </p:nvSpPr>
        <p:spPr/>
        <p:txBody>
          <a:bodyPr/>
          <a:lstStyle/>
          <a:p>
            <a:fld id="{7FF65020-5E6C-944D-954D-F6513999B2B9}" type="datetime1">
              <a:rPr lang="en-US" smtClean="0"/>
              <a:t>2/24/26</a:t>
            </a:fld>
            <a:endParaRPr lang="en-KR"/>
          </a:p>
        </p:txBody>
      </p:sp>
      <p:sp>
        <p:nvSpPr>
          <p:cNvPr id="5" name="Footer Placeholder 4">
            <a:extLst>
              <a:ext uri="{FF2B5EF4-FFF2-40B4-BE49-F238E27FC236}">
                <a16:creationId xmlns:a16="http://schemas.microsoft.com/office/drawing/2014/main" id="{E13A80EC-89C7-61E5-4253-9CEC3EBC8661}"/>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C3C206E-DB2D-383A-E617-3091FE96007F}"/>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4099146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12B1-914A-A85B-9656-EED84B57B82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KR"/>
          </a:p>
        </p:txBody>
      </p:sp>
      <p:sp>
        <p:nvSpPr>
          <p:cNvPr id="3" name="Content Placeholder 2">
            <a:extLst>
              <a:ext uri="{FF2B5EF4-FFF2-40B4-BE49-F238E27FC236}">
                <a16:creationId xmlns:a16="http://schemas.microsoft.com/office/drawing/2014/main" id="{1804766D-9F19-7222-0134-B4027F45889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Content Placeholder 3">
            <a:extLst>
              <a:ext uri="{FF2B5EF4-FFF2-40B4-BE49-F238E27FC236}">
                <a16:creationId xmlns:a16="http://schemas.microsoft.com/office/drawing/2014/main" id="{9A49AC8F-15F8-233F-E3BD-B13B29E019FE}"/>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Date Placeholder 4">
            <a:extLst>
              <a:ext uri="{FF2B5EF4-FFF2-40B4-BE49-F238E27FC236}">
                <a16:creationId xmlns:a16="http://schemas.microsoft.com/office/drawing/2014/main" id="{705FBA0E-4D9B-5669-1A40-025EAF60848A}"/>
              </a:ext>
            </a:extLst>
          </p:cNvPr>
          <p:cNvSpPr>
            <a:spLocks noGrp="1"/>
          </p:cNvSpPr>
          <p:nvPr>
            <p:ph type="dt" sz="half" idx="10"/>
          </p:nvPr>
        </p:nvSpPr>
        <p:spPr/>
        <p:txBody>
          <a:bodyPr/>
          <a:lstStyle/>
          <a:p>
            <a:fld id="{373E84A6-EFC5-6A45-8FBB-8A86ED1092A9}" type="datetime1">
              <a:rPr lang="en-US" smtClean="0"/>
              <a:t>2/24/26</a:t>
            </a:fld>
            <a:endParaRPr lang="en-KR"/>
          </a:p>
        </p:txBody>
      </p:sp>
      <p:sp>
        <p:nvSpPr>
          <p:cNvPr id="6" name="Footer Placeholder 5">
            <a:extLst>
              <a:ext uri="{FF2B5EF4-FFF2-40B4-BE49-F238E27FC236}">
                <a16:creationId xmlns:a16="http://schemas.microsoft.com/office/drawing/2014/main" id="{E9FFC0FD-58FC-157A-9180-051DFAF8E4B8}"/>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F5AF6963-6C2A-C55A-CF1E-B938E2B36B17}"/>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359025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0DB35-4B06-C984-E6E9-6571DE799DA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KR"/>
          </a:p>
        </p:txBody>
      </p:sp>
      <p:sp>
        <p:nvSpPr>
          <p:cNvPr id="3" name="Text Placeholder 2">
            <a:extLst>
              <a:ext uri="{FF2B5EF4-FFF2-40B4-BE49-F238E27FC236}">
                <a16:creationId xmlns:a16="http://schemas.microsoft.com/office/drawing/2014/main" id="{65E2A03E-07D5-B7A7-F884-24381BF8E1C0}"/>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2BA994-F460-612A-0B6F-B0A0EB041F39}"/>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5" name="Text Placeholder 4">
            <a:extLst>
              <a:ext uri="{FF2B5EF4-FFF2-40B4-BE49-F238E27FC236}">
                <a16:creationId xmlns:a16="http://schemas.microsoft.com/office/drawing/2014/main" id="{A9C733F7-78B9-904C-9642-3458037A17B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A6DCBC-7069-5BD8-46DB-C7BFDDEB4ECC}"/>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7" name="Date Placeholder 6">
            <a:extLst>
              <a:ext uri="{FF2B5EF4-FFF2-40B4-BE49-F238E27FC236}">
                <a16:creationId xmlns:a16="http://schemas.microsoft.com/office/drawing/2014/main" id="{FC29A386-0F81-8914-A12C-6597AB2E19B6}"/>
              </a:ext>
            </a:extLst>
          </p:cNvPr>
          <p:cNvSpPr>
            <a:spLocks noGrp="1"/>
          </p:cNvSpPr>
          <p:nvPr>
            <p:ph type="dt" sz="half" idx="10"/>
          </p:nvPr>
        </p:nvSpPr>
        <p:spPr/>
        <p:txBody>
          <a:bodyPr/>
          <a:lstStyle/>
          <a:p>
            <a:fld id="{EF0B3992-39AF-5043-AD44-4F8B2806E4F7}" type="datetime1">
              <a:rPr lang="en-US" smtClean="0"/>
              <a:t>2/24/26</a:t>
            </a:fld>
            <a:endParaRPr lang="en-KR"/>
          </a:p>
        </p:txBody>
      </p:sp>
      <p:sp>
        <p:nvSpPr>
          <p:cNvPr id="8" name="Footer Placeholder 7">
            <a:extLst>
              <a:ext uri="{FF2B5EF4-FFF2-40B4-BE49-F238E27FC236}">
                <a16:creationId xmlns:a16="http://schemas.microsoft.com/office/drawing/2014/main" id="{22AF0178-97F1-0E9D-871E-D44CC8A37534}"/>
              </a:ext>
            </a:extLst>
          </p:cNvPr>
          <p:cNvSpPr>
            <a:spLocks noGrp="1"/>
          </p:cNvSpPr>
          <p:nvPr>
            <p:ph type="ftr" sz="quarter" idx="11"/>
          </p:nvPr>
        </p:nvSpPr>
        <p:spPr/>
        <p:txBody>
          <a:bodyPr/>
          <a:lstStyle/>
          <a:p>
            <a:endParaRPr lang="en-KR"/>
          </a:p>
        </p:txBody>
      </p:sp>
      <p:sp>
        <p:nvSpPr>
          <p:cNvPr id="9" name="Slide Number Placeholder 8">
            <a:extLst>
              <a:ext uri="{FF2B5EF4-FFF2-40B4-BE49-F238E27FC236}">
                <a16:creationId xmlns:a16="http://schemas.microsoft.com/office/drawing/2014/main" id="{A7B72DD4-2D02-1CE4-91A9-5691335D83C7}"/>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885730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EE20-AEF8-99D5-79CA-EC438D94131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KR"/>
          </a:p>
        </p:txBody>
      </p:sp>
      <p:sp>
        <p:nvSpPr>
          <p:cNvPr id="3" name="Date Placeholder 2">
            <a:extLst>
              <a:ext uri="{FF2B5EF4-FFF2-40B4-BE49-F238E27FC236}">
                <a16:creationId xmlns:a16="http://schemas.microsoft.com/office/drawing/2014/main" id="{ABBD7C7D-4C4C-5FC3-6C82-38A2D67248ED}"/>
              </a:ext>
            </a:extLst>
          </p:cNvPr>
          <p:cNvSpPr>
            <a:spLocks noGrp="1"/>
          </p:cNvSpPr>
          <p:nvPr>
            <p:ph type="dt" sz="half" idx="10"/>
          </p:nvPr>
        </p:nvSpPr>
        <p:spPr/>
        <p:txBody>
          <a:bodyPr/>
          <a:lstStyle/>
          <a:p>
            <a:fld id="{F0AA487C-F38D-EB4A-BAF1-3FA8DF0EA4DE}" type="datetime1">
              <a:rPr lang="en-US" smtClean="0"/>
              <a:t>2/24/26</a:t>
            </a:fld>
            <a:endParaRPr lang="en-KR"/>
          </a:p>
        </p:txBody>
      </p:sp>
      <p:sp>
        <p:nvSpPr>
          <p:cNvPr id="4" name="Footer Placeholder 3">
            <a:extLst>
              <a:ext uri="{FF2B5EF4-FFF2-40B4-BE49-F238E27FC236}">
                <a16:creationId xmlns:a16="http://schemas.microsoft.com/office/drawing/2014/main" id="{3F572D74-F34B-1C70-5400-CE4D88C4CFA8}"/>
              </a:ext>
            </a:extLst>
          </p:cNvPr>
          <p:cNvSpPr>
            <a:spLocks noGrp="1"/>
          </p:cNvSpPr>
          <p:nvPr>
            <p:ph type="ftr" sz="quarter" idx="11"/>
          </p:nvPr>
        </p:nvSpPr>
        <p:spPr/>
        <p:txBody>
          <a:bodyPr/>
          <a:lstStyle/>
          <a:p>
            <a:endParaRPr lang="en-KR"/>
          </a:p>
        </p:txBody>
      </p:sp>
      <p:sp>
        <p:nvSpPr>
          <p:cNvPr id="5" name="Slide Number Placeholder 4">
            <a:extLst>
              <a:ext uri="{FF2B5EF4-FFF2-40B4-BE49-F238E27FC236}">
                <a16:creationId xmlns:a16="http://schemas.microsoft.com/office/drawing/2014/main" id="{DFB35DD3-871B-9B15-1A69-DF4F89CD1F17}"/>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810565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6DA536-F8D8-E1A0-0A07-D6F8F756A429}"/>
              </a:ext>
            </a:extLst>
          </p:cNvPr>
          <p:cNvSpPr>
            <a:spLocks noGrp="1"/>
          </p:cNvSpPr>
          <p:nvPr>
            <p:ph type="dt" sz="half" idx="10"/>
          </p:nvPr>
        </p:nvSpPr>
        <p:spPr/>
        <p:txBody>
          <a:bodyPr/>
          <a:lstStyle/>
          <a:p>
            <a:fld id="{1D5010FE-8F71-CD45-B42C-796254A68CC4}" type="datetime1">
              <a:rPr lang="en-US" smtClean="0"/>
              <a:t>2/24/26</a:t>
            </a:fld>
            <a:endParaRPr lang="en-KR"/>
          </a:p>
        </p:txBody>
      </p:sp>
      <p:sp>
        <p:nvSpPr>
          <p:cNvPr id="3" name="Footer Placeholder 2">
            <a:extLst>
              <a:ext uri="{FF2B5EF4-FFF2-40B4-BE49-F238E27FC236}">
                <a16:creationId xmlns:a16="http://schemas.microsoft.com/office/drawing/2014/main" id="{CED05598-D70E-7061-D1A4-71066E4B959A}"/>
              </a:ext>
            </a:extLst>
          </p:cNvPr>
          <p:cNvSpPr>
            <a:spLocks noGrp="1"/>
          </p:cNvSpPr>
          <p:nvPr>
            <p:ph type="ftr" sz="quarter" idx="11"/>
          </p:nvPr>
        </p:nvSpPr>
        <p:spPr/>
        <p:txBody>
          <a:bodyPr/>
          <a:lstStyle/>
          <a:p>
            <a:endParaRPr lang="en-KR"/>
          </a:p>
        </p:txBody>
      </p:sp>
      <p:sp>
        <p:nvSpPr>
          <p:cNvPr id="4" name="Slide Number Placeholder 3">
            <a:extLst>
              <a:ext uri="{FF2B5EF4-FFF2-40B4-BE49-F238E27FC236}">
                <a16:creationId xmlns:a16="http://schemas.microsoft.com/office/drawing/2014/main" id="{E7C16DE1-2B0C-747F-D616-2E1392364351}"/>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764147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AA48-AC31-E217-26B4-54FEF3C6A4B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KR"/>
          </a:p>
        </p:txBody>
      </p:sp>
      <p:sp>
        <p:nvSpPr>
          <p:cNvPr id="3" name="Content Placeholder 2">
            <a:extLst>
              <a:ext uri="{FF2B5EF4-FFF2-40B4-BE49-F238E27FC236}">
                <a16:creationId xmlns:a16="http://schemas.microsoft.com/office/drawing/2014/main" id="{2E1D5F99-968F-CA1D-9EF4-69C689EC7F7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Text Placeholder 3">
            <a:extLst>
              <a:ext uri="{FF2B5EF4-FFF2-40B4-BE49-F238E27FC236}">
                <a16:creationId xmlns:a16="http://schemas.microsoft.com/office/drawing/2014/main" id="{C4F8E2D5-46B5-C951-B600-B0A6F1C65C9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69B3FD-14F9-C37C-27AE-A6FEA1CC1236}"/>
              </a:ext>
            </a:extLst>
          </p:cNvPr>
          <p:cNvSpPr>
            <a:spLocks noGrp="1"/>
          </p:cNvSpPr>
          <p:nvPr>
            <p:ph type="dt" sz="half" idx="10"/>
          </p:nvPr>
        </p:nvSpPr>
        <p:spPr/>
        <p:txBody>
          <a:bodyPr/>
          <a:lstStyle/>
          <a:p>
            <a:fld id="{4A62F998-C5FC-F44C-ACA6-43C0BD0BBBF8}" type="datetime1">
              <a:rPr lang="en-US" smtClean="0"/>
              <a:t>2/24/26</a:t>
            </a:fld>
            <a:endParaRPr lang="en-KR"/>
          </a:p>
        </p:txBody>
      </p:sp>
      <p:sp>
        <p:nvSpPr>
          <p:cNvPr id="6" name="Footer Placeholder 5">
            <a:extLst>
              <a:ext uri="{FF2B5EF4-FFF2-40B4-BE49-F238E27FC236}">
                <a16:creationId xmlns:a16="http://schemas.microsoft.com/office/drawing/2014/main" id="{3C4EE16C-9D2A-FD18-5F30-C0F0D9B21FBA}"/>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BA74FC3E-58AE-89CD-BA74-3985BDB54E0F}"/>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967752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49053-6310-F6B5-FF99-73CF29FEC4E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KR"/>
          </a:p>
        </p:txBody>
      </p:sp>
      <p:sp>
        <p:nvSpPr>
          <p:cNvPr id="3" name="Picture Placeholder 2">
            <a:extLst>
              <a:ext uri="{FF2B5EF4-FFF2-40B4-BE49-F238E27FC236}">
                <a16:creationId xmlns:a16="http://schemas.microsoft.com/office/drawing/2014/main" id="{1EB13669-4EC8-9849-8202-9D2220CD7A3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R"/>
          </a:p>
        </p:txBody>
      </p:sp>
      <p:sp>
        <p:nvSpPr>
          <p:cNvPr id="4" name="Text Placeholder 3">
            <a:extLst>
              <a:ext uri="{FF2B5EF4-FFF2-40B4-BE49-F238E27FC236}">
                <a16:creationId xmlns:a16="http://schemas.microsoft.com/office/drawing/2014/main" id="{8B21B808-8321-4034-7019-7D47978AC1C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4D785D-94BD-4D14-E338-CFC240816E92}"/>
              </a:ext>
            </a:extLst>
          </p:cNvPr>
          <p:cNvSpPr>
            <a:spLocks noGrp="1"/>
          </p:cNvSpPr>
          <p:nvPr>
            <p:ph type="dt" sz="half" idx="10"/>
          </p:nvPr>
        </p:nvSpPr>
        <p:spPr/>
        <p:txBody>
          <a:bodyPr/>
          <a:lstStyle/>
          <a:p>
            <a:fld id="{608D3009-010A-3643-99D4-2D4D54D3FB5B}" type="datetime1">
              <a:rPr lang="en-US" smtClean="0"/>
              <a:t>2/24/26</a:t>
            </a:fld>
            <a:endParaRPr lang="en-KR"/>
          </a:p>
        </p:txBody>
      </p:sp>
      <p:sp>
        <p:nvSpPr>
          <p:cNvPr id="6" name="Footer Placeholder 5">
            <a:extLst>
              <a:ext uri="{FF2B5EF4-FFF2-40B4-BE49-F238E27FC236}">
                <a16:creationId xmlns:a16="http://schemas.microsoft.com/office/drawing/2014/main" id="{0A419A7F-3AE0-5DBC-B468-D3B13EF750A9}"/>
              </a:ext>
            </a:extLst>
          </p:cNvPr>
          <p:cNvSpPr>
            <a:spLocks noGrp="1"/>
          </p:cNvSpPr>
          <p:nvPr>
            <p:ph type="ftr" sz="quarter" idx="11"/>
          </p:nvPr>
        </p:nvSpPr>
        <p:spPr/>
        <p:txBody>
          <a:bodyPr/>
          <a:lstStyle/>
          <a:p>
            <a:endParaRPr lang="en-KR"/>
          </a:p>
        </p:txBody>
      </p:sp>
      <p:sp>
        <p:nvSpPr>
          <p:cNvPr id="7" name="Slide Number Placeholder 6">
            <a:extLst>
              <a:ext uri="{FF2B5EF4-FFF2-40B4-BE49-F238E27FC236}">
                <a16:creationId xmlns:a16="http://schemas.microsoft.com/office/drawing/2014/main" id="{B0D0C2B9-B059-6DC8-C0E4-9E89E048381A}"/>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38011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2D59A-D378-CAD2-FF2E-9693BAA6590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70A31652-27E2-AD5A-2784-87FE064C1B7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700C654B-96B5-CC2A-79D0-7C2C5268BBB3}"/>
              </a:ext>
            </a:extLst>
          </p:cNvPr>
          <p:cNvSpPr>
            <a:spLocks noGrp="1"/>
          </p:cNvSpPr>
          <p:nvPr>
            <p:ph type="dt" sz="half" idx="10"/>
          </p:nvPr>
        </p:nvSpPr>
        <p:spPr/>
        <p:txBody>
          <a:bodyPr/>
          <a:lstStyle/>
          <a:p>
            <a:fld id="{3B303623-CFE3-3B48-AD01-8ACA46C16D40}" type="datetime1">
              <a:rPr lang="en-US" smtClean="0"/>
              <a:t>2/24/26</a:t>
            </a:fld>
            <a:endParaRPr lang="en-KR"/>
          </a:p>
        </p:txBody>
      </p:sp>
      <p:sp>
        <p:nvSpPr>
          <p:cNvPr id="5" name="Footer Placeholder 4">
            <a:extLst>
              <a:ext uri="{FF2B5EF4-FFF2-40B4-BE49-F238E27FC236}">
                <a16:creationId xmlns:a16="http://schemas.microsoft.com/office/drawing/2014/main" id="{8CED7CB8-48BD-8C01-F4EF-4C100458B516}"/>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6C7211DF-0CCD-85FB-B94A-9B7D1FACB8D0}"/>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198667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6894D5-5C64-B67F-3B71-D3700DC1A07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KR"/>
          </a:p>
        </p:txBody>
      </p:sp>
      <p:sp>
        <p:nvSpPr>
          <p:cNvPr id="3" name="Vertical Text Placeholder 2">
            <a:extLst>
              <a:ext uri="{FF2B5EF4-FFF2-40B4-BE49-F238E27FC236}">
                <a16:creationId xmlns:a16="http://schemas.microsoft.com/office/drawing/2014/main" id="{B2039A60-8BAD-D3CB-5195-B600C771E17A}"/>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4" name="Date Placeholder 3">
            <a:extLst>
              <a:ext uri="{FF2B5EF4-FFF2-40B4-BE49-F238E27FC236}">
                <a16:creationId xmlns:a16="http://schemas.microsoft.com/office/drawing/2014/main" id="{42CF8497-FBC8-C5AC-D8DF-9B075D0A4BE3}"/>
              </a:ext>
            </a:extLst>
          </p:cNvPr>
          <p:cNvSpPr>
            <a:spLocks noGrp="1"/>
          </p:cNvSpPr>
          <p:nvPr>
            <p:ph type="dt" sz="half" idx="10"/>
          </p:nvPr>
        </p:nvSpPr>
        <p:spPr/>
        <p:txBody>
          <a:bodyPr/>
          <a:lstStyle/>
          <a:p>
            <a:fld id="{BB6CC6B8-EB47-EA4D-BC75-D06A0CC2D4D7}" type="datetime1">
              <a:rPr lang="en-US" smtClean="0"/>
              <a:t>2/24/26</a:t>
            </a:fld>
            <a:endParaRPr lang="en-KR"/>
          </a:p>
        </p:txBody>
      </p:sp>
      <p:sp>
        <p:nvSpPr>
          <p:cNvPr id="5" name="Footer Placeholder 4">
            <a:extLst>
              <a:ext uri="{FF2B5EF4-FFF2-40B4-BE49-F238E27FC236}">
                <a16:creationId xmlns:a16="http://schemas.microsoft.com/office/drawing/2014/main" id="{1AF4AE0D-CC99-FAC3-A922-1779477673DC}"/>
              </a:ext>
            </a:extLst>
          </p:cNvPr>
          <p:cNvSpPr>
            <a:spLocks noGrp="1"/>
          </p:cNvSpPr>
          <p:nvPr>
            <p:ph type="ftr" sz="quarter" idx="11"/>
          </p:nvPr>
        </p:nvSpPr>
        <p:spPr/>
        <p:txBody>
          <a:bodyPr/>
          <a:lstStyle/>
          <a:p>
            <a:endParaRPr lang="en-KR"/>
          </a:p>
        </p:txBody>
      </p:sp>
      <p:sp>
        <p:nvSpPr>
          <p:cNvPr id="6" name="Slide Number Placeholder 5">
            <a:extLst>
              <a:ext uri="{FF2B5EF4-FFF2-40B4-BE49-F238E27FC236}">
                <a16:creationId xmlns:a16="http://schemas.microsoft.com/office/drawing/2014/main" id="{AD4F7524-24A2-143E-DD2F-F8626A94690E}"/>
              </a:ext>
            </a:extLst>
          </p:cNvPr>
          <p:cNvSpPr>
            <a:spLocks noGrp="1"/>
          </p:cNvSpPr>
          <p:nvPr>
            <p:ph type="sldNum" sz="quarter" idx="12"/>
          </p:nvPr>
        </p:nvSpPr>
        <p:spPr>
          <a:xfrm>
            <a:off x="8610600" y="6356350"/>
            <a:ext cx="2743200" cy="365125"/>
          </a:xfrm>
          <a:prstGeom prst="rect">
            <a:avLst/>
          </a:prstGeom>
        </p:spPr>
        <p:txBody>
          <a:bodyPr/>
          <a:lstStyle/>
          <a:p>
            <a:fld id="{E42FE30C-30E7-744B-836A-23530458DF33}" type="slidenum">
              <a:rPr lang="en-KR" smtClean="0"/>
              <a:t>‹#›</a:t>
            </a:fld>
            <a:endParaRPr lang="en-KR"/>
          </a:p>
        </p:txBody>
      </p:sp>
    </p:spTree>
    <p:extLst>
      <p:ext uri="{BB962C8B-B14F-4D97-AF65-F5344CB8AC3E}">
        <p14:creationId xmlns:p14="http://schemas.microsoft.com/office/powerpoint/2010/main" val="337348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38D6AA-BF94-B7A4-BEB5-94B7D494D9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EE497E-9634-6648-B43C-50321F9D4515}" type="datetime1">
              <a:rPr lang="en-US" smtClean="0"/>
              <a:t>2/24/26</a:t>
            </a:fld>
            <a:endParaRPr lang="en-KR"/>
          </a:p>
        </p:txBody>
      </p:sp>
      <p:sp>
        <p:nvSpPr>
          <p:cNvPr id="5" name="Footer Placeholder 4">
            <a:extLst>
              <a:ext uri="{FF2B5EF4-FFF2-40B4-BE49-F238E27FC236}">
                <a16:creationId xmlns:a16="http://schemas.microsoft.com/office/drawing/2014/main" id="{C1334F99-7664-F70B-A87F-D3FE00DA7A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R"/>
          </a:p>
        </p:txBody>
      </p:sp>
      <p:sp>
        <p:nvSpPr>
          <p:cNvPr id="7" name="Slide Number Placeholder 5">
            <a:extLst>
              <a:ext uri="{FF2B5EF4-FFF2-40B4-BE49-F238E27FC236}">
                <a16:creationId xmlns:a16="http://schemas.microsoft.com/office/drawing/2014/main" id="{D5176F92-44D7-C25D-E466-0C232BC87030}"/>
              </a:ext>
            </a:extLst>
          </p:cNvPr>
          <p:cNvSpPr txBox="1">
            <a:spLocks/>
          </p:cNvSpPr>
          <p:nvPr userDrawn="1"/>
        </p:nvSpPr>
        <p:spPr>
          <a:xfrm>
            <a:off x="9328728" y="6492875"/>
            <a:ext cx="2743200" cy="365125"/>
          </a:xfrm>
          <a:prstGeom prst="rect">
            <a:avLst/>
          </a:prstGeom>
        </p:spPr>
        <p:txBody>
          <a:bodyPr/>
          <a:lst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42FE30C-30E7-744B-836A-23530458DF33}" type="slidenum">
              <a:rPr lang="en-KR" sz="1200" smtClean="0">
                <a:solidFill>
                  <a:schemeClr val="bg1">
                    <a:lumMod val="75000"/>
                  </a:schemeClr>
                </a:solidFill>
                <a:latin typeface="Pretendard" panose="02000503000000020004" pitchFamily="2" charset="-127"/>
                <a:ea typeface="Pretendard" panose="02000503000000020004" pitchFamily="2" charset="-127"/>
                <a:cs typeface="Pretendard" panose="02000503000000020004" pitchFamily="2" charset="-127"/>
              </a:rPr>
              <a:pPr algn="r"/>
              <a:t>‹#›</a:t>
            </a:fld>
            <a:endParaRPr lang="en-KR" sz="1200" dirty="0">
              <a:solidFill>
                <a:schemeClr val="bg1">
                  <a:lumMod val="75000"/>
                </a:schemeClr>
              </a:solidFill>
              <a:latin typeface="Pretendard" panose="02000503000000020004" pitchFamily="2" charset="-127"/>
              <a:ea typeface="Pretendard" panose="02000503000000020004" pitchFamily="2" charset="-127"/>
              <a:cs typeface="Pretendard" panose="02000503000000020004" pitchFamily="2" charset="-127"/>
            </a:endParaRPr>
          </a:p>
        </p:txBody>
      </p:sp>
      <p:pic>
        <p:nvPicPr>
          <p:cNvPr id="8" name="Graphic 7">
            <a:extLst>
              <a:ext uri="{FF2B5EF4-FFF2-40B4-BE49-F238E27FC236}">
                <a16:creationId xmlns:a16="http://schemas.microsoft.com/office/drawing/2014/main" id="{EE14AD03-5656-19EF-4D4F-52CD0BA9370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20072" y="6522511"/>
            <a:ext cx="1100695" cy="242207"/>
          </a:xfrm>
          <a:prstGeom prst="rect">
            <a:avLst/>
          </a:prstGeom>
        </p:spPr>
      </p:pic>
    </p:spTree>
    <p:extLst>
      <p:ext uri="{BB962C8B-B14F-4D97-AF65-F5344CB8AC3E}">
        <p14:creationId xmlns:p14="http://schemas.microsoft.com/office/powerpoint/2010/main" val="1419979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2FD3EF-4AF0-5D47-76F7-C49B36472788}"/>
              </a:ext>
            </a:extLst>
          </p:cNvPr>
          <p:cNvSpPr>
            <a:spLocks noGrp="1"/>
          </p:cNvSpPr>
          <p:nvPr>
            <p:ph type="ctrTitle"/>
          </p:nvPr>
        </p:nvSpPr>
        <p:spPr/>
        <p:txBody>
          <a:bodyPr/>
          <a:lstStyle/>
          <a:p>
            <a:pPr>
              <a:lnSpc>
                <a:spcPct val="100000"/>
              </a:lnSpc>
            </a:pPr>
            <a:r>
              <a:rPr lang="en-KR" sz="2400" dirty="0">
                <a:solidFill>
                  <a:schemeClr val="bg1">
                    <a:lumMod val="75000"/>
                  </a:schemeClr>
                </a:solidFill>
              </a:rPr>
              <a:t>Revision</a:t>
            </a:r>
            <a:br>
              <a:rPr lang="en-KR" sz="2800" dirty="0"/>
            </a:br>
            <a:r>
              <a:rPr lang="en-US" altLang="ko-KR" sz="2800" dirty="0"/>
              <a:t>Dominating-vs-Dominated</a:t>
            </a:r>
            <a:endParaRPr lang="en-KR" sz="3200" dirty="0"/>
          </a:p>
        </p:txBody>
      </p:sp>
      <p:sp>
        <p:nvSpPr>
          <p:cNvPr id="4" name="Subtitle 3">
            <a:extLst>
              <a:ext uri="{FF2B5EF4-FFF2-40B4-BE49-F238E27FC236}">
                <a16:creationId xmlns:a16="http://schemas.microsoft.com/office/drawing/2014/main" id="{F3B2ECD5-0A5C-4884-393F-48FD7CB6B3FB}"/>
              </a:ext>
            </a:extLst>
          </p:cNvPr>
          <p:cNvSpPr>
            <a:spLocks noGrp="1"/>
          </p:cNvSpPr>
          <p:nvPr>
            <p:ph type="subTitle" idx="1"/>
          </p:nvPr>
        </p:nvSpPr>
        <p:spPr/>
        <p:txBody>
          <a:bodyPr/>
          <a:lstStyle/>
          <a:p>
            <a:r>
              <a:rPr lang="en-US" dirty="0">
                <a:solidFill>
                  <a:schemeClr val="bg1">
                    <a:lumMod val="65000"/>
                  </a:schemeClr>
                </a:solidFill>
              </a:rPr>
              <a:t>2026.0</a:t>
            </a:r>
            <a:r>
              <a:rPr lang="en-US" altLang="ko-KR" dirty="0">
                <a:solidFill>
                  <a:schemeClr val="bg1">
                    <a:lumMod val="65000"/>
                  </a:schemeClr>
                </a:solidFill>
              </a:rPr>
              <a:t>2</a:t>
            </a:r>
            <a:r>
              <a:rPr lang="en-US" dirty="0">
                <a:solidFill>
                  <a:schemeClr val="bg1">
                    <a:lumMod val="65000"/>
                  </a:schemeClr>
                </a:solidFill>
              </a:rPr>
              <a:t>.24</a:t>
            </a:r>
            <a:endParaRPr lang="en-KR" dirty="0">
              <a:solidFill>
                <a:schemeClr val="bg1">
                  <a:lumMod val="65000"/>
                </a:schemeClr>
              </a:solidFill>
            </a:endParaRPr>
          </a:p>
          <a:p>
            <a:r>
              <a:rPr lang="en-KR" dirty="0">
                <a:solidFill>
                  <a:schemeClr val="bg1">
                    <a:lumMod val="65000"/>
                  </a:schemeClr>
                </a:solidFill>
              </a:rPr>
              <a:t>Hayeon Jeong</a:t>
            </a:r>
          </a:p>
        </p:txBody>
      </p:sp>
    </p:spTree>
    <p:extLst>
      <p:ext uri="{BB962C8B-B14F-4D97-AF65-F5344CB8AC3E}">
        <p14:creationId xmlns:p14="http://schemas.microsoft.com/office/powerpoint/2010/main" val="2317455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11626-CB02-C95C-F87B-AFA1001FD845}"/>
              </a:ext>
            </a:extLst>
          </p:cNvPr>
          <p:cNvSpPr>
            <a:spLocks noGrp="1"/>
          </p:cNvSpPr>
          <p:nvPr>
            <p:ph type="title"/>
          </p:nvPr>
        </p:nvSpPr>
        <p:spPr/>
        <p:txBody>
          <a:bodyPr/>
          <a:lstStyle/>
          <a:p>
            <a:r>
              <a:rPr lang="en-KR" dirty="0"/>
              <a:t>Weaknesses</a:t>
            </a:r>
          </a:p>
        </p:txBody>
      </p:sp>
      <p:sp>
        <p:nvSpPr>
          <p:cNvPr id="3" name="Content Placeholder 2">
            <a:extLst>
              <a:ext uri="{FF2B5EF4-FFF2-40B4-BE49-F238E27FC236}">
                <a16:creationId xmlns:a16="http://schemas.microsoft.com/office/drawing/2014/main" id="{E719F069-984B-3803-2350-1ED0B32507E8}"/>
              </a:ext>
            </a:extLst>
          </p:cNvPr>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I have read the rebuttal and appreciate the effort and additional experiments and analyses. Specifically, the evaluation on SDXL and </a:t>
            </a:r>
            <a:r>
              <a:rPr lang="en-US" sz="1400" dirty="0" err="1">
                <a:latin typeface="Times New Roman" panose="02020603050405020304" pitchFamily="18" charset="0"/>
                <a:cs typeface="Times New Roman" panose="02020603050405020304" pitchFamily="18" charset="0"/>
              </a:rPr>
              <a:t>PixArt</a:t>
            </a:r>
            <a:r>
              <a:rPr lang="en-US" sz="1400" dirty="0">
                <a:latin typeface="Times New Roman" panose="02020603050405020304" pitchFamily="18" charset="0"/>
                <a:cs typeface="Times New Roman" panose="02020603050405020304" pitchFamily="18" charset="0"/>
              </a:rPr>
              <a:t>, the prompt order sensitivity study, and the extended attention visualizations. These indeed strengthen the paper, but I remain </a:t>
            </a:r>
            <a:r>
              <a:rPr lang="en-US" sz="1400" dirty="0" err="1">
                <a:latin typeface="Times New Roman" panose="02020603050405020304" pitchFamily="18" charset="0"/>
                <a:cs typeface="Times New Roman" panose="02020603050405020304" pitchFamily="18" charset="0"/>
              </a:rPr>
              <a:t>sceptical</a:t>
            </a:r>
            <a:r>
              <a:rPr lang="en-US" sz="1400" dirty="0">
                <a:latin typeface="Times New Roman" panose="02020603050405020304" pitchFamily="18" charset="0"/>
                <a:cs typeface="Times New Roman" panose="02020603050405020304" pitchFamily="18" charset="0"/>
              </a:rPr>
              <a:t>. I am still not fully convinced that the presented evidence conclusively establishes the proposed root cause of </a:t>
            </a:r>
            <a:r>
              <a:rPr lang="en-US" sz="1400" dirty="0" err="1">
                <a:latin typeface="Times New Roman" panose="02020603050405020304" pitchFamily="18" charset="0"/>
                <a:cs typeface="Times New Roman" panose="02020603050405020304" pitchFamily="18" charset="0"/>
              </a:rPr>
              <a:t>DvD</a:t>
            </a:r>
            <a:r>
              <a:rPr lang="en-US" sz="1400" dirty="0">
                <a:latin typeface="Times New Roman" panose="02020603050405020304" pitchFamily="18" charset="0"/>
                <a:cs typeface="Times New Roman" panose="02020603050405020304" pitchFamily="18" charset="0"/>
              </a:rPr>
              <a:t>. In particular, the remaining sensitivity to prompt ordering and the very limited set of models and classes. I think that it is more involved, and I believe that there is no significant contribution to our understanding of advanced models. I will keep my score.</a:t>
            </a:r>
          </a:p>
          <a:p>
            <a:r>
              <a:rPr lang="en-US" sz="1400" dirty="0">
                <a:latin typeface="Times New Roman" panose="02020603050405020304" pitchFamily="18" charset="0"/>
                <a:cs typeface="Times New Roman" panose="02020603050405020304" pitchFamily="18" charset="0"/>
              </a:rPr>
              <a:t>The authors address some of the concerns raised by the reviewers, including verifying the </a:t>
            </a:r>
            <a:r>
              <a:rPr lang="en-US" sz="1400" dirty="0" err="1">
                <a:latin typeface="Times New Roman" panose="02020603050405020304" pitchFamily="18" charset="0"/>
                <a:cs typeface="Times New Roman" panose="02020603050405020304" pitchFamily="18" charset="0"/>
              </a:rPr>
              <a:t>DvD</a:t>
            </a:r>
            <a:r>
              <a:rPr lang="en-US" sz="1400" dirty="0">
                <a:latin typeface="Times New Roman" panose="02020603050405020304" pitchFamily="18" charset="0"/>
                <a:cs typeface="Times New Roman" panose="02020603050405020304" pitchFamily="18" charset="0"/>
              </a:rPr>
              <a:t> phenomenon in two newer models, prompt ordering sensitivity, a preliminary mitigation suggestion, and a few analyses. However, I still believe the scope of the experiments are too small, particularly for the generalization across classes (two classes, "dog" and "cat", are not sufficiently representative) and thorough evaluations across multiple models (evaluations are primarily conducted on SD 1.4). Additionally, the new result on prompt ordering weakens the claims.</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KR" sz="1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86BB1E4-1693-379B-2648-5C475A106157}"/>
              </a:ext>
            </a:extLst>
          </p:cNvPr>
          <p:cNvPicPr>
            <a:picLocks noChangeAspect="1"/>
          </p:cNvPicPr>
          <p:nvPr/>
        </p:nvPicPr>
        <p:blipFill>
          <a:blip r:embed="rId2"/>
          <a:stretch>
            <a:fillRect/>
          </a:stretch>
        </p:blipFill>
        <p:spPr>
          <a:xfrm>
            <a:off x="631166" y="4088894"/>
            <a:ext cx="7772400" cy="1509676"/>
          </a:xfrm>
          <a:prstGeom prst="rect">
            <a:avLst/>
          </a:prstGeom>
        </p:spPr>
      </p:pic>
    </p:spTree>
    <p:extLst>
      <p:ext uri="{BB962C8B-B14F-4D97-AF65-F5344CB8AC3E}">
        <p14:creationId xmlns:p14="http://schemas.microsoft.com/office/powerpoint/2010/main" val="1025761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B86AB-E4CA-C89D-C81E-A0F8BFAC3DF9}"/>
              </a:ext>
            </a:extLst>
          </p:cNvPr>
          <p:cNvSpPr>
            <a:spLocks noGrp="1"/>
          </p:cNvSpPr>
          <p:nvPr>
            <p:ph type="title"/>
          </p:nvPr>
        </p:nvSpPr>
        <p:spPr/>
        <p:txBody>
          <a:bodyPr/>
          <a:lstStyle/>
          <a:p>
            <a:r>
              <a:rPr lang="en-KR" dirty="0"/>
              <a:t>Related Works</a:t>
            </a:r>
          </a:p>
        </p:txBody>
      </p:sp>
      <p:sp>
        <p:nvSpPr>
          <p:cNvPr id="3" name="Content Placeholder 2">
            <a:extLst>
              <a:ext uri="{FF2B5EF4-FFF2-40B4-BE49-F238E27FC236}">
                <a16:creationId xmlns:a16="http://schemas.microsoft.com/office/drawing/2014/main" id="{87CBEABD-82F2-22E6-46A1-823FD05C8451}"/>
              </a:ext>
            </a:extLst>
          </p:cNvPr>
          <p:cNvSpPr>
            <a:spLocks noGrp="1"/>
          </p:cNvSpPr>
          <p:nvPr>
            <p:ph idx="1"/>
          </p:nvPr>
        </p:nvSpPr>
        <p:spPr/>
        <p:txBody>
          <a:bodyPr/>
          <a:lstStyle/>
          <a:p>
            <a:r>
              <a:rPr lang="en-US" b="1" dirty="0"/>
              <a:t>A-STAR: Test-time Attention Segregation and Retention for Text-to-image Synthesis (CVPR, 2023)</a:t>
            </a:r>
          </a:p>
          <a:p>
            <a:pPr marL="800100" lvl="1" indent="-342900">
              <a:buFont typeface="+mj-lt"/>
              <a:buAutoNum type="arabicParenR"/>
            </a:pPr>
            <a:r>
              <a:rPr lang="en-US" dirty="0"/>
              <a:t>Attention overlap</a:t>
            </a:r>
            <a:r>
              <a:rPr lang="ko-KR" altLang="en-US" dirty="0"/>
              <a:t> </a:t>
            </a:r>
            <a:r>
              <a:rPr lang="en-US" altLang="ko-KR" dirty="0">
                <a:sym typeface="Wingdings" pitchFamily="2" charset="2"/>
              </a:rPr>
              <a:t> </a:t>
            </a:r>
            <a:r>
              <a:rPr lang="ko-KR" altLang="en-US" dirty="0"/>
              <a:t>줄이기</a:t>
            </a:r>
            <a:endParaRPr lang="en-US" altLang="ko-KR" dirty="0"/>
          </a:p>
          <a:p>
            <a:pPr lvl="2"/>
            <a:r>
              <a:rPr lang="ko-KR" altLang="en-US" dirty="0"/>
              <a:t>두 개념이 각각 주목하는 영역의 교집합 </a:t>
            </a:r>
            <a:r>
              <a:rPr lang="en-US" altLang="ko-KR" dirty="0">
                <a:sym typeface="Wingdings" pitchFamily="2" charset="2"/>
              </a:rPr>
              <a:t></a:t>
            </a:r>
            <a:r>
              <a:rPr lang="ko-KR" altLang="en-US" dirty="0">
                <a:sym typeface="Wingdings" pitchFamily="2" charset="2"/>
              </a:rPr>
              <a:t> 결과적으로 둘 중 하나를 포기하거나</a:t>
            </a:r>
            <a:r>
              <a:rPr lang="en-US" altLang="ko-KR" dirty="0">
                <a:sym typeface="Wingdings" pitchFamily="2" charset="2"/>
              </a:rPr>
              <a:t>(</a:t>
            </a:r>
            <a:r>
              <a:rPr lang="ko-KR" altLang="en-US" dirty="0">
                <a:sym typeface="Wingdings" pitchFamily="2" charset="2"/>
              </a:rPr>
              <a:t>누락</a:t>
            </a:r>
            <a:r>
              <a:rPr lang="en-US" altLang="ko-KR" dirty="0">
                <a:sym typeface="Wingdings" pitchFamily="2" charset="2"/>
              </a:rPr>
              <a:t>)</a:t>
            </a:r>
            <a:r>
              <a:rPr lang="ko-KR" altLang="en-US" dirty="0">
                <a:sym typeface="Wingdings" pitchFamily="2" charset="2"/>
              </a:rPr>
              <a:t> 이상하게 섞일 수 있음</a:t>
            </a:r>
            <a:r>
              <a:rPr lang="en-US" altLang="ko-KR" dirty="0">
                <a:sym typeface="Wingdings" pitchFamily="2" charset="2"/>
              </a:rPr>
              <a:t>.</a:t>
            </a:r>
            <a:endParaRPr lang="en-US" altLang="ko-KR" dirty="0"/>
          </a:p>
          <a:p>
            <a:pPr lvl="2"/>
            <a:r>
              <a:rPr lang="ko-KR" altLang="en-US" dirty="0"/>
              <a:t>특정 토큰의 </a:t>
            </a:r>
            <a:r>
              <a:rPr lang="en-US" altLang="ko-KR" dirty="0"/>
              <a:t>attn</a:t>
            </a:r>
            <a:r>
              <a:rPr lang="ko-KR" altLang="en-US" dirty="0"/>
              <a:t>을 무작정 키우는 것</a:t>
            </a:r>
            <a:r>
              <a:rPr lang="en-US" altLang="ko-KR" dirty="0"/>
              <a:t>(</a:t>
            </a:r>
            <a:r>
              <a:rPr lang="ko-KR" altLang="en-US" dirty="0"/>
              <a:t>기존 유사 접근의 한계</a:t>
            </a:r>
            <a:r>
              <a:rPr lang="en-US" altLang="ko-KR" dirty="0"/>
              <a:t>)</a:t>
            </a:r>
            <a:r>
              <a:rPr lang="ko-KR" altLang="en-US" dirty="0"/>
              <a:t>이 아니라</a:t>
            </a:r>
            <a:r>
              <a:rPr lang="en-US" altLang="ko-KR" dirty="0"/>
              <a:t>,</a:t>
            </a:r>
            <a:r>
              <a:rPr lang="ko-KR" altLang="en-US" dirty="0"/>
              <a:t> 서로 다른 토큰의 공간적 책임 영역을 분리하도록 함</a:t>
            </a:r>
            <a:r>
              <a:rPr lang="en-US" altLang="ko-KR" dirty="0"/>
              <a:t>.</a:t>
            </a:r>
          </a:p>
          <a:p>
            <a:pPr marL="800100" lvl="1" indent="-342900">
              <a:buFont typeface="+mj-lt"/>
              <a:buAutoNum type="arabicParenR"/>
            </a:pPr>
            <a:r>
              <a:rPr lang="en-US" dirty="0"/>
              <a:t>Attention Decay </a:t>
            </a:r>
            <a:r>
              <a:rPr lang="en-US" dirty="0">
                <a:sym typeface="Wingdings" pitchFamily="2" charset="2"/>
              </a:rPr>
              <a:t> </a:t>
            </a:r>
            <a:r>
              <a:rPr lang="en-US" dirty="0"/>
              <a:t>Attention</a:t>
            </a:r>
            <a:r>
              <a:rPr lang="ko-KR" altLang="en-US" dirty="0"/>
              <a:t> 끝까지 유지되게 하기</a:t>
            </a:r>
            <a:endParaRPr lang="en-US" altLang="ko-KR" dirty="0"/>
          </a:p>
          <a:p>
            <a:pPr lvl="2"/>
            <a:r>
              <a:rPr lang="ko-KR" altLang="en-US" dirty="0"/>
              <a:t>초반에는 잡히던 개념이 후반 </a:t>
            </a:r>
            <a:r>
              <a:rPr lang="en-US" altLang="ko-KR" dirty="0"/>
              <a:t>step</a:t>
            </a:r>
            <a:r>
              <a:rPr lang="ko-KR" altLang="en-US" dirty="0" err="1"/>
              <a:t>으로</a:t>
            </a:r>
            <a:r>
              <a:rPr lang="ko-KR" altLang="en-US" dirty="0"/>
              <a:t> 갈수록 희미해지는 현상</a:t>
            </a:r>
            <a:endParaRPr lang="en-US" altLang="ko-KR" dirty="0"/>
          </a:p>
          <a:p>
            <a:pPr lvl="2"/>
            <a:r>
              <a:rPr lang="ko-KR" altLang="en-US" dirty="0"/>
              <a:t>이전 </a:t>
            </a:r>
            <a:r>
              <a:rPr lang="en-US" altLang="ko-KR" dirty="0"/>
              <a:t>step</a:t>
            </a:r>
            <a:r>
              <a:rPr lang="ko-KR" altLang="en-US" dirty="0"/>
              <a:t>에서 특정 개념이 강하게 주목되던 위치</a:t>
            </a:r>
            <a:r>
              <a:rPr lang="en-US" altLang="ko-KR" dirty="0"/>
              <a:t>(</a:t>
            </a:r>
            <a:r>
              <a:rPr lang="ko-KR" altLang="en-US" dirty="0"/>
              <a:t>마스크</a:t>
            </a:r>
            <a:r>
              <a:rPr lang="en-US" altLang="ko-KR" dirty="0"/>
              <a:t>)</a:t>
            </a:r>
            <a:r>
              <a:rPr lang="ko-KR" altLang="en-US" dirty="0" err="1"/>
              <a:t>를</a:t>
            </a:r>
            <a:r>
              <a:rPr lang="ko-KR" altLang="en-US" dirty="0"/>
              <a:t> 기준 삼고</a:t>
            </a:r>
            <a:r>
              <a:rPr lang="en-US" altLang="ko-KR" dirty="0"/>
              <a:t>,</a:t>
            </a:r>
            <a:r>
              <a:rPr lang="ko-KR" altLang="en-US" dirty="0"/>
              <a:t> 그 다음 </a:t>
            </a:r>
            <a:r>
              <a:rPr lang="en-US" altLang="ko-KR" dirty="0"/>
              <a:t>step</a:t>
            </a:r>
            <a:r>
              <a:rPr lang="ko-KR" altLang="en-US" dirty="0"/>
              <a:t>에서도 그 위치가 계속 주목되도록 강제하자</a:t>
            </a:r>
            <a:r>
              <a:rPr lang="en-US" altLang="ko-KR" dirty="0"/>
              <a:t>.</a:t>
            </a:r>
            <a:endParaRPr lang="en-KR" dirty="0"/>
          </a:p>
        </p:txBody>
      </p:sp>
      <p:pic>
        <p:nvPicPr>
          <p:cNvPr id="4" name="Picture 3">
            <a:extLst>
              <a:ext uri="{FF2B5EF4-FFF2-40B4-BE49-F238E27FC236}">
                <a16:creationId xmlns:a16="http://schemas.microsoft.com/office/drawing/2014/main" id="{2FD674C5-E1FB-552E-1891-04E33DE1703C}"/>
              </a:ext>
            </a:extLst>
          </p:cNvPr>
          <p:cNvPicPr>
            <a:picLocks noChangeAspect="1"/>
          </p:cNvPicPr>
          <p:nvPr/>
        </p:nvPicPr>
        <p:blipFill>
          <a:blip r:embed="rId2"/>
          <a:srcRect b="60440"/>
          <a:stretch>
            <a:fillRect/>
          </a:stretch>
        </p:blipFill>
        <p:spPr>
          <a:xfrm>
            <a:off x="1871457" y="3429000"/>
            <a:ext cx="3658076" cy="2013298"/>
          </a:xfrm>
          <a:prstGeom prst="rect">
            <a:avLst/>
          </a:prstGeom>
        </p:spPr>
      </p:pic>
      <p:pic>
        <p:nvPicPr>
          <p:cNvPr id="5" name="Picture 4">
            <a:extLst>
              <a:ext uri="{FF2B5EF4-FFF2-40B4-BE49-F238E27FC236}">
                <a16:creationId xmlns:a16="http://schemas.microsoft.com/office/drawing/2014/main" id="{96F27A3C-1618-EA01-F2F8-7F5636EF67FA}"/>
              </a:ext>
            </a:extLst>
          </p:cNvPr>
          <p:cNvPicPr>
            <a:picLocks noChangeAspect="1"/>
          </p:cNvPicPr>
          <p:nvPr/>
        </p:nvPicPr>
        <p:blipFill>
          <a:blip r:embed="rId2"/>
          <a:srcRect t="38845"/>
          <a:stretch>
            <a:fillRect/>
          </a:stretch>
        </p:blipFill>
        <p:spPr>
          <a:xfrm>
            <a:off x="5396785" y="3429000"/>
            <a:ext cx="3658076" cy="3112283"/>
          </a:xfrm>
          <a:prstGeom prst="rect">
            <a:avLst/>
          </a:prstGeom>
        </p:spPr>
      </p:pic>
    </p:spTree>
    <p:extLst>
      <p:ext uri="{BB962C8B-B14F-4D97-AF65-F5344CB8AC3E}">
        <p14:creationId xmlns:p14="http://schemas.microsoft.com/office/powerpoint/2010/main" val="1077909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3D62F-D556-7AAD-F8BE-DE96363A27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218106-495D-61DA-0BC5-2CED641E3D2A}"/>
              </a:ext>
            </a:extLst>
          </p:cNvPr>
          <p:cNvSpPr>
            <a:spLocks noGrp="1"/>
          </p:cNvSpPr>
          <p:nvPr>
            <p:ph type="ctrTitle"/>
          </p:nvPr>
        </p:nvSpPr>
        <p:spPr/>
        <p:txBody>
          <a:bodyPr/>
          <a:lstStyle/>
          <a:p>
            <a:pPr>
              <a:lnSpc>
                <a:spcPct val="100000"/>
              </a:lnSpc>
            </a:pPr>
            <a:r>
              <a:rPr lang="en-KR" sz="2400" dirty="0">
                <a:solidFill>
                  <a:schemeClr val="bg1">
                    <a:lumMod val="75000"/>
                  </a:schemeClr>
                </a:solidFill>
              </a:rPr>
              <a:t>Weekly Update</a:t>
            </a:r>
            <a:br>
              <a:rPr lang="en-KR" sz="2800" dirty="0"/>
            </a:br>
            <a:r>
              <a:rPr lang="en-US" altLang="ko-KR" sz="2800" dirty="0"/>
              <a:t>Concept Erasing on UMM</a:t>
            </a:r>
            <a:endParaRPr lang="en-KR" sz="3200" dirty="0"/>
          </a:p>
        </p:txBody>
      </p:sp>
      <p:sp>
        <p:nvSpPr>
          <p:cNvPr id="4" name="Subtitle 3">
            <a:extLst>
              <a:ext uri="{FF2B5EF4-FFF2-40B4-BE49-F238E27FC236}">
                <a16:creationId xmlns:a16="http://schemas.microsoft.com/office/drawing/2014/main" id="{2B54BDD5-4363-82DF-3147-3F63062180A6}"/>
              </a:ext>
            </a:extLst>
          </p:cNvPr>
          <p:cNvSpPr>
            <a:spLocks noGrp="1"/>
          </p:cNvSpPr>
          <p:nvPr>
            <p:ph type="subTitle" idx="1"/>
          </p:nvPr>
        </p:nvSpPr>
        <p:spPr/>
        <p:txBody>
          <a:bodyPr/>
          <a:lstStyle/>
          <a:p>
            <a:r>
              <a:rPr lang="en-US" dirty="0">
                <a:solidFill>
                  <a:schemeClr val="bg1">
                    <a:lumMod val="65000"/>
                  </a:schemeClr>
                </a:solidFill>
              </a:rPr>
              <a:t>2026.0</a:t>
            </a:r>
            <a:r>
              <a:rPr lang="en-US" altLang="ko-KR" dirty="0">
                <a:solidFill>
                  <a:schemeClr val="bg1">
                    <a:lumMod val="65000"/>
                  </a:schemeClr>
                </a:solidFill>
              </a:rPr>
              <a:t>2</a:t>
            </a:r>
            <a:r>
              <a:rPr lang="en-US" dirty="0">
                <a:solidFill>
                  <a:schemeClr val="bg1">
                    <a:lumMod val="65000"/>
                  </a:schemeClr>
                </a:solidFill>
              </a:rPr>
              <a:t>.24</a:t>
            </a:r>
            <a:endParaRPr lang="en-KR" dirty="0">
              <a:solidFill>
                <a:schemeClr val="bg1">
                  <a:lumMod val="65000"/>
                </a:schemeClr>
              </a:solidFill>
            </a:endParaRPr>
          </a:p>
          <a:p>
            <a:r>
              <a:rPr lang="en-KR" dirty="0">
                <a:solidFill>
                  <a:schemeClr val="bg1">
                    <a:lumMod val="65000"/>
                  </a:schemeClr>
                </a:solidFill>
              </a:rPr>
              <a:t>Hayeon Jeong</a:t>
            </a:r>
          </a:p>
        </p:txBody>
      </p:sp>
    </p:spTree>
    <p:extLst>
      <p:ext uri="{BB962C8B-B14F-4D97-AF65-F5344CB8AC3E}">
        <p14:creationId xmlns:p14="http://schemas.microsoft.com/office/powerpoint/2010/main" val="3843092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BDB12DD1-19F7-14B8-EA1C-98D2EF72938D}"/>
              </a:ext>
            </a:extLst>
          </p:cNvPr>
          <p:cNvSpPr/>
          <p:nvPr/>
        </p:nvSpPr>
        <p:spPr>
          <a:xfrm>
            <a:off x="419820" y="2028110"/>
            <a:ext cx="4807784" cy="409664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sz="1400" dirty="0">
              <a:solidFill>
                <a:schemeClr val="accent5">
                  <a:lumMod val="60000"/>
                  <a:lumOff val="40000"/>
                </a:schemeClr>
              </a:solidFill>
            </a:endParaRPr>
          </a:p>
        </p:txBody>
      </p:sp>
      <p:sp>
        <p:nvSpPr>
          <p:cNvPr id="2" name="Title 1">
            <a:extLst>
              <a:ext uri="{FF2B5EF4-FFF2-40B4-BE49-F238E27FC236}">
                <a16:creationId xmlns:a16="http://schemas.microsoft.com/office/drawing/2014/main" id="{D19C5725-B4DB-B7BB-DE8A-1EF24E0E227C}"/>
              </a:ext>
            </a:extLst>
          </p:cNvPr>
          <p:cNvSpPr>
            <a:spLocks noGrp="1"/>
          </p:cNvSpPr>
          <p:nvPr>
            <p:ph type="title"/>
          </p:nvPr>
        </p:nvSpPr>
        <p:spPr/>
        <p:txBody>
          <a:bodyPr/>
          <a:lstStyle/>
          <a:p>
            <a:r>
              <a:rPr lang="en-KR" dirty="0"/>
              <a:t>Architecture</a:t>
            </a:r>
          </a:p>
        </p:txBody>
      </p:sp>
      <p:sp>
        <p:nvSpPr>
          <p:cNvPr id="4" name="Rectangle 3">
            <a:extLst>
              <a:ext uri="{FF2B5EF4-FFF2-40B4-BE49-F238E27FC236}">
                <a16:creationId xmlns:a16="http://schemas.microsoft.com/office/drawing/2014/main" id="{416BA798-EB21-6E26-7504-32607B7F3E82}"/>
              </a:ext>
            </a:extLst>
          </p:cNvPr>
          <p:cNvSpPr/>
          <p:nvPr/>
        </p:nvSpPr>
        <p:spPr>
          <a:xfrm>
            <a:off x="914400" y="1332013"/>
            <a:ext cx="3812875" cy="5571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Same Sequence (Packed)</a:t>
            </a:r>
          </a:p>
          <a:p>
            <a:pPr algn="ctr"/>
            <a:r>
              <a:rPr lang="en-US" altLang="ko-KR" sz="1400" dirty="0">
                <a:solidFill>
                  <a:schemeClr val="accent6">
                    <a:lumMod val="75000"/>
                  </a:schemeClr>
                </a:solidFill>
              </a:rPr>
              <a:t>[Text Tokens] </a:t>
            </a:r>
            <a:r>
              <a:rPr lang="en-US" altLang="ko-KR" sz="1400" dirty="0">
                <a:solidFill>
                  <a:sysClr val="windowText" lastClr="000000"/>
                </a:solidFill>
              </a:rPr>
              <a:t>+ </a:t>
            </a:r>
            <a:r>
              <a:rPr lang="en-US" altLang="ko-KR" sz="1400" dirty="0">
                <a:solidFill>
                  <a:schemeClr val="accent5">
                    <a:lumMod val="60000"/>
                    <a:lumOff val="40000"/>
                  </a:schemeClr>
                </a:solidFill>
              </a:rPr>
              <a:t>[</a:t>
            </a:r>
            <a:r>
              <a:rPr lang="en-US" sz="1400" dirty="0">
                <a:solidFill>
                  <a:schemeClr val="accent5">
                    <a:lumMod val="60000"/>
                    <a:lumOff val="40000"/>
                  </a:schemeClr>
                </a:solidFill>
              </a:rPr>
              <a:t>VAE </a:t>
            </a:r>
            <a:r>
              <a:rPr lang="en-US" altLang="ko-KR" sz="1400" dirty="0">
                <a:solidFill>
                  <a:schemeClr val="accent5">
                    <a:lumMod val="60000"/>
                    <a:lumOff val="40000"/>
                  </a:schemeClr>
                </a:solidFill>
              </a:rPr>
              <a:t>(image) Tokens]</a:t>
            </a:r>
            <a:endParaRPr lang="en-KR" sz="1400" dirty="0">
              <a:solidFill>
                <a:schemeClr val="accent5">
                  <a:lumMod val="60000"/>
                  <a:lumOff val="40000"/>
                </a:schemeClr>
              </a:solidFill>
            </a:endParaRPr>
          </a:p>
        </p:txBody>
      </p:sp>
      <p:sp>
        <p:nvSpPr>
          <p:cNvPr id="6" name="Rectangle 5">
            <a:extLst>
              <a:ext uri="{FF2B5EF4-FFF2-40B4-BE49-F238E27FC236}">
                <a16:creationId xmlns:a16="http://schemas.microsoft.com/office/drawing/2014/main" id="{75B09EB2-972B-2DAC-0A92-261B0A83FB85}"/>
              </a:ext>
            </a:extLst>
          </p:cNvPr>
          <p:cNvSpPr/>
          <p:nvPr/>
        </p:nvSpPr>
        <p:spPr>
          <a:xfrm>
            <a:off x="546282" y="2334882"/>
            <a:ext cx="1998512" cy="420022"/>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accent6">
                    <a:lumMod val="75000"/>
                  </a:schemeClr>
                </a:solidFill>
              </a:rPr>
              <a:t>[Text Tokens]</a:t>
            </a:r>
            <a:endParaRPr lang="en-KR" sz="1400" dirty="0">
              <a:solidFill>
                <a:sysClr val="windowText" lastClr="000000"/>
              </a:solidFill>
            </a:endParaRPr>
          </a:p>
        </p:txBody>
      </p:sp>
      <p:sp>
        <p:nvSpPr>
          <p:cNvPr id="7" name="Rectangle 6">
            <a:extLst>
              <a:ext uri="{FF2B5EF4-FFF2-40B4-BE49-F238E27FC236}">
                <a16:creationId xmlns:a16="http://schemas.microsoft.com/office/drawing/2014/main" id="{D2A9C6D8-9629-CD5B-65C7-456FEDCE8116}"/>
              </a:ext>
            </a:extLst>
          </p:cNvPr>
          <p:cNvSpPr/>
          <p:nvPr/>
        </p:nvSpPr>
        <p:spPr>
          <a:xfrm>
            <a:off x="3079573" y="2334882"/>
            <a:ext cx="1998512" cy="42002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accent5">
                    <a:lumMod val="60000"/>
                    <a:lumOff val="40000"/>
                  </a:schemeClr>
                </a:solidFill>
              </a:rPr>
              <a:t>[</a:t>
            </a:r>
            <a:r>
              <a:rPr lang="en-US" sz="1400" dirty="0">
                <a:solidFill>
                  <a:schemeClr val="accent5">
                    <a:lumMod val="60000"/>
                    <a:lumOff val="40000"/>
                  </a:schemeClr>
                </a:solidFill>
              </a:rPr>
              <a:t>VAE </a:t>
            </a:r>
            <a:r>
              <a:rPr lang="en-US" altLang="ko-KR" sz="1400" dirty="0">
                <a:solidFill>
                  <a:schemeClr val="accent5">
                    <a:lumMod val="60000"/>
                    <a:lumOff val="40000"/>
                  </a:schemeClr>
                </a:solidFill>
              </a:rPr>
              <a:t>(image) Tokens]</a:t>
            </a:r>
            <a:endParaRPr lang="en-KR" sz="1400" dirty="0">
              <a:solidFill>
                <a:sysClr val="windowText" lastClr="000000"/>
              </a:solidFill>
            </a:endParaRPr>
          </a:p>
        </p:txBody>
      </p:sp>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id="{99B0D42B-4BB0-0D90-31E4-EB874F34AF9C}"/>
                  </a:ext>
                </a:extLst>
              </p:cNvPr>
              <p:cNvSpPr/>
              <p:nvPr/>
            </p:nvSpPr>
            <p:spPr>
              <a:xfrm>
                <a:off x="546282" y="2987866"/>
                <a:ext cx="1998512" cy="655608"/>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(Understanding)</a:t>
                </a:r>
              </a:p>
              <a:p>
                <a:pPr algn="ctr"/>
                <a14:m>
                  <m:oMathPara xmlns:m="http://schemas.openxmlformats.org/officeDocument/2006/math">
                    <m:oMathParaPr>
                      <m:jc m:val="centerGroup"/>
                    </m:oMathParaPr>
                    <m:oMath xmlns:m="http://schemas.openxmlformats.org/officeDocument/2006/math">
                      <m:sSup>
                        <m:sSupPr>
                          <m:ctrlPr>
                            <a:rPr lang="en-US" altLang="ko-KR" sz="1400" i="1" dirty="0" smtClean="0">
                              <a:solidFill>
                                <a:sysClr val="windowText" lastClr="000000"/>
                              </a:solidFill>
                              <a:latin typeface="Cambria Math" panose="02040503050406030204" pitchFamily="18" charset="0"/>
                            </a:rPr>
                          </m:ctrlPr>
                        </m:sSupPr>
                        <m:e>
                          <m:r>
                            <a:rPr lang="en-US" altLang="ko-KR" sz="1400" i="1" dirty="0" smtClean="0">
                              <a:solidFill>
                                <a:sysClr val="windowText" lastClr="000000"/>
                              </a:solidFill>
                              <a:latin typeface="Cambria Math" panose="02040503050406030204" pitchFamily="18" charset="0"/>
                            </a:rPr>
                            <m:t>𝑊</m:t>
                          </m:r>
                        </m:e>
                        <m:sup>
                          <m:r>
                            <a:rPr lang="en-US" altLang="ko-KR" sz="1400" i="1" dirty="0" smtClean="0">
                              <a:solidFill>
                                <a:sysClr val="windowText" lastClr="000000"/>
                              </a:solidFill>
                              <a:latin typeface="Cambria Math" panose="02040503050406030204" pitchFamily="18" charset="0"/>
                            </a:rPr>
                            <m:t>𝑄</m:t>
                          </m:r>
                          <m:r>
                            <a:rPr lang="en-US" altLang="ko-KR" sz="1400" b="0" i="1" dirty="0" smtClean="0">
                              <a:solidFill>
                                <a:sysClr val="windowText" lastClr="000000"/>
                              </a:solidFill>
                              <a:latin typeface="Cambria Math" panose="02040503050406030204" pitchFamily="18" charset="0"/>
                            </a:rPr>
                            <m:t>_</m:t>
                          </m:r>
                          <m:r>
                            <a:rPr lang="en-US" altLang="ko-KR" sz="1400" b="0" i="1" dirty="0" smtClean="0">
                              <a:solidFill>
                                <a:sysClr val="windowText" lastClr="000000"/>
                              </a:solidFill>
                              <a:latin typeface="Cambria Math" panose="02040503050406030204" pitchFamily="18" charset="0"/>
                            </a:rPr>
                            <m:t>𝑢𝑛𝑑</m:t>
                          </m:r>
                        </m:sup>
                      </m:sSup>
                      <m:r>
                        <a:rPr lang="en-US" altLang="ko-KR" sz="1400" i="1" dirty="0" smtClean="0">
                          <a:solidFill>
                            <a:sysClr val="windowText" lastClr="000000"/>
                          </a:solidFill>
                          <a:latin typeface="Cambria Math" panose="02040503050406030204" pitchFamily="18" charset="0"/>
                        </a:rPr>
                        <m:t>, </m:t>
                      </m:r>
                      <m:sSup>
                        <m:sSupPr>
                          <m:ctrlPr>
                            <a:rPr lang="en-US" altLang="ko-KR" sz="1400" i="1" dirty="0" smtClean="0">
                              <a:solidFill>
                                <a:sysClr val="windowText" lastClr="000000"/>
                              </a:solidFill>
                              <a:latin typeface="Cambria Math" panose="02040503050406030204" pitchFamily="18" charset="0"/>
                            </a:rPr>
                          </m:ctrlPr>
                        </m:sSupPr>
                        <m:e>
                          <m:r>
                            <a:rPr lang="en-US" altLang="ko-KR" sz="1400" i="1" dirty="0" smtClean="0">
                              <a:solidFill>
                                <a:sysClr val="windowText" lastClr="000000"/>
                              </a:solidFill>
                              <a:latin typeface="Cambria Math" panose="02040503050406030204" pitchFamily="18" charset="0"/>
                            </a:rPr>
                            <m:t>𝑊</m:t>
                          </m:r>
                        </m:e>
                        <m:sup>
                          <m:r>
                            <a:rPr lang="en-US" altLang="ko-KR" sz="1400" i="1" dirty="0" smtClean="0">
                              <a:solidFill>
                                <a:sysClr val="windowText" lastClr="000000"/>
                              </a:solidFill>
                              <a:latin typeface="Cambria Math" panose="02040503050406030204" pitchFamily="18" charset="0"/>
                            </a:rPr>
                            <m:t>𝐾</m:t>
                          </m:r>
                          <m:r>
                            <a:rPr lang="en-US" altLang="ko-KR" sz="1400" i="1" dirty="0">
                              <a:solidFill>
                                <a:sysClr val="windowText" lastClr="000000"/>
                              </a:solidFill>
                              <a:latin typeface="Cambria Math" panose="02040503050406030204" pitchFamily="18" charset="0"/>
                            </a:rPr>
                            <m:t>_</m:t>
                          </m:r>
                          <m:r>
                            <a:rPr lang="en-US" altLang="ko-KR" sz="1400" i="1" dirty="0">
                              <a:solidFill>
                                <a:sysClr val="windowText" lastClr="000000"/>
                              </a:solidFill>
                              <a:latin typeface="Cambria Math" panose="02040503050406030204" pitchFamily="18" charset="0"/>
                            </a:rPr>
                            <m:t>𝑢𝑛𝑑</m:t>
                          </m:r>
                        </m:sup>
                      </m:sSup>
                      <m:r>
                        <a:rPr lang="en-US" altLang="ko-KR" sz="1400" i="1" dirty="0" smtClean="0">
                          <a:solidFill>
                            <a:sysClr val="windowText" lastClr="000000"/>
                          </a:solidFill>
                          <a:latin typeface="Cambria Math" panose="02040503050406030204" pitchFamily="18" charset="0"/>
                        </a:rPr>
                        <m:t>, </m:t>
                      </m:r>
                      <m:sSup>
                        <m:sSupPr>
                          <m:ctrlPr>
                            <a:rPr lang="en-US" altLang="ko-KR" sz="1400" b="0" i="1" dirty="0" smtClean="0">
                              <a:solidFill>
                                <a:sysClr val="windowText" lastClr="000000"/>
                              </a:solidFill>
                              <a:latin typeface="Cambria Math" panose="02040503050406030204" pitchFamily="18" charset="0"/>
                            </a:rPr>
                          </m:ctrlPr>
                        </m:sSupPr>
                        <m:e>
                          <m:r>
                            <a:rPr lang="en-US" altLang="ko-KR" sz="1400" i="1" dirty="0" smtClean="0">
                              <a:solidFill>
                                <a:sysClr val="windowText" lastClr="000000"/>
                              </a:solidFill>
                              <a:latin typeface="Cambria Math" panose="02040503050406030204" pitchFamily="18" charset="0"/>
                            </a:rPr>
                            <m:t>𝑊</m:t>
                          </m:r>
                        </m:e>
                        <m:sup>
                          <m:r>
                            <a:rPr lang="en-US" altLang="ko-KR" sz="1400" i="1" dirty="0" smtClean="0">
                              <a:solidFill>
                                <a:sysClr val="windowText" lastClr="000000"/>
                              </a:solidFill>
                              <a:latin typeface="Cambria Math" panose="02040503050406030204" pitchFamily="18" charset="0"/>
                            </a:rPr>
                            <m:t>𝑉</m:t>
                          </m:r>
                          <m:r>
                            <a:rPr lang="en-US" altLang="ko-KR" sz="1400" i="1" dirty="0">
                              <a:solidFill>
                                <a:sysClr val="windowText" lastClr="000000"/>
                              </a:solidFill>
                              <a:latin typeface="Cambria Math" panose="02040503050406030204" pitchFamily="18" charset="0"/>
                            </a:rPr>
                            <m:t>_</m:t>
                          </m:r>
                          <m:r>
                            <a:rPr lang="en-US" altLang="ko-KR" sz="1400" i="1" dirty="0">
                              <a:solidFill>
                                <a:sysClr val="windowText" lastClr="000000"/>
                              </a:solidFill>
                              <a:latin typeface="Cambria Math" panose="02040503050406030204" pitchFamily="18" charset="0"/>
                            </a:rPr>
                            <m:t>𝑢𝑛𝑑</m:t>
                          </m:r>
                        </m:sup>
                      </m:sSup>
                    </m:oMath>
                  </m:oMathPara>
                </a14:m>
                <a:endParaRPr lang="en-US" altLang="ko-KR" sz="1400" dirty="0">
                  <a:solidFill>
                    <a:sysClr val="windowText" lastClr="000000"/>
                  </a:solidFill>
                </a:endParaRPr>
              </a:p>
            </p:txBody>
          </p:sp>
        </mc:Choice>
        <mc:Fallback>
          <p:sp>
            <p:nvSpPr>
              <p:cNvPr id="8" name="Rectangle 7">
                <a:extLst>
                  <a:ext uri="{FF2B5EF4-FFF2-40B4-BE49-F238E27FC236}">
                    <a16:creationId xmlns:a16="http://schemas.microsoft.com/office/drawing/2014/main" id="{99B0D42B-4BB0-0D90-31E4-EB874F34AF9C}"/>
                  </a:ext>
                </a:extLst>
              </p:cNvPr>
              <p:cNvSpPr>
                <a:spLocks noRot="1" noChangeAspect="1" noMove="1" noResize="1" noEditPoints="1" noAdjustHandles="1" noChangeArrowheads="1" noChangeShapeType="1" noTextEdit="1"/>
              </p:cNvSpPr>
              <p:nvPr/>
            </p:nvSpPr>
            <p:spPr>
              <a:xfrm>
                <a:off x="546282" y="2987866"/>
                <a:ext cx="1998512" cy="655608"/>
              </a:xfrm>
              <a:prstGeom prst="rect">
                <a:avLst/>
              </a:prstGeom>
              <a:blipFill>
                <a:blip r:embed="rId2"/>
                <a:stretch>
                  <a:fillRect/>
                </a:stretch>
              </a:blipFill>
              <a:ln>
                <a:solidFill>
                  <a:schemeClr val="tx1"/>
                </a:solidFill>
              </a:ln>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BA723714-E671-F544-9FA6-25F85E893DAF}"/>
                  </a:ext>
                </a:extLst>
              </p:cNvPr>
              <p:cNvSpPr/>
              <p:nvPr/>
            </p:nvSpPr>
            <p:spPr>
              <a:xfrm>
                <a:off x="3079573" y="2987866"/>
                <a:ext cx="1998512" cy="655608"/>
              </a:xfrm>
              <a:prstGeom prst="rect">
                <a:avLst/>
              </a:prstGeom>
              <a:solidFill>
                <a:schemeClr val="accent5">
                  <a:lumMod val="40000"/>
                  <a:lumOff val="6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(Generation)</a:t>
                </a:r>
              </a:p>
              <a:p>
                <a:pPr algn="ctr"/>
                <a14:m>
                  <m:oMathPara xmlns:m="http://schemas.openxmlformats.org/officeDocument/2006/math">
                    <m:oMathParaPr>
                      <m:jc m:val="centerGroup"/>
                    </m:oMathParaPr>
                    <m:oMath xmlns:m="http://schemas.openxmlformats.org/officeDocument/2006/math">
                      <m:sSup>
                        <m:sSupPr>
                          <m:ctrlPr>
                            <a:rPr lang="en-US" altLang="ko-KR" sz="1400" i="1" dirty="0" smtClean="0">
                              <a:solidFill>
                                <a:schemeClr val="tx1"/>
                              </a:solidFill>
                              <a:latin typeface="Cambria Math" panose="02040503050406030204" pitchFamily="18" charset="0"/>
                            </a:rPr>
                          </m:ctrlPr>
                        </m:sSupPr>
                        <m:e>
                          <m:r>
                            <a:rPr lang="en-US" altLang="ko-KR" sz="1400" b="0" i="1" dirty="0" smtClean="0">
                              <a:solidFill>
                                <a:schemeClr val="tx1"/>
                              </a:solidFill>
                              <a:latin typeface="Cambria Math" panose="02040503050406030204" pitchFamily="18" charset="0"/>
                            </a:rPr>
                            <m:t>𝑊</m:t>
                          </m:r>
                        </m:e>
                        <m:sup>
                          <m:r>
                            <a:rPr lang="en-US" altLang="ko-KR" sz="1400" b="0" i="1" dirty="0" smtClean="0">
                              <a:solidFill>
                                <a:schemeClr val="tx1"/>
                              </a:solidFill>
                              <a:latin typeface="Cambria Math" panose="02040503050406030204" pitchFamily="18" charset="0"/>
                            </a:rPr>
                            <m:t>𝑄</m:t>
                          </m:r>
                          <m:r>
                            <a:rPr lang="en-US" altLang="ko-KR" sz="1400" b="0" i="1" dirty="0" smtClean="0">
                              <a:solidFill>
                                <a:schemeClr val="tx1"/>
                              </a:solidFill>
                              <a:latin typeface="Cambria Math" panose="02040503050406030204" pitchFamily="18" charset="0"/>
                            </a:rPr>
                            <m:t>_</m:t>
                          </m:r>
                          <m:r>
                            <a:rPr lang="en-US" altLang="ko-KR" sz="1400" b="0" i="1" dirty="0" smtClean="0">
                              <a:solidFill>
                                <a:schemeClr val="tx1"/>
                              </a:solidFill>
                              <a:latin typeface="Cambria Math" panose="02040503050406030204" pitchFamily="18" charset="0"/>
                            </a:rPr>
                            <m:t>𝑔𝑒𝑛</m:t>
                          </m:r>
                        </m:sup>
                      </m:sSup>
                      <m:r>
                        <a:rPr lang="en-US" altLang="ko-KR" sz="1400" b="0" i="1" dirty="0" smtClean="0">
                          <a:solidFill>
                            <a:schemeClr val="tx1"/>
                          </a:solidFill>
                          <a:latin typeface="Cambria Math" panose="02040503050406030204" pitchFamily="18" charset="0"/>
                        </a:rPr>
                        <m:t>, </m:t>
                      </m:r>
                      <m:sSup>
                        <m:sSupPr>
                          <m:ctrlPr>
                            <a:rPr lang="en-US" altLang="ko-KR" sz="1400" i="1" dirty="0" smtClean="0">
                              <a:solidFill>
                                <a:schemeClr val="tx1"/>
                              </a:solidFill>
                              <a:latin typeface="Cambria Math" panose="02040503050406030204" pitchFamily="18" charset="0"/>
                            </a:rPr>
                          </m:ctrlPr>
                        </m:sSupPr>
                        <m:e>
                          <m:r>
                            <a:rPr lang="en-US" altLang="ko-KR" sz="1400" b="0" i="1" dirty="0" smtClean="0">
                              <a:solidFill>
                                <a:schemeClr val="tx1"/>
                              </a:solidFill>
                              <a:latin typeface="Cambria Math" panose="02040503050406030204" pitchFamily="18" charset="0"/>
                            </a:rPr>
                            <m:t>𝑊</m:t>
                          </m:r>
                        </m:e>
                        <m:sup>
                          <m:r>
                            <a:rPr lang="en-US" altLang="ko-KR" sz="1400" b="0" i="1" dirty="0" smtClean="0">
                              <a:solidFill>
                                <a:schemeClr val="tx1"/>
                              </a:solidFill>
                              <a:latin typeface="Cambria Math" panose="02040503050406030204" pitchFamily="18" charset="0"/>
                            </a:rPr>
                            <m:t>𝐾</m:t>
                          </m:r>
                          <m:r>
                            <a:rPr lang="en-US" altLang="ko-KR" sz="1400" b="0" i="1" dirty="0" smtClean="0">
                              <a:solidFill>
                                <a:schemeClr val="tx1"/>
                              </a:solidFill>
                              <a:latin typeface="Cambria Math" panose="02040503050406030204" pitchFamily="18" charset="0"/>
                            </a:rPr>
                            <m:t>_</m:t>
                          </m:r>
                          <m:r>
                            <a:rPr lang="en-US" altLang="ko-KR" sz="1400" b="0" i="1" dirty="0" smtClean="0">
                              <a:solidFill>
                                <a:schemeClr val="tx1"/>
                              </a:solidFill>
                              <a:latin typeface="Cambria Math" panose="02040503050406030204" pitchFamily="18" charset="0"/>
                            </a:rPr>
                            <m:t>𝑔𝑒𝑛</m:t>
                          </m:r>
                        </m:sup>
                      </m:sSup>
                      <m:r>
                        <a:rPr lang="en-US" altLang="ko-KR" sz="1400" i="1" dirty="0" smtClean="0">
                          <a:solidFill>
                            <a:sysClr val="windowText" lastClr="000000"/>
                          </a:solidFill>
                          <a:latin typeface="Cambria Math" panose="02040503050406030204" pitchFamily="18" charset="0"/>
                        </a:rPr>
                        <m:t>, </m:t>
                      </m:r>
                      <m:sSup>
                        <m:sSupPr>
                          <m:ctrlPr>
                            <a:rPr lang="en-US" altLang="ko-KR" sz="1400" b="0" i="1" dirty="0" smtClean="0">
                              <a:solidFill>
                                <a:sysClr val="windowText" lastClr="000000"/>
                              </a:solidFill>
                              <a:latin typeface="Cambria Math" panose="02040503050406030204" pitchFamily="18" charset="0"/>
                            </a:rPr>
                          </m:ctrlPr>
                        </m:sSupPr>
                        <m:e>
                          <m:r>
                            <a:rPr lang="en-US" altLang="ko-KR" sz="1400" i="1" dirty="0" smtClean="0">
                              <a:solidFill>
                                <a:sysClr val="windowText" lastClr="000000"/>
                              </a:solidFill>
                              <a:latin typeface="Cambria Math" panose="02040503050406030204" pitchFamily="18" charset="0"/>
                            </a:rPr>
                            <m:t>𝑊</m:t>
                          </m:r>
                        </m:e>
                        <m:sup>
                          <m:r>
                            <a:rPr lang="en-US" altLang="ko-KR" sz="1400" i="1" dirty="0" smtClean="0">
                              <a:solidFill>
                                <a:sysClr val="windowText" lastClr="000000"/>
                              </a:solidFill>
                              <a:latin typeface="Cambria Math" panose="02040503050406030204" pitchFamily="18" charset="0"/>
                            </a:rPr>
                            <m:t>𝑉</m:t>
                          </m:r>
                          <m:r>
                            <a:rPr lang="en-US" altLang="ko-KR" sz="1400" b="0" i="1" dirty="0" smtClean="0">
                              <a:solidFill>
                                <a:sysClr val="windowText" lastClr="000000"/>
                              </a:solidFill>
                              <a:latin typeface="Cambria Math" panose="02040503050406030204" pitchFamily="18" charset="0"/>
                            </a:rPr>
                            <m:t>_</m:t>
                          </m:r>
                          <m:r>
                            <a:rPr lang="en-US" altLang="ko-KR" sz="1400" b="0" i="1" dirty="0" smtClean="0">
                              <a:solidFill>
                                <a:sysClr val="windowText" lastClr="000000"/>
                              </a:solidFill>
                              <a:latin typeface="Cambria Math" panose="02040503050406030204" pitchFamily="18" charset="0"/>
                            </a:rPr>
                            <m:t>𝑔𝑒𝑛</m:t>
                          </m:r>
                        </m:sup>
                      </m:sSup>
                    </m:oMath>
                  </m:oMathPara>
                </a14:m>
                <a:endParaRPr lang="en-US" altLang="ko-KR" sz="1400" dirty="0">
                  <a:solidFill>
                    <a:sysClr val="windowText" lastClr="000000"/>
                  </a:solidFill>
                </a:endParaRPr>
              </a:p>
            </p:txBody>
          </p:sp>
        </mc:Choice>
        <mc:Fallback>
          <p:sp>
            <p:nvSpPr>
              <p:cNvPr id="9" name="Rectangle 8">
                <a:extLst>
                  <a:ext uri="{FF2B5EF4-FFF2-40B4-BE49-F238E27FC236}">
                    <a16:creationId xmlns:a16="http://schemas.microsoft.com/office/drawing/2014/main" id="{BA723714-E671-F544-9FA6-25F85E893DAF}"/>
                  </a:ext>
                </a:extLst>
              </p:cNvPr>
              <p:cNvSpPr>
                <a:spLocks noRot="1" noChangeAspect="1" noMove="1" noResize="1" noEditPoints="1" noAdjustHandles="1" noChangeArrowheads="1" noChangeShapeType="1" noTextEdit="1"/>
              </p:cNvSpPr>
              <p:nvPr/>
            </p:nvSpPr>
            <p:spPr>
              <a:xfrm>
                <a:off x="3079573" y="2987866"/>
                <a:ext cx="1998512" cy="655608"/>
              </a:xfrm>
              <a:prstGeom prst="rect">
                <a:avLst/>
              </a:prstGeom>
              <a:blipFill>
                <a:blip r:embed="rId3"/>
                <a:stretch>
                  <a:fillRect/>
                </a:stretch>
              </a:blipFill>
              <a:ln w="57150"/>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E1F2A0CA-D0E3-427D-FC16-F9041C197B7A}"/>
                  </a:ext>
                </a:extLst>
              </p:cNvPr>
              <p:cNvSpPr/>
              <p:nvPr/>
            </p:nvSpPr>
            <p:spPr>
              <a:xfrm>
                <a:off x="546282" y="3843751"/>
                <a:ext cx="1998512" cy="34167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Text Q, K, V</a:t>
                </a:r>
                <a14:m/>
              </a:p>
            </p:txBody>
          </p:sp>
        </mc:Choice>
        <mc:Fallback>
          <p:sp>
            <p:nvSpPr>
              <p:cNvPr id="10" name="Rectangle 9">
                <a:extLst>
                  <a:ext uri="{FF2B5EF4-FFF2-40B4-BE49-F238E27FC236}">
                    <a16:creationId xmlns:a16="http://schemas.microsoft.com/office/drawing/2014/main" id="{E1F2A0CA-D0E3-427D-FC16-F9041C197B7A}"/>
                  </a:ext>
                </a:extLst>
              </p:cNvPr>
              <p:cNvSpPr>
                <a:spLocks noRot="1" noChangeAspect="1" noMove="1" noResize="1" noEditPoints="1" noAdjustHandles="1" noChangeArrowheads="1" noChangeShapeType="1" noTextEdit="1"/>
              </p:cNvSpPr>
              <p:nvPr/>
            </p:nvSpPr>
            <p:spPr>
              <a:xfrm>
                <a:off x="546282" y="3843751"/>
                <a:ext cx="1998512" cy="341672"/>
              </a:xfrm>
              <a:prstGeom prst="rect">
                <a:avLst/>
              </a:prstGeom>
              <a:blipFill>
                <a:blip r:embed="rId4"/>
                <a:stretch>
                  <a:fillRect b="-10345"/>
                </a:stretch>
              </a:blipFill>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11" name="Rectangle 10">
                <a:extLst>
                  <a:ext uri="{FF2B5EF4-FFF2-40B4-BE49-F238E27FC236}">
                    <a16:creationId xmlns:a16="http://schemas.microsoft.com/office/drawing/2014/main" id="{FE50FBE5-9787-728B-FAC6-A8BC630FAF85}"/>
                  </a:ext>
                </a:extLst>
              </p:cNvPr>
              <p:cNvSpPr/>
              <p:nvPr/>
            </p:nvSpPr>
            <p:spPr>
              <a:xfrm>
                <a:off x="3079573" y="3833939"/>
                <a:ext cx="1998512" cy="34167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VAE Q, K, V</a:t>
                </a:r>
                <a14:m/>
              </a:p>
            </p:txBody>
          </p:sp>
        </mc:Choice>
        <mc:Fallback>
          <p:sp>
            <p:nvSpPr>
              <p:cNvPr id="11" name="Rectangle 10">
                <a:extLst>
                  <a:ext uri="{FF2B5EF4-FFF2-40B4-BE49-F238E27FC236}">
                    <a16:creationId xmlns:a16="http://schemas.microsoft.com/office/drawing/2014/main" id="{FE50FBE5-9787-728B-FAC6-A8BC630FAF85}"/>
                  </a:ext>
                </a:extLst>
              </p:cNvPr>
              <p:cNvSpPr>
                <a:spLocks noRot="1" noChangeAspect="1" noMove="1" noResize="1" noEditPoints="1" noAdjustHandles="1" noChangeArrowheads="1" noChangeShapeType="1" noTextEdit="1"/>
              </p:cNvSpPr>
              <p:nvPr/>
            </p:nvSpPr>
            <p:spPr>
              <a:xfrm>
                <a:off x="3079573" y="3833939"/>
                <a:ext cx="1998512" cy="341672"/>
              </a:xfrm>
              <a:prstGeom prst="rect">
                <a:avLst/>
              </a:prstGeom>
              <a:blipFill>
                <a:blip r:embed="rId5"/>
                <a:stretch>
                  <a:fillRect b="-10345"/>
                </a:stretch>
              </a:blipFill>
            </p:spPr>
            <p:txBody>
              <a:bodyPr/>
              <a:lstStyle/>
              <a:p>
                <a:r>
                  <a:rPr lang="en-KR">
                    <a:noFill/>
                  </a:rPr>
                  <a:t> </a:t>
                </a:r>
              </a:p>
            </p:txBody>
          </p:sp>
        </mc:Fallback>
      </mc:AlternateContent>
      <p:cxnSp>
        <p:nvCxnSpPr>
          <p:cNvPr id="13" name="Straight Arrow Connector 12">
            <a:extLst>
              <a:ext uri="{FF2B5EF4-FFF2-40B4-BE49-F238E27FC236}">
                <a16:creationId xmlns:a16="http://schemas.microsoft.com/office/drawing/2014/main" id="{636703DE-495B-507A-DF0B-B1B4F9EC66F1}"/>
              </a:ext>
            </a:extLst>
          </p:cNvPr>
          <p:cNvCxnSpPr>
            <a:cxnSpLocks/>
            <a:stCxn id="6" idx="2"/>
            <a:endCxn id="8" idx="0"/>
          </p:cNvCxnSpPr>
          <p:nvPr/>
        </p:nvCxnSpPr>
        <p:spPr>
          <a:xfrm>
            <a:off x="1545538" y="2754904"/>
            <a:ext cx="0" cy="232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87CAE63-DB62-D534-B84C-BB811B1EC61A}"/>
              </a:ext>
            </a:extLst>
          </p:cNvPr>
          <p:cNvCxnSpPr>
            <a:cxnSpLocks/>
            <a:stCxn id="7" idx="2"/>
            <a:endCxn id="9" idx="0"/>
          </p:cNvCxnSpPr>
          <p:nvPr/>
        </p:nvCxnSpPr>
        <p:spPr>
          <a:xfrm>
            <a:off x="4078829" y="2754904"/>
            <a:ext cx="0" cy="232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8092BD8-13E8-215D-4237-313935E29A4D}"/>
              </a:ext>
            </a:extLst>
          </p:cNvPr>
          <p:cNvCxnSpPr>
            <a:cxnSpLocks/>
            <a:stCxn id="8" idx="2"/>
            <a:endCxn id="10" idx="0"/>
          </p:cNvCxnSpPr>
          <p:nvPr/>
        </p:nvCxnSpPr>
        <p:spPr>
          <a:xfrm>
            <a:off x="1545538" y="3643474"/>
            <a:ext cx="0" cy="2002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377A17B-DB19-69A1-384E-D9CF17B9FDE7}"/>
              </a:ext>
            </a:extLst>
          </p:cNvPr>
          <p:cNvCxnSpPr>
            <a:cxnSpLocks/>
            <a:stCxn id="9" idx="2"/>
            <a:endCxn id="11" idx="0"/>
          </p:cNvCxnSpPr>
          <p:nvPr/>
        </p:nvCxnSpPr>
        <p:spPr>
          <a:xfrm>
            <a:off x="4078829" y="3643474"/>
            <a:ext cx="0" cy="1904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5ACE427-4F12-B76D-945C-451D5B58DA25}"/>
              </a:ext>
            </a:extLst>
          </p:cNvPr>
          <p:cNvCxnSpPr>
            <a:cxnSpLocks/>
          </p:cNvCxnSpPr>
          <p:nvPr/>
        </p:nvCxnSpPr>
        <p:spPr>
          <a:xfrm>
            <a:off x="2820838" y="4422263"/>
            <a:ext cx="0" cy="2528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770E1581-10EE-FDE1-9962-73C46F41BBFB}"/>
              </a:ext>
            </a:extLst>
          </p:cNvPr>
          <p:cNvCxnSpPr>
            <a:cxnSpLocks/>
          </p:cNvCxnSpPr>
          <p:nvPr/>
        </p:nvCxnSpPr>
        <p:spPr>
          <a:xfrm>
            <a:off x="1545538" y="2130725"/>
            <a:ext cx="0" cy="20415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6DB5848-1AF8-7F85-7A53-B4D5074AAE15}"/>
              </a:ext>
            </a:extLst>
          </p:cNvPr>
          <p:cNvCxnSpPr>
            <a:cxnSpLocks/>
          </p:cNvCxnSpPr>
          <p:nvPr/>
        </p:nvCxnSpPr>
        <p:spPr>
          <a:xfrm>
            <a:off x="4070203" y="2126411"/>
            <a:ext cx="0" cy="204157"/>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94F0F3F8-7C80-3091-43B5-A53D4EDCB7E7}"/>
              </a:ext>
            </a:extLst>
          </p:cNvPr>
          <p:cNvCxnSpPr/>
          <p:nvPr/>
        </p:nvCxnSpPr>
        <p:spPr>
          <a:xfrm>
            <a:off x="1545538" y="2126411"/>
            <a:ext cx="2524665" cy="0"/>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18C144C1-8979-8A02-86FE-72A47B615EFD}"/>
              </a:ext>
            </a:extLst>
          </p:cNvPr>
          <p:cNvCxnSpPr>
            <a:cxnSpLocks/>
          </p:cNvCxnSpPr>
          <p:nvPr/>
        </p:nvCxnSpPr>
        <p:spPr>
          <a:xfrm>
            <a:off x="1545538" y="4422334"/>
            <a:ext cx="2543382" cy="0"/>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0693402D-7A13-5C1B-74A9-9CF03F29FD4F}"/>
              </a:ext>
            </a:extLst>
          </p:cNvPr>
          <p:cNvCxnSpPr>
            <a:cxnSpLocks/>
            <a:stCxn id="10" idx="2"/>
          </p:cNvCxnSpPr>
          <p:nvPr/>
        </p:nvCxnSpPr>
        <p:spPr>
          <a:xfrm>
            <a:off x="1545538" y="4185423"/>
            <a:ext cx="0" cy="236911"/>
          </a:xfrm>
          <a:prstGeom prst="line">
            <a:avLst/>
          </a:prstGeom>
        </p:spPr>
        <p:style>
          <a:lnRef idx="2">
            <a:schemeClr val="dk1"/>
          </a:lnRef>
          <a:fillRef idx="0">
            <a:schemeClr val="dk1"/>
          </a:fillRef>
          <a:effectRef idx="1">
            <a:schemeClr val="dk1"/>
          </a:effectRef>
          <a:fontRef idx="minor">
            <a:schemeClr val="tx1"/>
          </a:fontRef>
        </p:style>
      </p:cxnSp>
      <p:cxnSp>
        <p:nvCxnSpPr>
          <p:cNvPr id="28" name="Straight Connector 27">
            <a:extLst>
              <a:ext uri="{FF2B5EF4-FFF2-40B4-BE49-F238E27FC236}">
                <a16:creationId xmlns:a16="http://schemas.microsoft.com/office/drawing/2014/main" id="{E965F7E3-9064-A91F-E527-2DBACC467B96}"/>
              </a:ext>
            </a:extLst>
          </p:cNvPr>
          <p:cNvCxnSpPr>
            <a:cxnSpLocks/>
            <a:stCxn id="11" idx="2"/>
          </p:cNvCxnSpPr>
          <p:nvPr/>
        </p:nvCxnSpPr>
        <p:spPr>
          <a:xfrm>
            <a:off x="4078829" y="4175611"/>
            <a:ext cx="0" cy="246652"/>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99A7BD50-EF4F-E054-CA4D-DD92B034FDB7}"/>
              </a:ext>
            </a:extLst>
          </p:cNvPr>
          <p:cNvCxnSpPr>
            <a:cxnSpLocks/>
            <a:stCxn id="4" idx="2"/>
          </p:cNvCxnSpPr>
          <p:nvPr/>
        </p:nvCxnSpPr>
        <p:spPr>
          <a:xfrm>
            <a:off x="2820838" y="1889185"/>
            <a:ext cx="0" cy="237226"/>
          </a:xfrm>
          <a:prstGeom prst="line">
            <a:avLst/>
          </a:prstGeom>
        </p:spPr>
        <p:style>
          <a:lnRef idx="2">
            <a:schemeClr val="dk1"/>
          </a:lnRef>
          <a:fillRef idx="0">
            <a:schemeClr val="dk1"/>
          </a:fillRef>
          <a:effectRef idx="1">
            <a:schemeClr val="dk1"/>
          </a:effectRef>
          <a:fontRef idx="minor">
            <a:schemeClr val="tx1"/>
          </a:fontRef>
        </p:style>
      </p:cxnSp>
      <p:sp>
        <p:nvSpPr>
          <p:cNvPr id="33" name="Rectangle 32">
            <a:extLst>
              <a:ext uri="{FF2B5EF4-FFF2-40B4-BE49-F238E27FC236}">
                <a16:creationId xmlns:a16="http://schemas.microsoft.com/office/drawing/2014/main" id="{A35CA0F9-6A07-D0AF-DA17-347B640BE13C}"/>
              </a:ext>
            </a:extLst>
          </p:cNvPr>
          <p:cNvSpPr/>
          <p:nvPr/>
        </p:nvSpPr>
        <p:spPr>
          <a:xfrm>
            <a:off x="1821580" y="4669058"/>
            <a:ext cx="1998512" cy="304741"/>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Self-Attention</a:t>
            </a:r>
          </a:p>
        </p:txBody>
      </p:sp>
      <p:sp>
        <p:nvSpPr>
          <p:cNvPr id="34" name="TextBox 33">
            <a:extLst>
              <a:ext uri="{FF2B5EF4-FFF2-40B4-BE49-F238E27FC236}">
                <a16:creationId xmlns:a16="http://schemas.microsoft.com/office/drawing/2014/main" id="{2BD7E64A-E17B-DBFC-C9CE-C27A7F8B73DE}"/>
              </a:ext>
            </a:extLst>
          </p:cNvPr>
          <p:cNvSpPr txBox="1"/>
          <p:nvPr/>
        </p:nvSpPr>
        <p:spPr>
          <a:xfrm>
            <a:off x="6734660" y="3748030"/>
            <a:ext cx="461986" cy="369332"/>
          </a:xfrm>
          <a:prstGeom prst="rect">
            <a:avLst/>
          </a:prstGeom>
          <a:noFill/>
        </p:spPr>
        <p:txBody>
          <a:bodyPr wrap="none" rtlCol="0">
            <a:spAutoFit/>
          </a:bodyPr>
          <a:lstStyle/>
          <a:p>
            <a:r>
              <a:rPr lang="en-US" b="1" dirty="0">
                <a:solidFill>
                  <a:srgbClr val="00B050"/>
                </a:solidFill>
              </a:rPr>
              <a:t>txt</a:t>
            </a:r>
            <a:endParaRPr lang="en-KR" b="1" dirty="0">
              <a:solidFill>
                <a:srgbClr val="00B050"/>
              </a:solidFill>
            </a:endParaRPr>
          </a:p>
        </p:txBody>
      </p:sp>
      <p:graphicFrame>
        <p:nvGraphicFramePr>
          <p:cNvPr id="35" name="Content Placeholder 3">
            <a:extLst>
              <a:ext uri="{FF2B5EF4-FFF2-40B4-BE49-F238E27FC236}">
                <a16:creationId xmlns:a16="http://schemas.microsoft.com/office/drawing/2014/main" id="{CB6C487D-E87A-0C91-BA1E-FBFC2E063446}"/>
              </a:ext>
            </a:extLst>
          </p:cNvPr>
          <p:cNvGraphicFramePr>
            <a:graphicFrameLocks/>
          </p:cNvGraphicFramePr>
          <p:nvPr>
            <p:extLst>
              <p:ext uri="{D42A27DB-BD31-4B8C-83A1-F6EECF244321}">
                <p14:modId xmlns:p14="http://schemas.microsoft.com/office/powerpoint/2010/main" val="3119976867"/>
              </p:ext>
            </p:extLst>
          </p:nvPr>
        </p:nvGraphicFramePr>
        <p:xfrm>
          <a:off x="7172600" y="3517923"/>
          <a:ext cx="2339379" cy="2343660"/>
        </p:xfrm>
        <a:graphic>
          <a:graphicData uri="http://schemas.openxmlformats.org/drawingml/2006/table">
            <a:tbl>
              <a:tblPr firstRow="1" bandRow="1">
                <a:tableStyleId>{5940675A-B579-460E-94D1-54222C63F5DA}</a:tableStyleId>
              </a:tblPr>
              <a:tblGrid>
                <a:gridCol w="779793">
                  <a:extLst>
                    <a:ext uri="{9D8B030D-6E8A-4147-A177-3AD203B41FA5}">
                      <a16:colId xmlns:a16="http://schemas.microsoft.com/office/drawing/2014/main" val="1276286053"/>
                    </a:ext>
                  </a:extLst>
                </a:gridCol>
                <a:gridCol w="779793">
                  <a:extLst>
                    <a:ext uri="{9D8B030D-6E8A-4147-A177-3AD203B41FA5}">
                      <a16:colId xmlns:a16="http://schemas.microsoft.com/office/drawing/2014/main" val="226945541"/>
                    </a:ext>
                  </a:extLst>
                </a:gridCol>
                <a:gridCol w="779793">
                  <a:extLst>
                    <a:ext uri="{9D8B030D-6E8A-4147-A177-3AD203B41FA5}">
                      <a16:colId xmlns:a16="http://schemas.microsoft.com/office/drawing/2014/main" val="4214892121"/>
                    </a:ext>
                  </a:extLst>
                </a:gridCol>
              </a:tblGrid>
              <a:tr h="781220">
                <a:tc>
                  <a:txBody>
                    <a:bodyPr/>
                    <a:lstStyle/>
                    <a:p>
                      <a:endParaRPr lang="en-KR" dirty="0"/>
                    </a:p>
                  </a:txBody>
                  <a:tcPr>
                    <a:solidFill>
                      <a:schemeClr val="bg1"/>
                    </a:solidFill>
                  </a:tcPr>
                </a:tc>
                <a:tc>
                  <a:txBody>
                    <a:bodyPr/>
                    <a:lstStyle/>
                    <a:p>
                      <a:endParaRPr lang="en-KR" dirty="0"/>
                    </a:p>
                  </a:txBody>
                  <a:tcPr>
                    <a:solidFill>
                      <a:schemeClr val="bg1"/>
                    </a:solidFill>
                  </a:tcPr>
                </a:tc>
                <a:tc>
                  <a:txBody>
                    <a:bodyPr/>
                    <a:lstStyle/>
                    <a:p>
                      <a:endParaRPr lang="en-KR" dirty="0"/>
                    </a:p>
                  </a:txBody>
                  <a:tcPr>
                    <a:solidFill>
                      <a:schemeClr val="bg1"/>
                    </a:solidFill>
                  </a:tcPr>
                </a:tc>
                <a:extLst>
                  <a:ext uri="{0D108BD9-81ED-4DB2-BD59-A6C34878D82A}">
                    <a16:rowId xmlns:a16="http://schemas.microsoft.com/office/drawing/2014/main" val="1767675453"/>
                  </a:ext>
                </a:extLst>
              </a:tr>
              <a:tr h="781220">
                <a:tc>
                  <a:txBody>
                    <a:bodyPr/>
                    <a:lstStyle/>
                    <a:p>
                      <a:endParaRPr lang="en-KR" dirty="0"/>
                    </a:p>
                  </a:txBody>
                  <a:tcPr>
                    <a:solidFill>
                      <a:schemeClr val="bg1"/>
                    </a:solidFill>
                  </a:tcPr>
                </a:tc>
                <a:tc>
                  <a:txBody>
                    <a:bodyPr/>
                    <a:lstStyle/>
                    <a:p>
                      <a:endParaRPr lang="en-KR" dirty="0"/>
                    </a:p>
                  </a:txBody>
                  <a:tcPr>
                    <a:solidFill>
                      <a:schemeClr val="bg1"/>
                    </a:solidFill>
                  </a:tcPr>
                </a:tc>
                <a:tc>
                  <a:txBody>
                    <a:bodyPr/>
                    <a:lstStyle/>
                    <a:p>
                      <a:endParaRPr lang="en-KR" dirty="0"/>
                    </a:p>
                  </a:txBody>
                  <a:tcPr>
                    <a:solidFill>
                      <a:schemeClr val="bg1"/>
                    </a:solidFill>
                  </a:tcPr>
                </a:tc>
                <a:extLst>
                  <a:ext uri="{0D108BD9-81ED-4DB2-BD59-A6C34878D82A}">
                    <a16:rowId xmlns:a16="http://schemas.microsoft.com/office/drawing/2014/main" val="3046388620"/>
                  </a:ext>
                </a:extLst>
              </a:tr>
              <a:tr h="781220">
                <a:tc>
                  <a:txBody>
                    <a:bodyPr/>
                    <a:lstStyle/>
                    <a:p>
                      <a:endParaRPr lang="en-KR" dirty="0"/>
                    </a:p>
                  </a:txBody>
                  <a:tcPr>
                    <a:solidFill>
                      <a:schemeClr val="bg1"/>
                    </a:solidFill>
                  </a:tcPr>
                </a:tc>
                <a:tc>
                  <a:txBody>
                    <a:bodyPr/>
                    <a:lstStyle/>
                    <a:p>
                      <a:endParaRPr lang="en-KR" dirty="0"/>
                    </a:p>
                  </a:txBody>
                  <a:tcPr>
                    <a:solidFill>
                      <a:schemeClr val="bg1"/>
                    </a:solidFill>
                  </a:tcPr>
                </a:tc>
                <a:tc>
                  <a:txBody>
                    <a:bodyPr/>
                    <a:lstStyle/>
                    <a:p>
                      <a:endParaRPr lang="en-KR" dirty="0"/>
                    </a:p>
                  </a:txBody>
                  <a:tcPr>
                    <a:solidFill>
                      <a:schemeClr val="bg1"/>
                    </a:solidFill>
                  </a:tcPr>
                </a:tc>
                <a:extLst>
                  <a:ext uri="{0D108BD9-81ED-4DB2-BD59-A6C34878D82A}">
                    <a16:rowId xmlns:a16="http://schemas.microsoft.com/office/drawing/2014/main" val="391331253"/>
                  </a:ext>
                </a:extLst>
              </a:tr>
            </a:tbl>
          </a:graphicData>
        </a:graphic>
      </p:graphicFrame>
      <p:sp>
        <p:nvSpPr>
          <p:cNvPr id="36" name="TextBox 35">
            <a:extLst>
              <a:ext uri="{FF2B5EF4-FFF2-40B4-BE49-F238E27FC236}">
                <a16:creationId xmlns:a16="http://schemas.microsoft.com/office/drawing/2014/main" id="{FBE39C7A-E378-4F11-94FD-CBC8B0A855A3}"/>
              </a:ext>
            </a:extLst>
          </p:cNvPr>
          <p:cNvSpPr txBox="1"/>
          <p:nvPr/>
        </p:nvSpPr>
        <p:spPr>
          <a:xfrm>
            <a:off x="6744278" y="4505087"/>
            <a:ext cx="442750" cy="369332"/>
          </a:xfrm>
          <a:prstGeom prst="rect">
            <a:avLst/>
          </a:prstGeom>
          <a:noFill/>
        </p:spPr>
        <p:txBody>
          <a:bodyPr wrap="none" rtlCol="0">
            <a:spAutoFit/>
          </a:bodyPr>
          <a:lstStyle/>
          <a:p>
            <a:r>
              <a:rPr lang="en-KR" b="1" dirty="0">
                <a:solidFill>
                  <a:srgbClr val="00B050"/>
                </a:solidFill>
              </a:rPr>
              <a:t>vit</a:t>
            </a:r>
          </a:p>
        </p:txBody>
      </p:sp>
      <p:sp>
        <p:nvSpPr>
          <p:cNvPr id="37" name="TextBox 36">
            <a:extLst>
              <a:ext uri="{FF2B5EF4-FFF2-40B4-BE49-F238E27FC236}">
                <a16:creationId xmlns:a16="http://schemas.microsoft.com/office/drawing/2014/main" id="{DD5A8D73-2AFE-396F-F3B5-55C27B956DD5}"/>
              </a:ext>
            </a:extLst>
          </p:cNvPr>
          <p:cNvSpPr txBox="1"/>
          <p:nvPr/>
        </p:nvSpPr>
        <p:spPr>
          <a:xfrm>
            <a:off x="6652452" y="5277891"/>
            <a:ext cx="550856" cy="369332"/>
          </a:xfrm>
          <a:prstGeom prst="rect">
            <a:avLst/>
          </a:prstGeom>
          <a:noFill/>
        </p:spPr>
        <p:txBody>
          <a:bodyPr wrap="none" rtlCol="0">
            <a:spAutoFit/>
          </a:bodyPr>
          <a:lstStyle/>
          <a:p>
            <a:r>
              <a:rPr lang="en-KR" b="1" u="sng" dirty="0">
                <a:solidFill>
                  <a:schemeClr val="accent5"/>
                </a:solidFill>
              </a:rPr>
              <a:t>vae</a:t>
            </a:r>
          </a:p>
        </p:txBody>
      </p:sp>
      <p:sp>
        <p:nvSpPr>
          <p:cNvPr id="38" name="TextBox 37">
            <a:extLst>
              <a:ext uri="{FF2B5EF4-FFF2-40B4-BE49-F238E27FC236}">
                <a16:creationId xmlns:a16="http://schemas.microsoft.com/office/drawing/2014/main" id="{5EB21043-CF43-6678-5CBF-AB774DF8DCA2}"/>
              </a:ext>
            </a:extLst>
          </p:cNvPr>
          <p:cNvSpPr txBox="1"/>
          <p:nvPr/>
        </p:nvSpPr>
        <p:spPr>
          <a:xfrm>
            <a:off x="7349631" y="5850282"/>
            <a:ext cx="461986" cy="369332"/>
          </a:xfrm>
          <a:prstGeom prst="rect">
            <a:avLst/>
          </a:prstGeom>
          <a:noFill/>
        </p:spPr>
        <p:txBody>
          <a:bodyPr wrap="none" rtlCol="0">
            <a:spAutoFit/>
          </a:bodyPr>
          <a:lstStyle/>
          <a:p>
            <a:r>
              <a:rPr lang="en-US" b="1" dirty="0">
                <a:solidFill>
                  <a:srgbClr val="00B050"/>
                </a:solidFill>
              </a:rPr>
              <a:t>txt</a:t>
            </a:r>
            <a:endParaRPr lang="en-KR" b="1" dirty="0">
              <a:solidFill>
                <a:srgbClr val="00B050"/>
              </a:solidFill>
            </a:endParaRPr>
          </a:p>
        </p:txBody>
      </p:sp>
      <p:sp>
        <p:nvSpPr>
          <p:cNvPr id="39" name="TextBox 38">
            <a:extLst>
              <a:ext uri="{FF2B5EF4-FFF2-40B4-BE49-F238E27FC236}">
                <a16:creationId xmlns:a16="http://schemas.microsoft.com/office/drawing/2014/main" id="{6898E2C6-3C18-A9D2-DAA2-A3CCD6269C95}"/>
              </a:ext>
            </a:extLst>
          </p:cNvPr>
          <p:cNvSpPr txBox="1"/>
          <p:nvPr/>
        </p:nvSpPr>
        <p:spPr>
          <a:xfrm>
            <a:off x="8150535" y="5861583"/>
            <a:ext cx="442750" cy="369332"/>
          </a:xfrm>
          <a:prstGeom prst="rect">
            <a:avLst/>
          </a:prstGeom>
          <a:noFill/>
        </p:spPr>
        <p:txBody>
          <a:bodyPr wrap="none" rtlCol="0">
            <a:spAutoFit/>
          </a:bodyPr>
          <a:lstStyle/>
          <a:p>
            <a:r>
              <a:rPr lang="en-KR" b="1" dirty="0">
                <a:solidFill>
                  <a:srgbClr val="00B050"/>
                </a:solidFill>
              </a:rPr>
              <a:t>vit</a:t>
            </a:r>
          </a:p>
        </p:txBody>
      </p:sp>
      <p:sp>
        <p:nvSpPr>
          <p:cNvPr id="40" name="TextBox 39">
            <a:extLst>
              <a:ext uri="{FF2B5EF4-FFF2-40B4-BE49-F238E27FC236}">
                <a16:creationId xmlns:a16="http://schemas.microsoft.com/office/drawing/2014/main" id="{F8F11DA5-70F3-D621-976F-F61AF1EAE546}"/>
              </a:ext>
            </a:extLst>
          </p:cNvPr>
          <p:cNvSpPr txBox="1"/>
          <p:nvPr/>
        </p:nvSpPr>
        <p:spPr>
          <a:xfrm>
            <a:off x="8840481" y="5850282"/>
            <a:ext cx="550856" cy="369332"/>
          </a:xfrm>
          <a:prstGeom prst="rect">
            <a:avLst/>
          </a:prstGeom>
          <a:noFill/>
        </p:spPr>
        <p:txBody>
          <a:bodyPr wrap="none" rtlCol="0">
            <a:spAutoFit/>
          </a:bodyPr>
          <a:lstStyle/>
          <a:p>
            <a:r>
              <a:rPr lang="en-KR" b="1" dirty="0">
                <a:solidFill>
                  <a:schemeClr val="accent5"/>
                </a:solidFill>
              </a:rPr>
              <a:t>vae</a:t>
            </a:r>
          </a:p>
        </p:txBody>
      </p:sp>
      <p:sp>
        <p:nvSpPr>
          <p:cNvPr id="41" name="Rectangle 40">
            <a:extLst>
              <a:ext uri="{FF2B5EF4-FFF2-40B4-BE49-F238E27FC236}">
                <a16:creationId xmlns:a16="http://schemas.microsoft.com/office/drawing/2014/main" id="{9693A651-CBA8-2FD6-D79B-91BB91246E3F}"/>
              </a:ext>
            </a:extLst>
          </p:cNvPr>
          <p:cNvSpPr/>
          <p:nvPr/>
        </p:nvSpPr>
        <p:spPr>
          <a:xfrm>
            <a:off x="7349631" y="5082925"/>
            <a:ext cx="95305" cy="778658"/>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43" name="TextBox 42">
            <a:extLst>
              <a:ext uri="{FF2B5EF4-FFF2-40B4-BE49-F238E27FC236}">
                <a16:creationId xmlns:a16="http://schemas.microsoft.com/office/drawing/2014/main" id="{0F2CC4DE-E12E-6802-114C-5A167AC51F57}"/>
              </a:ext>
            </a:extLst>
          </p:cNvPr>
          <p:cNvSpPr txBox="1"/>
          <p:nvPr/>
        </p:nvSpPr>
        <p:spPr>
          <a:xfrm>
            <a:off x="6863228" y="3059668"/>
            <a:ext cx="3017364" cy="369332"/>
          </a:xfrm>
          <a:prstGeom prst="rect">
            <a:avLst/>
          </a:prstGeom>
          <a:noFill/>
        </p:spPr>
        <p:txBody>
          <a:bodyPr wrap="none" rtlCol="0">
            <a:spAutoFit/>
          </a:bodyPr>
          <a:lstStyle/>
          <a:p>
            <a:r>
              <a:rPr lang="en-KR" dirty="0"/>
              <a:t>[ Multi-modal Self Attention ]</a:t>
            </a:r>
          </a:p>
        </p:txBody>
      </p:sp>
      <p:cxnSp>
        <p:nvCxnSpPr>
          <p:cNvPr id="44" name="Straight Connector 43">
            <a:extLst>
              <a:ext uri="{FF2B5EF4-FFF2-40B4-BE49-F238E27FC236}">
                <a16:creationId xmlns:a16="http://schemas.microsoft.com/office/drawing/2014/main" id="{CB5C42E0-C66B-8801-6FAD-5463D26C6C8F}"/>
              </a:ext>
            </a:extLst>
          </p:cNvPr>
          <p:cNvCxnSpPr>
            <a:cxnSpLocks/>
          </p:cNvCxnSpPr>
          <p:nvPr/>
        </p:nvCxnSpPr>
        <p:spPr>
          <a:xfrm flipV="1">
            <a:off x="3820092" y="3889667"/>
            <a:ext cx="2701364" cy="787846"/>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04BF5B6B-A1A4-8F49-47BB-135FC877D8F9}"/>
              </a:ext>
            </a:extLst>
          </p:cNvPr>
          <p:cNvCxnSpPr>
            <a:cxnSpLocks/>
          </p:cNvCxnSpPr>
          <p:nvPr/>
        </p:nvCxnSpPr>
        <p:spPr>
          <a:xfrm>
            <a:off x="3820092" y="4973799"/>
            <a:ext cx="2701364" cy="482574"/>
          </a:xfrm>
          <a:prstGeom prst="line">
            <a:avLst/>
          </a:prstGeom>
          <a:ln>
            <a:prstDash val="dash"/>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74" name="Rectangle 73">
                <a:extLst>
                  <a:ext uri="{FF2B5EF4-FFF2-40B4-BE49-F238E27FC236}">
                    <a16:creationId xmlns:a16="http://schemas.microsoft.com/office/drawing/2014/main" id="{BAF3E06B-5F79-006E-F913-C2208C0C8DD2}"/>
                  </a:ext>
                </a:extLst>
              </p:cNvPr>
              <p:cNvSpPr/>
              <p:nvPr/>
            </p:nvSpPr>
            <p:spPr>
              <a:xfrm>
                <a:off x="556373" y="5344590"/>
                <a:ext cx="1998512" cy="655608"/>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(Understanding)</a:t>
                </a:r>
              </a:p>
              <a:p>
                <a:pPr algn="ctr"/>
                <a14:m>
                  <m:oMathPara xmlns:m="http://schemas.openxmlformats.org/officeDocument/2006/math">
                    <m:oMathParaPr>
                      <m:jc m:val="centerGroup"/>
                    </m:oMathParaPr>
                    <m:oMath xmlns:m="http://schemas.openxmlformats.org/officeDocument/2006/math">
                      <m:sSup>
                        <m:sSupPr>
                          <m:ctrlPr>
                            <a:rPr lang="en-US" altLang="ko-KR" sz="1400" i="1" dirty="0" smtClean="0">
                              <a:solidFill>
                                <a:sysClr val="windowText" lastClr="000000"/>
                              </a:solidFill>
                              <a:latin typeface="Cambria Math" panose="02040503050406030204" pitchFamily="18" charset="0"/>
                            </a:rPr>
                          </m:ctrlPr>
                        </m:sSupPr>
                        <m:e>
                          <m:r>
                            <a:rPr lang="en-US" altLang="ko-KR" sz="1400" b="0" i="1" dirty="0" smtClean="0">
                              <a:solidFill>
                                <a:sysClr val="windowText" lastClr="000000"/>
                              </a:solidFill>
                              <a:latin typeface="Cambria Math" panose="02040503050406030204" pitchFamily="18" charset="0"/>
                            </a:rPr>
                            <m:t>𝐹𝐹𝑁</m:t>
                          </m:r>
                        </m:e>
                        <m:sup>
                          <m:r>
                            <a:rPr lang="en-US" altLang="ko-KR" sz="1400" b="0" i="1" dirty="0" smtClean="0">
                              <a:solidFill>
                                <a:sysClr val="windowText" lastClr="000000"/>
                              </a:solidFill>
                              <a:latin typeface="Cambria Math" panose="02040503050406030204" pitchFamily="18" charset="0"/>
                            </a:rPr>
                            <m:t>𝑢𝑛𝑑</m:t>
                          </m:r>
                        </m:sup>
                      </m:sSup>
                    </m:oMath>
                  </m:oMathPara>
                </a14:m>
                <a:endParaRPr lang="en-US" altLang="ko-KR" sz="1400" dirty="0">
                  <a:solidFill>
                    <a:sysClr val="windowText" lastClr="000000"/>
                  </a:solidFill>
                </a:endParaRPr>
              </a:p>
            </p:txBody>
          </p:sp>
        </mc:Choice>
        <mc:Fallback>
          <p:sp>
            <p:nvSpPr>
              <p:cNvPr id="74" name="Rectangle 73">
                <a:extLst>
                  <a:ext uri="{FF2B5EF4-FFF2-40B4-BE49-F238E27FC236}">
                    <a16:creationId xmlns:a16="http://schemas.microsoft.com/office/drawing/2014/main" id="{BAF3E06B-5F79-006E-F913-C2208C0C8DD2}"/>
                  </a:ext>
                </a:extLst>
              </p:cNvPr>
              <p:cNvSpPr>
                <a:spLocks noRot="1" noChangeAspect="1" noMove="1" noResize="1" noEditPoints="1" noAdjustHandles="1" noChangeArrowheads="1" noChangeShapeType="1" noTextEdit="1"/>
              </p:cNvSpPr>
              <p:nvPr/>
            </p:nvSpPr>
            <p:spPr>
              <a:xfrm>
                <a:off x="556373" y="5344590"/>
                <a:ext cx="1998512" cy="655608"/>
              </a:xfrm>
              <a:prstGeom prst="rect">
                <a:avLst/>
              </a:prstGeom>
              <a:blipFill>
                <a:blip r:embed="rId6"/>
                <a:stretch>
                  <a:fillRect/>
                </a:stretch>
              </a:blipFill>
              <a:ln>
                <a:solidFill>
                  <a:schemeClr val="tx1"/>
                </a:solidFill>
              </a:ln>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75" name="Rectangle 74">
                <a:extLst>
                  <a:ext uri="{FF2B5EF4-FFF2-40B4-BE49-F238E27FC236}">
                    <a16:creationId xmlns:a16="http://schemas.microsoft.com/office/drawing/2014/main" id="{0C08F0AC-8F1A-ADBF-9765-A737A10D3BB6}"/>
                  </a:ext>
                </a:extLst>
              </p:cNvPr>
              <p:cNvSpPr/>
              <p:nvPr/>
            </p:nvSpPr>
            <p:spPr>
              <a:xfrm>
                <a:off x="3089664" y="5344590"/>
                <a:ext cx="1998512" cy="65560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(Generation)</a:t>
                </a:r>
              </a:p>
              <a:p>
                <a:pPr algn="ctr"/>
                <a14:m>
                  <m:oMathPara xmlns:m="http://schemas.openxmlformats.org/officeDocument/2006/math">
                    <m:oMathParaPr>
                      <m:jc m:val="centerGroup"/>
                    </m:oMathParaPr>
                    <m:oMath xmlns:m="http://schemas.openxmlformats.org/officeDocument/2006/math">
                      <m:sSup>
                        <m:sSupPr>
                          <m:ctrlPr>
                            <a:rPr lang="en-US" altLang="ko-KR" sz="1400" i="1" dirty="0">
                              <a:solidFill>
                                <a:sysClr val="windowText" lastClr="000000"/>
                              </a:solidFill>
                              <a:latin typeface="Cambria Math" panose="02040503050406030204" pitchFamily="18" charset="0"/>
                            </a:rPr>
                          </m:ctrlPr>
                        </m:sSupPr>
                        <m:e>
                          <m:r>
                            <a:rPr lang="en-US" altLang="ko-KR" sz="1400" i="1" dirty="0">
                              <a:solidFill>
                                <a:sysClr val="windowText" lastClr="000000"/>
                              </a:solidFill>
                              <a:latin typeface="Cambria Math" panose="02040503050406030204" pitchFamily="18" charset="0"/>
                            </a:rPr>
                            <m:t>𝐹𝐹𝑁</m:t>
                          </m:r>
                        </m:e>
                        <m:sup>
                          <m:r>
                            <a:rPr lang="en-US" altLang="ko-KR" sz="1400" b="0" i="1" dirty="0" smtClean="0">
                              <a:solidFill>
                                <a:sysClr val="windowText" lastClr="000000"/>
                              </a:solidFill>
                              <a:latin typeface="Cambria Math" panose="02040503050406030204" pitchFamily="18" charset="0"/>
                            </a:rPr>
                            <m:t>𝑔𝑒𝑛</m:t>
                          </m:r>
                        </m:sup>
                      </m:sSup>
                    </m:oMath>
                  </m:oMathPara>
                </a14:m>
                <a:endParaRPr lang="en-US" altLang="ko-KR" sz="1400" dirty="0">
                  <a:solidFill>
                    <a:sysClr val="windowText" lastClr="000000"/>
                  </a:solidFill>
                </a:endParaRPr>
              </a:p>
            </p:txBody>
          </p:sp>
        </mc:Choice>
        <mc:Fallback>
          <p:sp>
            <p:nvSpPr>
              <p:cNvPr id="75" name="Rectangle 74">
                <a:extLst>
                  <a:ext uri="{FF2B5EF4-FFF2-40B4-BE49-F238E27FC236}">
                    <a16:creationId xmlns:a16="http://schemas.microsoft.com/office/drawing/2014/main" id="{0C08F0AC-8F1A-ADBF-9765-A737A10D3BB6}"/>
                  </a:ext>
                </a:extLst>
              </p:cNvPr>
              <p:cNvSpPr>
                <a:spLocks noRot="1" noChangeAspect="1" noMove="1" noResize="1" noEditPoints="1" noAdjustHandles="1" noChangeArrowheads="1" noChangeShapeType="1" noTextEdit="1"/>
              </p:cNvSpPr>
              <p:nvPr/>
            </p:nvSpPr>
            <p:spPr>
              <a:xfrm>
                <a:off x="3089664" y="5344590"/>
                <a:ext cx="1998512" cy="655608"/>
              </a:xfrm>
              <a:prstGeom prst="rect">
                <a:avLst/>
              </a:prstGeom>
              <a:blipFill>
                <a:blip r:embed="rId7"/>
                <a:stretch>
                  <a:fillRect/>
                </a:stretch>
              </a:blipFill>
            </p:spPr>
            <p:txBody>
              <a:bodyPr/>
              <a:lstStyle/>
              <a:p>
                <a:r>
                  <a:rPr lang="en-KR">
                    <a:noFill/>
                  </a:rPr>
                  <a:t> </a:t>
                </a:r>
              </a:p>
            </p:txBody>
          </p:sp>
        </mc:Fallback>
      </mc:AlternateContent>
      <p:cxnSp>
        <p:nvCxnSpPr>
          <p:cNvPr id="76" name="Straight Arrow Connector 75">
            <a:extLst>
              <a:ext uri="{FF2B5EF4-FFF2-40B4-BE49-F238E27FC236}">
                <a16:creationId xmlns:a16="http://schemas.microsoft.com/office/drawing/2014/main" id="{87495686-DE36-AA96-FC1A-752CEC0F480B}"/>
              </a:ext>
            </a:extLst>
          </p:cNvPr>
          <p:cNvCxnSpPr>
            <a:cxnSpLocks/>
          </p:cNvCxnSpPr>
          <p:nvPr/>
        </p:nvCxnSpPr>
        <p:spPr>
          <a:xfrm>
            <a:off x="1545538" y="5155721"/>
            <a:ext cx="0" cy="20415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7649538C-0A7D-0634-B997-3366CF3875E5}"/>
              </a:ext>
            </a:extLst>
          </p:cNvPr>
          <p:cNvCxnSpPr>
            <a:cxnSpLocks/>
          </p:cNvCxnSpPr>
          <p:nvPr/>
        </p:nvCxnSpPr>
        <p:spPr>
          <a:xfrm>
            <a:off x="4070203" y="5151407"/>
            <a:ext cx="0" cy="204157"/>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430D12F8-CB25-33A2-13AA-1FD08AC3C64A}"/>
              </a:ext>
            </a:extLst>
          </p:cNvPr>
          <p:cNvCxnSpPr/>
          <p:nvPr/>
        </p:nvCxnSpPr>
        <p:spPr>
          <a:xfrm>
            <a:off x="1545538" y="5151407"/>
            <a:ext cx="2524665" cy="0"/>
          </a:xfrm>
          <a:prstGeom prst="line">
            <a:avLst/>
          </a:prstGeom>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E76238C2-4510-CB77-5AAE-15BE8DDB1F28}"/>
              </a:ext>
            </a:extLst>
          </p:cNvPr>
          <p:cNvCxnSpPr>
            <a:cxnSpLocks/>
            <a:stCxn id="33" idx="2"/>
          </p:cNvCxnSpPr>
          <p:nvPr/>
        </p:nvCxnSpPr>
        <p:spPr>
          <a:xfrm>
            <a:off x="2820836" y="4973799"/>
            <a:ext cx="2" cy="177608"/>
          </a:xfrm>
          <a:prstGeom prst="line">
            <a:avLst/>
          </a:prstGeom>
        </p:spPr>
        <p:style>
          <a:lnRef idx="2">
            <a:schemeClr val="dk1"/>
          </a:lnRef>
          <a:fillRef idx="0">
            <a:schemeClr val="dk1"/>
          </a:fillRef>
          <a:effectRef idx="1">
            <a:schemeClr val="dk1"/>
          </a:effectRef>
          <a:fontRef idx="minor">
            <a:schemeClr val="tx1"/>
          </a:fontRef>
        </p:style>
      </p:cxnSp>
      <p:sp>
        <p:nvSpPr>
          <p:cNvPr id="82" name="TextBox 81">
            <a:extLst>
              <a:ext uri="{FF2B5EF4-FFF2-40B4-BE49-F238E27FC236}">
                <a16:creationId xmlns:a16="http://schemas.microsoft.com/office/drawing/2014/main" id="{9A349BFA-B2B8-BACC-4D5C-FAF6E6515BED}"/>
              </a:ext>
            </a:extLst>
          </p:cNvPr>
          <p:cNvSpPr txBox="1"/>
          <p:nvPr/>
        </p:nvSpPr>
        <p:spPr>
          <a:xfrm>
            <a:off x="5191866" y="1941745"/>
            <a:ext cx="606256" cy="369332"/>
          </a:xfrm>
          <a:prstGeom prst="rect">
            <a:avLst/>
          </a:prstGeom>
          <a:noFill/>
        </p:spPr>
        <p:txBody>
          <a:bodyPr wrap="none" rtlCol="0">
            <a:spAutoFit/>
          </a:bodyPr>
          <a:lstStyle/>
          <a:p>
            <a:r>
              <a:rPr lang="en-KR" dirty="0"/>
              <a:t>X 28</a:t>
            </a:r>
          </a:p>
        </p:txBody>
      </p:sp>
    </p:spTree>
    <p:extLst>
      <p:ext uri="{BB962C8B-B14F-4D97-AF65-F5344CB8AC3E}">
        <p14:creationId xmlns:p14="http://schemas.microsoft.com/office/powerpoint/2010/main" val="2835276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C7C5F-6F08-F6DC-DF2F-548129D9FC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76CAF-90F2-F7FA-3D73-B5517740D88E}"/>
              </a:ext>
            </a:extLst>
          </p:cNvPr>
          <p:cNvSpPr>
            <a:spLocks noGrp="1"/>
          </p:cNvSpPr>
          <p:nvPr>
            <p:ph type="title"/>
          </p:nvPr>
        </p:nvSpPr>
        <p:spPr/>
        <p:txBody>
          <a:bodyPr/>
          <a:lstStyle/>
          <a:p>
            <a:r>
              <a:rPr lang="en-KR" dirty="0"/>
              <a:t>Previous</a:t>
            </a:r>
            <a:r>
              <a:rPr lang="ko-KR" altLang="en-US" dirty="0"/>
              <a:t> </a:t>
            </a:r>
            <a:r>
              <a:rPr lang="en-US" altLang="ko-KR" dirty="0"/>
              <a:t>Idea</a:t>
            </a:r>
            <a:r>
              <a:rPr lang="en-KR" dirty="0"/>
              <a:t> </a:t>
            </a:r>
          </a:p>
        </p:txBody>
      </p:sp>
      <p:sp>
        <p:nvSpPr>
          <p:cNvPr id="3" name="Content Placeholder 2">
            <a:extLst>
              <a:ext uri="{FF2B5EF4-FFF2-40B4-BE49-F238E27FC236}">
                <a16:creationId xmlns:a16="http://schemas.microsoft.com/office/drawing/2014/main" id="{055A28AB-C0BB-D5A7-710E-53B69060B8A3}"/>
              </a:ext>
            </a:extLst>
          </p:cNvPr>
          <p:cNvSpPr>
            <a:spLocks noGrp="1"/>
          </p:cNvSpPr>
          <p:nvPr>
            <p:ph idx="1"/>
          </p:nvPr>
        </p:nvSpPr>
        <p:spPr/>
        <p:txBody>
          <a:bodyPr>
            <a:normAutofit/>
          </a:bodyPr>
          <a:lstStyle/>
          <a:p>
            <a:r>
              <a:rPr lang="en-KR" dirty="0"/>
              <a:t>Loss for erasing (EraseAnything)</a:t>
            </a:r>
          </a:p>
          <a:p>
            <a:endParaRPr lang="en-KR" dirty="0"/>
          </a:p>
          <a:p>
            <a:endParaRPr lang="en-KR" dirty="0"/>
          </a:p>
          <a:p>
            <a:pPr marL="0" indent="0">
              <a:buNone/>
            </a:pPr>
            <a:endParaRPr lang="en-KR" dirty="0"/>
          </a:p>
          <a:p>
            <a:r>
              <a:rPr lang="en-KR" dirty="0"/>
              <a:t>Loss for preservation</a:t>
            </a:r>
          </a:p>
          <a:p>
            <a:endParaRPr lang="en-KR" dirty="0"/>
          </a:p>
          <a:p>
            <a:endParaRPr lang="en-KR" dirty="0"/>
          </a:p>
          <a:p>
            <a:endParaRPr lang="en-KR" dirty="0"/>
          </a:p>
        </p:txBody>
      </p:sp>
      <p:pic>
        <p:nvPicPr>
          <p:cNvPr id="4" name="Picture 3">
            <a:extLst>
              <a:ext uri="{FF2B5EF4-FFF2-40B4-BE49-F238E27FC236}">
                <a16:creationId xmlns:a16="http://schemas.microsoft.com/office/drawing/2014/main" id="{4B045EE9-70D0-4881-4C91-E96423D55A4D}"/>
              </a:ext>
            </a:extLst>
          </p:cNvPr>
          <p:cNvPicPr>
            <a:picLocks noChangeAspect="1"/>
          </p:cNvPicPr>
          <p:nvPr/>
        </p:nvPicPr>
        <p:blipFill>
          <a:blip r:embed="rId2"/>
          <a:stretch>
            <a:fillRect/>
          </a:stretch>
        </p:blipFill>
        <p:spPr>
          <a:xfrm>
            <a:off x="6743938" y="1414002"/>
            <a:ext cx="2160000" cy="2160000"/>
          </a:xfrm>
          <a:prstGeom prst="rect">
            <a:avLst/>
          </a:prstGeom>
        </p:spPr>
      </p:pic>
      <p:pic>
        <p:nvPicPr>
          <p:cNvPr id="5" name="Picture 4">
            <a:extLst>
              <a:ext uri="{FF2B5EF4-FFF2-40B4-BE49-F238E27FC236}">
                <a16:creationId xmlns:a16="http://schemas.microsoft.com/office/drawing/2014/main" id="{871BCF60-06E4-E563-13BD-ED10C3612944}"/>
              </a:ext>
            </a:extLst>
          </p:cNvPr>
          <p:cNvPicPr>
            <a:picLocks noChangeAspect="1"/>
          </p:cNvPicPr>
          <p:nvPr/>
        </p:nvPicPr>
        <p:blipFill>
          <a:blip r:embed="rId3"/>
          <a:stretch>
            <a:fillRect/>
          </a:stretch>
        </p:blipFill>
        <p:spPr>
          <a:xfrm>
            <a:off x="6743938" y="4107057"/>
            <a:ext cx="2160000" cy="2160000"/>
          </a:xfrm>
          <a:prstGeom prst="rect">
            <a:avLst/>
          </a:prstGeom>
        </p:spPr>
      </p:pic>
      <p:pic>
        <p:nvPicPr>
          <p:cNvPr id="6" name="Picture 5">
            <a:extLst>
              <a:ext uri="{FF2B5EF4-FFF2-40B4-BE49-F238E27FC236}">
                <a16:creationId xmlns:a16="http://schemas.microsoft.com/office/drawing/2014/main" id="{A9FBA470-D8AE-9E9E-6E9A-BE502980955B}"/>
              </a:ext>
            </a:extLst>
          </p:cNvPr>
          <p:cNvPicPr>
            <a:picLocks noChangeAspect="1"/>
          </p:cNvPicPr>
          <p:nvPr/>
        </p:nvPicPr>
        <p:blipFill>
          <a:blip r:embed="rId4"/>
          <a:stretch>
            <a:fillRect/>
          </a:stretch>
        </p:blipFill>
        <p:spPr>
          <a:xfrm>
            <a:off x="9262971" y="1414002"/>
            <a:ext cx="2160000" cy="2160000"/>
          </a:xfrm>
          <a:prstGeom prst="rect">
            <a:avLst/>
          </a:prstGeom>
        </p:spPr>
      </p:pic>
      <p:pic>
        <p:nvPicPr>
          <p:cNvPr id="7" name="Picture 6">
            <a:extLst>
              <a:ext uri="{FF2B5EF4-FFF2-40B4-BE49-F238E27FC236}">
                <a16:creationId xmlns:a16="http://schemas.microsoft.com/office/drawing/2014/main" id="{F435CAE4-3958-8DFE-64B7-20B313213760}"/>
              </a:ext>
            </a:extLst>
          </p:cNvPr>
          <p:cNvPicPr>
            <a:picLocks noChangeAspect="1"/>
          </p:cNvPicPr>
          <p:nvPr/>
        </p:nvPicPr>
        <p:blipFill>
          <a:blip r:embed="rId5"/>
          <a:stretch>
            <a:fillRect/>
          </a:stretch>
        </p:blipFill>
        <p:spPr>
          <a:xfrm>
            <a:off x="9262971" y="4107057"/>
            <a:ext cx="2160000" cy="2160000"/>
          </a:xfrm>
          <a:prstGeom prst="rect">
            <a:avLst/>
          </a:prstGeom>
        </p:spPr>
      </p:pic>
      <p:cxnSp>
        <p:nvCxnSpPr>
          <p:cNvPr id="9" name="Straight Arrow Connector 8">
            <a:extLst>
              <a:ext uri="{FF2B5EF4-FFF2-40B4-BE49-F238E27FC236}">
                <a16:creationId xmlns:a16="http://schemas.microsoft.com/office/drawing/2014/main" id="{8CD12646-A264-3D38-52B5-939BF99BCCD4}"/>
              </a:ext>
            </a:extLst>
          </p:cNvPr>
          <p:cNvCxnSpPr>
            <a:stCxn id="4" idx="2"/>
            <a:endCxn id="5" idx="0"/>
          </p:cNvCxnSpPr>
          <p:nvPr/>
        </p:nvCxnSpPr>
        <p:spPr>
          <a:xfrm>
            <a:off x="7823938" y="3574002"/>
            <a:ext cx="0" cy="533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FBACABF-37D8-6A6B-F40F-EF4884679B21}"/>
              </a:ext>
            </a:extLst>
          </p:cNvPr>
          <p:cNvCxnSpPr>
            <a:cxnSpLocks/>
            <a:stCxn id="6" idx="2"/>
            <a:endCxn id="7" idx="0"/>
          </p:cNvCxnSpPr>
          <p:nvPr/>
        </p:nvCxnSpPr>
        <p:spPr>
          <a:xfrm>
            <a:off x="10342971" y="3574002"/>
            <a:ext cx="0" cy="533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3" name="Picture 12">
            <a:extLst>
              <a:ext uri="{FF2B5EF4-FFF2-40B4-BE49-F238E27FC236}">
                <a16:creationId xmlns:a16="http://schemas.microsoft.com/office/drawing/2014/main" id="{DD5464C3-C0AD-5B1F-5303-22C6A9802346}"/>
              </a:ext>
            </a:extLst>
          </p:cNvPr>
          <p:cNvPicPr>
            <a:picLocks noChangeAspect="1"/>
          </p:cNvPicPr>
          <p:nvPr/>
        </p:nvPicPr>
        <p:blipFill>
          <a:blip r:embed="rId6"/>
          <a:srcRect b="41983"/>
          <a:stretch>
            <a:fillRect/>
          </a:stretch>
        </p:blipFill>
        <p:spPr>
          <a:xfrm>
            <a:off x="590672" y="1412156"/>
            <a:ext cx="4038600" cy="589458"/>
          </a:xfrm>
          <a:prstGeom prst="rect">
            <a:avLst/>
          </a:prstGeom>
        </p:spPr>
      </p:pic>
      <p:pic>
        <p:nvPicPr>
          <p:cNvPr id="14" name="Picture 13">
            <a:extLst>
              <a:ext uri="{FF2B5EF4-FFF2-40B4-BE49-F238E27FC236}">
                <a16:creationId xmlns:a16="http://schemas.microsoft.com/office/drawing/2014/main" id="{45B0B276-182D-C4E5-277A-356964230E61}"/>
              </a:ext>
            </a:extLst>
          </p:cNvPr>
          <p:cNvPicPr>
            <a:picLocks noChangeAspect="1"/>
          </p:cNvPicPr>
          <p:nvPr/>
        </p:nvPicPr>
        <p:blipFill>
          <a:blip r:embed="rId7"/>
          <a:srcRect t="20511" b="2807"/>
          <a:stretch>
            <a:fillRect/>
          </a:stretch>
        </p:blipFill>
        <p:spPr>
          <a:xfrm>
            <a:off x="590672" y="2044379"/>
            <a:ext cx="1916013" cy="589459"/>
          </a:xfrm>
          <a:prstGeom prst="rect">
            <a:avLst/>
          </a:prstGeom>
        </p:spPr>
      </p:pic>
      <p:pic>
        <p:nvPicPr>
          <p:cNvPr id="15" name="Picture 14">
            <a:extLst>
              <a:ext uri="{FF2B5EF4-FFF2-40B4-BE49-F238E27FC236}">
                <a16:creationId xmlns:a16="http://schemas.microsoft.com/office/drawing/2014/main" id="{8B971465-42E3-3325-26EB-3BFEC0C6C1AB}"/>
              </a:ext>
            </a:extLst>
          </p:cNvPr>
          <p:cNvPicPr>
            <a:picLocks noChangeAspect="1"/>
          </p:cNvPicPr>
          <p:nvPr/>
        </p:nvPicPr>
        <p:blipFill>
          <a:blip r:embed="rId6"/>
          <a:srcRect l="24083" t="54432" b="11605"/>
          <a:stretch>
            <a:fillRect/>
          </a:stretch>
        </p:blipFill>
        <p:spPr>
          <a:xfrm>
            <a:off x="3030028" y="1534357"/>
            <a:ext cx="3065972" cy="345056"/>
          </a:xfrm>
          <a:prstGeom prst="rect">
            <a:avLst/>
          </a:prstGeom>
        </p:spPr>
      </p:pic>
      <p:sp>
        <p:nvSpPr>
          <p:cNvPr id="16" name="TextBox 15">
            <a:extLst>
              <a:ext uri="{FF2B5EF4-FFF2-40B4-BE49-F238E27FC236}">
                <a16:creationId xmlns:a16="http://schemas.microsoft.com/office/drawing/2014/main" id="{F890706A-3535-0A70-D428-71A6043853A5}"/>
              </a:ext>
            </a:extLst>
          </p:cNvPr>
          <p:cNvSpPr txBox="1"/>
          <p:nvPr/>
        </p:nvSpPr>
        <p:spPr>
          <a:xfrm>
            <a:off x="7106882" y="1048234"/>
            <a:ext cx="1434111" cy="307777"/>
          </a:xfrm>
          <a:prstGeom prst="rect">
            <a:avLst/>
          </a:prstGeom>
          <a:noFill/>
        </p:spPr>
        <p:txBody>
          <a:bodyPr wrap="none" rtlCol="0">
            <a:spAutoFit/>
          </a:bodyPr>
          <a:lstStyle/>
          <a:p>
            <a:r>
              <a:rPr lang="en-US" sz="1400" dirty="0"/>
              <a:t>A</a:t>
            </a:r>
            <a:r>
              <a:rPr lang="en-KR" sz="1400" dirty="0"/>
              <a:t> photo of a ball</a:t>
            </a:r>
          </a:p>
        </p:txBody>
      </p:sp>
      <p:sp>
        <p:nvSpPr>
          <p:cNvPr id="17" name="TextBox 16">
            <a:extLst>
              <a:ext uri="{FF2B5EF4-FFF2-40B4-BE49-F238E27FC236}">
                <a16:creationId xmlns:a16="http://schemas.microsoft.com/office/drawing/2014/main" id="{56BD89D1-7B50-D5BA-3B83-4E23FCE9D904}"/>
              </a:ext>
            </a:extLst>
          </p:cNvPr>
          <p:cNvSpPr txBox="1"/>
          <p:nvPr/>
        </p:nvSpPr>
        <p:spPr>
          <a:xfrm>
            <a:off x="9625915" y="1061363"/>
            <a:ext cx="1434111" cy="307777"/>
          </a:xfrm>
          <a:prstGeom prst="rect">
            <a:avLst/>
          </a:prstGeom>
          <a:noFill/>
        </p:spPr>
        <p:txBody>
          <a:bodyPr wrap="none" rtlCol="0">
            <a:spAutoFit/>
          </a:bodyPr>
          <a:lstStyle/>
          <a:p>
            <a:r>
              <a:rPr lang="en-US" sz="1400" dirty="0"/>
              <a:t>A</a:t>
            </a:r>
            <a:r>
              <a:rPr lang="en-KR" sz="1400" dirty="0"/>
              <a:t> photo of a ball</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68187E8D-8A79-F7BA-E639-629C3E47A387}"/>
                  </a:ext>
                </a:extLst>
              </p:cNvPr>
              <p:cNvSpPr txBox="1"/>
              <p:nvPr/>
            </p:nvSpPr>
            <p:spPr>
              <a:xfrm>
                <a:off x="590672" y="2923723"/>
                <a:ext cx="3160160" cy="404983"/>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𝐾𝐿</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𝑦</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𝑇</m:t>
                              </m:r>
                            </m:sup>
                          </m:sSup>
                        </m:e>
                      </m:d>
                      <m:r>
                        <a:rPr lang="en-US" b="0" i="1" smtClean="0">
                          <a:latin typeface="Cambria Math" panose="02040503050406030204" pitchFamily="18" charset="0"/>
                        </a:rPr>
                        <m:t>|</m:t>
                      </m:r>
                      <m:d>
                        <m:dPr>
                          <m:beg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sSup>
                                <m:sSupPr>
                                  <m:ctrlPr>
                                    <a:rPr lang="en-US" b="0" i="1" smtClean="0">
                                      <a:latin typeface="Cambria Math" panose="02040503050406030204" pitchFamily="18" charset="0"/>
                                    </a:rPr>
                                  </m:ctrlPr>
                                </m:sSupPr>
                                <m:e>
                                  <m:r>
                                    <a:rPr lang="en-US" i="1">
                                      <a:latin typeface="Cambria Math" panose="02040503050406030204" pitchFamily="18" charset="0"/>
                                    </a:rPr>
                                    <m:t>𝜃</m:t>
                                  </m:r>
                                </m:e>
                                <m:sup>
                                  <m:r>
                                    <a:rPr lang="en-US" b="0" i="1" smtClean="0">
                                      <a:latin typeface="Cambria Math" panose="02040503050406030204" pitchFamily="18" charset="0"/>
                                    </a:rPr>
                                    <m:t>′</m:t>
                                  </m:r>
                                </m:sup>
                              </m:sSup>
                            </m:sub>
                          </m:sSub>
                          <m:d>
                            <m:dPr>
                              <m:ctrlPr>
                                <a:rPr lang="en-US" i="1">
                                  <a:latin typeface="Cambria Math" panose="02040503050406030204" pitchFamily="18" charset="0"/>
                                </a:rPr>
                              </m:ctrlPr>
                            </m:dPr>
                            <m:e>
                              <m:r>
                                <a:rPr lang="en-US" i="1">
                                  <a:latin typeface="Cambria Math" panose="02040503050406030204" pitchFamily="18" charset="0"/>
                                </a:rPr>
                                <m:t>𝑦</m:t>
                              </m:r>
                            </m:e>
                            <m:e>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𝑇</m:t>
                                  </m:r>
                                </m:sup>
                              </m:sSup>
                            </m:e>
                          </m:d>
                        </m:e>
                      </m:d>
                      <m:r>
                        <a:rPr lang="en-US" b="0" i="1" smtClean="0">
                          <a:latin typeface="Cambria Math" panose="02040503050406030204" pitchFamily="18" charset="0"/>
                          <a:ea typeface="Cambria Math" panose="02040503050406030204" pitchFamily="18" charset="0"/>
                        </a:rPr>
                        <m:t>≈0</m:t>
                      </m:r>
                    </m:oMath>
                  </m:oMathPara>
                </a14:m>
                <a:endParaRPr lang="en-KR" dirty="0"/>
              </a:p>
            </p:txBody>
          </p:sp>
        </mc:Choice>
        <mc:Fallback>
          <p:sp>
            <p:nvSpPr>
              <p:cNvPr id="18" name="TextBox 17">
                <a:extLst>
                  <a:ext uri="{FF2B5EF4-FFF2-40B4-BE49-F238E27FC236}">
                    <a16:creationId xmlns:a16="http://schemas.microsoft.com/office/drawing/2014/main" id="{68187E8D-8A79-F7BA-E639-629C3E47A387}"/>
                  </a:ext>
                </a:extLst>
              </p:cNvPr>
              <p:cNvSpPr txBox="1">
                <a:spLocks noRot="1" noChangeAspect="1" noMove="1" noResize="1" noEditPoints="1" noAdjustHandles="1" noChangeArrowheads="1" noChangeShapeType="1" noTextEdit="1"/>
              </p:cNvSpPr>
              <p:nvPr/>
            </p:nvSpPr>
            <p:spPr>
              <a:xfrm>
                <a:off x="590672" y="2923723"/>
                <a:ext cx="3160160" cy="404983"/>
              </a:xfrm>
              <a:prstGeom prst="rect">
                <a:avLst/>
              </a:prstGeom>
              <a:blipFill>
                <a:blip r:embed="rId8"/>
                <a:stretch>
                  <a:fillRect b="-9091"/>
                </a:stretch>
              </a:blipFill>
            </p:spPr>
            <p:txBody>
              <a:bodyPr/>
              <a:lstStyle/>
              <a:p>
                <a:r>
                  <a:rPr lang="en-KR">
                    <a:noFill/>
                  </a:rPr>
                  <a:t> </a:t>
                </a:r>
              </a:p>
            </p:txBody>
          </p:sp>
        </mc:Fallback>
      </mc:AlternateContent>
      <p:pic>
        <p:nvPicPr>
          <p:cNvPr id="19" name="Picture 18">
            <a:extLst>
              <a:ext uri="{FF2B5EF4-FFF2-40B4-BE49-F238E27FC236}">
                <a16:creationId xmlns:a16="http://schemas.microsoft.com/office/drawing/2014/main" id="{C3CDBA63-88AD-A1FB-0B63-4B4547AE94E9}"/>
              </a:ext>
            </a:extLst>
          </p:cNvPr>
          <p:cNvPicPr>
            <a:picLocks noChangeAspect="1"/>
          </p:cNvPicPr>
          <p:nvPr/>
        </p:nvPicPr>
        <p:blipFill>
          <a:blip r:embed="rId9"/>
          <a:stretch>
            <a:fillRect/>
          </a:stretch>
        </p:blipFill>
        <p:spPr>
          <a:xfrm>
            <a:off x="698906" y="3982700"/>
            <a:ext cx="3923618" cy="1831504"/>
          </a:xfrm>
          <a:prstGeom prst="rect">
            <a:avLst/>
          </a:prstGeom>
        </p:spPr>
      </p:pic>
    </p:spTree>
    <p:extLst>
      <p:ext uri="{BB962C8B-B14F-4D97-AF65-F5344CB8AC3E}">
        <p14:creationId xmlns:p14="http://schemas.microsoft.com/office/powerpoint/2010/main" val="4096083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A551-1B62-98D0-DB47-32089653EB2C}"/>
              </a:ext>
            </a:extLst>
          </p:cNvPr>
          <p:cNvSpPr>
            <a:spLocks noGrp="1"/>
          </p:cNvSpPr>
          <p:nvPr>
            <p:ph type="title"/>
          </p:nvPr>
        </p:nvSpPr>
        <p:spPr/>
        <p:txBody>
          <a:bodyPr/>
          <a:lstStyle/>
          <a:p>
            <a:r>
              <a:rPr lang="en-KR" dirty="0"/>
              <a:t>Previous</a:t>
            </a:r>
            <a:r>
              <a:rPr lang="ko-KR" altLang="en-US" dirty="0"/>
              <a:t> </a:t>
            </a:r>
            <a:r>
              <a:rPr lang="en-US" altLang="ko-KR" dirty="0"/>
              <a:t>Idea</a:t>
            </a:r>
            <a:r>
              <a:rPr lang="en-KR" dirty="0"/>
              <a:t> </a:t>
            </a:r>
          </a:p>
        </p:txBody>
      </p:sp>
      <p:sp>
        <p:nvSpPr>
          <p:cNvPr id="3" name="Content Placeholder 2">
            <a:extLst>
              <a:ext uri="{FF2B5EF4-FFF2-40B4-BE49-F238E27FC236}">
                <a16:creationId xmlns:a16="http://schemas.microsoft.com/office/drawing/2014/main" id="{F3C9ACA9-42FF-7C9D-BE10-40038E636058}"/>
              </a:ext>
            </a:extLst>
          </p:cNvPr>
          <p:cNvSpPr>
            <a:spLocks noGrp="1"/>
          </p:cNvSpPr>
          <p:nvPr>
            <p:ph idx="1"/>
          </p:nvPr>
        </p:nvSpPr>
        <p:spPr/>
        <p:txBody>
          <a:bodyPr>
            <a:normAutofit/>
          </a:bodyPr>
          <a:lstStyle/>
          <a:p>
            <a:r>
              <a:rPr lang="en-KR" dirty="0"/>
              <a:t>Cause of Failure</a:t>
            </a:r>
          </a:p>
          <a:p>
            <a:pPr lvl="1"/>
            <a:r>
              <a:rPr lang="en-US" dirty="0"/>
              <a:t>The number of parameters: attn &lt;&lt;&lt; </a:t>
            </a:r>
            <a:r>
              <a:rPr lang="en-US" dirty="0" err="1"/>
              <a:t>ffn</a:t>
            </a:r>
            <a:endParaRPr lang="en-US" dirty="0"/>
          </a:p>
          <a:p>
            <a:pPr lvl="1"/>
            <a:r>
              <a:rPr lang="en-US" dirty="0"/>
              <a:t>Just erased “ball” text/concept. </a:t>
            </a:r>
            <a:r>
              <a:rPr lang="en-US" dirty="0">
                <a:sym typeface="Wingdings" pitchFamily="2" charset="2"/>
              </a:rPr>
              <a:t> What about “ball which is ~”</a:t>
            </a:r>
          </a:p>
          <a:p>
            <a:pPr lvl="1"/>
            <a:r>
              <a:rPr lang="en-KR" dirty="0"/>
              <a:t>Used method is just for all of the location of the image.</a:t>
            </a:r>
          </a:p>
          <a:p>
            <a:r>
              <a:rPr lang="en-KR" dirty="0"/>
              <a:t>Limitation</a:t>
            </a:r>
          </a:p>
          <a:p>
            <a:pPr lvl="1"/>
            <a:r>
              <a:rPr lang="en-KR" dirty="0"/>
              <a:t>Trade-off</a:t>
            </a:r>
          </a:p>
          <a:p>
            <a:pPr lvl="1"/>
            <a:r>
              <a:rPr lang="en-KR" dirty="0"/>
              <a:t>How to evaluate?</a:t>
            </a:r>
          </a:p>
        </p:txBody>
      </p:sp>
      <p:pic>
        <p:nvPicPr>
          <p:cNvPr id="4" name="Picture 3">
            <a:extLst>
              <a:ext uri="{FF2B5EF4-FFF2-40B4-BE49-F238E27FC236}">
                <a16:creationId xmlns:a16="http://schemas.microsoft.com/office/drawing/2014/main" id="{ECA3998C-D377-2FEA-EB9A-89266A9D5CD6}"/>
              </a:ext>
            </a:extLst>
          </p:cNvPr>
          <p:cNvPicPr>
            <a:picLocks noChangeAspect="1"/>
          </p:cNvPicPr>
          <p:nvPr/>
        </p:nvPicPr>
        <p:blipFill>
          <a:blip r:embed="rId2"/>
          <a:stretch>
            <a:fillRect/>
          </a:stretch>
        </p:blipFill>
        <p:spPr>
          <a:xfrm>
            <a:off x="6743938" y="1414002"/>
            <a:ext cx="2160000" cy="2160000"/>
          </a:xfrm>
          <a:prstGeom prst="rect">
            <a:avLst/>
          </a:prstGeom>
        </p:spPr>
      </p:pic>
      <p:pic>
        <p:nvPicPr>
          <p:cNvPr id="5" name="Picture 4">
            <a:extLst>
              <a:ext uri="{FF2B5EF4-FFF2-40B4-BE49-F238E27FC236}">
                <a16:creationId xmlns:a16="http://schemas.microsoft.com/office/drawing/2014/main" id="{43800757-77DA-7445-3405-FDD0FE98D967}"/>
              </a:ext>
            </a:extLst>
          </p:cNvPr>
          <p:cNvPicPr>
            <a:picLocks noChangeAspect="1"/>
          </p:cNvPicPr>
          <p:nvPr/>
        </p:nvPicPr>
        <p:blipFill>
          <a:blip r:embed="rId3"/>
          <a:stretch>
            <a:fillRect/>
          </a:stretch>
        </p:blipFill>
        <p:spPr>
          <a:xfrm>
            <a:off x="6743938" y="4107057"/>
            <a:ext cx="2160000" cy="2160000"/>
          </a:xfrm>
          <a:prstGeom prst="rect">
            <a:avLst/>
          </a:prstGeom>
        </p:spPr>
      </p:pic>
      <p:pic>
        <p:nvPicPr>
          <p:cNvPr id="6" name="Picture 5">
            <a:extLst>
              <a:ext uri="{FF2B5EF4-FFF2-40B4-BE49-F238E27FC236}">
                <a16:creationId xmlns:a16="http://schemas.microsoft.com/office/drawing/2014/main" id="{2CA1B4E9-3071-554F-3FAB-868AB71D5580}"/>
              </a:ext>
            </a:extLst>
          </p:cNvPr>
          <p:cNvPicPr>
            <a:picLocks noChangeAspect="1"/>
          </p:cNvPicPr>
          <p:nvPr/>
        </p:nvPicPr>
        <p:blipFill>
          <a:blip r:embed="rId4"/>
          <a:stretch>
            <a:fillRect/>
          </a:stretch>
        </p:blipFill>
        <p:spPr>
          <a:xfrm>
            <a:off x="9262971" y="1414002"/>
            <a:ext cx="2160000" cy="2160000"/>
          </a:xfrm>
          <a:prstGeom prst="rect">
            <a:avLst/>
          </a:prstGeom>
        </p:spPr>
      </p:pic>
      <p:pic>
        <p:nvPicPr>
          <p:cNvPr id="7" name="Picture 6">
            <a:extLst>
              <a:ext uri="{FF2B5EF4-FFF2-40B4-BE49-F238E27FC236}">
                <a16:creationId xmlns:a16="http://schemas.microsoft.com/office/drawing/2014/main" id="{A9ED39AB-CFBC-C17A-744E-CA2E22DD1AC5}"/>
              </a:ext>
            </a:extLst>
          </p:cNvPr>
          <p:cNvPicPr>
            <a:picLocks noChangeAspect="1"/>
          </p:cNvPicPr>
          <p:nvPr/>
        </p:nvPicPr>
        <p:blipFill>
          <a:blip r:embed="rId5"/>
          <a:stretch>
            <a:fillRect/>
          </a:stretch>
        </p:blipFill>
        <p:spPr>
          <a:xfrm>
            <a:off x="9262971" y="4107057"/>
            <a:ext cx="2160000" cy="2160000"/>
          </a:xfrm>
          <a:prstGeom prst="rect">
            <a:avLst/>
          </a:prstGeom>
        </p:spPr>
      </p:pic>
      <p:cxnSp>
        <p:nvCxnSpPr>
          <p:cNvPr id="9" name="Straight Arrow Connector 8">
            <a:extLst>
              <a:ext uri="{FF2B5EF4-FFF2-40B4-BE49-F238E27FC236}">
                <a16:creationId xmlns:a16="http://schemas.microsoft.com/office/drawing/2014/main" id="{0738BE1E-C0DE-0DB5-F1C0-83A3D4425457}"/>
              </a:ext>
            </a:extLst>
          </p:cNvPr>
          <p:cNvCxnSpPr>
            <a:stCxn id="4" idx="2"/>
            <a:endCxn id="5" idx="0"/>
          </p:cNvCxnSpPr>
          <p:nvPr/>
        </p:nvCxnSpPr>
        <p:spPr>
          <a:xfrm>
            <a:off x="7823938" y="3574002"/>
            <a:ext cx="0" cy="533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29C5C3D7-7A6F-3125-FE0A-AF036BC27C1A}"/>
              </a:ext>
            </a:extLst>
          </p:cNvPr>
          <p:cNvCxnSpPr>
            <a:cxnSpLocks/>
            <a:stCxn id="6" idx="2"/>
            <a:endCxn id="7" idx="0"/>
          </p:cNvCxnSpPr>
          <p:nvPr/>
        </p:nvCxnSpPr>
        <p:spPr>
          <a:xfrm>
            <a:off x="10342971" y="3574002"/>
            <a:ext cx="0" cy="533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478C1449-CCB5-6C1F-B62A-63D61C10F430}"/>
              </a:ext>
            </a:extLst>
          </p:cNvPr>
          <p:cNvSpPr txBox="1"/>
          <p:nvPr/>
        </p:nvSpPr>
        <p:spPr>
          <a:xfrm>
            <a:off x="7106882" y="1048234"/>
            <a:ext cx="1434111" cy="307777"/>
          </a:xfrm>
          <a:prstGeom prst="rect">
            <a:avLst/>
          </a:prstGeom>
          <a:noFill/>
        </p:spPr>
        <p:txBody>
          <a:bodyPr wrap="none" rtlCol="0">
            <a:spAutoFit/>
          </a:bodyPr>
          <a:lstStyle/>
          <a:p>
            <a:r>
              <a:rPr lang="en-US" sz="1400" dirty="0"/>
              <a:t>A</a:t>
            </a:r>
            <a:r>
              <a:rPr lang="en-KR" sz="1400" dirty="0"/>
              <a:t> photo of a ball</a:t>
            </a:r>
          </a:p>
        </p:txBody>
      </p:sp>
      <p:sp>
        <p:nvSpPr>
          <p:cNvPr id="17" name="TextBox 16">
            <a:extLst>
              <a:ext uri="{FF2B5EF4-FFF2-40B4-BE49-F238E27FC236}">
                <a16:creationId xmlns:a16="http://schemas.microsoft.com/office/drawing/2014/main" id="{340205ED-C779-5220-8F14-E95300C1EEBB}"/>
              </a:ext>
            </a:extLst>
          </p:cNvPr>
          <p:cNvSpPr txBox="1"/>
          <p:nvPr/>
        </p:nvSpPr>
        <p:spPr>
          <a:xfrm>
            <a:off x="9625915" y="1061363"/>
            <a:ext cx="1434111" cy="307777"/>
          </a:xfrm>
          <a:prstGeom prst="rect">
            <a:avLst/>
          </a:prstGeom>
          <a:noFill/>
        </p:spPr>
        <p:txBody>
          <a:bodyPr wrap="none" rtlCol="0">
            <a:spAutoFit/>
          </a:bodyPr>
          <a:lstStyle/>
          <a:p>
            <a:r>
              <a:rPr lang="en-US" sz="1400" dirty="0"/>
              <a:t>A</a:t>
            </a:r>
            <a:r>
              <a:rPr lang="en-KR" sz="1400" dirty="0"/>
              <a:t> photo of a ball</a:t>
            </a:r>
          </a:p>
        </p:txBody>
      </p:sp>
    </p:spTree>
    <p:extLst>
      <p:ext uri="{BB962C8B-B14F-4D97-AF65-F5344CB8AC3E}">
        <p14:creationId xmlns:p14="http://schemas.microsoft.com/office/powerpoint/2010/main" val="965731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322DE-D03F-DD49-5508-824C9603FFE3}"/>
              </a:ext>
            </a:extLst>
          </p:cNvPr>
          <p:cNvSpPr>
            <a:spLocks noGrp="1"/>
          </p:cNvSpPr>
          <p:nvPr>
            <p:ph type="title"/>
          </p:nvPr>
        </p:nvSpPr>
        <p:spPr/>
        <p:txBody>
          <a:bodyPr/>
          <a:lstStyle/>
          <a:p>
            <a:r>
              <a:rPr lang="en-KR" dirty="0"/>
              <a:t>New Approachment</a:t>
            </a:r>
          </a:p>
        </p:txBody>
      </p:sp>
      <p:sp>
        <p:nvSpPr>
          <p:cNvPr id="4" name="Rectangle 3">
            <a:extLst>
              <a:ext uri="{FF2B5EF4-FFF2-40B4-BE49-F238E27FC236}">
                <a16:creationId xmlns:a16="http://schemas.microsoft.com/office/drawing/2014/main" id="{17C0868B-9A94-85C5-222D-DD7B76F81399}"/>
              </a:ext>
            </a:extLst>
          </p:cNvPr>
          <p:cNvSpPr/>
          <p:nvPr/>
        </p:nvSpPr>
        <p:spPr>
          <a:xfrm>
            <a:off x="3766869" y="1941846"/>
            <a:ext cx="4807784" cy="409664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sz="1400" dirty="0">
              <a:solidFill>
                <a:schemeClr val="accent5">
                  <a:lumMod val="60000"/>
                  <a:lumOff val="40000"/>
                </a:schemeClr>
              </a:solidFill>
            </a:endParaRPr>
          </a:p>
        </p:txBody>
      </p:sp>
      <p:sp>
        <p:nvSpPr>
          <p:cNvPr id="5" name="Rectangle 4">
            <a:extLst>
              <a:ext uri="{FF2B5EF4-FFF2-40B4-BE49-F238E27FC236}">
                <a16:creationId xmlns:a16="http://schemas.microsoft.com/office/drawing/2014/main" id="{7D9F8DFA-C8D7-CB60-09EA-A1C5D4362230}"/>
              </a:ext>
            </a:extLst>
          </p:cNvPr>
          <p:cNvSpPr/>
          <p:nvPr/>
        </p:nvSpPr>
        <p:spPr>
          <a:xfrm>
            <a:off x="4261449" y="1245749"/>
            <a:ext cx="3812875" cy="55717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Same Sequence (Packed)</a:t>
            </a:r>
          </a:p>
          <a:p>
            <a:pPr algn="ctr"/>
            <a:r>
              <a:rPr lang="en-US" altLang="ko-KR" sz="1400" dirty="0">
                <a:solidFill>
                  <a:schemeClr val="accent6">
                    <a:lumMod val="75000"/>
                  </a:schemeClr>
                </a:solidFill>
              </a:rPr>
              <a:t>[Text Tokens] </a:t>
            </a:r>
            <a:r>
              <a:rPr lang="en-US" altLang="ko-KR" sz="1400" dirty="0">
                <a:solidFill>
                  <a:sysClr val="windowText" lastClr="000000"/>
                </a:solidFill>
              </a:rPr>
              <a:t>+ </a:t>
            </a:r>
            <a:r>
              <a:rPr lang="en-US" altLang="ko-KR" sz="1400" dirty="0">
                <a:solidFill>
                  <a:schemeClr val="accent5">
                    <a:lumMod val="60000"/>
                    <a:lumOff val="40000"/>
                  </a:schemeClr>
                </a:solidFill>
              </a:rPr>
              <a:t>[</a:t>
            </a:r>
            <a:r>
              <a:rPr lang="en-US" sz="1400" dirty="0">
                <a:solidFill>
                  <a:schemeClr val="accent5">
                    <a:lumMod val="60000"/>
                    <a:lumOff val="40000"/>
                  </a:schemeClr>
                </a:solidFill>
              </a:rPr>
              <a:t>VAE </a:t>
            </a:r>
            <a:r>
              <a:rPr lang="en-US" altLang="ko-KR" sz="1400" dirty="0">
                <a:solidFill>
                  <a:schemeClr val="accent5">
                    <a:lumMod val="60000"/>
                    <a:lumOff val="40000"/>
                  </a:schemeClr>
                </a:solidFill>
              </a:rPr>
              <a:t>(image) Tokens]</a:t>
            </a:r>
            <a:endParaRPr lang="en-KR" sz="1400" dirty="0">
              <a:solidFill>
                <a:schemeClr val="accent5">
                  <a:lumMod val="60000"/>
                  <a:lumOff val="40000"/>
                </a:schemeClr>
              </a:solidFill>
            </a:endParaRPr>
          </a:p>
        </p:txBody>
      </p:sp>
      <p:sp>
        <p:nvSpPr>
          <p:cNvPr id="6" name="Rectangle 5">
            <a:extLst>
              <a:ext uri="{FF2B5EF4-FFF2-40B4-BE49-F238E27FC236}">
                <a16:creationId xmlns:a16="http://schemas.microsoft.com/office/drawing/2014/main" id="{F62CBC9A-4ED0-6EEB-F656-6036423A106C}"/>
              </a:ext>
            </a:extLst>
          </p:cNvPr>
          <p:cNvSpPr/>
          <p:nvPr/>
        </p:nvSpPr>
        <p:spPr>
          <a:xfrm>
            <a:off x="3893331" y="2248618"/>
            <a:ext cx="1998512" cy="420022"/>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accent6">
                    <a:lumMod val="75000"/>
                  </a:schemeClr>
                </a:solidFill>
              </a:rPr>
              <a:t>[Text Tokens]</a:t>
            </a:r>
            <a:endParaRPr lang="en-KR" sz="1400" dirty="0">
              <a:solidFill>
                <a:sysClr val="windowText" lastClr="000000"/>
              </a:solidFill>
            </a:endParaRPr>
          </a:p>
        </p:txBody>
      </p:sp>
      <p:sp>
        <p:nvSpPr>
          <p:cNvPr id="7" name="Rectangle 6">
            <a:extLst>
              <a:ext uri="{FF2B5EF4-FFF2-40B4-BE49-F238E27FC236}">
                <a16:creationId xmlns:a16="http://schemas.microsoft.com/office/drawing/2014/main" id="{B3108413-52DD-53B9-6E41-59A6569DED47}"/>
              </a:ext>
            </a:extLst>
          </p:cNvPr>
          <p:cNvSpPr/>
          <p:nvPr/>
        </p:nvSpPr>
        <p:spPr>
          <a:xfrm>
            <a:off x="6426622" y="2248618"/>
            <a:ext cx="1998512" cy="42002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accent5">
                    <a:lumMod val="60000"/>
                    <a:lumOff val="40000"/>
                  </a:schemeClr>
                </a:solidFill>
              </a:rPr>
              <a:t>[</a:t>
            </a:r>
            <a:r>
              <a:rPr lang="en-US" sz="1400" dirty="0">
                <a:solidFill>
                  <a:schemeClr val="accent5">
                    <a:lumMod val="60000"/>
                    <a:lumOff val="40000"/>
                  </a:schemeClr>
                </a:solidFill>
              </a:rPr>
              <a:t>VAE </a:t>
            </a:r>
            <a:r>
              <a:rPr lang="en-US" altLang="ko-KR" sz="1400" dirty="0">
                <a:solidFill>
                  <a:schemeClr val="accent5">
                    <a:lumMod val="60000"/>
                    <a:lumOff val="40000"/>
                  </a:schemeClr>
                </a:solidFill>
              </a:rPr>
              <a:t>(image) Tokens]</a:t>
            </a:r>
            <a:endParaRPr lang="en-KR" sz="1400" dirty="0">
              <a:solidFill>
                <a:sysClr val="windowText" lastClr="000000"/>
              </a:solidFill>
            </a:endParaRPr>
          </a:p>
        </p:txBody>
      </p:sp>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id="{3A407F51-2678-AE66-1B94-67ABF93BCCB9}"/>
                  </a:ext>
                </a:extLst>
              </p:cNvPr>
              <p:cNvSpPr/>
              <p:nvPr/>
            </p:nvSpPr>
            <p:spPr>
              <a:xfrm>
                <a:off x="3893331" y="2901602"/>
                <a:ext cx="1998512" cy="655608"/>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(Understanding)</a:t>
                </a:r>
              </a:p>
              <a:p>
                <a:pPr algn="ctr"/>
                <a14:m>
                  <m:oMathPara xmlns:m="http://schemas.openxmlformats.org/officeDocument/2006/math">
                    <m:oMathParaPr>
                      <m:jc m:val="centerGroup"/>
                    </m:oMathParaPr>
                    <m:oMath xmlns:m="http://schemas.openxmlformats.org/officeDocument/2006/math">
                      <m:sSup>
                        <m:sSupPr>
                          <m:ctrlPr>
                            <a:rPr lang="en-US" altLang="ko-KR" sz="1400" i="1" dirty="0" smtClean="0">
                              <a:solidFill>
                                <a:sysClr val="windowText" lastClr="000000"/>
                              </a:solidFill>
                              <a:latin typeface="Cambria Math" panose="02040503050406030204" pitchFamily="18" charset="0"/>
                            </a:rPr>
                          </m:ctrlPr>
                        </m:sSupPr>
                        <m:e>
                          <m:r>
                            <a:rPr lang="en-US" altLang="ko-KR" sz="1400" i="1" dirty="0" smtClean="0">
                              <a:solidFill>
                                <a:sysClr val="windowText" lastClr="000000"/>
                              </a:solidFill>
                              <a:latin typeface="Cambria Math" panose="02040503050406030204" pitchFamily="18" charset="0"/>
                            </a:rPr>
                            <m:t>𝑊</m:t>
                          </m:r>
                        </m:e>
                        <m:sup>
                          <m:r>
                            <a:rPr lang="en-US" altLang="ko-KR" sz="1400" i="1" dirty="0" smtClean="0">
                              <a:solidFill>
                                <a:sysClr val="windowText" lastClr="000000"/>
                              </a:solidFill>
                              <a:latin typeface="Cambria Math" panose="02040503050406030204" pitchFamily="18" charset="0"/>
                            </a:rPr>
                            <m:t>𝑄</m:t>
                          </m:r>
                          <m:r>
                            <a:rPr lang="en-US" altLang="ko-KR" sz="1400" b="0" i="1" dirty="0" smtClean="0">
                              <a:solidFill>
                                <a:sysClr val="windowText" lastClr="000000"/>
                              </a:solidFill>
                              <a:latin typeface="Cambria Math" panose="02040503050406030204" pitchFamily="18" charset="0"/>
                            </a:rPr>
                            <m:t>_</m:t>
                          </m:r>
                          <m:r>
                            <a:rPr lang="en-US" altLang="ko-KR" sz="1400" b="0" i="1" dirty="0" smtClean="0">
                              <a:solidFill>
                                <a:sysClr val="windowText" lastClr="000000"/>
                              </a:solidFill>
                              <a:latin typeface="Cambria Math" panose="02040503050406030204" pitchFamily="18" charset="0"/>
                            </a:rPr>
                            <m:t>𝑢𝑛𝑑</m:t>
                          </m:r>
                        </m:sup>
                      </m:sSup>
                      <m:r>
                        <a:rPr lang="en-US" altLang="ko-KR" sz="1400" i="1" dirty="0" smtClean="0">
                          <a:solidFill>
                            <a:sysClr val="windowText" lastClr="000000"/>
                          </a:solidFill>
                          <a:latin typeface="Cambria Math" panose="02040503050406030204" pitchFamily="18" charset="0"/>
                        </a:rPr>
                        <m:t>, </m:t>
                      </m:r>
                      <m:sSup>
                        <m:sSupPr>
                          <m:ctrlPr>
                            <a:rPr lang="en-US" altLang="ko-KR" sz="1400" i="1" dirty="0" smtClean="0">
                              <a:solidFill>
                                <a:sysClr val="windowText" lastClr="000000"/>
                              </a:solidFill>
                              <a:latin typeface="Cambria Math" panose="02040503050406030204" pitchFamily="18" charset="0"/>
                            </a:rPr>
                          </m:ctrlPr>
                        </m:sSupPr>
                        <m:e>
                          <m:r>
                            <a:rPr lang="en-US" altLang="ko-KR" sz="1400" i="1" dirty="0" smtClean="0">
                              <a:solidFill>
                                <a:sysClr val="windowText" lastClr="000000"/>
                              </a:solidFill>
                              <a:latin typeface="Cambria Math" panose="02040503050406030204" pitchFamily="18" charset="0"/>
                            </a:rPr>
                            <m:t>𝑊</m:t>
                          </m:r>
                        </m:e>
                        <m:sup>
                          <m:r>
                            <a:rPr lang="en-US" altLang="ko-KR" sz="1400" i="1" dirty="0" smtClean="0">
                              <a:solidFill>
                                <a:sysClr val="windowText" lastClr="000000"/>
                              </a:solidFill>
                              <a:latin typeface="Cambria Math" panose="02040503050406030204" pitchFamily="18" charset="0"/>
                            </a:rPr>
                            <m:t>𝐾</m:t>
                          </m:r>
                          <m:r>
                            <a:rPr lang="en-US" altLang="ko-KR" sz="1400" i="1" dirty="0">
                              <a:solidFill>
                                <a:sysClr val="windowText" lastClr="000000"/>
                              </a:solidFill>
                              <a:latin typeface="Cambria Math" panose="02040503050406030204" pitchFamily="18" charset="0"/>
                            </a:rPr>
                            <m:t>_</m:t>
                          </m:r>
                          <m:r>
                            <a:rPr lang="en-US" altLang="ko-KR" sz="1400" i="1" dirty="0">
                              <a:solidFill>
                                <a:sysClr val="windowText" lastClr="000000"/>
                              </a:solidFill>
                              <a:latin typeface="Cambria Math" panose="02040503050406030204" pitchFamily="18" charset="0"/>
                            </a:rPr>
                            <m:t>𝑢𝑛𝑑</m:t>
                          </m:r>
                        </m:sup>
                      </m:sSup>
                      <m:r>
                        <a:rPr lang="en-US" altLang="ko-KR" sz="1400" i="1" dirty="0" smtClean="0">
                          <a:solidFill>
                            <a:sysClr val="windowText" lastClr="000000"/>
                          </a:solidFill>
                          <a:latin typeface="Cambria Math" panose="02040503050406030204" pitchFamily="18" charset="0"/>
                        </a:rPr>
                        <m:t>, </m:t>
                      </m:r>
                      <m:sSup>
                        <m:sSupPr>
                          <m:ctrlPr>
                            <a:rPr lang="en-US" altLang="ko-KR" sz="1400" b="0" i="1" dirty="0" smtClean="0">
                              <a:solidFill>
                                <a:sysClr val="windowText" lastClr="000000"/>
                              </a:solidFill>
                              <a:latin typeface="Cambria Math" panose="02040503050406030204" pitchFamily="18" charset="0"/>
                            </a:rPr>
                          </m:ctrlPr>
                        </m:sSupPr>
                        <m:e>
                          <m:r>
                            <a:rPr lang="en-US" altLang="ko-KR" sz="1400" i="1" dirty="0" smtClean="0">
                              <a:solidFill>
                                <a:sysClr val="windowText" lastClr="000000"/>
                              </a:solidFill>
                              <a:latin typeface="Cambria Math" panose="02040503050406030204" pitchFamily="18" charset="0"/>
                            </a:rPr>
                            <m:t>𝑊</m:t>
                          </m:r>
                        </m:e>
                        <m:sup>
                          <m:r>
                            <a:rPr lang="en-US" altLang="ko-KR" sz="1400" i="1" dirty="0" smtClean="0">
                              <a:solidFill>
                                <a:sysClr val="windowText" lastClr="000000"/>
                              </a:solidFill>
                              <a:latin typeface="Cambria Math" panose="02040503050406030204" pitchFamily="18" charset="0"/>
                            </a:rPr>
                            <m:t>𝑉</m:t>
                          </m:r>
                          <m:r>
                            <a:rPr lang="en-US" altLang="ko-KR" sz="1400" i="1" dirty="0">
                              <a:solidFill>
                                <a:sysClr val="windowText" lastClr="000000"/>
                              </a:solidFill>
                              <a:latin typeface="Cambria Math" panose="02040503050406030204" pitchFamily="18" charset="0"/>
                            </a:rPr>
                            <m:t>_</m:t>
                          </m:r>
                          <m:r>
                            <a:rPr lang="en-US" altLang="ko-KR" sz="1400" i="1" dirty="0">
                              <a:solidFill>
                                <a:sysClr val="windowText" lastClr="000000"/>
                              </a:solidFill>
                              <a:latin typeface="Cambria Math" panose="02040503050406030204" pitchFamily="18" charset="0"/>
                            </a:rPr>
                            <m:t>𝑢𝑛𝑑</m:t>
                          </m:r>
                        </m:sup>
                      </m:sSup>
                    </m:oMath>
                  </m:oMathPara>
                </a14:m>
                <a:endParaRPr lang="en-US" altLang="ko-KR" sz="1400" dirty="0">
                  <a:solidFill>
                    <a:sysClr val="windowText" lastClr="000000"/>
                  </a:solidFill>
                </a:endParaRPr>
              </a:p>
            </p:txBody>
          </p:sp>
        </mc:Choice>
        <mc:Fallback>
          <p:sp>
            <p:nvSpPr>
              <p:cNvPr id="8" name="Rectangle 7">
                <a:extLst>
                  <a:ext uri="{FF2B5EF4-FFF2-40B4-BE49-F238E27FC236}">
                    <a16:creationId xmlns:a16="http://schemas.microsoft.com/office/drawing/2014/main" id="{3A407F51-2678-AE66-1B94-67ABF93BCCB9}"/>
                  </a:ext>
                </a:extLst>
              </p:cNvPr>
              <p:cNvSpPr>
                <a:spLocks noRot="1" noChangeAspect="1" noMove="1" noResize="1" noEditPoints="1" noAdjustHandles="1" noChangeArrowheads="1" noChangeShapeType="1" noTextEdit="1"/>
              </p:cNvSpPr>
              <p:nvPr/>
            </p:nvSpPr>
            <p:spPr>
              <a:xfrm>
                <a:off x="3893331" y="2901602"/>
                <a:ext cx="1998512" cy="655608"/>
              </a:xfrm>
              <a:prstGeom prst="rect">
                <a:avLst/>
              </a:prstGeom>
              <a:blipFill>
                <a:blip r:embed="rId2"/>
                <a:stretch>
                  <a:fillRect/>
                </a:stretch>
              </a:blipFill>
              <a:ln>
                <a:solidFill>
                  <a:schemeClr val="tx1"/>
                </a:solidFill>
              </a:ln>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3FC87208-A511-0449-C16C-5198DBCC3DCC}"/>
                  </a:ext>
                </a:extLst>
              </p:cNvPr>
              <p:cNvSpPr/>
              <p:nvPr/>
            </p:nvSpPr>
            <p:spPr>
              <a:xfrm>
                <a:off x="6426622" y="2901602"/>
                <a:ext cx="1998512" cy="655608"/>
              </a:xfrm>
              <a:prstGeom prst="rect">
                <a:avLst/>
              </a:prstGeom>
              <a:solidFill>
                <a:schemeClr val="accent5">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(Generation)</a:t>
                </a:r>
              </a:p>
              <a:p>
                <a:pPr algn="ctr"/>
                <a14:m>
                  <m:oMathPara xmlns:m="http://schemas.openxmlformats.org/officeDocument/2006/math">
                    <m:oMathParaPr>
                      <m:jc m:val="centerGroup"/>
                    </m:oMathParaPr>
                    <m:oMath xmlns:m="http://schemas.openxmlformats.org/officeDocument/2006/math">
                      <m:sSup>
                        <m:sSupPr>
                          <m:ctrlPr>
                            <a:rPr lang="en-US" altLang="ko-KR" sz="1400" i="1" dirty="0" smtClean="0">
                              <a:solidFill>
                                <a:schemeClr val="tx1"/>
                              </a:solidFill>
                              <a:latin typeface="Cambria Math" panose="02040503050406030204" pitchFamily="18" charset="0"/>
                            </a:rPr>
                          </m:ctrlPr>
                        </m:sSupPr>
                        <m:e>
                          <m:r>
                            <a:rPr lang="en-US" altLang="ko-KR" sz="1400" b="0" i="1" dirty="0" smtClean="0">
                              <a:solidFill>
                                <a:schemeClr val="tx1"/>
                              </a:solidFill>
                              <a:latin typeface="Cambria Math" panose="02040503050406030204" pitchFamily="18" charset="0"/>
                            </a:rPr>
                            <m:t>𝑊</m:t>
                          </m:r>
                        </m:e>
                        <m:sup>
                          <m:r>
                            <a:rPr lang="en-US" altLang="ko-KR" sz="1400" b="0" i="1" dirty="0" smtClean="0">
                              <a:solidFill>
                                <a:schemeClr val="tx1"/>
                              </a:solidFill>
                              <a:latin typeface="Cambria Math" panose="02040503050406030204" pitchFamily="18" charset="0"/>
                            </a:rPr>
                            <m:t>𝑄</m:t>
                          </m:r>
                          <m:r>
                            <a:rPr lang="en-US" altLang="ko-KR" sz="1400" b="0" i="1" dirty="0" smtClean="0">
                              <a:solidFill>
                                <a:schemeClr val="tx1"/>
                              </a:solidFill>
                              <a:latin typeface="Cambria Math" panose="02040503050406030204" pitchFamily="18" charset="0"/>
                            </a:rPr>
                            <m:t>_</m:t>
                          </m:r>
                          <m:r>
                            <a:rPr lang="en-US" altLang="ko-KR" sz="1400" b="0" i="1" dirty="0" smtClean="0">
                              <a:solidFill>
                                <a:schemeClr val="tx1"/>
                              </a:solidFill>
                              <a:latin typeface="Cambria Math" panose="02040503050406030204" pitchFamily="18" charset="0"/>
                            </a:rPr>
                            <m:t>𝑔𝑒𝑛</m:t>
                          </m:r>
                        </m:sup>
                      </m:sSup>
                      <m:r>
                        <a:rPr lang="en-US" altLang="ko-KR" sz="1400" b="0" i="1" dirty="0" smtClean="0">
                          <a:solidFill>
                            <a:schemeClr val="tx1"/>
                          </a:solidFill>
                          <a:latin typeface="Cambria Math" panose="02040503050406030204" pitchFamily="18" charset="0"/>
                        </a:rPr>
                        <m:t>, </m:t>
                      </m:r>
                      <m:sSup>
                        <m:sSupPr>
                          <m:ctrlPr>
                            <a:rPr lang="en-US" altLang="ko-KR" sz="1400" i="1" dirty="0" smtClean="0">
                              <a:solidFill>
                                <a:schemeClr val="tx1"/>
                              </a:solidFill>
                              <a:latin typeface="Cambria Math" panose="02040503050406030204" pitchFamily="18" charset="0"/>
                            </a:rPr>
                          </m:ctrlPr>
                        </m:sSupPr>
                        <m:e>
                          <m:r>
                            <a:rPr lang="en-US" altLang="ko-KR" sz="1400" b="0" i="1" dirty="0" smtClean="0">
                              <a:solidFill>
                                <a:schemeClr val="tx1"/>
                              </a:solidFill>
                              <a:latin typeface="Cambria Math" panose="02040503050406030204" pitchFamily="18" charset="0"/>
                            </a:rPr>
                            <m:t>𝑊</m:t>
                          </m:r>
                        </m:e>
                        <m:sup>
                          <m:r>
                            <a:rPr lang="en-US" altLang="ko-KR" sz="1400" b="0" i="1" dirty="0" smtClean="0">
                              <a:solidFill>
                                <a:schemeClr val="tx1"/>
                              </a:solidFill>
                              <a:latin typeface="Cambria Math" panose="02040503050406030204" pitchFamily="18" charset="0"/>
                            </a:rPr>
                            <m:t>𝐾</m:t>
                          </m:r>
                          <m:r>
                            <a:rPr lang="en-US" altLang="ko-KR" sz="1400" b="0" i="1" dirty="0" smtClean="0">
                              <a:solidFill>
                                <a:schemeClr val="tx1"/>
                              </a:solidFill>
                              <a:latin typeface="Cambria Math" panose="02040503050406030204" pitchFamily="18" charset="0"/>
                            </a:rPr>
                            <m:t>_</m:t>
                          </m:r>
                          <m:r>
                            <a:rPr lang="en-US" altLang="ko-KR" sz="1400" b="0" i="1" dirty="0" smtClean="0">
                              <a:solidFill>
                                <a:schemeClr val="tx1"/>
                              </a:solidFill>
                              <a:latin typeface="Cambria Math" panose="02040503050406030204" pitchFamily="18" charset="0"/>
                            </a:rPr>
                            <m:t>𝑔𝑒𝑛</m:t>
                          </m:r>
                        </m:sup>
                      </m:sSup>
                      <m:r>
                        <a:rPr lang="en-US" altLang="ko-KR" sz="1400" i="1" dirty="0" smtClean="0">
                          <a:solidFill>
                            <a:sysClr val="windowText" lastClr="000000"/>
                          </a:solidFill>
                          <a:latin typeface="Cambria Math" panose="02040503050406030204" pitchFamily="18" charset="0"/>
                        </a:rPr>
                        <m:t>, </m:t>
                      </m:r>
                      <m:sSup>
                        <m:sSupPr>
                          <m:ctrlPr>
                            <a:rPr lang="en-US" altLang="ko-KR" sz="1400" b="0" i="1" dirty="0" smtClean="0">
                              <a:solidFill>
                                <a:sysClr val="windowText" lastClr="000000"/>
                              </a:solidFill>
                              <a:latin typeface="Cambria Math" panose="02040503050406030204" pitchFamily="18" charset="0"/>
                            </a:rPr>
                          </m:ctrlPr>
                        </m:sSupPr>
                        <m:e>
                          <m:r>
                            <a:rPr lang="en-US" altLang="ko-KR" sz="1400" i="1" dirty="0" smtClean="0">
                              <a:solidFill>
                                <a:sysClr val="windowText" lastClr="000000"/>
                              </a:solidFill>
                              <a:latin typeface="Cambria Math" panose="02040503050406030204" pitchFamily="18" charset="0"/>
                            </a:rPr>
                            <m:t>𝑊</m:t>
                          </m:r>
                        </m:e>
                        <m:sup>
                          <m:r>
                            <a:rPr lang="en-US" altLang="ko-KR" sz="1400" i="1" dirty="0" smtClean="0">
                              <a:solidFill>
                                <a:sysClr val="windowText" lastClr="000000"/>
                              </a:solidFill>
                              <a:latin typeface="Cambria Math" panose="02040503050406030204" pitchFamily="18" charset="0"/>
                            </a:rPr>
                            <m:t>𝑉</m:t>
                          </m:r>
                          <m:r>
                            <a:rPr lang="en-US" altLang="ko-KR" sz="1400" b="0" i="1" dirty="0" smtClean="0">
                              <a:solidFill>
                                <a:sysClr val="windowText" lastClr="000000"/>
                              </a:solidFill>
                              <a:latin typeface="Cambria Math" panose="02040503050406030204" pitchFamily="18" charset="0"/>
                            </a:rPr>
                            <m:t>_</m:t>
                          </m:r>
                          <m:r>
                            <a:rPr lang="en-US" altLang="ko-KR" sz="1400" b="0" i="1" dirty="0" smtClean="0">
                              <a:solidFill>
                                <a:sysClr val="windowText" lastClr="000000"/>
                              </a:solidFill>
                              <a:latin typeface="Cambria Math" panose="02040503050406030204" pitchFamily="18" charset="0"/>
                            </a:rPr>
                            <m:t>𝑔𝑒𝑛</m:t>
                          </m:r>
                        </m:sup>
                      </m:sSup>
                    </m:oMath>
                  </m:oMathPara>
                </a14:m>
                <a:endParaRPr lang="en-US" altLang="ko-KR" sz="1400" dirty="0">
                  <a:solidFill>
                    <a:sysClr val="windowText" lastClr="000000"/>
                  </a:solidFill>
                </a:endParaRPr>
              </a:p>
            </p:txBody>
          </p:sp>
        </mc:Choice>
        <mc:Fallback>
          <p:sp>
            <p:nvSpPr>
              <p:cNvPr id="9" name="Rectangle 8">
                <a:extLst>
                  <a:ext uri="{FF2B5EF4-FFF2-40B4-BE49-F238E27FC236}">
                    <a16:creationId xmlns:a16="http://schemas.microsoft.com/office/drawing/2014/main" id="{3FC87208-A511-0449-C16C-5198DBCC3DCC}"/>
                  </a:ext>
                </a:extLst>
              </p:cNvPr>
              <p:cNvSpPr>
                <a:spLocks noRot="1" noChangeAspect="1" noMove="1" noResize="1" noEditPoints="1" noAdjustHandles="1" noChangeArrowheads="1" noChangeShapeType="1" noTextEdit="1"/>
              </p:cNvSpPr>
              <p:nvPr/>
            </p:nvSpPr>
            <p:spPr>
              <a:xfrm>
                <a:off x="6426622" y="2901602"/>
                <a:ext cx="1998512" cy="655608"/>
              </a:xfrm>
              <a:prstGeom prst="rect">
                <a:avLst/>
              </a:prstGeom>
              <a:blipFill>
                <a:blip r:embed="rId3"/>
                <a:stretch>
                  <a:fillRect/>
                </a:stretch>
              </a:blipFill>
              <a:ln w="19050"/>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8AC74056-84BB-5B48-1AEC-D843464CC2D5}"/>
                  </a:ext>
                </a:extLst>
              </p:cNvPr>
              <p:cNvSpPr/>
              <p:nvPr/>
            </p:nvSpPr>
            <p:spPr>
              <a:xfrm>
                <a:off x="3893331" y="3757487"/>
                <a:ext cx="1998512" cy="34167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Text Q, K, V</a:t>
                </a:r>
                <a14:m/>
              </a:p>
            </p:txBody>
          </p:sp>
        </mc:Choice>
        <mc:Fallback>
          <p:sp>
            <p:nvSpPr>
              <p:cNvPr id="10" name="Rectangle 9">
                <a:extLst>
                  <a:ext uri="{FF2B5EF4-FFF2-40B4-BE49-F238E27FC236}">
                    <a16:creationId xmlns:a16="http://schemas.microsoft.com/office/drawing/2014/main" id="{8AC74056-84BB-5B48-1AEC-D843464CC2D5}"/>
                  </a:ext>
                </a:extLst>
              </p:cNvPr>
              <p:cNvSpPr>
                <a:spLocks noRot="1" noChangeAspect="1" noMove="1" noResize="1" noEditPoints="1" noAdjustHandles="1" noChangeArrowheads="1" noChangeShapeType="1" noTextEdit="1"/>
              </p:cNvSpPr>
              <p:nvPr/>
            </p:nvSpPr>
            <p:spPr>
              <a:xfrm>
                <a:off x="3893331" y="3757487"/>
                <a:ext cx="1998512" cy="341672"/>
              </a:xfrm>
              <a:prstGeom prst="rect">
                <a:avLst/>
              </a:prstGeom>
              <a:blipFill>
                <a:blip r:embed="rId4"/>
                <a:stretch>
                  <a:fillRect b="-10345"/>
                </a:stretch>
              </a:blipFill>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11" name="Rectangle 10">
                <a:extLst>
                  <a:ext uri="{FF2B5EF4-FFF2-40B4-BE49-F238E27FC236}">
                    <a16:creationId xmlns:a16="http://schemas.microsoft.com/office/drawing/2014/main" id="{41EBE5C3-A3D8-189B-AC07-9AEE108406C6}"/>
                  </a:ext>
                </a:extLst>
              </p:cNvPr>
              <p:cNvSpPr/>
              <p:nvPr/>
            </p:nvSpPr>
            <p:spPr>
              <a:xfrm>
                <a:off x="6426622" y="3747675"/>
                <a:ext cx="1998512" cy="34167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VAE Q, K, V</a:t>
                </a:r>
                <a14:m/>
              </a:p>
            </p:txBody>
          </p:sp>
        </mc:Choice>
        <mc:Fallback>
          <p:sp>
            <p:nvSpPr>
              <p:cNvPr id="11" name="Rectangle 10">
                <a:extLst>
                  <a:ext uri="{FF2B5EF4-FFF2-40B4-BE49-F238E27FC236}">
                    <a16:creationId xmlns:a16="http://schemas.microsoft.com/office/drawing/2014/main" id="{41EBE5C3-A3D8-189B-AC07-9AEE108406C6}"/>
                  </a:ext>
                </a:extLst>
              </p:cNvPr>
              <p:cNvSpPr>
                <a:spLocks noRot="1" noChangeAspect="1" noMove="1" noResize="1" noEditPoints="1" noAdjustHandles="1" noChangeArrowheads="1" noChangeShapeType="1" noTextEdit="1"/>
              </p:cNvSpPr>
              <p:nvPr/>
            </p:nvSpPr>
            <p:spPr>
              <a:xfrm>
                <a:off x="6426622" y="3747675"/>
                <a:ext cx="1998512" cy="341672"/>
              </a:xfrm>
              <a:prstGeom prst="rect">
                <a:avLst/>
              </a:prstGeom>
              <a:blipFill>
                <a:blip r:embed="rId5"/>
                <a:stretch>
                  <a:fillRect b="-6667"/>
                </a:stretch>
              </a:blipFill>
            </p:spPr>
            <p:txBody>
              <a:bodyPr/>
              <a:lstStyle/>
              <a:p>
                <a:r>
                  <a:rPr lang="en-KR">
                    <a:noFill/>
                  </a:rPr>
                  <a:t> </a:t>
                </a:r>
              </a:p>
            </p:txBody>
          </p:sp>
        </mc:Fallback>
      </mc:AlternateContent>
      <p:cxnSp>
        <p:nvCxnSpPr>
          <p:cNvPr id="12" name="Straight Arrow Connector 11">
            <a:extLst>
              <a:ext uri="{FF2B5EF4-FFF2-40B4-BE49-F238E27FC236}">
                <a16:creationId xmlns:a16="http://schemas.microsoft.com/office/drawing/2014/main" id="{7F06E768-A00B-FD1F-CF45-7BFD81F96CB5}"/>
              </a:ext>
            </a:extLst>
          </p:cNvPr>
          <p:cNvCxnSpPr>
            <a:cxnSpLocks/>
            <a:stCxn id="6" idx="2"/>
            <a:endCxn id="8" idx="0"/>
          </p:cNvCxnSpPr>
          <p:nvPr/>
        </p:nvCxnSpPr>
        <p:spPr>
          <a:xfrm>
            <a:off x="4892587" y="2668640"/>
            <a:ext cx="0" cy="232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D9C390B-90B9-66BA-5E60-F31F2B16DBA9}"/>
              </a:ext>
            </a:extLst>
          </p:cNvPr>
          <p:cNvCxnSpPr>
            <a:cxnSpLocks/>
            <a:stCxn id="7" idx="2"/>
            <a:endCxn id="9" idx="0"/>
          </p:cNvCxnSpPr>
          <p:nvPr/>
        </p:nvCxnSpPr>
        <p:spPr>
          <a:xfrm>
            <a:off x="7425878" y="2668640"/>
            <a:ext cx="0" cy="232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DED123B5-3EAB-88A0-526E-EF31EC9A1619}"/>
              </a:ext>
            </a:extLst>
          </p:cNvPr>
          <p:cNvCxnSpPr>
            <a:cxnSpLocks/>
            <a:stCxn id="8" idx="2"/>
            <a:endCxn id="10" idx="0"/>
          </p:cNvCxnSpPr>
          <p:nvPr/>
        </p:nvCxnSpPr>
        <p:spPr>
          <a:xfrm>
            <a:off x="4892587" y="3557210"/>
            <a:ext cx="0" cy="2002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9BA0283-ADDB-A89F-F286-BBEED52E999A}"/>
              </a:ext>
            </a:extLst>
          </p:cNvPr>
          <p:cNvCxnSpPr>
            <a:cxnSpLocks/>
            <a:stCxn id="9" idx="2"/>
            <a:endCxn id="11" idx="0"/>
          </p:cNvCxnSpPr>
          <p:nvPr/>
        </p:nvCxnSpPr>
        <p:spPr>
          <a:xfrm>
            <a:off x="7425878" y="3557210"/>
            <a:ext cx="0" cy="1904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92E895C-7EBD-06F2-D2B8-03945146B277}"/>
              </a:ext>
            </a:extLst>
          </p:cNvPr>
          <p:cNvCxnSpPr>
            <a:cxnSpLocks/>
          </p:cNvCxnSpPr>
          <p:nvPr/>
        </p:nvCxnSpPr>
        <p:spPr>
          <a:xfrm>
            <a:off x="6167887" y="4335999"/>
            <a:ext cx="0" cy="2528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281FA9F9-3A2F-0256-570B-B75073CA9413}"/>
              </a:ext>
            </a:extLst>
          </p:cNvPr>
          <p:cNvCxnSpPr>
            <a:cxnSpLocks/>
          </p:cNvCxnSpPr>
          <p:nvPr/>
        </p:nvCxnSpPr>
        <p:spPr>
          <a:xfrm>
            <a:off x="4892587" y="2044461"/>
            <a:ext cx="0" cy="20415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9C0C069E-221C-9001-B1A3-32FF538B4883}"/>
              </a:ext>
            </a:extLst>
          </p:cNvPr>
          <p:cNvCxnSpPr>
            <a:cxnSpLocks/>
          </p:cNvCxnSpPr>
          <p:nvPr/>
        </p:nvCxnSpPr>
        <p:spPr>
          <a:xfrm>
            <a:off x="7417252" y="2040147"/>
            <a:ext cx="0" cy="204157"/>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4668CB52-D0C3-4B33-DB52-BAAB57F1C434}"/>
              </a:ext>
            </a:extLst>
          </p:cNvPr>
          <p:cNvCxnSpPr/>
          <p:nvPr/>
        </p:nvCxnSpPr>
        <p:spPr>
          <a:xfrm>
            <a:off x="4892587" y="2040147"/>
            <a:ext cx="2524665" cy="0"/>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6D6E51C6-2557-C5E7-E4A2-915DF0D3BA73}"/>
              </a:ext>
            </a:extLst>
          </p:cNvPr>
          <p:cNvCxnSpPr>
            <a:cxnSpLocks/>
          </p:cNvCxnSpPr>
          <p:nvPr/>
        </p:nvCxnSpPr>
        <p:spPr>
          <a:xfrm>
            <a:off x="4892587" y="4336070"/>
            <a:ext cx="2543382"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47EE02D3-1F74-F5DF-1ACE-1E0B40D49647}"/>
              </a:ext>
            </a:extLst>
          </p:cNvPr>
          <p:cNvCxnSpPr>
            <a:cxnSpLocks/>
            <a:stCxn id="10" idx="2"/>
          </p:cNvCxnSpPr>
          <p:nvPr/>
        </p:nvCxnSpPr>
        <p:spPr>
          <a:xfrm>
            <a:off x="4892587" y="4099159"/>
            <a:ext cx="0" cy="236911"/>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81A6CEDE-D6C2-1C22-55C6-E5CC2DDBED4A}"/>
              </a:ext>
            </a:extLst>
          </p:cNvPr>
          <p:cNvCxnSpPr>
            <a:cxnSpLocks/>
            <a:stCxn id="11" idx="2"/>
          </p:cNvCxnSpPr>
          <p:nvPr/>
        </p:nvCxnSpPr>
        <p:spPr>
          <a:xfrm>
            <a:off x="7425878" y="4089347"/>
            <a:ext cx="0" cy="246652"/>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BBF500F0-93C8-3D6F-6DB8-20550C9AFA5F}"/>
              </a:ext>
            </a:extLst>
          </p:cNvPr>
          <p:cNvCxnSpPr>
            <a:cxnSpLocks/>
            <a:stCxn id="5" idx="2"/>
          </p:cNvCxnSpPr>
          <p:nvPr/>
        </p:nvCxnSpPr>
        <p:spPr>
          <a:xfrm>
            <a:off x="6167887" y="1802921"/>
            <a:ext cx="0" cy="237226"/>
          </a:xfrm>
          <a:prstGeom prst="line">
            <a:avLst/>
          </a:prstGeom>
        </p:spPr>
        <p:style>
          <a:lnRef idx="2">
            <a:schemeClr val="dk1"/>
          </a:lnRef>
          <a:fillRef idx="0">
            <a:schemeClr val="dk1"/>
          </a:fillRef>
          <a:effectRef idx="1">
            <a:schemeClr val="dk1"/>
          </a:effectRef>
          <a:fontRef idx="minor">
            <a:schemeClr val="tx1"/>
          </a:fontRef>
        </p:style>
      </p:cxnSp>
      <p:sp>
        <p:nvSpPr>
          <p:cNvPr id="24" name="Rectangle 23">
            <a:extLst>
              <a:ext uri="{FF2B5EF4-FFF2-40B4-BE49-F238E27FC236}">
                <a16:creationId xmlns:a16="http://schemas.microsoft.com/office/drawing/2014/main" id="{C87EF635-8C6E-65E7-3758-0D363B7911E4}"/>
              </a:ext>
            </a:extLst>
          </p:cNvPr>
          <p:cNvSpPr/>
          <p:nvPr/>
        </p:nvSpPr>
        <p:spPr>
          <a:xfrm>
            <a:off x="5168629" y="4582794"/>
            <a:ext cx="1998512" cy="304741"/>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rPr>
              <a:t>Self-Attention</a:t>
            </a:r>
          </a:p>
        </p:txBody>
      </p:sp>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BB5978DB-A7D9-43B5-B4C9-BE639825F792}"/>
                  </a:ext>
                </a:extLst>
              </p:cNvPr>
              <p:cNvSpPr/>
              <p:nvPr/>
            </p:nvSpPr>
            <p:spPr>
              <a:xfrm>
                <a:off x="3903422" y="5258326"/>
                <a:ext cx="1998512" cy="655608"/>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(Understanding)</a:t>
                </a:r>
              </a:p>
              <a:p>
                <a:pPr algn="ctr"/>
                <a14:m>
                  <m:oMathPara xmlns:m="http://schemas.openxmlformats.org/officeDocument/2006/math">
                    <m:oMathParaPr>
                      <m:jc m:val="centerGroup"/>
                    </m:oMathParaPr>
                    <m:oMath xmlns:m="http://schemas.openxmlformats.org/officeDocument/2006/math">
                      <m:sSup>
                        <m:sSupPr>
                          <m:ctrlPr>
                            <a:rPr lang="en-US" altLang="ko-KR" sz="1400" i="1" dirty="0" smtClean="0">
                              <a:solidFill>
                                <a:sysClr val="windowText" lastClr="000000"/>
                              </a:solidFill>
                              <a:latin typeface="Cambria Math" panose="02040503050406030204" pitchFamily="18" charset="0"/>
                            </a:rPr>
                          </m:ctrlPr>
                        </m:sSupPr>
                        <m:e>
                          <m:r>
                            <a:rPr lang="en-US" altLang="ko-KR" sz="1400" b="0" i="1" dirty="0" smtClean="0">
                              <a:solidFill>
                                <a:sysClr val="windowText" lastClr="000000"/>
                              </a:solidFill>
                              <a:latin typeface="Cambria Math" panose="02040503050406030204" pitchFamily="18" charset="0"/>
                            </a:rPr>
                            <m:t>𝐹𝐹𝑁</m:t>
                          </m:r>
                        </m:e>
                        <m:sup>
                          <m:r>
                            <a:rPr lang="en-US" altLang="ko-KR" sz="1400" b="0" i="1" dirty="0" smtClean="0">
                              <a:solidFill>
                                <a:sysClr val="windowText" lastClr="000000"/>
                              </a:solidFill>
                              <a:latin typeface="Cambria Math" panose="02040503050406030204" pitchFamily="18" charset="0"/>
                            </a:rPr>
                            <m:t>𝑢𝑛𝑑</m:t>
                          </m:r>
                        </m:sup>
                      </m:sSup>
                    </m:oMath>
                  </m:oMathPara>
                </a14:m>
                <a:endParaRPr lang="en-US" altLang="ko-KR" sz="1400" dirty="0">
                  <a:solidFill>
                    <a:sysClr val="windowText" lastClr="000000"/>
                  </a:solidFill>
                </a:endParaRPr>
              </a:p>
            </p:txBody>
          </p:sp>
        </mc:Choice>
        <mc:Fallback>
          <p:sp>
            <p:nvSpPr>
              <p:cNvPr id="25" name="Rectangle 24">
                <a:extLst>
                  <a:ext uri="{FF2B5EF4-FFF2-40B4-BE49-F238E27FC236}">
                    <a16:creationId xmlns:a16="http://schemas.microsoft.com/office/drawing/2014/main" id="{BB5978DB-A7D9-43B5-B4C9-BE639825F792}"/>
                  </a:ext>
                </a:extLst>
              </p:cNvPr>
              <p:cNvSpPr>
                <a:spLocks noRot="1" noChangeAspect="1" noMove="1" noResize="1" noEditPoints="1" noAdjustHandles="1" noChangeArrowheads="1" noChangeShapeType="1" noTextEdit="1"/>
              </p:cNvSpPr>
              <p:nvPr/>
            </p:nvSpPr>
            <p:spPr>
              <a:xfrm>
                <a:off x="3903422" y="5258326"/>
                <a:ext cx="1998512" cy="655608"/>
              </a:xfrm>
              <a:prstGeom prst="rect">
                <a:avLst/>
              </a:prstGeom>
              <a:blipFill>
                <a:blip r:embed="rId6"/>
                <a:stretch>
                  <a:fillRect/>
                </a:stretch>
              </a:blipFill>
              <a:ln>
                <a:solidFill>
                  <a:schemeClr val="tx1"/>
                </a:solidFill>
              </a:ln>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26" name="Rectangle 25">
                <a:extLst>
                  <a:ext uri="{FF2B5EF4-FFF2-40B4-BE49-F238E27FC236}">
                    <a16:creationId xmlns:a16="http://schemas.microsoft.com/office/drawing/2014/main" id="{875114DA-2FD1-E813-CEEA-27EF56517C61}"/>
                  </a:ext>
                </a:extLst>
              </p:cNvPr>
              <p:cNvSpPr/>
              <p:nvPr/>
            </p:nvSpPr>
            <p:spPr>
              <a:xfrm>
                <a:off x="6436713" y="5258326"/>
                <a:ext cx="1998512" cy="65560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ysClr val="windowText" lastClr="000000"/>
                    </a:solidFill>
                  </a:rPr>
                  <a:t>(Generation)</a:t>
                </a:r>
              </a:p>
              <a:p>
                <a:pPr algn="ctr"/>
                <a14:m>
                  <m:oMathPara xmlns:m="http://schemas.openxmlformats.org/officeDocument/2006/math">
                    <m:oMathParaPr>
                      <m:jc m:val="centerGroup"/>
                    </m:oMathParaPr>
                    <m:oMath xmlns:m="http://schemas.openxmlformats.org/officeDocument/2006/math">
                      <m:sSup>
                        <m:sSupPr>
                          <m:ctrlPr>
                            <a:rPr lang="en-US" altLang="ko-KR" sz="1400" i="1" dirty="0">
                              <a:solidFill>
                                <a:sysClr val="windowText" lastClr="000000"/>
                              </a:solidFill>
                              <a:latin typeface="Cambria Math" panose="02040503050406030204" pitchFamily="18" charset="0"/>
                            </a:rPr>
                          </m:ctrlPr>
                        </m:sSupPr>
                        <m:e>
                          <m:r>
                            <a:rPr lang="en-US" altLang="ko-KR" sz="1400" i="1" dirty="0">
                              <a:solidFill>
                                <a:sysClr val="windowText" lastClr="000000"/>
                              </a:solidFill>
                              <a:latin typeface="Cambria Math" panose="02040503050406030204" pitchFamily="18" charset="0"/>
                            </a:rPr>
                            <m:t>𝐹𝐹𝑁</m:t>
                          </m:r>
                        </m:e>
                        <m:sup>
                          <m:r>
                            <a:rPr lang="en-US" altLang="ko-KR" sz="1400" b="0" i="1" dirty="0" smtClean="0">
                              <a:solidFill>
                                <a:sysClr val="windowText" lastClr="000000"/>
                              </a:solidFill>
                              <a:latin typeface="Cambria Math" panose="02040503050406030204" pitchFamily="18" charset="0"/>
                            </a:rPr>
                            <m:t>𝑔𝑒𝑛</m:t>
                          </m:r>
                        </m:sup>
                      </m:sSup>
                    </m:oMath>
                  </m:oMathPara>
                </a14:m>
                <a:endParaRPr lang="en-US" altLang="ko-KR" sz="1400" dirty="0">
                  <a:solidFill>
                    <a:sysClr val="windowText" lastClr="000000"/>
                  </a:solidFill>
                </a:endParaRPr>
              </a:p>
            </p:txBody>
          </p:sp>
        </mc:Choice>
        <mc:Fallback>
          <p:sp>
            <p:nvSpPr>
              <p:cNvPr id="26" name="Rectangle 25">
                <a:extLst>
                  <a:ext uri="{FF2B5EF4-FFF2-40B4-BE49-F238E27FC236}">
                    <a16:creationId xmlns:a16="http://schemas.microsoft.com/office/drawing/2014/main" id="{875114DA-2FD1-E813-CEEA-27EF56517C61}"/>
                  </a:ext>
                </a:extLst>
              </p:cNvPr>
              <p:cNvSpPr>
                <a:spLocks noRot="1" noChangeAspect="1" noMove="1" noResize="1" noEditPoints="1" noAdjustHandles="1" noChangeArrowheads="1" noChangeShapeType="1" noTextEdit="1"/>
              </p:cNvSpPr>
              <p:nvPr/>
            </p:nvSpPr>
            <p:spPr>
              <a:xfrm>
                <a:off x="6436713" y="5258326"/>
                <a:ext cx="1998512" cy="655608"/>
              </a:xfrm>
              <a:prstGeom prst="rect">
                <a:avLst/>
              </a:prstGeom>
              <a:blipFill>
                <a:blip r:embed="rId7"/>
                <a:stretch>
                  <a:fillRect/>
                </a:stretch>
              </a:blipFill>
            </p:spPr>
            <p:txBody>
              <a:bodyPr/>
              <a:lstStyle/>
              <a:p>
                <a:r>
                  <a:rPr lang="en-KR">
                    <a:noFill/>
                  </a:rPr>
                  <a:t> </a:t>
                </a:r>
              </a:p>
            </p:txBody>
          </p:sp>
        </mc:Fallback>
      </mc:AlternateContent>
      <p:cxnSp>
        <p:nvCxnSpPr>
          <p:cNvPr id="27" name="Straight Arrow Connector 26">
            <a:extLst>
              <a:ext uri="{FF2B5EF4-FFF2-40B4-BE49-F238E27FC236}">
                <a16:creationId xmlns:a16="http://schemas.microsoft.com/office/drawing/2014/main" id="{3FCED7B1-B67C-353E-7823-5BF216B49DD0}"/>
              </a:ext>
            </a:extLst>
          </p:cNvPr>
          <p:cNvCxnSpPr>
            <a:cxnSpLocks/>
          </p:cNvCxnSpPr>
          <p:nvPr/>
        </p:nvCxnSpPr>
        <p:spPr>
          <a:xfrm>
            <a:off x="4892587" y="5069457"/>
            <a:ext cx="0" cy="20415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52C50C6-AE81-10CA-87D3-0D7CCBB3EA1F}"/>
              </a:ext>
            </a:extLst>
          </p:cNvPr>
          <p:cNvCxnSpPr>
            <a:cxnSpLocks/>
          </p:cNvCxnSpPr>
          <p:nvPr/>
        </p:nvCxnSpPr>
        <p:spPr>
          <a:xfrm>
            <a:off x="7417252" y="5065143"/>
            <a:ext cx="0" cy="204157"/>
          </a:xfrm>
          <a:prstGeom prst="straightConnector1">
            <a:avLst/>
          </a:prstGeom>
          <a:ln>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641B5B92-4D7F-9BC6-CAA7-E5E59DBE847A}"/>
              </a:ext>
            </a:extLst>
          </p:cNvPr>
          <p:cNvCxnSpPr/>
          <p:nvPr/>
        </p:nvCxnSpPr>
        <p:spPr>
          <a:xfrm>
            <a:off x="4892587" y="5065143"/>
            <a:ext cx="2524665" cy="0"/>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8230C4DD-10A4-07D7-0110-4D4B63E0C3E4}"/>
              </a:ext>
            </a:extLst>
          </p:cNvPr>
          <p:cNvCxnSpPr>
            <a:cxnSpLocks/>
            <a:stCxn id="24" idx="2"/>
          </p:cNvCxnSpPr>
          <p:nvPr/>
        </p:nvCxnSpPr>
        <p:spPr>
          <a:xfrm>
            <a:off x="6167885" y="4887535"/>
            <a:ext cx="2" cy="177608"/>
          </a:xfrm>
          <a:prstGeom prst="line">
            <a:avLst/>
          </a:prstGeom>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06EE807E-1472-7609-ABE2-85EAC4DDC7B5}"/>
              </a:ext>
            </a:extLst>
          </p:cNvPr>
          <p:cNvSpPr txBox="1"/>
          <p:nvPr/>
        </p:nvSpPr>
        <p:spPr>
          <a:xfrm>
            <a:off x="8538915" y="1855481"/>
            <a:ext cx="606256" cy="369332"/>
          </a:xfrm>
          <a:prstGeom prst="rect">
            <a:avLst/>
          </a:prstGeom>
          <a:noFill/>
        </p:spPr>
        <p:txBody>
          <a:bodyPr wrap="none" rtlCol="0">
            <a:spAutoFit/>
          </a:bodyPr>
          <a:lstStyle/>
          <a:p>
            <a:r>
              <a:rPr lang="en-KR" dirty="0"/>
              <a:t>X 28</a:t>
            </a:r>
          </a:p>
        </p:txBody>
      </p:sp>
      <p:cxnSp>
        <p:nvCxnSpPr>
          <p:cNvPr id="32" name="Straight Connector 31">
            <a:extLst>
              <a:ext uri="{FF2B5EF4-FFF2-40B4-BE49-F238E27FC236}">
                <a16:creationId xmlns:a16="http://schemas.microsoft.com/office/drawing/2014/main" id="{DC9AAE70-434A-10DD-0B80-3519FDC3C91B}"/>
              </a:ext>
            </a:extLst>
          </p:cNvPr>
          <p:cNvCxnSpPr>
            <a:cxnSpLocks/>
          </p:cNvCxnSpPr>
          <p:nvPr/>
        </p:nvCxnSpPr>
        <p:spPr>
          <a:xfrm>
            <a:off x="8435225" y="5913934"/>
            <a:ext cx="803666" cy="0"/>
          </a:xfrm>
          <a:prstGeom prst="line">
            <a:avLst/>
          </a:prstGeom>
          <a:ln>
            <a:prstDash val="dash"/>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DCD011-7A1A-E970-A08B-97F49C3BFD94}"/>
                  </a:ext>
                </a:extLst>
              </p:cNvPr>
              <p:cNvSpPr txBox="1"/>
              <p:nvPr/>
            </p:nvSpPr>
            <p:spPr>
              <a:xfrm>
                <a:off x="9238891" y="5699708"/>
                <a:ext cx="1434047" cy="43018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Sup>
                        <m:sSubSupPr>
                          <m:ctrlPr>
                            <a:rPr lang="en-US" i="1" dirty="0" smtClean="0">
                              <a:latin typeface="Cambria Math" panose="02040503050406030204" pitchFamily="18" charset="0"/>
                            </a:rPr>
                          </m:ctrlPr>
                        </m:sSubSupPr>
                        <m:e>
                          <m:r>
                            <a:rPr lang="en-US" b="0" i="1" dirty="0" smtClean="0">
                              <a:latin typeface="Cambria Math" panose="02040503050406030204" pitchFamily="18" charset="0"/>
                            </a:rPr>
                            <m:t>h</m:t>
                          </m:r>
                        </m:e>
                        <m:sub>
                          <m:r>
                            <a:rPr lang="en-US" i="1" dirty="0" smtClean="0">
                              <a:latin typeface="Cambria Math" panose="02040503050406030204" pitchFamily="18" charset="0"/>
                            </a:rPr>
                            <m:t>𝑙</m:t>
                          </m:r>
                          <m:r>
                            <a:rPr lang="en-US" b="0" i="1" dirty="0" smtClean="0">
                              <a:latin typeface="Cambria Math" panose="02040503050406030204" pitchFamily="18" charset="0"/>
                            </a:rPr>
                            <m:t>=13</m:t>
                          </m:r>
                        </m:sub>
                        <m:sup>
                          <m:r>
                            <a:rPr lang="en-US" b="0" i="1" dirty="0" smtClean="0">
                              <a:latin typeface="Cambria Math" panose="02040503050406030204" pitchFamily="18" charset="0"/>
                            </a:rPr>
                            <m:t>𝑔𝑒𝑛</m:t>
                          </m:r>
                          <m:r>
                            <a:rPr lang="en-US" b="0" i="1" dirty="0" smtClean="0">
                              <a:latin typeface="Cambria Math" panose="02040503050406030204" pitchFamily="18" charset="0"/>
                            </a:rPr>
                            <m:t>_</m:t>
                          </m:r>
                          <m:r>
                            <a:rPr lang="en-US" b="0" i="1" dirty="0" smtClean="0">
                              <a:latin typeface="Cambria Math" panose="02040503050406030204" pitchFamily="18" charset="0"/>
                            </a:rPr>
                            <m:t>𝑚𝑙𝑝</m:t>
                          </m:r>
                          <m:r>
                            <a:rPr lang="en-US" b="0" i="1" dirty="0" smtClean="0">
                              <a:latin typeface="Cambria Math" panose="02040503050406030204" pitchFamily="18" charset="0"/>
                            </a:rPr>
                            <m:t>_</m:t>
                          </m:r>
                          <m:r>
                            <a:rPr lang="en-US" b="0" i="1" dirty="0" smtClean="0">
                              <a:latin typeface="Cambria Math" panose="02040503050406030204" pitchFamily="18" charset="0"/>
                            </a:rPr>
                            <m:t>𝑜𝑢𝑡</m:t>
                          </m:r>
                        </m:sup>
                      </m:sSubSup>
                    </m:oMath>
                  </m:oMathPara>
                </a14:m>
              </a:p>
            </p:txBody>
          </p:sp>
        </mc:Choice>
        <mc:Fallback>
          <p:sp>
            <p:nvSpPr>
              <p:cNvPr id="38" name="TextBox 37">
                <a:extLst>
                  <a:ext uri="{FF2B5EF4-FFF2-40B4-BE49-F238E27FC236}">
                    <a16:creationId xmlns:a16="http://schemas.microsoft.com/office/drawing/2014/main" id="{A8DCD011-7A1A-E970-A08B-97F49C3BFD94}"/>
                  </a:ext>
                </a:extLst>
              </p:cNvPr>
              <p:cNvSpPr txBox="1">
                <a:spLocks noRot="1" noChangeAspect="1" noMove="1" noResize="1" noEditPoints="1" noAdjustHandles="1" noChangeArrowheads="1" noChangeShapeType="1" noTextEdit="1"/>
              </p:cNvSpPr>
              <p:nvPr/>
            </p:nvSpPr>
            <p:spPr>
              <a:xfrm>
                <a:off x="9238891" y="5699708"/>
                <a:ext cx="1434047" cy="430182"/>
              </a:xfrm>
              <a:prstGeom prst="rect">
                <a:avLst/>
              </a:prstGeom>
              <a:blipFill>
                <a:blip r:embed="rId8"/>
                <a:stretch>
                  <a:fillRect r="-4386" b="-20000"/>
                </a:stretch>
              </a:blipFill>
            </p:spPr>
            <p:txBody>
              <a:bodyPr/>
              <a:lstStyle/>
              <a:p>
                <a:r>
                  <a:rPr lang="en-KR">
                    <a:noFill/>
                  </a:rPr>
                  <a:t> </a:t>
                </a:r>
              </a:p>
            </p:txBody>
          </p:sp>
        </mc:Fallback>
      </mc:AlternateContent>
      <p:sp>
        <p:nvSpPr>
          <p:cNvPr id="41" name="Trapezoid 40">
            <a:extLst>
              <a:ext uri="{FF2B5EF4-FFF2-40B4-BE49-F238E27FC236}">
                <a16:creationId xmlns:a16="http://schemas.microsoft.com/office/drawing/2014/main" id="{6CCEB59E-2DC3-FD22-F84B-577F40DC4FC0}"/>
              </a:ext>
            </a:extLst>
          </p:cNvPr>
          <p:cNvSpPr/>
          <p:nvPr/>
        </p:nvSpPr>
        <p:spPr>
          <a:xfrm rot="5400000">
            <a:off x="11226461" y="5793165"/>
            <a:ext cx="767751" cy="362310"/>
          </a:xfrm>
          <a:prstGeom prst="trapezoid">
            <a:avLst>
              <a:gd name="adj" fmla="val 70238"/>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42" name="Trapezoid 41">
            <a:extLst>
              <a:ext uri="{FF2B5EF4-FFF2-40B4-BE49-F238E27FC236}">
                <a16:creationId xmlns:a16="http://schemas.microsoft.com/office/drawing/2014/main" id="{39274314-6B5E-E823-30CC-A2663199DF0A}"/>
              </a:ext>
            </a:extLst>
          </p:cNvPr>
          <p:cNvSpPr/>
          <p:nvPr/>
        </p:nvSpPr>
        <p:spPr>
          <a:xfrm rot="5400000" flipV="1">
            <a:off x="10470217" y="5784536"/>
            <a:ext cx="767751" cy="362310"/>
          </a:xfrm>
          <a:prstGeom prst="trapezoid">
            <a:avLst>
              <a:gd name="adj" fmla="val 70238"/>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AE7D1177-5AB5-CDCE-6407-86D0AC1084A2}"/>
                  </a:ext>
                </a:extLst>
              </p:cNvPr>
              <p:cNvSpPr txBox="1"/>
              <p:nvPr/>
            </p:nvSpPr>
            <p:spPr>
              <a:xfrm>
                <a:off x="11056140" y="5778952"/>
                <a:ext cx="35214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𝑧</m:t>
                      </m:r>
                    </m:oMath>
                  </m:oMathPara>
                </a14:m>
              </a:p>
            </p:txBody>
          </p:sp>
        </mc:Choice>
        <mc:Fallback>
          <p:sp>
            <p:nvSpPr>
              <p:cNvPr id="43" name="TextBox 42">
                <a:extLst>
                  <a:ext uri="{FF2B5EF4-FFF2-40B4-BE49-F238E27FC236}">
                    <a16:creationId xmlns:a16="http://schemas.microsoft.com/office/drawing/2014/main" id="{AE7D1177-5AB5-CDCE-6407-86D0AC1084A2}"/>
                  </a:ext>
                </a:extLst>
              </p:cNvPr>
              <p:cNvSpPr txBox="1">
                <a:spLocks noRot="1" noChangeAspect="1" noMove="1" noResize="1" noEditPoints="1" noAdjustHandles="1" noChangeArrowheads="1" noChangeShapeType="1" noTextEdit="1"/>
              </p:cNvSpPr>
              <p:nvPr/>
            </p:nvSpPr>
            <p:spPr>
              <a:xfrm>
                <a:off x="11056140" y="5778952"/>
                <a:ext cx="352148" cy="369332"/>
              </a:xfrm>
              <a:prstGeom prst="rect">
                <a:avLst/>
              </a:prstGeom>
              <a:blipFill>
                <a:blip r:embed="rId9"/>
                <a:stretch>
                  <a:fillRect t="-6667" r="-20690" b="-26667"/>
                </a:stretch>
              </a:blipFill>
            </p:spPr>
            <p:txBody>
              <a:bodyPr/>
              <a:lstStyle/>
              <a:p>
                <a:r>
                  <a:rPr lang="en-KR">
                    <a:noFill/>
                  </a:rPr>
                  <a:t> </a:t>
                </a:r>
              </a:p>
            </p:txBody>
          </p:sp>
        </mc:Fallback>
      </mc:AlternateContent>
      <p:cxnSp>
        <p:nvCxnSpPr>
          <p:cNvPr id="44" name="Straight Connector 43">
            <a:extLst>
              <a:ext uri="{FF2B5EF4-FFF2-40B4-BE49-F238E27FC236}">
                <a16:creationId xmlns:a16="http://schemas.microsoft.com/office/drawing/2014/main" id="{FD0CAD15-CD04-BB8B-F9F8-F204F8785D26}"/>
              </a:ext>
            </a:extLst>
          </p:cNvPr>
          <p:cNvCxnSpPr>
            <a:cxnSpLocks/>
          </p:cNvCxnSpPr>
          <p:nvPr/>
        </p:nvCxnSpPr>
        <p:spPr>
          <a:xfrm>
            <a:off x="3089665" y="5907272"/>
            <a:ext cx="803666" cy="0"/>
          </a:xfrm>
          <a:prstGeom prst="line">
            <a:avLst/>
          </a:prstGeom>
          <a:ln>
            <a:prstDash val="dash"/>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3823A1E3-33F5-81E3-6DE1-65ADDA9D0C88}"/>
                  </a:ext>
                </a:extLst>
              </p:cNvPr>
              <p:cNvSpPr txBox="1"/>
              <p:nvPr/>
            </p:nvSpPr>
            <p:spPr>
              <a:xfrm>
                <a:off x="1668584" y="5718566"/>
                <a:ext cx="1444370" cy="428451"/>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Sup>
                        <m:sSubSupPr>
                          <m:ctrlPr>
                            <a:rPr lang="en-US" i="1" dirty="0" smtClean="0">
                              <a:latin typeface="Cambria Math" panose="02040503050406030204" pitchFamily="18" charset="0"/>
                            </a:rPr>
                          </m:ctrlPr>
                        </m:sSubSupPr>
                        <m:e>
                          <m:r>
                            <a:rPr lang="en-US" b="0" i="1" dirty="0" smtClean="0">
                              <a:latin typeface="Cambria Math" panose="02040503050406030204" pitchFamily="18" charset="0"/>
                            </a:rPr>
                            <m:t>h</m:t>
                          </m:r>
                        </m:e>
                        <m:sub>
                          <m:r>
                            <a:rPr lang="en-US" i="1" dirty="0" smtClean="0">
                              <a:latin typeface="Cambria Math" panose="02040503050406030204" pitchFamily="18" charset="0"/>
                            </a:rPr>
                            <m:t>𝑙</m:t>
                          </m:r>
                          <m:r>
                            <a:rPr lang="en-US" b="0" i="1" dirty="0" smtClean="0">
                              <a:latin typeface="Cambria Math" panose="02040503050406030204" pitchFamily="18" charset="0"/>
                            </a:rPr>
                            <m:t>=13</m:t>
                          </m:r>
                        </m:sub>
                        <m:sup>
                          <m:r>
                            <a:rPr lang="en-US" b="0" i="1" dirty="0" smtClean="0">
                              <a:latin typeface="Cambria Math" panose="02040503050406030204" pitchFamily="18" charset="0"/>
                            </a:rPr>
                            <m:t>𝑢𝑛𝑑</m:t>
                          </m:r>
                          <m:r>
                            <a:rPr lang="en-US" b="0" i="1" dirty="0" smtClean="0">
                              <a:latin typeface="Cambria Math" panose="02040503050406030204" pitchFamily="18" charset="0"/>
                            </a:rPr>
                            <m:t>_</m:t>
                          </m:r>
                          <m:r>
                            <a:rPr lang="en-US" b="0" i="1" dirty="0" smtClean="0">
                              <a:latin typeface="Cambria Math" panose="02040503050406030204" pitchFamily="18" charset="0"/>
                            </a:rPr>
                            <m:t>𝑚𝑙𝑝</m:t>
                          </m:r>
                          <m:r>
                            <a:rPr lang="en-US" b="0" i="1" dirty="0" smtClean="0">
                              <a:latin typeface="Cambria Math" panose="02040503050406030204" pitchFamily="18" charset="0"/>
                            </a:rPr>
                            <m:t>_</m:t>
                          </m:r>
                          <m:r>
                            <a:rPr lang="en-US" b="0" i="1" dirty="0" smtClean="0">
                              <a:latin typeface="Cambria Math" panose="02040503050406030204" pitchFamily="18" charset="0"/>
                            </a:rPr>
                            <m:t>𝑜𝑢𝑡</m:t>
                          </m:r>
                        </m:sup>
                      </m:sSubSup>
                    </m:oMath>
                  </m:oMathPara>
                </a14:m>
              </a:p>
            </p:txBody>
          </p:sp>
        </mc:Choice>
        <mc:Fallback>
          <p:sp>
            <p:nvSpPr>
              <p:cNvPr id="45" name="TextBox 44">
                <a:extLst>
                  <a:ext uri="{FF2B5EF4-FFF2-40B4-BE49-F238E27FC236}">
                    <a16:creationId xmlns:a16="http://schemas.microsoft.com/office/drawing/2014/main" id="{3823A1E3-33F5-81E3-6DE1-65ADDA9D0C88}"/>
                  </a:ext>
                </a:extLst>
              </p:cNvPr>
              <p:cNvSpPr txBox="1">
                <a:spLocks noRot="1" noChangeAspect="1" noMove="1" noResize="1" noEditPoints="1" noAdjustHandles="1" noChangeArrowheads="1" noChangeShapeType="1" noTextEdit="1"/>
              </p:cNvSpPr>
              <p:nvPr/>
            </p:nvSpPr>
            <p:spPr>
              <a:xfrm>
                <a:off x="1668584" y="5718566"/>
                <a:ext cx="1444370" cy="428451"/>
              </a:xfrm>
              <a:prstGeom prst="rect">
                <a:avLst/>
              </a:prstGeom>
              <a:blipFill>
                <a:blip r:embed="rId10"/>
                <a:stretch>
                  <a:fillRect r="-4348" b="-23529"/>
                </a:stretch>
              </a:blipFill>
            </p:spPr>
            <p:txBody>
              <a:bodyPr/>
              <a:lstStyle/>
              <a:p>
                <a:r>
                  <a:rPr lang="en-KR">
                    <a:noFill/>
                  </a:rPr>
                  <a:t> </a:t>
                </a:r>
              </a:p>
            </p:txBody>
          </p:sp>
        </mc:Fallback>
      </mc:AlternateContent>
      <p:sp>
        <p:nvSpPr>
          <p:cNvPr id="46" name="Trapezoid 45">
            <a:extLst>
              <a:ext uri="{FF2B5EF4-FFF2-40B4-BE49-F238E27FC236}">
                <a16:creationId xmlns:a16="http://schemas.microsoft.com/office/drawing/2014/main" id="{C4A61F49-0839-6163-EFA0-88579C0D2685}"/>
              </a:ext>
            </a:extLst>
          </p:cNvPr>
          <p:cNvSpPr/>
          <p:nvPr/>
        </p:nvSpPr>
        <p:spPr>
          <a:xfrm rot="5400000">
            <a:off x="1090588" y="5784536"/>
            <a:ext cx="767751" cy="362310"/>
          </a:xfrm>
          <a:prstGeom prst="trapezoid">
            <a:avLst>
              <a:gd name="adj" fmla="val 70238"/>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47" name="Trapezoid 46">
            <a:extLst>
              <a:ext uri="{FF2B5EF4-FFF2-40B4-BE49-F238E27FC236}">
                <a16:creationId xmlns:a16="http://schemas.microsoft.com/office/drawing/2014/main" id="{CC6EE51E-3489-1217-6FDC-68A9C2D6A0B9}"/>
              </a:ext>
            </a:extLst>
          </p:cNvPr>
          <p:cNvSpPr/>
          <p:nvPr/>
        </p:nvSpPr>
        <p:spPr>
          <a:xfrm rot="5400000" flipV="1">
            <a:off x="334344" y="5775907"/>
            <a:ext cx="767751" cy="362310"/>
          </a:xfrm>
          <a:prstGeom prst="trapezoid">
            <a:avLst>
              <a:gd name="adj" fmla="val 70238"/>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3FDA98C5-1AAD-0B54-1EB8-12B14C299B8A}"/>
                  </a:ext>
                </a:extLst>
              </p:cNvPr>
              <p:cNvSpPr txBox="1"/>
              <p:nvPr/>
            </p:nvSpPr>
            <p:spPr>
              <a:xfrm>
                <a:off x="920267" y="5770323"/>
                <a:ext cx="352148"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𝑧</m:t>
                      </m:r>
                    </m:oMath>
                  </m:oMathPara>
                </a14:m>
              </a:p>
            </p:txBody>
          </p:sp>
        </mc:Choice>
        <mc:Fallback>
          <p:sp>
            <p:nvSpPr>
              <p:cNvPr id="48" name="TextBox 47">
                <a:extLst>
                  <a:ext uri="{FF2B5EF4-FFF2-40B4-BE49-F238E27FC236}">
                    <a16:creationId xmlns:a16="http://schemas.microsoft.com/office/drawing/2014/main" id="{3FDA98C5-1AAD-0B54-1EB8-12B14C299B8A}"/>
                  </a:ext>
                </a:extLst>
              </p:cNvPr>
              <p:cNvSpPr txBox="1">
                <a:spLocks noRot="1" noChangeAspect="1" noMove="1" noResize="1" noEditPoints="1" noAdjustHandles="1" noChangeArrowheads="1" noChangeShapeType="1" noTextEdit="1"/>
              </p:cNvSpPr>
              <p:nvPr/>
            </p:nvSpPr>
            <p:spPr>
              <a:xfrm>
                <a:off x="920267" y="5770323"/>
                <a:ext cx="352148" cy="369332"/>
              </a:xfrm>
              <a:prstGeom prst="rect">
                <a:avLst/>
              </a:prstGeom>
              <a:blipFill>
                <a:blip r:embed="rId11"/>
                <a:stretch>
                  <a:fillRect t="-6667" r="-20690" b="-26667"/>
                </a:stretch>
              </a:blipFill>
            </p:spPr>
            <p:txBody>
              <a:bodyPr/>
              <a:lstStyle/>
              <a:p>
                <a:r>
                  <a:rPr lang="en-KR">
                    <a:noFill/>
                  </a:rPr>
                  <a:t> </a:t>
                </a:r>
              </a:p>
            </p:txBody>
          </p:sp>
        </mc:Fallback>
      </mc:AlternateContent>
      <p:sp>
        <p:nvSpPr>
          <p:cNvPr id="49" name="TextBox 48">
            <a:extLst>
              <a:ext uri="{FF2B5EF4-FFF2-40B4-BE49-F238E27FC236}">
                <a16:creationId xmlns:a16="http://schemas.microsoft.com/office/drawing/2014/main" id="{36C960AE-6D5A-C3E4-CC25-B7EC4322AE07}"/>
              </a:ext>
            </a:extLst>
          </p:cNvPr>
          <p:cNvSpPr txBox="1"/>
          <p:nvPr/>
        </p:nvSpPr>
        <p:spPr>
          <a:xfrm>
            <a:off x="4323268" y="6173530"/>
            <a:ext cx="3694986" cy="369332"/>
          </a:xfrm>
          <a:prstGeom prst="rect">
            <a:avLst/>
          </a:prstGeom>
          <a:noFill/>
        </p:spPr>
        <p:txBody>
          <a:bodyPr wrap="none" rtlCol="0">
            <a:spAutoFit/>
          </a:bodyPr>
          <a:lstStyle/>
          <a:p>
            <a:r>
              <a:rPr lang="en-US" dirty="0"/>
              <a:t>(txt top-k) ∪ (</a:t>
            </a:r>
            <a:r>
              <a:rPr lang="en-US" dirty="0" err="1"/>
              <a:t>img</a:t>
            </a:r>
            <a:r>
              <a:rPr lang="en-US" dirty="0"/>
              <a:t> top-k) - (</a:t>
            </a:r>
            <a:r>
              <a:rPr lang="en-US" dirty="0" err="1"/>
              <a:t>img</a:t>
            </a:r>
            <a:r>
              <a:rPr lang="en-US" dirty="0"/>
              <a:t> top-k)</a:t>
            </a:r>
            <a:endParaRPr lang="en-KR" dirty="0"/>
          </a:p>
        </p:txBody>
      </p:sp>
    </p:spTree>
    <p:extLst>
      <p:ext uri="{BB962C8B-B14F-4D97-AF65-F5344CB8AC3E}">
        <p14:creationId xmlns:p14="http://schemas.microsoft.com/office/powerpoint/2010/main" val="3224014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158ECF49-9510-284B-8608-77DD3AF33700}" vid="{D7FC2EE1-7D83-D345-BC33-911F7B4FB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25312</TotalTime>
  <Words>592</Words>
  <Application>Microsoft Macintosh PowerPoint</Application>
  <PresentationFormat>Widescreen</PresentationFormat>
  <Paragraphs>84</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Pretendard</vt:lpstr>
      <vt:lpstr>Pretendard Medium</vt:lpstr>
      <vt:lpstr>Pretendard SemiBold</vt:lpstr>
      <vt:lpstr>Aptos</vt:lpstr>
      <vt:lpstr>Arial</vt:lpstr>
      <vt:lpstr>Cambria Math</vt:lpstr>
      <vt:lpstr>Times New Roman</vt:lpstr>
      <vt:lpstr>Wingdings</vt:lpstr>
      <vt:lpstr>Office Theme</vt:lpstr>
      <vt:lpstr>Revision Dominating-vs-Dominated</vt:lpstr>
      <vt:lpstr>Weaknesses</vt:lpstr>
      <vt:lpstr>Related Works</vt:lpstr>
      <vt:lpstr>Weekly Update Concept Erasing on UMM</vt:lpstr>
      <vt:lpstr>Architecture</vt:lpstr>
      <vt:lpstr>Previous Idea </vt:lpstr>
      <vt:lpstr>Previous Idea </vt:lpstr>
      <vt:lpstr>New Approachment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정하연</dc:creator>
  <cp:lastModifiedBy>정하연</cp:lastModifiedBy>
  <cp:revision>328</cp:revision>
  <dcterms:created xsi:type="dcterms:W3CDTF">2025-07-25T04:06:09Z</dcterms:created>
  <dcterms:modified xsi:type="dcterms:W3CDTF">2026-02-24T10:38:56Z</dcterms:modified>
</cp:coreProperties>
</file>