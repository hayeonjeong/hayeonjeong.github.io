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354" r:id="rId3"/>
    <p:sldId id="356" r:id="rId4"/>
    <p:sldId id="357" r:id="rId5"/>
    <p:sldId id="358" r:id="rId6"/>
    <p:sldId id="359" r:id="rId7"/>
    <p:sldId id="360" r:id="rId8"/>
    <p:sldId id="361" r:id="rId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3E00BF-5D40-8E89-F5F2-4B0618AD9405}" name="정하연" initials="정" userId="S::hayeon.jeong@o365.yonsei.ac.kr::e95db288-6b69-43e1-a5d2-7b2a41a97e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682"/>
    <a:srgbClr val="66C8F5"/>
    <a:srgbClr val="88D6F5"/>
    <a:srgbClr val="FBA4A3"/>
    <a:srgbClr val="FBA6A1"/>
    <a:srgbClr val="FBCECB"/>
    <a:srgbClr val="F1C6C3"/>
    <a:srgbClr val="3792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46"/>
    <p:restoredTop sz="89888"/>
  </p:normalViewPr>
  <p:slideViewPr>
    <p:cSldViewPr snapToGrid="0">
      <p:cViewPr varScale="1">
        <p:scale>
          <a:sx n="80" d="100"/>
          <a:sy n="80" d="100"/>
        </p:scale>
        <p:origin x="200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999-0D2D-334E-B65B-715E1558EE94}" type="datetimeFigureOut">
              <a:rPr lang="en-KR" smtClean="0"/>
              <a:t>4/21/26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8AA30-34BB-0C47-9851-CC14E2038A7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550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지난 주에 batch 처리를 어떻게 하는지 코드 상으로 몰라서 못할 것 같다고 말씀드렸었는데</a:t>
            </a:r>
            <a:r>
              <a:rPr lang="en-US" altLang="ko-KR" dirty="0"/>
              <a:t>,</a:t>
            </a:r>
          </a:p>
          <a:p>
            <a:r>
              <a:rPr lang="en-US" dirty="0" err="1"/>
              <a:t>다시</a:t>
            </a:r>
            <a:r>
              <a:rPr lang="en-US" dirty="0"/>
              <a:t> </a:t>
            </a:r>
            <a:r>
              <a:rPr lang="en-US" dirty="0" err="1"/>
              <a:t>모델</a:t>
            </a:r>
            <a:r>
              <a:rPr lang="en-US" dirty="0"/>
              <a:t> </a:t>
            </a:r>
            <a:r>
              <a:rPr lang="en-US" dirty="0" err="1"/>
              <a:t>코드를</a:t>
            </a:r>
            <a:r>
              <a:rPr lang="en-US" dirty="0"/>
              <a:t> </a:t>
            </a:r>
            <a:r>
              <a:rPr lang="en-US" dirty="0" err="1"/>
              <a:t>잘</a:t>
            </a:r>
            <a:r>
              <a:rPr lang="en-US" dirty="0"/>
              <a:t> </a:t>
            </a:r>
            <a:r>
              <a:rPr lang="en-US" dirty="0" err="1"/>
              <a:t>보니</a:t>
            </a:r>
            <a:r>
              <a:rPr lang="en-US" dirty="0"/>
              <a:t> </a:t>
            </a:r>
            <a:r>
              <a:rPr lang="en-US" dirty="0" err="1"/>
              <a:t>처리하는</a:t>
            </a:r>
            <a:r>
              <a:rPr lang="en-US" dirty="0"/>
              <a:t> </a:t>
            </a:r>
            <a:r>
              <a:rPr lang="en-US" dirty="0" err="1"/>
              <a:t>방법이</a:t>
            </a:r>
            <a:r>
              <a:rPr lang="en-US" dirty="0"/>
              <a:t> </a:t>
            </a:r>
            <a:r>
              <a:rPr lang="en-US" dirty="0" err="1"/>
              <a:t>있었다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en-US" dirty="0" err="1"/>
              <a:t>가변</a:t>
            </a:r>
            <a:r>
              <a:rPr lang="en-US" dirty="0"/>
              <a:t> </a:t>
            </a:r>
            <a:r>
              <a:rPr lang="en-US" dirty="0" err="1"/>
              <a:t>길이를</a:t>
            </a:r>
            <a:r>
              <a:rPr lang="en-US" dirty="0"/>
              <a:t> </a:t>
            </a:r>
            <a:r>
              <a:rPr lang="en-US" dirty="0" err="1"/>
              <a:t>처리하는</a:t>
            </a:r>
            <a:r>
              <a:rPr lang="en-US" dirty="0"/>
              <a:t> </a:t>
            </a:r>
            <a:r>
              <a:rPr lang="en-US" dirty="0" err="1"/>
              <a:t>방법엔</a:t>
            </a:r>
            <a:r>
              <a:rPr lang="en-US" dirty="0"/>
              <a:t> </a:t>
            </a:r>
            <a:r>
              <a:rPr lang="en-US" dirty="0" err="1"/>
              <a:t>패딩</a:t>
            </a:r>
            <a:r>
              <a:rPr lang="en-US" dirty="0"/>
              <a:t> </a:t>
            </a:r>
            <a:r>
              <a:rPr lang="en-US" dirty="0" err="1"/>
              <a:t>방법과</a:t>
            </a:r>
            <a:r>
              <a:rPr lang="en-US" dirty="0"/>
              <a:t> </a:t>
            </a:r>
            <a:r>
              <a:rPr lang="en-US" dirty="0" err="1"/>
              <a:t>concat</a:t>
            </a:r>
            <a:r>
              <a:rPr lang="en-US" dirty="0"/>
              <a:t> </a:t>
            </a:r>
            <a:r>
              <a:rPr lang="en-US" dirty="0" err="1"/>
              <a:t>방법이</a:t>
            </a:r>
            <a:r>
              <a:rPr lang="en-US" dirty="0"/>
              <a:t> </a:t>
            </a:r>
            <a:r>
              <a:rPr lang="en-US" dirty="0" err="1"/>
              <a:t>있는데</a:t>
            </a:r>
            <a:r>
              <a:rPr lang="en-US" altLang="ko-KR" dirty="0"/>
              <a:t>,</a:t>
            </a:r>
          </a:p>
          <a:p>
            <a:r>
              <a:rPr lang="en-US" dirty="0" err="1"/>
              <a:t>제가</a:t>
            </a:r>
            <a:r>
              <a:rPr lang="en-US" dirty="0"/>
              <a:t> </a:t>
            </a:r>
            <a:r>
              <a:rPr lang="en-US" dirty="0" err="1"/>
              <a:t>대상으로</a:t>
            </a:r>
            <a:r>
              <a:rPr lang="en-US" dirty="0"/>
              <a:t> </a:t>
            </a:r>
            <a:r>
              <a:rPr lang="en-US" dirty="0" err="1"/>
              <a:t>하는</a:t>
            </a:r>
            <a:r>
              <a:rPr lang="en-US" dirty="0"/>
              <a:t> </a:t>
            </a:r>
            <a:r>
              <a:rPr lang="en-US" dirty="0" err="1"/>
              <a:t>모델들은</a:t>
            </a:r>
            <a:r>
              <a:rPr lang="en-US" dirty="0"/>
              <a:t> </a:t>
            </a:r>
            <a:r>
              <a:rPr lang="en-US" dirty="0" err="1"/>
              <a:t>거의</a:t>
            </a:r>
            <a:r>
              <a:rPr lang="en-US" dirty="0"/>
              <a:t> </a:t>
            </a:r>
            <a:r>
              <a:rPr lang="en-US" dirty="0" err="1"/>
              <a:t>concat을</a:t>
            </a:r>
            <a:r>
              <a:rPr lang="en-US" dirty="0"/>
              <a:t> </a:t>
            </a:r>
            <a:r>
              <a:rPr lang="en-US" dirty="0" err="1"/>
              <a:t>해서</a:t>
            </a:r>
            <a:r>
              <a:rPr lang="en-US" dirty="0"/>
              <a:t> </a:t>
            </a:r>
            <a:r>
              <a:rPr lang="en-US" dirty="0" err="1"/>
              <a:t>시작점을</a:t>
            </a:r>
            <a:r>
              <a:rPr lang="en-US" dirty="0"/>
              <a:t> meta </a:t>
            </a:r>
            <a:r>
              <a:rPr lang="en-US" dirty="0" err="1"/>
              <a:t>data로</a:t>
            </a:r>
            <a:r>
              <a:rPr lang="en-US" dirty="0"/>
              <a:t> </a:t>
            </a:r>
            <a:r>
              <a:rPr lang="en-US" dirty="0" err="1"/>
              <a:t>기록해두는</a:t>
            </a:r>
            <a:r>
              <a:rPr lang="en-US" dirty="0"/>
              <a:t> </a:t>
            </a:r>
            <a:r>
              <a:rPr lang="en-US" dirty="0" err="1"/>
              <a:t>방식으로</a:t>
            </a:r>
            <a:r>
              <a:rPr lang="en-US" dirty="0"/>
              <a:t> </a:t>
            </a:r>
            <a:r>
              <a:rPr lang="en-US" dirty="0" err="1"/>
              <a:t>진행된다</a:t>
            </a:r>
            <a:r>
              <a:rPr lang="en-US" altLang="ko-KR" dirty="0"/>
              <a:t>.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12493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이미지 토큰들도 같은 방식으로 다뤄짐</a:t>
            </a:r>
            <a:r>
              <a:rPr lang="en-US" altLang="ko-KR" dirty="0"/>
              <a:t>.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65199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KR" dirty="0"/>
              <a:t>mage editing을 위해 인풋으로 들어가는 이미지도</a:t>
            </a:r>
          </a:p>
          <a:p>
            <a:r>
              <a:rPr lang="en-KR" dirty="0"/>
              <a:t>임베딩으로 만들기 위한 text encoder 입력 시에는 </a:t>
            </a:r>
            <a:r>
              <a:rPr lang="en-US" altLang="ko-KR" dirty="0"/>
              <a:t>‘</a:t>
            </a:r>
            <a:r>
              <a:rPr lang="ko-KR" altLang="en-US" dirty="0"/>
              <a:t>패딩</a:t>
            </a:r>
            <a:r>
              <a:rPr lang="en-US" altLang="ko-KR" dirty="0"/>
              <a:t>’</a:t>
            </a:r>
            <a:r>
              <a:rPr lang="ko-KR" altLang="en-US" dirty="0"/>
              <a:t>처리가 되지만</a:t>
            </a:r>
            <a:r>
              <a:rPr lang="en-US" altLang="ko-KR" dirty="0"/>
              <a:t>,</a:t>
            </a:r>
          </a:p>
          <a:p>
            <a:r>
              <a:rPr lang="en-US" dirty="0" err="1"/>
              <a:t>결국</a:t>
            </a:r>
            <a:r>
              <a:rPr lang="en-US" dirty="0"/>
              <a:t> </a:t>
            </a:r>
            <a:r>
              <a:rPr lang="en-US" dirty="0" err="1"/>
              <a:t>llm</a:t>
            </a:r>
            <a:r>
              <a:rPr lang="en-US" dirty="0"/>
              <a:t> </a:t>
            </a:r>
            <a:r>
              <a:rPr lang="en-US" dirty="0" err="1"/>
              <a:t>decoder에서</a:t>
            </a:r>
            <a:r>
              <a:rPr lang="en-US" dirty="0"/>
              <a:t> </a:t>
            </a:r>
            <a:r>
              <a:rPr lang="en-US" dirty="0" err="1"/>
              <a:t>처리될</a:t>
            </a:r>
            <a:r>
              <a:rPr lang="en-US" dirty="0"/>
              <a:t> </a:t>
            </a:r>
            <a:r>
              <a:rPr lang="en-US" dirty="0" err="1"/>
              <a:t>때는</a:t>
            </a:r>
            <a:r>
              <a:rPr lang="en-US" dirty="0"/>
              <a:t> </a:t>
            </a:r>
            <a:r>
              <a:rPr lang="en-US" dirty="0" err="1"/>
              <a:t>패딩</a:t>
            </a:r>
            <a:r>
              <a:rPr lang="en-US" dirty="0"/>
              <a:t> </a:t>
            </a:r>
            <a:r>
              <a:rPr lang="en-US" dirty="0" err="1"/>
              <a:t>제거</a:t>
            </a:r>
            <a:r>
              <a:rPr lang="en-US" dirty="0"/>
              <a:t> </a:t>
            </a:r>
            <a:r>
              <a:rPr lang="en-US" dirty="0" err="1"/>
              <a:t>후</a:t>
            </a:r>
            <a:r>
              <a:rPr lang="en-US" dirty="0"/>
              <a:t> </a:t>
            </a:r>
            <a:r>
              <a:rPr lang="en-US" dirty="0" err="1"/>
              <a:t>concat으로</a:t>
            </a:r>
            <a:r>
              <a:rPr lang="en-US" dirty="0"/>
              <a:t> </a:t>
            </a:r>
            <a:r>
              <a:rPr lang="en-US" dirty="0" err="1"/>
              <a:t>처리됨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AA30-34BB-0C47-9851-CC14E2038A73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37489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9D99-0E39-375C-ECD9-E8BEB12F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B2AF-6CDC-754A-BF21-D403DB356990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02B2-45BC-3664-B16F-C0B3EE4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CCC7B9-62B8-31DD-0229-DD887C013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C0C649-1748-F3E0-5235-F50DCBC9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KR" sz="4800" dirty="0"/>
              <a:t>Title</a:t>
            </a:r>
            <a:endParaRPr lang="en-KR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78C4E3D-CBDE-2C38-6A80-96C3A43688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KR" dirty="0"/>
              <a:t>Subtitle</a:t>
            </a:r>
          </a:p>
          <a:p>
            <a:endParaRPr lang="en-KR" dirty="0"/>
          </a:p>
          <a:p>
            <a:r>
              <a:rPr lang="en-KR" dirty="0"/>
              <a:t>2025.XX.XX</a:t>
            </a:r>
          </a:p>
          <a:p>
            <a:r>
              <a:rPr lang="en-KR" dirty="0"/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30410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F7FA-047A-76DC-F53A-607DB62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0F43-BAD3-5D4B-842C-1BECF5783CC1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5B7E-5821-3FBF-9C90-D608FD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E1898-3AA5-9E6C-895D-AE7A7A5E1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 HERE</a:t>
            </a:r>
            <a:endParaRPr lang="en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C890D-0675-EFBB-C750-C787E03D1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00000"/>
              </a:lnSpc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00000"/>
              </a:lnSpc>
              <a:defRPr sz="12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 level</a:t>
            </a:r>
          </a:p>
          <a:p>
            <a:pPr lvl="1"/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Second level</a:t>
            </a:r>
          </a:p>
          <a:p>
            <a:pPr lvl="2"/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Third level</a:t>
            </a:r>
          </a:p>
          <a:p>
            <a:pPr lvl="3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Fourth level</a:t>
            </a:r>
          </a:p>
          <a:p>
            <a:pPr lvl="4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Fifth level</a:t>
            </a:r>
            <a:endParaRPr lang="en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4C1A-47A3-8FCD-C17B-E8AF0ACF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6B84-CF83-1768-F770-9FA317B2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DBD9-8556-9FE5-B37E-326DFB7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5020-5E6C-944D-954D-F6513999B2B9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80EC-89C7-61E5-4253-9CEC3EBC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206E-DB2D-383A-E617-3091FE96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914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B1-914A-A85B-9656-EED84B5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66D-9F19-7222-0134-B4027F45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AC8F-15F8-233F-E3BD-B13B29E0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BA0E-4D9B-5669-1A40-025EAF60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84A6-EFC5-6A45-8FBB-8A86ED1092A9}" type="datetime1">
              <a:rPr lang="en-US" smtClean="0"/>
              <a:t>4/21/26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0FD-58FC-157A-9180-051DFAF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6963-6C2A-C55A-CF1E-B938E2B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0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B35-4B06-C984-E6E9-6571DE7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03E-07D5-B7A7-F884-24381BF8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BA994-F460-612A-0B6F-B0A0EB04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33F7-78B9-904C-9642-3458037A1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6DCBC-7069-5BD8-46DB-C7BFDDEB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A386-0F81-8914-A12C-6597AB2E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992-39AF-5043-AD44-4F8B2806E4F7}" type="datetime1">
              <a:rPr lang="en-US" smtClean="0"/>
              <a:t>4/21/26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F0178-97F1-0E9D-871E-D44CC8A3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DD4-2D02-1CE4-91A9-5691335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573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EE20-AEF8-99D5-79CA-EC438D94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D7C7D-4C4C-5FC3-6C82-38A2D672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487C-F38D-EB4A-BAF1-3FA8DF0EA4DE}" type="datetime1">
              <a:rPr lang="en-US" smtClean="0"/>
              <a:t>4/21/26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72D74-F34B-1C70-5400-CE4D88C4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35DD3-871B-9B15-1A69-DF4F89CD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0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A536-F8D8-E1A0-0A07-D6F8F756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0FE-8F71-CD45-B42C-796254A68CC4}" type="datetime1">
              <a:rPr lang="en-US" smtClean="0"/>
              <a:t>4/21/26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5598-D70E-7061-D1A4-71066E4B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DE1-2B0C-747F-D616-2E13923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41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AA48-AC31-E217-26B4-54FEF3C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5F99-968F-CA1D-9EF4-69C689EC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8E2D5-46B5-C951-B600-B0A6F1C6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9B3FD-14F9-C37C-27AE-A6FEA1C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F998-C5FC-F44C-ACA6-43C0BD0BBBF8}" type="datetime1">
              <a:rPr lang="en-US" smtClean="0"/>
              <a:t>4/21/26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E16C-9D2A-FD18-5F30-C0F0D9B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FC3E-58AE-89CD-BA74-3985BDB5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775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9053-6310-F6B5-FF99-73CF29FE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3669-4EC8-9849-8202-9D2220CD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B808-8321-4034-7019-7D47978A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785D-94BD-4D14-E338-CFC2408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3009-010A-3643-99D4-2D4D54D3FB5B}" type="datetime1">
              <a:rPr lang="en-US" smtClean="0"/>
              <a:t>4/21/26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19A7F-3AE0-5DBC-B468-D3B13EF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C2B9-B059-6DC8-C0E4-9E89E04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11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59A-D378-CAD2-FF2E-9693BAA6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1652-27E2-AD5A-2784-87FE064C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654B-96B5-CC2A-79D0-7C2C526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3623-CFE3-3B48-AD01-8ACA46C16D40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7CB8-48BD-8C01-F4EF-4C100458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211DF-0CCD-85FB-B94A-9B7D1FA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6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894D5-5C64-B67F-3B71-D3700DC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9A60-8BAD-D3CB-5195-B600C771E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497-FBC8-C5AC-D8DF-9B075D0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6B8-EB47-EA4D-BC75-D06A0CC2D4D7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AE0D-CC99-FAC3-A922-1779477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7524-24A2-143E-DD2F-F8626A94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D6AA-BF94-B7A4-BEB5-94B7D494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497E-9634-6648-B43C-50321F9D4515}" type="datetime1">
              <a:rPr lang="en-US" smtClean="0"/>
              <a:t>4/21/26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34F99-7664-F70B-A87F-D3FE00DA7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76F92-44D7-C25D-E466-0C232BC87030}"/>
              </a:ext>
            </a:extLst>
          </p:cNvPr>
          <p:cNvSpPr txBox="1">
            <a:spLocks/>
          </p:cNvSpPr>
          <p:nvPr userDrawn="1"/>
        </p:nvSpPr>
        <p:spPr>
          <a:xfrm>
            <a:off x="9328728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2FE30C-30E7-744B-836A-23530458DF33}" type="slidenum">
              <a:rPr lang="en-KR" sz="120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/>
              <a:t>‹#›</a:t>
            </a:fld>
            <a:endParaRPr lang="en-KR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4AD03-5656-19EF-4D4F-52CD0BA93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FD3EF-4AF0-5D47-76F7-C49B36472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54060"/>
            <a:ext cx="10363200" cy="2387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KR" sz="1800" dirty="0">
                <a:solidFill>
                  <a:schemeClr val="bg1">
                    <a:lumMod val="75000"/>
                  </a:schemeClr>
                </a:solidFill>
              </a:rPr>
              <a:t>UMM Unlearning</a:t>
            </a:r>
            <a:br>
              <a:rPr lang="en-KR" sz="2800" dirty="0"/>
            </a:br>
            <a:r>
              <a:rPr lang="en-US" altLang="ko-KR" sz="2400" strike="sngStrike" dirty="0"/>
              <a:t>Knows But Can't Draw: Toward Modality-Selective </a:t>
            </a:r>
            <a:r>
              <a:rPr lang="en-US" altLang="ko-KR" sz="2400" dirty="0"/>
              <a:t>Concept Suppression</a:t>
            </a:r>
            <a:br>
              <a:rPr lang="en-US" altLang="ko-KR" sz="2400" dirty="0"/>
            </a:br>
            <a:r>
              <a:rPr lang="en-US" altLang="ko-KR" sz="2400" dirty="0"/>
              <a:t>in Unified Multimodal Models</a:t>
            </a:r>
            <a:endParaRPr lang="en-KR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B2ECD5-0A5C-4884-393F-48FD7CB6B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2026.0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15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23174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3E37C-696B-8B5F-2D78-88E56CDD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Batch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44719-AE43-94E6-D962-077782EDE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758"/>
          <a:stretch>
            <a:fillRect/>
          </a:stretch>
        </p:blipFill>
        <p:spPr>
          <a:xfrm>
            <a:off x="365126" y="1407746"/>
            <a:ext cx="11480354" cy="468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9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1E364-3D4C-ACB0-FA90-3D5E62D3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Batch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77EE17-321E-05C6-D0D5-99392FFFE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7164" b="36232"/>
          <a:stretch>
            <a:fillRect/>
          </a:stretch>
        </p:blipFill>
        <p:spPr>
          <a:xfrm>
            <a:off x="186604" y="1953930"/>
            <a:ext cx="11818791" cy="335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2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C950-531B-7B68-450F-3302E255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Batch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66DB24-BA8A-5D34-BB59-4821E04E9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63767"/>
          <a:stretch>
            <a:fillRect/>
          </a:stretch>
        </p:blipFill>
        <p:spPr>
          <a:xfrm>
            <a:off x="104562" y="1588168"/>
            <a:ext cx="11917392" cy="460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44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4D7AA-690A-94DD-8FFA-2C04EC68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4BB66-A681-74B1-6260-9FE6018114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126" y="1137959"/>
                <a:ext cx="11416878" cy="1822956"/>
              </a:xfrm>
            </p:spPr>
            <p:txBody>
              <a:bodyPr>
                <a:normAutofit/>
              </a:bodyPr>
              <a:lstStyle/>
              <a:p>
                <a:r>
                  <a:rPr lang="en-KR" dirty="0"/>
                  <a:t>VAE-only SAE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</m:oMath>
                </a14:m>
                <a:endParaRPr lang="en-KR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</m:oMath>
                </a14:m>
                <a:r>
                  <a:rPr lang="en-KR" sz="1200" dirty="0"/>
                  <a:t>로 SAE를 먼저 학습한다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200" dirty="0"/>
                  <a:t>Route-aware score matrix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1200" dirty="0"/>
                  <a:t>를 계산한다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KR" sz="1200" dirty="0"/>
                  <a:t>를 사용해 concept-to-latent assignment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sz="1200" dirty="0"/>
                  <a:t> 또는 bundle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sz="1200" dirty="0"/>
                  <a:t>를 만든다</a:t>
                </a:r>
                <a:r>
                  <a:rPr lang="en-US" altLang="ko-KR" sz="1200" dirty="0"/>
                  <a:t>.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sz="1200" dirty="0" err="1"/>
                  <a:t>그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assignment를</a:t>
                </a:r>
                <a:r>
                  <a:rPr lang="en-US" sz="1200" dirty="0"/>
                  <a:t> </a:t>
                </a:r>
                <a:r>
                  <a:rPr lang="en-US" sz="1200" dirty="0" err="1"/>
                  <a:t>고정한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뒤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</m:oMath>
                </a14:m>
                <a:r>
                  <a:rPr lang="en-US" altLang="ko-KR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</m:oMath>
                </a14:m>
                <a:r>
                  <a:rPr lang="en-KR" sz="1200" dirty="0"/>
                  <a:t>로 supervised shaping을 수행한다</a:t>
                </a:r>
                <a:r>
                  <a:rPr lang="en-US" altLang="ko-KR" sz="1200" dirty="0"/>
                  <a:t>.</a:t>
                </a:r>
              </a:p>
              <a:p>
                <a:pPr lvl="1"/>
                <a:endParaRPr lang="en-K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4BB66-A681-74B1-6260-9FE601811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126" y="1137959"/>
                <a:ext cx="11416878" cy="1822956"/>
              </a:xfrm>
              <a:blipFill>
                <a:blip r:embed="rId2"/>
                <a:stretch>
                  <a:fillRect l="-222" t="-69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4B0A0FE-EBE4-0B39-F1A5-CD1EDF806F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126" y="3171410"/>
                <a:ext cx="7254874" cy="182295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1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100" b="0" i="0" kern="120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𝑢𝑛𝑠𝑢𝑝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 : reconstruction error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r>
                  <a:rPr lang="en-US" altLang="ko-KR" dirty="0"/>
                  <a:t>  : reconstruction error using only the largest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r>
                  <a:rPr lang="en-US" altLang="ko-KR" dirty="0"/>
                  <a:t> feature activations that have not fired on a large number of training samples, so-called dead </a:t>
                </a:r>
                <a:r>
                  <a:rPr lang="en-US" altLang="ko-KR" dirty="0" err="1"/>
                  <a:t>latents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4B0A0FE-EBE4-0B39-F1A5-CD1EDF806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6" y="3171410"/>
                <a:ext cx="7254874" cy="1822956"/>
              </a:xfrm>
              <a:prstGeom prst="rect">
                <a:avLst/>
              </a:prstGeom>
              <a:blipFill>
                <a:blip r:embed="rId3"/>
                <a:stretch>
                  <a:fillRect l="-3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DF5F1-C743-E875-0F8B-CE691EC2CB79}"/>
              </a:ext>
            </a:extLst>
          </p:cNvPr>
          <p:cNvCxnSpPr>
            <a:cxnSpLocks/>
          </p:cNvCxnSpPr>
          <p:nvPr/>
        </p:nvCxnSpPr>
        <p:spPr>
          <a:xfrm>
            <a:off x="365126" y="3048000"/>
            <a:ext cx="69936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C8F049-99C6-1F6A-F063-C18E127EB966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C8F049-99C6-1F6A-F063-C18E127EB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DBAC361-656A-1157-2D9B-B67437E2CE6A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1CE939-AA1B-4E33-7DC4-0B69C5413192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26A24D-BD12-EEC4-8D53-CD0CCF322163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8DDDF6-34C4-2F40-1D10-1747D96DC610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1C2555-C61D-978C-3D7C-27331EE5AEC5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F57DBB4-0094-D465-3EF3-2B8B6E10DE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93E2274-EF3D-451F-0276-06751B43E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B6D144-D18D-AFC3-8FB6-8F91DC3A9A69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720014-3256-6680-40EC-107DFE038E5C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1C133E-8D95-BEC4-2CD0-253922166D0F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657BFF8-C7E2-4D4C-5A26-8F1FD1483888}"/>
                </a:ext>
              </a:extLst>
            </p:cNvPr>
            <p:cNvCxnSpPr>
              <a:cxnSpLocks/>
              <a:stCxn id="16" idx="2"/>
              <a:endCxn id="18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42BEB34-448C-FEC7-C957-094CFBAC7A07}"/>
                </a:ext>
              </a:extLst>
            </p:cNvPr>
            <p:cNvCxnSpPr>
              <a:cxnSpLocks/>
              <a:stCxn id="17" idx="2"/>
              <a:endCxn id="19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20B8BC-ADAA-0E47-0F96-ECEBB9967D69}"/>
                </a:ext>
              </a:extLst>
            </p:cNvPr>
            <p:cNvCxnSpPr>
              <a:cxnSpLocks/>
              <a:stCxn id="18" idx="2"/>
              <a:endCxn id="20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8C536A-0DEB-5F29-AA6D-3207C57E3D35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1328BEA-B04D-3B21-C891-BFE6B65EEC30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C5D59AE-F497-D9CA-BD0D-A398B9E79D5E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DA44247-B13D-D36B-B229-3E5E9E485D12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A8AD01-257F-E72B-AD96-08E924D62A98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3497458-A0A1-56C1-35AB-DBDC62D45CDF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77B353F-0607-1536-F2A6-8E92B0873CE9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0D36803-05F0-379C-8519-0A2431A77DA3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EBA27D-E5E6-5BDD-3F18-295F8B871FF9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7AD6A289-BED9-3D36-CB11-C37033E11E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011FFD-00FF-0CBC-91A5-4CEE332D4A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D8A0BF8-E70F-7DBB-A680-071E059158C9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B5F46AC-6A49-943A-9D17-2C8D4318B015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02CBCB-FFBB-ABD3-6F27-0FABBEF6571D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48BDEC0-DD4F-7A33-AD75-4BA685EA0E9E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3409D07-7C92-E0DC-3D2B-A47B2A178A1E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50" name="Trapezoid 49">
            <a:extLst>
              <a:ext uri="{FF2B5EF4-FFF2-40B4-BE49-F238E27FC236}">
                <a16:creationId xmlns:a16="http://schemas.microsoft.com/office/drawing/2014/main" id="{9351783C-7F45-2FBC-D8FA-7BAF81736689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428E6FA-AEF8-E951-48C9-36BAE96B04EE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428E6FA-AEF8-E951-48C9-36BAE96B0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1F1102-DA1B-4216-DDCC-5914149B8CC7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31F1102-DA1B-4216-DDCC-5914149B8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35B2085-72D8-0E9D-7E46-91D09E600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074744"/>
              </p:ext>
            </p:extLst>
          </p:nvPr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61" name="Trapezoid 60">
            <a:extLst>
              <a:ext uri="{FF2B5EF4-FFF2-40B4-BE49-F238E27FC236}">
                <a16:creationId xmlns:a16="http://schemas.microsoft.com/office/drawing/2014/main" id="{4BEACA61-1828-A676-6A71-38F43B79D8B0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FEA716-00C4-67A1-6553-309C9DE4D26C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FEA716-00C4-67A1-6553-309C9DE4D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5C9A40A2-4E0C-3814-84C8-229AA84D1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022024"/>
              </p:ext>
            </p:extLst>
          </p:nvPr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E8CB2BE-5E07-0018-79E2-5D4C94E40478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E8CB2BE-5E07-0018-79E2-5D4C94E40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897C47-C804-D64D-3B4F-B48D848E0515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897C47-C804-D64D-3B4F-B48D848E0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6D585961-7272-4A0C-7F64-A89B98C59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870279"/>
              </p:ext>
            </p:extLst>
          </p:nvPr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FEF8C2C-B435-54A8-2D2B-BE84255797A2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E951173-C49F-BF2E-9B89-A92AF41169CA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A1E0207-8D9C-6836-8C96-9DAB5BD1DAE3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6347E45-74A1-B2E2-366A-EA0D57A624E3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799EEFE-3EEB-FE25-45E2-429E47BBB052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98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7FB4-D887-F2B7-6357-32525463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015287-46B3-9C2C-59ED-A9AA762B17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126" y="1021976"/>
                <a:ext cx="11416878" cy="56460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Concept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와 latent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의</a:t>
                </a:r>
                <a:r>
                  <a:rPr lang="en-US" dirty="0"/>
                  <a:t> </a:t>
                </a:r>
                <a:r>
                  <a:rPr lang="en-US" dirty="0" err="1"/>
                  <a:t>적합도</a:t>
                </a:r>
                <a:r>
                  <a:rPr lang="en-US" altLang="ko-KR" dirty="0"/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nary>
                      </m:den>
                    </m:f>
                  </m:oMath>
                </a14:m>
                <a:endParaRPr lang="en-KR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ko-KR" sz="1200" dirty="0"/>
                  <a:t> : concept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00" dirty="0"/>
                  <a:t>가 present인 </a:t>
                </a:r>
                <a:r>
                  <a:rPr lang="en-US" sz="1200" dirty="0" err="1"/>
                  <a:t>sample들에서</a:t>
                </a:r>
                <a:r>
                  <a:rPr lang="en-US" sz="1200" dirty="0"/>
                  <a:t> latent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 err="1"/>
                  <a:t>의</a:t>
                </a:r>
                <a:r>
                  <a:rPr lang="en-US" sz="1200" dirty="0"/>
                  <a:t> </a:t>
                </a:r>
                <a:r>
                  <a:rPr lang="en-US" sz="1200" dirty="0" err="1"/>
                  <a:t>평균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반응</a:t>
                </a:r>
                <a:endParaRPr lang="en-KR" sz="12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1200" dirty="0"/>
                  <a:t> </a:t>
                </a:r>
                <a:r>
                  <a:rPr lang="en-US" altLang="ko-KR" sz="1200" dirty="0"/>
                  <a:t>: concept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200" dirty="0"/>
                  <a:t>가 absent인 </a:t>
                </a:r>
                <a:r>
                  <a:rPr lang="en-US" sz="1200" dirty="0" err="1"/>
                  <a:t>sample들에서</a:t>
                </a:r>
                <a:r>
                  <a:rPr lang="en-US" sz="1200" dirty="0"/>
                  <a:t> latent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 err="1"/>
                  <a:t>의</a:t>
                </a:r>
                <a:r>
                  <a:rPr lang="en-US" sz="1200" dirty="0"/>
                  <a:t> </a:t>
                </a:r>
                <a:r>
                  <a:rPr lang="en-US" sz="1200" dirty="0" err="1"/>
                  <a:t>평균</a:t>
                </a:r>
                <a:r>
                  <a:rPr lang="en-US" sz="1200" dirty="0"/>
                  <a:t> </a:t>
                </a:r>
                <a:r>
                  <a:rPr lang="en-US" sz="1200" dirty="0" err="1"/>
                  <a:t>반응</a:t>
                </a:r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altLang="ko-KR" sz="1200" dirty="0"/>
                  <a:t>: SAE latent</a:t>
                </a:r>
                <a:r>
                  <a:rPr lang="ko-KR" altLang="en-US" sz="1200" dirty="0"/>
                  <a:t>의 총 개수</a:t>
                </a:r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KR" sz="1200" dirty="0"/>
                  <a:t> </a:t>
                </a:r>
                <a:r>
                  <a:rPr lang="en-US" altLang="ko-KR" sz="1200" dirty="0"/>
                  <a:t>:</a:t>
                </a:r>
                <a:r>
                  <a:rPr lang="ko-KR" altLang="en-US" sz="1200" dirty="0"/>
                  <a:t> 분모나 </a:t>
                </a:r>
                <a:r>
                  <a:rPr lang="en-US" altLang="ko-KR" sz="1200" dirty="0"/>
                  <a:t>0</a:t>
                </a:r>
                <a:r>
                  <a:rPr lang="ko-KR" altLang="en-US" sz="1200" dirty="0" err="1"/>
                  <a:t>에</a:t>
                </a:r>
                <a:r>
                  <a:rPr lang="ko-KR" altLang="en-US" sz="1200" dirty="0"/>
                  <a:t> 가까워지는 것을 막는 작은 상수</a:t>
                </a:r>
                <a:endParaRPr lang="en-US" altLang="ko-KR" dirty="0"/>
              </a:p>
              <a:p>
                <a:r>
                  <a:rPr lang="ko-KR" altLang="en-US" dirty="0"/>
                  <a:t>이 </a:t>
                </a:r>
                <a:r>
                  <a:rPr lang="en-US" altLang="ko-KR" dirty="0"/>
                  <a:t>score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기반으로 각 </a:t>
                </a:r>
                <a:r>
                  <a:rPr lang="en-US" altLang="ko-KR" dirty="0"/>
                  <a:t>concept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대한 하나의 </a:t>
                </a:r>
                <a:r>
                  <a:rPr lang="en-US" altLang="ko-KR" dirty="0"/>
                  <a:t>latent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할당함</a:t>
                </a:r>
                <a:endParaRPr lang="en-US" altLang="ko-KR" dirty="0"/>
              </a:p>
              <a:p>
                <a:pPr lvl="1"/>
                <a:r>
                  <a:rPr lang="en-US" sz="1200" dirty="0"/>
                  <a:t>positive</a:t>
                </a:r>
                <a:r>
                  <a:rPr lang="ko-KR" altLang="en-US" sz="1200" dirty="0"/>
                  <a:t>에서 강하고</a:t>
                </a:r>
              </a:p>
              <a:p>
                <a:pPr lvl="1"/>
                <a:r>
                  <a:rPr lang="en-US" sz="1200" dirty="0"/>
                  <a:t>negative</a:t>
                </a:r>
                <a:r>
                  <a:rPr lang="ko-KR" altLang="en-US" sz="1200" dirty="0"/>
                  <a:t>에서 약하고</a:t>
                </a:r>
              </a:p>
              <a:p>
                <a:pPr lvl="1"/>
                <a:r>
                  <a:rPr lang="ko-KR" altLang="en-US" sz="1200" dirty="0"/>
                  <a:t>같은 </a:t>
                </a:r>
                <a:r>
                  <a:rPr lang="en-US" sz="1200" dirty="0"/>
                  <a:t>concept </a:t>
                </a:r>
                <a:r>
                  <a:rPr lang="ko-KR" altLang="en-US" sz="1200" dirty="0"/>
                  <a:t>내부에서 상대적으로 비중이 크고</a:t>
                </a:r>
              </a:p>
              <a:p>
                <a:pPr lvl="1"/>
                <a:r>
                  <a:rPr lang="en-US" sz="1200" dirty="0"/>
                  <a:t>negative sample </a:t>
                </a:r>
                <a:r>
                  <a:rPr lang="ko-KR" altLang="en-US" sz="1200" dirty="0"/>
                  <a:t>쪽에서는 상대적으로 비중이 작은 </a:t>
                </a:r>
                <a:r>
                  <a:rPr lang="en-US" sz="1200" dirty="0"/>
                  <a:t>latent</a:t>
                </a:r>
              </a:p>
              <a:p>
                <a:pPr lvl="1"/>
                <a:endParaRPr lang="en-US" sz="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𝑏𝑖𝑛𝑑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ℬ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𝑡𝑒𝑥𝑡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𝑣𝑎𝑒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𝑡𝑒𝑥𝑡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𝑖𝑚𝑔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𝑣𝑎𝑒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: route </a:t>
                </a:r>
                <a:r>
                  <a:rPr lang="en-US" dirty="0" err="1">
                    <a:solidFill>
                      <a:srgbClr val="00B0F0"/>
                    </a:solidFill>
                  </a:rPr>
                  <a:t>집합</a:t>
                </a:r>
                <a:endParaRPr lang="en-US" dirty="0">
                  <a:solidFill>
                    <a:srgbClr val="00B0F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에서의 mini-batch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에서의 batch </a:t>
                </a:r>
                <a:r>
                  <a:rPr lang="en-US" dirty="0" err="1"/>
                  <a:t>안</a:t>
                </a:r>
                <a:r>
                  <a:rPr lang="en-US" dirty="0"/>
                  <a:t> sample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: sample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에 </a:t>
                </a:r>
                <a:r>
                  <a:rPr lang="en-US" dirty="0" err="1"/>
                  <a:t>실제로</a:t>
                </a:r>
                <a:r>
                  <a:rPr lang="en-US" dirty="0"/>
                  <a:t> </a:t>
                </a:r>
                <a:r>
                  <a:rPr lang="en-US" dirty="0" err="1"/>
                  <a:t>포함된</a:t>
                </a:r>
                <a:r>
                  <a:rPr lang="en-US" dirty="0"/>
                  <a:t> positive concept </a:t>
                </a:r>
                <a:r>
                  <a:rPr lang="en-US" dirty="0" err="1"/>
                  <a:t>집합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B0F0"/>
                    </a:solidFill>
                  </a:rPr>
                  <a:t>: concept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에 </a:t>
                </a:r>
                <a:r>
                  <a:rPr lang="en-US" dirty="0" err="1">
                    <a:solidFill>
                      <a:srgbClr val="00B0F0"/>
                    </a:solidFill>
                  </a:rPr>
                  <a:t>할당된</a:t>
                </a:r>
                <a:r>
                  <a:rPr lang="en-US" dirty="0">
                    <a:solidFill>
                      <a:srgbClr val="00B0F0"/>
                    </a:solidFill>
                  </a:rPr>
                  <a:t> latent index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: route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, sample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에서의 VAE-side pooled </a:t>
                </a:r>
                <a:r>
                  <a:rPr lang="en-US" dirty="0" err="1"/>
                  <a:t>preactivation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015287-46B3-9C2C-59ED-A9AA762B1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126" y="1021976"/>
                <a:ext cx="11416878" cy="5646019"/>
              </a:xfrm>
              <a:blipFill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D6552A-1F70-5559-3E6A-DD273AA9003B}"/>
              </a:ext>
            </a:extLst>
          </p:cNvPr>
          <p:cNvCxnSpPr/>
          <p:nvPr/>
        </p:nvCxnSpPr>
        <p:spPr>
          <a:xfrm>
            <a:off x="365126" y="4084320"/>
            <a:ext cx="832602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9092E4-FEEE-3385-17D4-984EE00A16E4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9092E4-FEEE-3385-17D4-984EE00A1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6E4BD1E-9EFF-0ADA-2372-FCDBACF4E89F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803776-FDCA-AA33-3A2C-46B6B24E379E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299801-02B6-4D12-FEE5-2CFC5EB64BEB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884717-466D-3B8F-39A4-57B89C67843B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9BEB1E-BA82-C8B7-4B5B-E2899B271E92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0C3328C-A06E-1D21-F6B5-793135A0D72B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0C3328C-A06E-1D21-F6B5-793135A0D7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7C9AB8-55EB-942C-B371-51E8CD0DC34D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7C9AB8-55EB-942C-B371-51E8CD0DC3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6EE7CF-9D73-F80C-1522-4131057F6B39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0FA779-2EBD-E2AF-E02F-402F79BC2F05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194B37B-550D-7F7D-DBB5-A9908037A5EF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C82334F-59E0-23F7-9B70-DBBB782A694A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99A6F8B-7D95-A24E-8941-747D04B10864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4DC109D-BF39-C2CF-AC38-40A5676FFDD0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B4680CA-6861-907F-54C8-E176ACC3AC25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D90F11A-BA95-7281-D801-9E897AE5A18E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1CDBB26-290C-7D1F-4EC9-0EC1643AC0B0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98829C-D9EB-1D11-806C-35D6FAB0606B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7386E8B-CAB5-0B54-108F-F0D9D32CAD41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71820E-398A-85EE-7DBE-4B09C9C3679C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951ECA6-49C0-48CA-34B1-E1517AD978E2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465ACFF-995F-798C-EA9A-33202D353A45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30C6880-99B5-F53E-B654-8B6141EE471D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B9E091E-71A4-ED24-46D0-CA4878AA11B5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B9E091E-71A4-ED24-46D0-CA4878AA11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5BF2381-364F-C197-B698-0910D9CCE015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5BF2381-364F-C197-B698-0910D9CCE0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57F7D7A-00CE-8FC4-CB95-9F72123215E2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750B93D-6AC2-8BEC-1EA0-32564310BF61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8DAE675-2DB0-9DC2-3A6B-CD8AE866BBEB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E0BBB18-A497-14CB-B19A-F812426FCA26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554AD45-912C-87A1-BD25-DC20A521C500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35" name="Trapezoid 34">
            <a:extLst>
              <a:ext uri="{FF2B5EF4-FFF2-40B4-BE49-F238E27FC236}">
                <a16:creationId xmlns:a16="http://schemas.microsoft.com/office/drawing/2014/main" id="{FD5F7243-865E-15FD-23C5-2C0C570E208F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EAACF8-CCBC-06AD-A62C-C5E94B0FE431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EAACF8-CCBC-06AD-A62C-C5E94B0FE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3DFB6D-561C-E5CC-ACDA-691184FF1DB0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3DFB6D-561C-E5CC-ACDA-691184FF1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99AD5C1-03EF-251B-6A36-A33AFE83D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742040"/>
              </p:ext>
            </p:extLst>
          </p:nvPr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39" name="Trapezoid 38">
            <a:extLst>
              <a:ext uri="{FF2B5EF4-FFF2-40B4-BE49-F238E27FC236}">
                <a16:creationId xmlns:a16="http://schemas.microsoft.com/office/drawing/2014/main" id="{D402DB34-30B3-CCDE-E3DC-9C0C09809EB0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6BAD3F-743B-4E8E-1258-A450439EED01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6BAD3F-743B-4E8E-1258-A450439EE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74A719C-77A5-E3C7-AC4A-30FDA69BA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489521"/>
              </p:ext>
            </p:extLst>
          </p:nvPr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F6C50C-3FB7-38DE-8216-BCCE63F20A54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F6C50C-3FB7-38DE-8216-BCCE63F20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478EC5-8E44-4C6E-E5AD-E4E04B12C204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478EC5-8E44-4C6E-E5AD-E4E04B12C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0109A65F-F15A-2EA3-C4D9-46928C687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05059"/>
              </p:ext>
            </p:extLst>
          </p:nvPr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E10C1B-5621-A230-656F-3617ADF759B4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B3EA24-8060-ECF1-A8A9-B46ECB5F39BB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6C3DA8B-6BAF-26C1-9E22-73C6250838C9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5279EA-8B7D-6EC3-381F-EDB93C07FAEF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26FFB08-840E-9763-E993-7886E2A55B42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968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9F0B-E04C-4465-1684-EB5A2A5B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00F336-B60F-C0C6-EAF3-EFB72B7A1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𝑟𝑜𝑢𝑡𝑒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𝑡𝑒𝑥𝑡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𝑣𝑎𝑒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𝑡𝑒𝑥𝑡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𝑖𝑚𝑔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𝑣𝑎𝑒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KR" dirty="0"/>
                  <a:t>: 전체 concept 집합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KR" dirty="0"/>
                  <a:t>: route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KR" dirty="0"/>
                  <a:t>에서 concept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KR" dirty="0"/>
                  <a:t>의 assigned latent 평균 반응</a:t>
                </a:r>
              </a:p>
              <a:p>
                <a:pPr lvl="1"/>
                <a:r>
                  <a:rPr lang="en-KR" dirty="0"/>
                  <a:t>의미</a:t>
                </a:r>
              </a:p>
              <a:p>
                <a:pPr lvl="2"/>
                <a:r>
                  <a:rPr lang="en-KR" dirty="0"/>
                  <a:t>같은 concept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KR" dirty="0"/>
                  <a:t>가</a:t>
                </a:r>
              </a:p>
              <a:p>
                <a:pPr lvl="3"/>
                <a:r>
                  <a:rPr lang="en-US" dirty="0"/>
                  <a:t>T</a:t>
                </a:r>
                <a:r>
                  <a:rPr lang="en-KR" dirty="0"/>
                  <a:t>ext </a:t>
                </a:r>
                <a:r>
                  <a:rPr lang="en-KR" dirty="0">
                    <a:sym typeface="Wingdings" pitchFamily="2" charset="2"/>
                  </a:rPr>
                  <a:t> vae</a:t>
                </a:r>
              </a:p>
              <a:p>
                <a:pPr lvl="3"/>
                <a:r>
                  <a:rPr lang="en-US" dirty="0">
                    <a:sym typeface="Wingdings" pitchFamily="2" charset="2"/>
                  </a:rPr>
                  <a:t>T</a:t>
                </a:r>
                <a:r>
                  <a:rPr lang="en-KR" dirty="0">
                    <a:sym typeface="Wingdings" pitchFamily="2" charset="2"/>
                  </a:rPr>
                  <a:t>ext + img  vae 두 경로 중 어디로 들어오더라도</a:t>
                </a:r>
              </a:p>
              <a:p>
                <a:pPr lvl="2"/>
                <a:r>
                  <a:rPr lang="en-US" dirty="0">
                    <a:sym typeface="Wingdings" pitchFamily="2" charset="2"/>
                  </a:rPr>
                  <a:t>A</a:t>
                </a:r>
                <a:r>
                  <a:rPr lang="en-KR" dirty="0">
                    <a:sym typeface="Wingdings" pitchFamily="2" charset="2"/>
                  </a:rPr>
                  <a:t>ssigned latent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KR" dirty="0"/>
                  <a:t>의 VAE-side 반응이 비슷하도록 만든다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00F336-B60F-C0C6-EAF3-EFB72B7A1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2" t="-496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FE4903-D727-88F6-B848-5D489CB90640}"/>
                  </a:ext>
                </a:extLst>
              </p:cNvPr>
              <p:cNvSpPr txBox="1"/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𝑢𝑛𝑠𝑢𝑝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𝑏𝑖𝑛𝑑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FE4903-D727-88F6-B848-5D489CB90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930" y="169751"/>
                <a:ext cx="3253070" cy="39074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F77EB5C-9370-3512-DAC0-1E8995D15AB2}"/>
              </a:ext>
            </a:extLst>
          </p:cNvPr>
          <p:cNvGrpSpPr/>
          <p:nvPr/>
        </p:nvGrpSpPr>
        <p:grpSpPr>
          <a:xfrm>
            <a:off x="9052814" y="1029219"/>
            <a:ext cx="3219838" cy="3053669"/>
            <a:chOff x="419820" y="1332013"/>
            <a:chExt cx="5434184" cy="479274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54C482-822D-2454-2F72-10AA5BE976B2}"/>
                </a:ext>
              </a:extLst>
            </p:cNvPr>
            <p:cNvSpPr/>
            <p:nvPr/>
          </p:nvSpPr>
          <p:spPr>
            <a:xfrm>
              <a:off x="419820" y="2028110"/>
              <a:ext cx="4807784" cy="4096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BAF6F2-A214-80E2-A5D2-A170CA614238}"/>
                </a:ext>
              </a:extLst>
            </p:cNvPr>
            <p:cNvSpPr/>
            <p:nvPr/>
          </p:nvSpPr>
          <p:spPr>
            <a:xfrm>
              <a:off x="914400" y="1332013"/>
              <a:ext cx="3812875" cy="55717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Same Sequence (Packed)</a:t>
              </a:r>
            </a:p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 </a:t>
              </a:r>
              <a:r>
                <a:rPr lang="en-US" altLang="ko-KR" sz="800" dirty="0">
                  <a:solidFill>
                    <a:sysClr val="windowText" lastClr="000000"/>
                  </a:solidFill>
                </a:rPr>
                <a:t>+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30CAB0-E23F-D0D4-CE9C-38898CCCF080}"/>
                </a:ext>
              </a:extLst>
            </p:cNvPr>
            <p:cNvSpPr/>
            <p:nvPr/>
          </p:nvSpPr>
          <p:spPr>
            <a:xfrm>
              <a:off x="546282" y="2334882"/>
              <a:ext cx="1998512" cy="42002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6">
                      <a:lumMod val="75000"/>
                    </a:schemeClr>
                  </a:solidFill>
                </a:rPr>
                <a:t>[Text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CB2344-BB8C-8066-79C8-A86BC10B5645}"/>
                </a:ext>
              </a:extLst>
            </p:cNvPr>
            <p:cNvSpPr/>
            <p:nvPr/>
          </p:nvSpPr>
          <p:spPr>
            <a:xfrm>
              <a:off x="3079573" y="2334882"/>
              <a:ext cx="1998512" cy="4200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</a:t>
              </a:r>
              <a:r>
                <a:rPr lang="en-US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VAE </a:t>
              </a:r>
              <a:r>
                <a:rPr lang="en-US" altLang="ko-KR" sz="8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(image) Tokens]</a:t>
              </a:r>
              <a:endParaRPr lang="en-KR" sz="800" dirty="0">
                <a:solidFill>
                  <a:sysClr val="windowText" lastClr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3AF5DF-C41A-24C7-0A2A-5BA33351094D}"/>
                    </a:ext>
                  </a:extLst>
                </p:cNvPr>
                <p:cNvSpPr/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13AF5DF-C41A-24C7-0A2A-5BA3335109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82" y="2987866"/>
                  <a:ext cx="1998512" cy="65560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6C41435-1D24-E48A-76F7-A9379FB17179}"/>
                    </a:ext>
                  </a:extLst>
                </p:cNvPr>
                <p:cNvSpPr/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571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  <m:r>
                          <a:rPr lang="en-US" altLang="ko-KR" sz="80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6C41435-1D24-E48A-76F7-A9379FB171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573" y="2987866"/>
                  <a:ext cx="1998512" cy="6556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/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FA6F29D-BBF3-213F-0B07-CD627BDC7062}"/>
                </a:ext>
              </a:extLst>
            </p:cNvPr>
            <p:cNvSpPr/>
            <p:nvPr/>
          </p:nvSpPr>
          <p:spPr>
            <a:xfrm>
              <a:off x="546282" y="3843751"/>
              <a:ext cx="1998512" cy="3416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Text Q, K, V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C68F6D-E0D3-B0E5-4C33-D43650F43E42}"/>
                </a:ext>
              </a:extLst>
            </p:cNvPr>
            <p:cNvSpPr/>
            <p:nvPr/>
          </p:nvSpPr>
          <p:spPr>
            <a:xfrm>
              <a:off x="3079573" y="3833939"/>
              <a:ext cx="1998512" cy="34167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</a:rPr>
                <a:t>VAE Q, K, V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A98FDE-FA36-D81D-CD70-49E891B4C430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1545538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FC69C8D-4380-AD9B-A9AE-2973EBDE214F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4078829" y="2754904"/>
              <a:ext cx="0" cy="2329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D1FA8E-96F7-F306-504C-E3B617802408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1545538" y="3643474"/>
              <a:ext cx="0" cy="200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AABFDFB-6D5D-C209-1248-A3BD8033A96F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4078829" y="3643474"/>
              <a:ext cx="0" cy="1904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5C84AB1-906B-666C-E5AB-FDA3037E3D39}"/>
                </a:ext>
              </a:extLst>
            </p:cNvPr>
            <p:cNvCxnSpPr>
              <a:cxnSpLocks/>
            </p:cNvCxnSpPr>
            <p:nvPr/>
          </p:nvCxnSpPr>
          <p:spPr>
            <a:xfrm>
              <a:off x="2820838" y="4422263"/>
              <a:ext cx="0" cy="2528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B8FB10C-78D7-2854-074D-24B169B2DDBF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2130725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3E748F1-BF95-CF3A-F5EB-114F0573ED5D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212641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5070A7-C31D-5987-6E6E-6E419BC002BB}"/>
                </a:ext>
              </a:extLst>
            </p:cNvPr>
            <p:cNvCxnSpPr/>
            <p:nvPr/>
          </p:nvCxnSpPr>
          <p:spPr>
            <a:xfrm>
              <a:off x="1545538" y="2126411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F1A92EE-8753-5E2F-35CD-9DB4CDBDE287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4422334"/>
              <a:ext cx="254338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1FD6AE-7136-3E6D-CF5F-36D5E441FFE0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1545538" y="4185423"/>
              <a:ext cx="0" cy="23691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CA0BDD-B19A-6723-70CE-3B6EEF6EBA05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4078829" y="4175611"/>
              <a:ext cx="0" cy="24665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192065B-2FF0-7CF0-21B2-20D83F24BDA5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2820838" y="1889185"/>
              <a:ext cx="0" cy="2372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C207E8-0AC4-2417-0053-87B23A65D45E}"/>
                </a:ext>
              </a:extLst>
            </p:cNvPr>
            <p:cNvSpPr/>
            <p:nvPr/>
          </p:nvSpPr>
          <p:spPr>
            <a:xfrm>
              <a:off x="1821580" y="4669058"/>
              <a:ext cx="1998512" cy="3047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ysClr val="windowText" lastClr="000000"/>
                  </a:solidFill>
                </a:rPr>
                <a:t>Self-Attention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5C55663-5AB2-D087-1B55-423A4009C911}"/>
                    </a:ext>
                  </a:extLst>
                </p:cNvPr>
                <p:cNvSpPr/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(Understanding)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𝑢𝑛𝑑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5C55663-5AB2-D087-1B55-423A4009C9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73" y="5344590"/>
                  <a:ext cx="1998512" cy="6556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C268376-0555-E62C-E40A-113A7A202810}"/>
                    </a:ext>
                  </a:extLst>
                </p:cNvPr>
                <p:cNvSpPr/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ysClr val="windowText" lastClr="000000"/>
                      </a:solidFill>
                    </a:rPr>
                    <a:t>(Generation)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 dirty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𝐹𝐹𝑁</m:t>
                            </m:r>
                          </m:e>
                          <m:sup>
                            <m:r>
                              <a:rPr lang="en-US" altLang="ko-KR" sz="8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p>
                        </m:sSup>
                      </m:oMath>
                    </m:oMathPara>
                  </a14:m>
                  <a:endParaRPr lang="en-US" altLang="ko-KR" sz="800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C268376-0555-E62C-E40A-113A7A2028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9664" y="5344590"/>
                  <a:ext cx="1998512" cy="6556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8FCC7ED-4CD3-0FF4-2C3D-1A1CB1B56220}"/>
                </a:ext>
              </a:extLst>
            </p:cNvPr>
            <p:cNvCxnSpPr>
              <a:cxnSpLocks/>
            </p:cNvCxnSpPr>
            <p:nvPr/>
          </p:nvCxnSpPr>
          <p:spPr>
            <a:xfrm>
              <a:off x="1545538" y="5155721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A5641BB-3CE5-AB1D-B76C-8C84043E8171}"/>
                </a:ext>
              </a:extLst>
            </p:cNvPr>
            <p:cNvCxnSpPr>
              <a:cxnSpLocks/>
            </p:cNvCxnSpPr>
            <p:nvPr/>
          </p:nvCxnSpPr>
          <p:spPr>
            <a:xfrm>
              <a:off x="4070203" y="5151407"/>
              <a:ext cx="0" cy="2041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C3EA8D-32FB-CE94-BA1B-3504CB6502B9}"/>
                </a:ext>
              </a:extLst>
            </p:cNvPr>
            <p:cNvCxnSpPr/>
            <p:nvPr/>
          </p:nvCxnSpPr>
          <p:spPr>
            <a:xfrm>
              <a:off x="1545538" y="5151407"/>
              <a:ext cx="252466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BDEC41-2D9A-6458-9F1B-D689424E2367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2820836" y="4973799"/>
              <a:ext cx="2" cy="1776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EDCCEE-A913-316A-23C5-8E85D641E319}"/>
                </a:ext>
              </a:extLst>
            </p:cNvPr>
            <p:cNvSpPr txBox="1"/>
            <p:nvPr/>
          </p:nvSpPr>
          <p:spPr>
            <a:xfrm>
              <a:off x="5147349" y="1941746"/>
              <a:ext cx="706655" cy="386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000" dirty="0"/>
                <a:t>X 28</a:t>
              </a:r>
            </a:p>
          </p:txBody>
        </p:sp>
      </p:grpSp>
      <p:sp>
        <p:nvSpPr>
          <p:cNvPr id="34" name="Trapezoid 33">
            <a:extLst>
              <a:ext uri="{FF2B5EF4-FFF2-40B4-BE49-F238E27FC236}">
                <a16:creationId xmlns:a16="http://schemas.microsoft.com/office/drawing/2014/main" id="{3226D9C9-9A2A-18E2-7F67-5A584B97824A}"/>
              </a:ext>
            </a:extLst>
          </p:cNvPr>
          <p:cNvSpPr/>
          <p:nvPr/>
        </p:nvSpPr>
        <p:spPr>
          <a:xfrm rot="10800000" flipV="1">
            <a:off x="10737068" y="4478286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F9BD87-698D-49C2-E9A6-68F6DA8DEA62}"/>
                  </a:ext>
                </a:extLst>
              </p:cNvPr>
              <p:cNvSpPr txBox="1"/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F9BD87-698D-49C2-E9A6-68F6DA8DE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06" y="4466960"/>
                <a:ext cx="64601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97F111-63BC-ABDE-34B9-55238A69EB79}"/>
                  </a:ext>
                </a:extLst>
              </p:cNvPr>
              <p:cNvSpPr txBox="1"/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114688</m:t>
                          </m:r>
                        </m:sup>
                      </m:sSup>
                    </m:oMath>
                  </m:oMathPara>
                </a14:m>
                <a:endParaRPr lang="en-KR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97F111-63BC-ABDE-34B9-55238A69E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982400" y="5174340"/>
                <a:ext cx="98610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B4ED17F-8C66-BA12-142C-6ABA65D0B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742040"/>
              </p:ext>
            </p:extLst>
          </p:nvPr>
        </p:nvGraphicFramePr>
        <p:xfrm>
          <a:off x="10628759" y="4171402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p:sp>
        <p:nvSpPr>
          <p:cNvPr id="38" name="Trapezoid 37">
            <a:extLst>
              <a:ext uri="{FF2B5EF4-FFF2-40B4-BE49-F238E27FC236}">
                <a16:creationId xmlns:a16="http://schemas.microsoft.com/office/drawing/2014/main" id="{48CBEC9C-6676-F876-FAEB-D29B4B39FBB7}"/>
              </a:ext>
            </a:extLst>
          </p:cNvPr>
          <p:cNvSpPr/>
          <p:nvPr/>
        </p:nvSpPr>
        <p:spPr>
          <a:xfrm flipV="1">
            <a:off x="10757541" y="5810022"/>
            <a:ext cx="957305" cy="349412"/>
          </a:xfrm>
          <a:prstGeom prst="trapezoid">
            <a:avLst>
              <a:gd name="adj" fmla="val 516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C5ABBA-F683-BA2A-BC20-218013F934CE}"/>
                  </a:ext>
                </a:extLst>
              </p:cNvPr>
              <p:cNvSpPr txBox="1"/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C5ABBA-F683-BA2A-BC20-218013F93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993" y="5794585"/>
                <a:ext cx="66120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5508CD7-BEA8-15D3-F842-0C6C85B2D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489521"/>
              </p:ext>
            </p:extLst>
          </p:nvPr>
        </p:nvGraphicFramePr>
        <p:xfrm>
          <a:off x="10661203" y="6296404"/>
          <a:ext cx="1249680" cy="17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8DD9C5-7C5A-A488-1655-4BD43EE4B1B8}"/>
                  </a:ext>
                </a:extLst>
              </p:cNvPr>
              <p:cNvSpPr txBox="1"/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8DD9C5-7C5A-A488-1655-4BD43EE4B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8461" y="4055420"/>
                <a:ext cx="343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A26A2D-86E6-E618-0305-63F37C368651}"/>
                  </a:ext>
                </a:extLst>
              </p:cNvPr>
              <p:cNvSpPr txBox="1"/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A26A2D-86E6-E618-0305-63F37C368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988" y="6184640"/>
                <a:ext cx="3433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8C17C8E-7A0D-2669-99F2-08456CD30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05059"/>
              </p:ext>
            </p:extLst>
          </p:nvPr>
        </p:nvGraphicFramePr>
        <p:xfrm>
          <a:off x="10651820" y="4958794"/>
          <a:ext cx="1249680" cy="71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46017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53507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033766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666164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15900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5781103"/>
                    </a:ext>
                  </a:extLst>
                </a:gridCol>
              </a:tblGrid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64897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7275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22770"/>
                  </a:ext>
                </a:extLst>
              </a:tr>
              <a:tr h="179101">
                <a:tc>
                  <a:txBody>
                    <a:bodyPr/>
                    <a:lstStyle/>
                    <a:p>
                      <a:endParaRPr lang="en-KR" sz="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sz="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89416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EDDDEF0-8DC4-A360-627A-850546BD9C6B}"/>
              </a:ext>
            </a:extLst>
          </p:cNvPr>
          <p:cNvCxnSpPr>
            <a:cxnSpLocks/>
          </p:cNvCxnSpPr>
          <p:nvPr/>
        </p:nvCxnSpPr>
        <p:spPr>
          <a:xfrm>
            <a:off x="11214283" y="4350503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05646C-B3D2-EAC1-954F-BC6A4917169E}"/>
              </a:ext>
            </a:extLst>
          </p:cNvPr>
          <p:cNvCxnSpPr>
            <a:cxnSpLocks/>
          </p:cNvCxnSpPr>
          <p:nvPr/>
        </p:nvCxnSpPr>
        <p:spPr>
          <a:xfrm>
            <a:off x="11214283" y="4827699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CBE0D38-5397-93EB-3E05-AC23AACDB5EE}"/>
              </a:ext>
            </a:extLst>
          </p:cNvPr>
          <p:cNvCxnSpPr>
            <a:cxnSpLocks/>
          </p:cNvCxnSpPr>
          <p:nvPr/>
        </p:nvCxnSpPr>
        <p:spPr>
          <a:xfrm>
            <a:off x="11236193" y="5675198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6CA185A-3F02-6D6F-FA1B-20508798B5DF}"/>
              </a:ext>
            </a:extLst>
          </p:cNvPr>
          <p:cNvCxnSpPr>
            <a:cxnSpLocks/>
          </p:cNvCxnSpPr>
          <p:nvPr/>
        </p:nvCxnSpPr>
        <p:spPr>
          <a:xfrm>
            <a:off x="11236193" y="6163860"/>
            <a:ext cx="0" cy="134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EF13DA-2D2E-78AE-A20A-BA9207F6C203}"/>
              </a:ext>
            </a:extLst>
          </p:cNvPr>
          <p:cNvCxnSpPr>
            <a:cxnSpLocks/>
          </p:cNvCxnSpPr>
          <p:nvPr/>
        </p:nvCxnSpPr>
        <p:spPr>
          <a:xfrm>
            <a:off x="11220833" y="4006355"/>
            <a:ext cx="0" cy="165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00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8378-0384-C0DD-1D58-89E005E4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C042E-3EC7-67FD-DA34-C6E7C6EC3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SAeUron</a:t>
            </a:r>
            <a:r>
              <a:rPr lang="en-US" dirty="0"/>
              <a:t>: Interpretable Concept Unlearning in Diffusion Models with Sparse Autoencoders</a:t>
            </a:r>
          </a:p>
          <a:p>
            <a:pPr lvl="1"/>
            <a:r>
              <a:rPr lang="en-US" b="1" dirty="0"/>
              <a:t>SAE Target: </a:t>
            </a:r>
            <a:r>
              <a:rPr lang="en-US" dirty="0"/>
              <a:t>SD U-Net cross-attention activation</a:t>
            </a:r>
          </a:p>
          <a:p>
            <a:pPr lvl="1"/>
            <a:r>
              <a:rPr lang="en-US" b="1" dirty="0"/>
              <a:t>Hardware / Time: </a:t>
            </a:r>
            <a:r>
              <a:rPr lang="en-US" dirty="0"/>
              <a:t>RTX A5000 1</a:t>
            </a:r>
            <a:r>
              <a:rPr lang="ko-KR" altLang="en-US" dirty="0"/>
              <a:t>장</a:t>
            </a:r>
            <a:r>
              <a:rPr lang="en-US" altLang="ko-KR" dirty="0"/>
              <a:t>, </a:t>
            </a:r>
            <a:r>
              <a:rPr lang="en-US" dirty="0"/>
              <a:t>object 27h 40m / style 59h 1m</a:t>
            </a:r>
          </a:p>
          <a:p>
            <a:r>
              <a:rPr lang="en-US" dirty="0" err="1"/>
              <a:t>SAEmnesia</a:t>
            </a:r>
            <a:r>
              <a:rPr lang="en-US" dirty="0"/>
              <a:t>: Erasing Concepts in Diffusion Models with Supervised Sparse Autoencoders</a:t>
            </a:r>
          </a:p>
          <a:p>
            <a:pPr lvl="1"/>
            <a:r>
              <a:rPr lang="en-US" b="1" dirty="0"/>
              <a:t>SAE Target: </a:t>
            </a:r>
            <a:r>
              <a:rPr lang="en-US" dirty="0"/>
              <a:t>SD cross-attention feature map</a:t>
            </a:r>
          </a:p>
          <a:p>
            <a:pPr lvl="1"/>
            <a:r>
              <a:rPr lang="en-US" b="1" dirty="0"/>
              <a:t>Hardware / Time: </a:t>
            </a:r>
            <a:r>
              <a:rPr lang="en-US" dirty="0" err="1"/>
              <a:t>미기재</a:t>
            </a:r>
            <a:endParaRPr lang="en-US" dirty="0"/>
          </a:p>
          <a:p>
            <a:pPr lvl="1"/>
            <a:endParaRPr lang="en-K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64F3F80-3832-1BFC-7400-749D0A523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2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KR" altLang="en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KR" altLang="en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1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58ECF49-9510-284B-8608-77DD3AF33700}" vid="{D7FC2EE1-7D83-D345-BC33-911F7B4FB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42311</TotalTime>
  <Words>726</Words>
  <Application>Microsoft Macintosh PowerPoint</Application>
  <PresentationFormat>Widescreen</PresentationFormat>
  <Paragraphs>130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Pretendard</vt:lpstr>
      <vt:lpstr>Pretendard Medium</vt:lpstr>
      <vt:lpstr>Pretendard SemiBold</vt:lpstr>
      <vt:lpstr>Aptos</vt:lpstr>
      <vt:lpstr>Arial</vt:lpstr>
      <vt:lpstr>Cambria Math</vt:lpstr>
      <vt:lpstr>Wingdings</vt:lpstr>
      <vt:lpstr>Office Theme</vt:lpstr>
      <vt:lpstr>UMM Unlearning Knows But Can't Draw: Toward Modality-Selective Concept Suppression in Unified Multimodal Models</vt:lpstr>
      <vt:lpstr>Batch</vt:lpstr>
      <vt:lpstr>Batch</vt:lpstr>
      <vt:lpstr>Batch</vt:lpstr>
      <vt:lpstr>Loss</vt:lpstr>
      <vt:lpstr>Loss</vt:lpstr>
      <vt:lpstr>Loss</vt:lpstr>
      <vt:lpstr>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정하연</dc:creator>
  <cp:lastModifiedBy>정하연</cp:lastModifiedBy>
  <cp:revision>515</cp:revision>
  <dcterms:created xsi:type="dcterms:W3CDTF">2025-07-25T04:06:09Z</dcterms:created>
  <dcterms:modified xsi:type="dcterms:W3CDTF">2026-04-21T08:06:19Z</dcterms:modified>
</cp:coreProperties>
</file>