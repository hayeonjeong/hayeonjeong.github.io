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84" r:id="rId4"/>
    <p:sldId id="285" r:id="rId5"/>
    <p:sldId id="286" r:id="rId6"/>
    <p:sldId id="292" r:id="rId7"/>
    <p:sldId id="294" r:id="rId8"/>
    <p:sldId id="289" r:id="rId9"/>
    <p:sldId id="291" r:id="rId10"/>
    <p:sldId id="296" r:id="rId11"/>
    <p:sldId id="295" r:id="rId12"/>
    <p:sldId id="297" r:id="rId13"/>
    <p:sldId id="287" r:id="rId14"/>
    <p:sldId id="290" r:id="rId15"/>
    <p:sldId id="258" r:id="rId16"/>
    <p:sldId id="262" r:id="rId17"/>
  </p:sldIdLst>
  <p:sldSz cx="12192000" cy="6858000"/>
  <p:notesSz cx="6858000" cy="9144000"/>
  <p:defaultTextStyle>
    <a:defPPr>
      <a:defRPr lang="en-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1C6C3"/>
    <a:srgbClr val="3792B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712"/>
    <p:restoredTop sz="94589"/>
  </p:normalViewPr>
  <p:slideViewPr>
    <p:cSldViewPr snapToGrid="0">
      <p:cViewPr varScale="1">
        <p:scale>
          <a:sx n="120" d="100"/>
          <a:sy n="120" d="100"/>
        </p:scale>
        <p:origin x="78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K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8A1999-0D2D-334E-B65B-715E1558EE94}" type="datetimeFigureOut">
              <a:rPr lang="en-KR" smtClean="0"/>
              <a:t>1/2/26</a:t>
            </a:fld>
            <a:endParaRPr lang="en-K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K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K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18AA30-34BB-0C47-9851-CC14E2038A73}" type="slidenum">
              <a:rPr lang="en-KR" smtClean="0"/>
              <a:t>‹#›</a:t>
            </a:fld>
            <a:endParaRPr lang="en-KR"/>
          </a:p>
        </p:txBody>
      </p:sp>
    </p:spTree>
    <p:extLst>
      <p:ext uri="{BB962C8B-B14F-4D97-AF65-F5344CB8AC3E}">
        <p14:creationId xmlns:p14="http://schemas.microsoft.com/office/powerpoint/2010/main" val="9955050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4FB9D99-0E39-375C-ECD9-E8BEB12F3044}"/>
              </a:ext>
            </a:extLst>
          </p:cNvPr>
          <p:cNvSpPr>
            <a:spLocks noGrp="1"/>
          </p:cNvSpPr>
          <p:nvPr>
            <p:ph type="dt" sz="half" idx="10"/>
          </p:nvPr>
        </p:nvSpPr>
        <p:spPr/>
        <p:txBody>
          <a:bodyPr/>
          <a:lstStyle/>
          <a:p>
            <a:fld id="{615EB2AF-6CDC-754A-BF21-D403DB356990}" type="datetime1">
              <a:rPr lang="en-US" smtClean="0"/>
              <a:t>1/2/26</a:t>
            </a:fld>
            <a:endParaRPr lang="en-KR"/>
          </a:p>
        </p:txBody>
      </p:sp>
      <p:sp>
        <p:nvSpPr>
          <p:cNvPr id="5" name="Footer Placeholder 4">
            <a:extLst>
              <a:ext uri="{FF2B5EF4-FFF2-40B4-BE49-F238E27FC236}">
                <a16:creationId xmlns:a16="http://schemas.microsoft.com/office/drawing/2014/main" id="{44E702B2-45BC-3664-B16F-C0B3EE41A23D}"/>
              </a:ext>
            </a:extLst>
          </p:cNvPr>
          <p:cNvSpPr>
            <a:spLocks noGrp="1"/>
          </p:cNvSpPr>
          <p:nvPr>
            <p:ph type="ftr" sz="quarter" idx="11"/>
          </p:nvPr>
        </p:nvSpPr>
        <p:spPr/>
        <p:txBody>
          <a:bodyPr/>
          <a:lstStyle/>
          <a:p>
            <a:endParaRPr lang="en-KR"/>
          </a:p>
        </p:txBody>
      </p:sp>
      <p:pic>
        <p:nvPicPr>
          <p:cNvPr id="7" name="Graphic 6">
            <a:extLst>
              <a:ext uri="{FF2B5EF4-FFF2-40B4-BE49-F238E27FC236}">
                <a16:creationId xmlns:a16="http://schemas.microsoft.com/office/drawing/2014/main" id="{06CCC7B9-62B8-31DD-0229-DD887C0135F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0072" y="6522511"/>
            <a:ext cx="1100695" cy="242207"/>
          </a:xfrm>
          <a:prstGeom prst="rect">
            <a:avLst/>
          </a:prstGeom>
        </p:spPr>
      </p:pic>
      <p:sp>
        <p:nvSpPr>
          <p:cNvPr id="8" name="Title 1">
            <a:extLst>
              <a:ext uri="{FF2B5EF4-FFF2-40B4-BE49-F238E27FC236}">
                <a16:creationId xmlns:a16="http://schemas.microsoft.com/office/drawing/2014/main" id="{9CC0C649-1748-F3E0-5235-F50DCBC93A29}"/>
              </a:ext>
            </a:extLst>
          </p:cNvPr>
          <p:cNvSpPr>
            <a:spLocks noGrp="1"/>
          </p:cNvSpPr>
          <p:nvPr>
            <p:ph type="ctrTitle" hasCustomPrompt="1"/>
          </p:nvPr>
        </p:nvSpPr>
        <p:spPr>
          <a:xfrm>
            <a:off x="1524000" y="1340848"/>
            <a:ext cx="9144000" cy="2387600"/>
          </a:xfrm>
          <a:prstGeom prst="rect">
            <a:avLst/>
          </a:prstGeom>
        </p:spPr>
        <p:txBody>
          <a:bodyPr anchor="b"/>
          <a:lstStyle>
            <a:lvl1pPr marL="0" indent="0" algn="ctr">
              <a:buFont typeface="Arial" panose="020B0604020202020204" pitchFamily="34" charset="0"/>
              <a:buNone/>
              <a:defRPr b="0" i="0">
                <a:latin typeface="Pretendard Medium" panose="02000503000000020004" pitchFamily="2" charset="-127"/>
                <a:ea typeface="Pretendard Medium" panose="02000503000000020004" pitchFamily="2" charset="-127"/>
                <a:cs typeface="Pretendard Medium" panose="02000503000000020004" pitchFamily="2" charset="-127"/>
              </a:defRPr>
            </a:lvl1pPr>
          </a:lstStyle>
          <a:p>
            <a:r>
              <a:rPr lang="en-KR" sz="4800" dirty="0"/>
              <a:t>Title</a:t>
            </a:r>
            <a:endParaRPr lang="en-KR" dirty="0"/>
          </a:p>
        </p:txBody>
      </p:sp>
      <p:sp>
        <p:nvSpPr>
          <p:cNvPr id="9" name="Subtitle 2">
            <a:extLst>
              <a:ext uri="{FF2B5EF4-FFF2-40B4-BE49-F238E27FC236}">
                <a16:creationId xmlns:a16="http://schemas.microsoft.com/office/drawing/2014/main" id="{478C4E3D-CBDE-2C38-6A80-96C3A43688E1}"/>
              </a:ext>
            </a:extLst>
          </p:cNvPr>
          <p:cNvSpPr>
            <a:spLocks noGrp="1"/>
          </p:cNvSpPr>
          <p:nvPr>
            <p:ph type="subTitle" idx="1" hasCustomPrompt="1"/>
          </p:nvPr>
        </p:nvSpPr>
        <p:spPr>
          <a:xfrm>
            <a:off x="1524000" y="3728448"/>
            <a:ext cx="9144000" cy="1568773"/>
          </a:xfrm>
          <a:prstGeom prst="rect">
            <a:avLst/>
          </a:prstGeom>
        </p:spPr>
        <p:txBody>
          <a:bodyPr anchor="ctr">
            <a:noAutofit/>
          </a:bodyPr>
          <a:lstStyle>
            <a:lvl1pPr marL="0" indent="0" algn="ctr">
              <a:buNone/>
              <a:defRPr sz="1400" b="0" i="0">
                <a:latin typeface="Pretendard" panose="02000503000000020004" pitchFamily="2" charset="-127"/>
                <a:ea typeface="Pretendard" panose="02000503000000020004" pitchFamily="2" charset="-127"/>
                <a:cs typeface="Pretendard" panose="02000503000000020004" pitchFamily="2" charset="-127"/>
              </a:defRPr>
            </a:lvl1pPr>
          </a:lstStyle>
          <a:p>
            <a:r>
              <a:rPr lang="en-KR" dirty="0"/>
              <a:t>Subtitle</a:t>
            </a:r>
          </a:p>
          <a:p>
            <a:endParaRPr lang="en-KR" dirty="0"/>
          </a:p>
          <a:p>
            <a:r>
              <a:rPr lang="en-KR" dirty="0"/>
              <a:t>2025.XX.XX</a:t>
            </a:r>
          </a:p>
          <a:p>
            <a:r>
              <a:rPr lang="en-KR" dirty="0"/>
              <a:t>Hayeon Jeong</a:t>
            </a:r>
          </a:p>
        </p:txBody>
      </p:sp>
    </p:spTree>
    <p:extLst>
      <p:ext uri="{BB962C8B-B14F-4D97-AF65-F5344CB8AC3E}">
        <p14:creationId xmlns:p14="http://schemas.microsoft.com/office/powerpoint/2010/main" val="30410206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18CF7FA-047A-76DC-F53A-607DB621F97A}"/>
              </a:ext>
            </a:extLst>
          </p:cNvPr>
          <p:cNvSpPr>
            <a:spLocks noGrp="1"/>
          </p:cNvSpPr>
          <p:nvPr>
            <p:ph type="dt" sz="half" idx="10"/>
          </p:nvPr>
        </p:nvSpPr>
        <p:spPr/>
        <p:txBody>
          <a:bodyPr/>
          <a:lstStyle/>
          <a:p>
            <a:fld id="{06BC0F43-BAD3-5D4B-842C-1BECF5783CC1}" type="datetime1">
              <a:rPr lang="en-US" smtClean="0"/>
              <a:t>1/2/26</a:t>
            </a:fld>
            <a:endParaRPr lang="en-KR"/>
          </a:p>
        </p:txBody>
      </p:sp>
      <p:sp>
        <p:nvSpPr>
          <p:cNvPr id="5" name="Footer Placeholder 4">
            <a:extLst>
              <a:ext uri="{FF2B5EF4-FFF2-40B4-BE49-F238E27FC236}">
                <a16:creationId xmlns:a16="http://schemas.microsoft.com/office/drawing/2014/main" id="{43525B7E-5821-3FBF-9C90-D608FD483886}"/>
              </a:ext>
            </a:extLst>
          </p:cNvPr>
          <p:cNvSpPr>
            <a:spLocks noGrp="1"/>
          </p:cNvSpPr>
          <p:nvPr>
            <p:ph type="ftr" sz="quarter" idx="11"/>
          </p:nvPr>
        </p:nvSpPr>
        <p:spPr/>
        <p:txBody>
          <a:bodyPr/>
          <a:lstStyle/>
          <a:p>
            <a:endParaRPr lang="en-KR"/>
          </a:p>
        </p:txBody>
      </p:sp>
      <p:sp>
        <p:nvSpPr>
          <p:cNvPr id="7" name="Title 1">
            <a:extLst>
              <a:ext uri="{FF2B5EF4-FFF2-40B4-BE49-F238E27FC236}">
                <a16:creationId xmlns:a16="http://schemas.microsoft.com/office/drawing/2014/main" id="{57AE1898-3AA5-9E6C-895D-AE7A7A5E10D5}"/>
              </a:ext>
            </a:extLst>
          </p:cNvPr>
          <p:cNvSpPr>
            <a:spLocks noGrp="1"/>
          </p:cNvSpPr>
          <p:nvPr>
            <p:ph type="title" hasCustomPrompt="1"/>
          </p:nvPr>
        </p:nvSpPr>
        <p:spPr>
          <a:xfrm>
            <a:off x="365126" y="365125"/>
            <a:ext cx="11416878" cy="656851"/>
          </a:xfrm>
          <a:prstGeom prst="rect">
            <a:avLst/>
          </a:prstGeom>
        </p:spPr>
        <p:txBody>
          <a:bodyPr>
            <a:normAutofit/>
          </a:bodyPr>
          <a:lstStyle>
            <a:lvl1pPr>
              <a:defRPr sz="2400" b="1" i="0">
                <a:latin typeface="Pretendard SemiBold" panose="02000503000000020004" pitchFamily="2" charset="-127"/>
                <a:ea typeface="Pretendard SemiBold" panose="02000503000000020004" pitchFamily="2" charset="-127"/>
                <a:cs typeface="Pretendard SemiBold" panose="02000503000000020004" pitchFamily="2" charset="-127"/>
              </a:defRPr>
            </a:lvl1pPr>
          </a:lstStyle>
          <a:p>
            <a:r>
              <a:rPr lang="en-US" sz="2800" b="1" dirty="0">
                <a:latin typeface="Pretendard" panose="02000503000000020004" pitchFamily="2" charset="-127"/>
                <a:ea typeface="Pretendard" panose="02000503000000020004" pitchFamily="2" charset="-127"/>
                <a:cs typeface="Pretendard" panose="02000503000000020004" pitchFamily="2" charset="-127"/>
              </a:rPr>
              <a:t>TITLE HERE</a:t>
            </a:r>
            <a:endParaRPr lang="en-KR" sz="2800" b="1" dirty="0">
              <a:latin typeface="Pretendard" panose="02000503000000020004" pitchFamily="2" charset="-127"/>
              <a:ea typeface="Pretendard" panose="02000503000000020004" pitchFamily="2" charset="-127"/>
              <a:cs typeface="Pretendard" panose="02000503000000020004" pitchFamily="2" charset="-127"/>
            </a:endParaRPr>
          </a:p>
        </p:txBody>
      </p:sp>
      <p:sp>
        <p:nvSpPr>
          <p:cNvPr id="8" name="Content Placeholder 2">
            <a:extLst>
              <a:ext uri="{FF2B5EF4-FFF2-40B4-BE49-F238E27FC236}">
                <a16:creationId xmlns:a16="http://schemas.microsoft.com/office/drawing/2014/main" id="{33AC890D-0675-EFBB-C750-C787E03D1F7B}"/>
              </a:ext>
            </a:extLst>
          </p:cNvPr>
          <p:cNvSpPr>
            <a:spLocks noGrp="1"/>
          </p:cNvSpPr>
          <p:nvPr>
            <p:ph idx="1" hasCustomPrompt="1"/>
          </p:nvPr>
        </p:nvSpPr>
        <p:spPr>
          <a:xfrm>
            <a:off x="365126" y="1137958"/>
            <a:ext cx="11416878" cy="5354917"/>
          </a:xfrm>
          <a:prstGeom prst="rect">
            <a:avLst/>
          </a:prstGeom>
        </p:spPr>
        <p:txBody>
          <a:bodyPr>
            <a:normAutofit/>
          </a:bodyPr>
          <a:lstStyle>
            <a:lvl1pPr>
              <a:lnSpc>
                <a:spcPct val="100000"/>
              </a:lnSpc>
              <a:defRPr sz="1600" b="0" i="0">
                <a:latin typeface="Pretendard" panose="02000503000000020004" pitchFamily="2" charset="-127"/>
                <a:ea typeface="Pretendard" panose="02000503000000020004" pitchFamily="2" charset="-127"/>
                <a:cs typeface="Pretendard" panose="02000503000000020004" pitchFamily="2" charset="-127"/>
              </a:defRPr>
            </a:lvl1pPr>
            <a:lvl2pPr>
              <a:lnSpc>
                <a:spcPct val="100000"/>
              </a:lnSpc>
              <a:defRPr sz="1400" b="0" i="0">
                <a:latin typeface="Pretendard" panose="02000503000000020004" pitchFamily="2" charset="-127"/>
                <a:ea typeface="Pretendard" panose="02000503000000020004" pitchFamily="2" charset="-127"/>
                <a:cs typeface="Pretendard" panose="02000503000000020004" pitchFamily="2" charset="-127"/>
              </a:defRPr>
            </a:lvl2pPr>
            <a:lvl3pPr>
              <a:lnSpc>
                <a:spcPct val="100000"/>
              </a:lnSpc>
              <a:defRPr sz="1200" b="0" i="0">
                <a:latin typeface="Pretendard" panose="02000503000000020004" pitchFamily="2" charset="-127"/>
                <a:ea typeface="Pretendard" panose="02000503000000020004" pitchFamily="2" charset="-127"/>
                <a:cs typeface="Pretendard" panose="02000503000000020004" pitchFamily="2" charset="-127"/>
              </a:defRPr>
            </a:lvl3pPr>
            <a:lvl4pPr>
              <a:lnSpc>
                <a:spcPct val="100000"/>
              </a:lnSpc>
              <a:defRPr sz="1100" b="0" i="0">
                <a:latin typeface="Pretendard" panose="02000503000000020004" pitchFamily="2" charset="-127"/>
                <a:ea typeface="Pretendard" panose="02000503000000020004" pitchFamily="2" charset="-127"/>
                <a:cs typeface="Pretendard" panose="02000503000000020004" pitchFamily="2" charset="-127"/>
              </a:defRPr>
            </a:lvl4pPr>
            <a:lvl5pPr>
              <a:lnSpc>
                <a:spcPct val="100000"/>
              </a:lnSpc>
              <a:defRPr sz="1100" b="0" i="0">
                <a:latin typeface="Pretendard" panose="02000503000000020004" pitchFamily="2" charset="-127"/>
                <a:ea typeface="Pretendard" panose="02000503000000020004" pitchFamily="2" charset="-127"/>
                <a:cs typeface="Pretendard" panose="02000503000000020004" pitchFamily="2" charset="-127"/>
              </a:defRPr>
            </a:lvl5pPr>
          </a:lstStyle>
          <a:p>
            <a:pPr lvl="0"/>
            <a:r>
              <a:rPr lang="en-US" sz="1800" dirty="0">
                <a:latin typeface="Pretendard" panose="02000503000000020004" pitchFamily="2" charset="-127"/>
                <a:ea typeface="Pretendard" panose="02000503000000020004" pitchFamily="2" charset="-127"/>
                <a:cs typeface="Pretendard" panose="02000503000000020004" pitchFamily="2" charset="-127"/>
              </a:rPr>
              <a:t>First level</a:t>
            </a:r>
          </a:p>
          <a:p>
            <a:pPr lvl="1"/>
            <a:r>
              <a:rPr lang="en-US" sz="1600" dirty="0">
                <a:latin typeface="Pretendard" panose="02000503000000020004" pitchFamily="2" charset="-127"/>
                <a:ea typeface="Pretendard" panose="02000503000000020004" pitchFamily="2" charset="-127"/>
                <a:cs typeface="Pretendard" panose="02000503000000020004" pitchFamily="2" charset="-127"/>
              </a:rPr>
              <a:t>Second level</a:t>
            </a:r>
          </a:p>
          <a:p>
            <a:pPr lvl="2"/>
            <a:r>
              <a:rPr lang="en-US" sz="1400" dirty="0">
                <a:latin typeface="Pretendard" panose="02000503000000020004" pitchFamily="2" charset="-127"/>
                <a:ea typeface="Pretendard" panose="02000503000000020004" pitchFamily="2" charset="-127"/>
                <a:cs typeface="Pretendard" panose="02000503000000020004" pitchFamily="2" charset="-127"/>
              </a:rPr>
              <a:t>Third level</a:t>
            </a:r>
          </a:p>
          <a:p>
            <a:pPr lvl="3"/>
            <a:r>
              <a:rPr lang="en-US" sz="1200" dirty="0">
                <a:latin typeface="Pretendard" panose="02000503000000020004" pitchFamily="2" charset="-127"/>
                <a:ea typeface="Pretendard" panose="02000503000000020004" pitchFamily="2" charset="-127"/>
                <a:cs typeface="Pretendard" panose="02000503000000020004" pitchFamily="2" charset="-127"/>
              </a:rPr>
              <a:t>Fourth level</a:t>
            </a:r>
          </a:p>
          <a:p>
            <a:pPr lvl="4"/>
            <a:r>
              <a:rPr lang="en-US" sz="1200" dirty="0">
                <a:latin typeface="Pretendard" panose="02000503000000020004" pitchFamily="2" charset="-127"/>
                <a:ea typeface="Pretendard" panose="02000503000000020004" pitchFamily="2" charset="-127"/>
                <a:cs typeface="Pretendard" panose="02000503000000020004" pitchFamily="2" charset="-127"/>
              </a:rPr>
              <a:t>Fifth level</a:t>
            </a:r>
            <a:endParaRPr lang="en-KR" sz="1200" dirty="0">
              <a:latin typeface="Pretendard" panose="02000503000000020004" pitchFamily="2" charset="-127"/>
              <a:ea typeface="Pretendard" panose="02000503000000020004" pitchFamily="2" charset="-127"/>
              <a:cs typeface="Pretendard" panose="02000503000000020004" pitchFamily="2" charset="-127"/>
            </a:endParaRPr>
          </a:p>
        </p:txBody>
      </p:sp>
    </p:spTree>
    <p:extLst>
      <p:ext uri="{BB962C8B-B14F-4D97-AF65-F5344CB8AC3E}">
        <p14:creationId xmlns:p14="http://schemas.microsoft.com/office/powerpoint/2010/main" val="3237850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C4C1A-47A3-8FCD-C17B-E8AF0ACFD813}"/>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KR"/>
          </a:p>
        </p:txBody>
      </p:sp>
      <p:sp>
        <p:nvSpPr>
          <p:cNvPr id="3" name="Text Placeholder 2">
            <a:extLst>
              <a:ext uri="{FF2B5EF4-FFF2-40B4-BE49-F238E27FC236}">
                <a16:creationId xmlns:a16="http://schemas.microsoft.com/office/drawing/2014/main" id="{55D06B84-CF83-1768-F770-9FA317B27470}"/>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F8DDBD9-8556-9FE5-B37E-326DFB751BA6}"/>
              </a:ext>
            </a:extLst>
          </p:cNvPr>
          <p:cNvSpPr>
            <a:spLocks noGrp="1"/>
          </p:cNvSpPr>
          <p:nvPr>
            <p:ph type="dt" sz="half" idx="10"/>
          </p:nvPr>
        </p:nvSpPr>
        <p:spPr/>
        <p:txBody>
          <a:bodyPr/>
          <a:lstStyle/>
          <a:p>
            <a:fld id="{7FF65020-5E6C-944D-954D-F6513999B2B9}" type="datetime1">
              <a:rPr lang="en-US" smtClean="0"/>
              <a:t>1/2/26</a:t>
            </a:fld>
            <a:endParaRPr lang="en-KR"/>
          </a:p>
        </p:txBody>
      </p:sp>
      <p:sp>
        <p:nvSpPr>
          <p:cNvPr id="5" name="Footer Placeholder 4">
            <a:extLst>
              <a:ext uri="{FF2B5EF4-FFF2-40B4-BE49-F238E27FC236}">
                <a16:creationId xmlns:a16="http://schemas.microsoft.com/office/drawing/2014/main" id="{E13A80EC-89C7-61E5-4253-9CEC3EBC8661}"/>
              </a:ext>
            </a:extLst>
          </p:cNvPr>
          <p:cNvSpPr>
            <a:spLocks noGrp="1"/>
          </p:cNvSpPr>
          <p:nvPr>
            <p:ph type="ftr" sz="quarter" idx="11"/>
          </p:nvPr>
        </p:nvSpPr>
        <p:spPr/>
        <p:txBody>
          <a:bodyPr/>
          <a:lstStyle/>
          <a:p>
            <a:endParaRPr lang="en-KR"/>
          </a:p>
        </p:txBody>
      </p:sp>
      <p:sp>
        <p:nvSpPr>
          <p:cNvPr id="6" name="Slide Number Placeholder 5">
            <a:extLst>
              <a:ext uri="{FF2B5EF4-FFF2-40B4-BE49-F238E27FC236}">
                <a16:creationId xmlns:a16="http://schemas.microsoft.com/office/drawing/2014/main" id="{AC3C206E-DB2D-383A-E617-3091FE96007F}"/>
              </a:ext>
            </a:extLst>
          </p:cNvPr>
          <p:cNvSpPr>
            <a:spLocks noGrp="1"/>
          </p:cNvSpPr>
          <p:nvPr>
            <p:ph type="sldNum" sz="quarter" idx="12"/>
          </p:nvPr>
        </p:nvSpPr>
        <p:spPr>
          <a:xfrm>
            <a:off x="8610600" y="6356350"/>
            <a:ext cx="2743200" cy="365125"/>
          </a:xfrm>
          <a:prstGeom prst="rect">
            <a:avLst/>
          </a:prstGeom>
        </p:spPr>
        <p:txBody>
          <a:bodyPr/>
          <a:lstStyle/>
          <a:p>
            <a:fld id="{E42FE30C-30E7-744B-836A-23530458DF33}" type="slidenum">
              <a:rPr lang="en-KR" smtClean="0"/>
              <a:t>‹#›</a:t>
            </a:fld>
            <a:endParaRPr lang="en-KR"/>
          </a:p>
        </p:txBody>
      </p:sp>
    </p:spTree>
    <p:extLst>
      <p:ext uri="{BB962C8B-B14F-4D97-AF65-F5344CB8AC3E}">
        <p14:creationId xmlns:p14="http://schemas.microsoft.com/office/powerpoint/2010/main" val="40991460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612B1-914A-A85B-9656-EED84B57B823}"/>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KR"/>
          </a:p>
        </p:txBody>
      </p:sp>
      <p:sp>
        <p:nvSpPr>
          <p:cNvPr id="3" name="Content Placeholder 2">
            <a:extLst>
              <a:ext uri="{FF2B5EF4-FFF2-40B4-BE49-F238E27FC236}">
                <a16:creationId xmlns:a16="http://schemas.microsoft.com/office/drawing/2014/main" id="{1804766D-9F19-7222-0134-B4027F458894}"/>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4" name="Content Placeholder 3">
            <a:extLst>
              <a:ext uri="{FF2B5EF4-FFF2-40B4-BE49-F238E27FC236}">
                <a16:creationId xmlns:a16="http://schemas.microsoft.com/office/drawing/2014/main" id="{9A49AC8F-15F8-233F-E3BD-B13B29E019FE}"/>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5" name="Date Placeholder 4">
            <a:extLst>
              <a:ext uri="{FF2B5EF4-FFF2-40B4-BE49-F238E27FC236}">
                <a16:creationId xmlns:a16="http://schemas.microsoft.com/office/drawing/2014/main" id="{705FBA0E-4D9B-5669-1A40-025EAF60848A}"/>
              </a:ext>
            </a:extLst>
          </p:cNvPr>
          <p:cNvSpPr>
            <a:spLocks noGrp="1"/>
          </p:cNvSpPr>
          <p:nvPr>
            <p:ph type="dt" sz="half" idx="10"/>
          </p:nvPr>
        </p:nvSpPr>
        <p:spPr/>
        <p:txBody>
          <a:bodyPr/>
          <a:lstStyle/>
          <a:p>
            <a:fld id="{373E84A6-EFC5-6A45-8FBB-8A86ED1092A9}" type="datetime1">
              <a:rPr lang="en-US" smtClean="0"/>
              <a:t>1/2/26</a:t>
            </a:fld>
            <a:endParaRPr lang="en-KR"/>
          </a:p>
        </p:txBody>
      </p:sp>
      <p:sp>
        <p:nvSpPr>
          <p:cNvPr id="6" name="Footer Placeholder 5">
            <a:extLst>
              <a:ext uri="{FF2B5EF4-FFF2-40B4-BE49-F238E27FC236}">
                <a16:creationId xmlns:a16="http://schemas.microsoft.com/office/drawing/2014/main" id="{E9FFC0FD-58FC-157A-9180-051DFAF8E4B8}"/>
              </a:ext>
            </a:extLst>
          </p:cNvPr>
          <p:cNvSpPr>
            <a:spLocks noGrp="1"/>
          </p:cNvSpPr>
          <p:nvPr>
            <p:ph type="ftr" sz="quarter" idx="11"/>
          </p:nvPr>
        </p:nvSpPr>
        <p:spPr/>
        <p:txBody>
          <a:bodyPr/>
          <a:lstStyle/>
          <a:p>
            <a:endParaRPr lang="en-KR"/>
          </a:p>
        </p:txBody>
      </p:sp>
      <p:sp>
        <p:nvSpPr>
          <p:cNvPr id="7" name="Slide Number Placeholder 6">
            <a:extLst>
              <a:ext uri="{FF2B5EF4-FFF2-40B4-BE49-F238E27FC236}">
                <a16:creationId xmlns:a16="http://schemas.microsoft.com/office/drawing/2014/main" id="{F5AF6963-6C2A-C55A-CF1E-B938E2B36B17}"/>
              </a:ext>
            </a:extLst>
          </p:cNvPr>
          <p:cNvSpPr>
            <a:spLocks noGrp="1"/>
          </p:cNvSpPr>
          <p:nvPr>
            <p:ph type="sldNum" sz="quarter" idx="12"/>
          </p:nvPr>
        </p:nvSpPr>
        <p:spPr>
          <a:xfrm>
            <a:off x="8610600" y="6356350"/>
            <a:ext cx="2743200" cy="365125"/>
          </a:xfrm>
          <a:prstGeom prst="rect">
            <a:avLst/>
          </a:prstGeom>
        </p:spPr>
        <p:txBody>
          <a:bodyPr/>
          <a:lstStyle/>
          <a:p>
            <a:fld id="{E42FE30C-30E7-744B-836A-23530458DF33}" type="slidenum">
              <a:rPr lang="en-KR" smtClean="0"/>
              <a:t>‹#›</a:t>
            </a:fld>
            <a:endParaRPr lang="en-KR"/>
          </a:p>
        </p:txBody>
      </p:sp>
    </p:spTree>
    <p:extLst>
      <p:ext uri="{BB962C8B-B14F-4D97-AF65-F5344CB8AC3E}">
        <p14:creationId xmlns:p14="http://schemas.microsoft.com/office/powerpoint/2010/main" val="359025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0DB35-4B06-C984-E6E9-6571DE799DAB}"/>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KR"/>
          </a:p>
        </p:txBody>
      </p:sp>
      <p:sp>
        <p:nvSpPr>
          <p:cNvPr id="3" name="Text Placeholder 2">
            <a:extLst>
              <a:ext uri="{FF2B5EF4-FFF2-40B4-BE49-F238E27FC236}">
                <a16:creationId xmlns:a16="http://schemas.microsoft.com/office/drawing/2014/main" id="{65E2A03E-07D5-B7A7-F884-24381BF8E1C0}"/>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D2BA994-F460-612A-0B6F-B0A0EB041F39}"/>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5" name="Text Placeholder 4">
            <a:extLst>
              <a:ext uri="{FF2B5EF4-FFF2-40B4-BE49-F238E27FC236}">
                <a16:creationId xmlns:a16="http://schemas.microsoft.com/office/drawing/2014/main" id="{A9C733F7-78B9-904C-9642-3458037A17B4}"/>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BA6DCBC-7069-5BD8-46DB-C7BFDDEB4ECC}"/>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7" name="Date Placeholder 6">
            <a:extLst>
              <a:ext uri="{FF2B5EF4-FFF2-40B4-BE49-F238E27FC236}">
                <a16:creationId xmlns:a16="http://schemas.microsoft.com/office/drawing/2014/main" id="{FC29A386-0F81-8914-A12C-6597AB2E19B6}"/>
              </a:ext>
            </a:extLst>
          </p:cNvPr>
          <p:cNvSpPr>
            <a:spLocks noGrp="1"/>
          </p:cNvSpPr>
          <p:nvPr>
            <p:ph type="dt" sz="half" idx="10"/>
          </p:nvPr>
        </p:nvSpPr>
        <p:spPr/>
        <p:txBody>
          <a:bodyPr/>
          <a:lstStyle/>
          <a:p>
            <a:fld id="{EF0B3992-39AF-5043-AD44-4F8B2806E4F7}" type="datetime1">
              <a:rPr lang="en-US" smtClean="0"/>
              <a:t>1/2/26</a:t>
            </a:fld>
            <a:endParaRPr lang="en-KR"/>
          </a:p>
        </p:txBody>
      </p:sp>
      <p:sp>
        <p:nvSpPr>
          <p:cNvPr id="8" name="Footer Placeholder 7">
            <a:extLst>
              <a:ext uri="{FF2B5EF4-FFF2-40B4-BE49-F238E27FC236}">
                <a16:creationId xmlns:a16="http://schemas.microsoft.com/office/drawing/2014/main" id="{22AF0178-97F1-0E9D-871E-D44CC8A37534}"/>
              </a:ext>
            </a:extLst>
          </p:cNvPr>
          <p:cNvSpPr>
            <a:spLocks noGrp="1"/>
          </p:cNvSpPr>
          <p:nvPr>
            <p:ph type="ftr" sz="quarter" idx="11"/>
          </p:nvPr>
        </p:nvSpPr>
        <p:spPr/>
        <p:txBody>
          <a:bodyPr/>
          <a:lstStyle/>
          <a:p>
            <a:endParaRPr lang="en-KR"/>
          </a:p>
        </p:txBody>
      </p:sp>
      <p:sp>
        <p:nvSpPr>
          <p:cNvPr id="9" name="Slide Number Placeholder 8">
            <a:extLst>
              <a:ext uri="{FF2B5EF4-FFF2-40B4-BE49-F238E27FC236}">
                <a16:creationId xmlns:a16="http://schemas.microsoft.com/office/drawing/2014/main" id="{A7B72DD4-2D02-1CE4-91A9-5691335D83C7}"/>
              </a:ext>
            </a:extLst>
          </p:cNvPr>
          <p:cNvSpPr>
            <a:spLocks noGrp="1"/>
          </p:cNvSpPr>
          <p:nvPr>
            <p:ph type="sldNum" sz="quarter" idx="12"/>
          </p:nvPr>
        </p:nvSpPr>
        <p:spPr>
          <a:xfrm>
            <a:off x="8610600" y="6356350"/>
            <a:ext cx="2743200" cy="365125"/>
          </a:xfrm>
          <a:prstGeom prst="rect">
            <a:avLst/>
          </a:prstGeom>
        </p:spPr>
        <p:txBody>
          <a:bodyPr/>
          <a:lstStyle/>
          <a:p>
            <a:fld id="{E42FE30C-30E7-744B-836A-23530458DF33}" type="slidenum">
              <a:rPr lang="en-KR" smtClean="0"/>
              <a:t>‹#›</a:t>
            </a:fld>
            <a:endParaRPr lang="en-KR"/>
          </a:p>
        </p:txBody>
      </p:sp>
    </p:spTree>
    <p:extLst>
      <p:ext uri="{BB962C8B-B14F-4D97-AF65-F5344CB8AC3E}">
        <p14:creationId xmlns:p14="http://schemas.microsoft.com/office/powerpoint/2010/main" val="8857301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4EE20-AEF8-99D5-79CA-EC438D94131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KR"/>
          </a:p>
        </p:txBody>
      </p:sp>
      <p:sp>
        <p:nvSpPr>
          <p:cNvPr id="3" name="Date Placeholder 2">
            <a:extLst>
              <a:ext uri="{FF2B5EF4-FFF2-40B4-BE49-F238E27FC236}">
                <a16:creationId xmlns:a16="http://schemas.microsoft.com/office/drawing/2014/main" id="{ABBD7C7D-4C4C-5FC3-6C82-38A2D67248ED}"/>
              </a:ext>
            </a:extLst>
          </p:cNvPr>
          <p:cNvSpPr>
            <a:spLocks noGrp="1"/>
          </p:cNvSpPr>
          <p:nvPr>
            <p:ph type="dt" sz="half" idx="10"/>
          </p:nvPr>
        </p:nvSpPr>
        <p:spPr/>
        <p:txBody>
          <a:bodyPr/>
          <a:lstStyle/>
          <a:p>
            <a:fld id="{F0AA487C-F38D-EB4A-BAF1-3FA8DF0EA4DE}" type="datetime1">
              <a:rPr lang="en-US" smtClean="0"/>
              <a:t>1/2/26</a:t>
            </a:fld>
            <a:endParaRPr lang="en-KR"/>
          </a:p>
        </p:txBody>
      </p:sp>
      <p:sp>
        <p:nvSpPr>
          <p:cNvPr id="4" name="Footer Placeholder 3">
            <a:extLst>
              <a:ext uri="{FF2B5EF4-FFF2-40B4-BE49-F238E27FC236}">
                <a16:creationId xmlns:a16="http://schemas.microsoft.com/office/drawing/2014/main" id="{3F572D74-F34B-1C70-5400-CE4D88C4CFA8}"/>
              </a:ext>
            </a:extLst>
          </p:cNvPr>
          <p:cNvSpPr>
            <a:spLocks noGrp="1"/>
          </p:cNvSpPr>
          <p:nvPr>
            <p:ph type="ftr" sz="quarter" idx="11"/>
          </p:nvPr>
        </p:nvSpPr>
        <p:spPr/>
        <p:txBody>
          <a:bodyPr/>
          <a:lstStyle/>
          <a:p>
            <a:endParaRPr lang="en-KR"/>
          </a:p>
        </p:txBody>
      </p:sp>
      <p:sp>
        <p:nvSpPr>
          <p:cNvPr id="5" name="Slide Number Placeholder 4">
            <a:extLst>
              <a:ext uri="{FF2B5EF4-FFF2-40B4-BE49-F238E27FC236}">
                <a16:creationId xmlns:a16="http://schemas.microsoft.com/office/drawing/2014/main" id="{DFB35DD3-871B-9B15-1A69-DF4F89CD1F17}"/>
              </a:ext>
            </a:extLst>
          </p:cNvPr>
          <p:cNvSpPr>
            <a:spLocks noGrp="1"/>
          </p:cNvSpPr>
          <p:nvPr>
            <p:ph type="sldNum" sz="quarter" idx="12"/>
          </p:nvPr>
        </p:nvSpPr>
        <p:spPr>
          <a:xfrm>
            <a:off x="8610600" y="6356350"/>
            <a:ext cx="2743200" cy="365125"/>
          </a:xfrm>
          <a:prstGeom prst="rect">
            <a:avLst/>
          </a:prstGeom>
        </p:spPr>
        <p:txBody>
          <a:bodyPr/>
          <a:lstStyle/>
          <a:p>
            <a:fld id="{E42FE30C-30E7-744B-836A-23530458DF33}" type="slidenum">
              <a:rPr lang="en-KR" smtClean="0"/>
              <a:t>‹#›</a:t>
            </a:fld>
            <a:endParaRPr lang="en-KR"/>
          </a:p>
        </p:txBody>
      </p:sp>
    </p:spTree>
    <p:extLst>
      <p:ext uri="{BB962C8B-B14F-4D97-AF65-F5344CB8AC3E}">
        <p14:creationId xmlns:p14="http://schemas.microsoft.com/office/powerpoint/2010/main" val="8105655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6DA536-F8D8-E1A0-0A07-D6F8F756A429}"/>
              </a:ext>
            </a:extLst>
          </p:cNvPr>
          <p:cNvSpPr>
            <a:spLocks noGrp="1"/>
          </p:cNvSpPr>
          <p:nvPr>
            <p:ph type="dt" sz="half" idx="10"/>
          </p:nvPr>
        </p:nvSpPr>
        <p:spPr/>
        <p:txBody>
          <a:bodyPr/>
          <a:lstStyle/>
          <a:p>
            <a:fld id="{1D5010FE-8F71-CD45-B42C-796254A68CC4}" type="datetime1">
              <a:rPr lang="en-US" smtClean="0"/>
              <a:t>1/2/26</a:t>
            </a:fld>
            <a:endParaRPr lang="en-KR"/>
          </a:p>
        </p:txBody>
      </p:sp>
      <p:sp>
        <p:nvSpPr>
          <p:cNvPr id="3" name="Footer Placeholder 2">
            <a:extLst>
              <a:ext uri="{FF2B5EF4-FFF2-40B4-BE49-F238E27FC236}">
                <a16:creationId xmlns:a16="http://schemas.microsoft.com/office/drawing/2014/main" id="{CED05598-D70E-7061-D1A4-71066E4B959A}"/>
              </a:ext>
            </a:extLst>
          </p:cNvPr>
          <p:cNvSpPr>
            <a:spLocks noGrp="1"/>
          </p:cNvSpPr>
          <p:nvPr>
            <p:ph type="ftr" sz="quarter" idx="11"/>
          </p:nvPr>
        </p:nvSpPr>
        <p:spPr/>
        <p:txBody>
          <a:bodyPr/>
          <a:lstStyle/>
          <a:p>
            <a:endParaRPr lang="en-KR"/>
          </a:p>
        </p:txBody>
      </p:sp>
      <p:sp>
        <p:nvSpPr>
          <p:cNvPr id="4" name="Slide Number Placeholder 3">
            <a:extLst>
              <a:ext uri="{FF2B5EF4-FFF2-40B4-BE49-F238E27FC236}">
                <a16:creationId xmlns:a16="http://schemas.microsoft.com/office/drawing/2014/main" id="{E7C16DE1-2B0C-747F-D616-2E1392364351}"/>
              </a:ext>
            </a:extLst>
          </p:cNvPr>
          <p:cNvSpPr>
            <a:spLocks noGrp="1"/>
          </p:cNvSpPr>
          <p:nvPr>
            <p:ph type="sldNum" sz="quarter" idx="12"/>
          </p:nvPr>
        </p:nvSpPr>
        <p:spPr>
          <a:xfrm>
            <a:off x="8610600" y="6356350"/>
            <a:ext cx="2743200" cy="365125"/>
          </a:xfrm>
          <a:prstGeom prst="rect">
            <a:avLst/>
          </a:prstGeom>
        </p:spPr>
        <p:txBody>
          <a:bodyPr/>
          <a:lstStyle/>
          <a:p>
            <a:fld id="{E42FE30C-30E7-744B-836A-23530458DF33}" type="slidenum">
              <a:rPr lang="en-KR" smtClean="0"/>
              <a:t>‹#›</a:t>
            </a:fld>
            <a:endParaRPr lang="en-KR"/>
          </a:p>
        </p:txBody>
      </p:sp>
    </p:spTree>
    <p:extLst>
      <p:ext uri="{BB962C8B-B14F-4D97-AF65-F5344CB8AC3E}">
        <p14:creationId xmlns:p14="http://schemas.microsoft.com/office/powerpoint/2010/main" val="17641473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1AA48-AC31-E217-26B4-54FEF3C6A4B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KR"/>
          </a:p>
        </p:txBody>
      </p:sp>
      <p:sp>
        <p:nvSpPr>
          <p:cNvPr id="3" name="Content Placeholder 2">
            <a:extLst>
              <a:ext uri="{FF2B5EF4-FFF2-40B4-BE49-F238E27FC236}">
                <a16:creationId xmlns:a16="http://schemas.microsoft.com/office/drawing/2014/main" id="{2E1D5F99-968F-CA1D-9EF4-69C689EC7F74}"/>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4" name="Text Placeholder 3">
            <a:extLst>
              <a:ext uri="{FF2B5EF4-FFF2-40B4-BE49-F238E27FC236}">
                <a16:creationId xmlns:a16="http://schemas.microsoft.com/office/drawing/2014/main" id="{C4F8E2D5-46B5-C951-B600-B0A6F1C65C92}"/>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69B3FD-14F9-C37C-27AE-A6FEA1CC1236}"/>
              </a:ext>
            </a:extLst>
          </p:cNvPr>
          <p:cNvSpPr>
            <a:spLocks noGrp="1"/>
          </p:cNvSpPr>
          <p:nvPr>
            <p:ph type="dt" sz="half" idx="10"/>
          </p:nvPr>
        </p:nvSpPr>
        <p:spPr/>
        <p:txBody>
          <a:bodyPr/>
          <a:lstStyle/>
          <a:p>
            <a:fld id="{4A62F998-C5FC-F44C-ACA6-43C0BD0BBBF8}" type="datetime1">
              <a:rPr lang="en-US" smtClean="0"/>
              <a:t>1/2/26</a:t>
            </a:fld>
            <a:endParaRPr lang="en-KR"/>
          </a:p>
        </p:txBody>
      </p:sp>
      <p:sp>
        <p:nvSpPr>
          <p:cNvPr id="6" name="Footer Placeholder 5">
            <a:extLst>
              <a:ext uri="{FF2B5EF4-FFF2-40B4-BE49-F238E27FC236}">
                <a16:creationId xmlns:a16="http://schemas.microsoft.com/office/drawing/2014/main" id="{3C4EE16C-9D2A-FD18-5F30-C0F0D9B21FBA}"/>
              </a:ext>
            </a:extLst>
          </p:cNvPr>
          <p:cNvSpPr>
            <a:spLocks noGrp="1"/>
          </p:cNvSpPr>
          <p:nvPr>
            <p:ph type="ftr" sz="quarter" idx="11"/>
          </p:nvPr>
        </p:nvSpPr>
        <p:spPr/>
        <p:txBody>
          <a:bodyPr/>
          <a:lstStyle/>
          <a:p>
            <a:endParaRPr lang="en-KR"/>
          </a:p>
        </p:txBody>
      </p:sp>
      <p:sp>
        <p:nvSpPr>
          <p:cNvPr id="7" name="Slide Number Placeholder 6">
            <a:extLst>
              <a:ext uri="{FF2B5EF4-FFF2-40B4-BE49-F238E27FC236}">
                <a16:creationId xmlns:a16="http://schemas.microsoft.com/office/drawing/2014/main" id="{BA74FC3E-58AE-89CD-BA74-3985BDB54E0F}"/>
              </a:ext>
            </a:extLst>
          </p:cNvPr>
          <p:cNvSpPr>
            <a:spLocks noGrp="1"/>
          </p:cNvSpPr>
          <p:nvPr>
            <p:ph type="sldNum" sz="quarter" idx="12"/>
          </p:nvPr>
        </p:nvSpPr>
        <p:spPr>
          <a:xfrm>
            <a:off x="8610600" y="6356350"/>
            <a:ext cx="2743200" cy="365125"/>
          </a:xfrm>
          <a:prstGeom prst="rect">
            <a:avLst/>
          </a:prstGeom>
        </p:spPr>
        <p:txBody>
          <a:bodyPr/>
          <a:lstStyle/>
          <a:p>
            <a:fld id="{E42FE30C-30E7-744B-836A-23530458DF33}" type="slidenum">
              <a:rPr lang="en-KR" smtClean="0"/>
              <a:t>‹#›</a:t>
            </a:fld>
            <a:endParaRPr lang="en-KR"/>
          </a:p>
        </p:txBody>
      </p:sp>
    </p:spTree>
    <p:extLst>
      <p:ext uri="{BB962C8B-B14F-4D97-AF65-F5344CB8AC3E}">
        <p14:creationId xmlns:p14="http://schemas.microsoft.com/office/powerpoint/2010/main" val="19677521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49053-6310-F6B5-FF99-73CF29FEC4E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KR"/>
          </a:p>
        </p:txBody>
      </p:sp>
      <p:sp>
        <p:nvSpPr>
          <p:cNvPr id="3" name="Picture Placeholder 2">
            <a:extLst>
              <a:ext uri="{FF2B5EF4-FFF2-40B4-BE49-F238E27FC236}">
                <a16:creationId xmlns:a16="http://schemas.microsoft.com/office/drawing/2014/main" id="{1EB13669-4EC8-9849-8202-9D2220CD7A35}"/>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KR"/>
          </a:p>
        </p:txBody>
      </p:sp>
      <p:sp>
        <p:nvSpPr>
          <p:cNvPr id="4" name="Text Placeholder 3">
            <a:extLst>
              <a:ext uri="{FF2B5EF4-FFF2-40B4-BE49-F238E27FC236}">
                <a16:creationId xmlns:a16="http://schemas.microsoft.com/office/drawing/2014/main" id="{8B21B808-8321-4034-7019-7D47978AC1C2}"/>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4D785D-94BD-4D14-E338-CFC240816E92}"/>
              </a:ext>
            </a:extLst>
          </p:cNvPr>
          <p:cNvSpPr>
            <a:spLocks noGrp="1"/>
          </p:cNvSpPr>
          <p:nvPr>
            <p:ph type="dt" sz="half" idx="10"/>
          </p:nvPr>
        </p:nvSpPr>
        <p:spPr/>
        <p:txBody>
          <a:bodyPr/>
          <a:lstStyle/>
          <a:p>
            <a:fld id="{608D3009-010A-3643-99D4-2D4D54D3FB5B}" type="datetime1">
              <a:rPr lang="en-US" smtClean="0"/>
              <a:t>1/2/26</a:t>
            </a:fld>
            <a:endParaRPr lang="en-KR"/>
          </a:p>
        </p:txBody>
      </p:sp>
      <p:sp>
        <p:nvSpPr>
          <p:cNvPr id="6" name="Footer Placeholder 5">
            <a:extLst>
              <a:ext uri="{FF2B5EF4-FFF2-40B4-BE49-F238E27FC236}">
                <a16:creationId xmlns:a16="http://schemas.microsoft.com/office/drawing/2014/main" id="{0A419A7F-3AE0-5DBC-B468-D3B13EF750A9}"/>
              </a:ext>
            </a:extLst>
          </p:cNvPr>
          <p:cNvSpPr>
            <a:spLocks noGrp="1"/>
          </p:cNvSpPr>
          <p:nvPr>
            <p:ph type="ftr" sz="quarter" idx="11"/>
          </p:nvPr>
        </p:nvSpPr>
        <p:spPr/>
        <p:txBody>
          <a:bodyPr/>
          <a:lstStyle/>
          <a:p>
            <a:endParaRPr lang="en-KR"/>
          </a:p>
        </p:txBody>
      </p:sp>
      <p:sp>
        <p:nvSpPr>
          <p:cNvPr id="7" name="Slide Number Placeholder 6">
            <a:extLst>
              <a:ext uri="{FF2B5EF4-FFF2-40B4-BE49-F238E27FC236}">
                <a16:creationId xmlns:a16="http://schemas.microsoft.com/office/drawing/2014/main" id="{B0D0C2B9-B059-6DC8-C0E4-9E89E048381A}"/>
              </a:ext>
            </a:extLst>
          </p:cNvPr>
          <p:cNvSpPr>
            <a:spLocks noGrp="1"/>
          </p:cNvSpPr>
          <p:nvPr>
            <p:ph type="sldNum" sz="quarter" idx="12"/>
          </p:nvPr>
        </p:nvSpPr>
        <p:spPr>
          <a:xfrm>
            <a:off x="8610600" y="6356350"/>
            <a:ext cx="2743200" cy="365125"/>
          </a:xfrm>
          <a:prstGeom prst="rect">
            <a:avLst/>
          </a:prstGeom>
        </p:spPr>
        <p:txBody>
          <a:bodyPr/>
          <a:lstStyle/>
          <a:p>
            <a:fld id="{E42FE30C-30E7-744B-836A-23530458DF33}" type="slidenum">
              <a:rPr lang="en-KR" smtClean="0"/>
              <a:t>‹#›</a:t>
            </a:fld>
            <a:endParaRPr lang="en-KR"/>
          </a:p>
        </p:txBody>
      </p:sp>
    </p:spTree>
    <p:extLst>
      <p:ext uri="{BB962C8B-B14F-4D97-AF65-F5344CB8AC3E}">
        <p14:creationId xmlns:p14="http://schemas.microsoft.com/office/powerpoint/2010/main" val="1380117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2D59A-D378-CAD2-FF2E-9693BAA65901}"/>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KR"/>
          </a:p>
        </p:txBody>
      </p:sp>
      <p:sp>
        <p:nvSpPr>
          <p:cNvPr id="3" name="Vertical Text Placeholder 2">
            <a:extLst>
              <a:ext uri="{FF2B5EF4-FFF2-40B4-BE49-F238E27FC236}">
                <a16:creationId xmlns:a16="http://schemas.microsoft.com/office/drawing/2014/main" id="{70A31652-27E2-AD5A-2784-87FE064C1B7B}"/>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4" name="Date Placeholder 3">
            <a:extLst>
              <a:ext uri="{FF2B5EF4-FFF2-40B4-BE49-F238E27FC236}">
                <a16:creationId xmlns:a16="http://schemas.microsoft.com/office/drawing/2014/main" id="{700C654B-96B5-CC2A-79D0-7C2C5268BBB3}"/>
              </a:ext>
            </a:extLst>
          </p:cNvPr>
          <p:cNvSpPr>
            <a:spLocks noGrp="1"/>
          </p:cNvSpPr>
          <p:nvPr>
            <p:ph type="dt" sz="half" idx="10"/>
          </p:nvPr>
        </p:nvSpPr>
        <p:spPr/>
        <p:txBody>
          <a:bodyPr/>
          <a:lstStyle/>
          <a:p>
            <a:fld id="{3B303623-CFE3-3B48-AD01-8ACA46C16D40}" type="datetime1">
              <a:rPr lang="en-US" smtClean="0"/>
              <a:t>1/2/26</a:t>
            </a:fld>
            <a:endParaRPr lang="en-KR"/>
          </a:p>
        </p:txBody>
      </p:sp>
      <p:sp>
        <p:nvSpPr>
          <p:cNvPr id="5" name="Footer Placeholder 4">
            <a:extLst>
              <a:ext uri="{FF2B5EF4-FFF2-40B4-BE49-F238E27FC236}">
                <a16:creationId xmlns:a16="http://schemas.microsoft.com/office/drawing/2014/main" id="{8CED7CB8-48BD-8C01-F4EF-4C100458B516}"/>
              </a:ext>
            </a:extLst>
          </p:cNvPr>
          <p:cNvSpPr>
            <a:spLocks noGrp="1"/>
          </p:cNvSpPr>
          <p:nvPr>
            <p:ph type="ftr" sz="quarter" idx="11"/>
          </p:nvPr>
        </p:nvSpPr>
        <p:spPr/>
        <p:txBody>
          <a:bodyPr/>
          <a:lstStyle/>
          <a:p>
            <a:endParaRPr lang="en-KR"/>
          </a:p>
        </p:txBody>
      </p:sp>
      <p:sp>
        <p:nvSpPr>
          <p:cNvPr id="6" name="Slide Number Placeholder 5">
            <a:extLst>
              <a:ext uri="{FF2B5EF4-FFF2-40B4-BE49-F238E27FC236}">
                <a16:creationId xmlns:a16="http://schemas.microsoft.com/office/drawing/2014/main" id="{6C7211DF-0CCD-85FB-B94A-9B7D1FACB8D0}"/>
              </a:ext>
            </a:extLst>
          </p:cNvPr>
          <p:cNvSpPr>
            <a:spLocks noGrp="1"/>
          </p:cNvSpPr>
          <p:nvPr>
            <p:ph type="sldNum" sz="quarter" idx="12"/>
          </p:nvPr>
        </p:nvSpPr>
        <p:spPr>
          <a:xfrm>
            <a:off x="8610600" y="6356350"/>
            <a:ext cx="2743200" cy="365125"/>
          </a:xfrm>
          <a:prstGeom prst="rect">
            <a:avLst/>
          </a:prstGeom>
        </p:spPr>
        <p:txBody>
          <a:bodyPr/>
          <a:lstStyle/>
          <a:p>
            <a:fld id="{E42FE30C-30E7-744B-836A-23530458DF33}" type="slidenum">
              <a:rPr lang="en-KR" smtClean="0"/>
              <a:t>‹#›</a:t>
            </a:fld>
            <a:endParaRPr lang="en-KR"/>
          </a:p>
        </p:txBody>
      </p:sp>
    </p:spTree>
    <p:extLst>
      <p:ext uri="{BB962C8B-B14F-4D97-AF65-F5344CB8AC3E}">
        <p14:creationId xmlns:p14="http://schemas.microsoft.com/office/powerpoint/2010/main" val="1986673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6894D5-5C64-B67F-3B71-D3700DC1A076}"/>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KR"/>
          </a:p>
        </p:txBody>
      </p:sp>
      <p:sp>
        <p:nvSpPr>
          <p:cNvPr id="3" name="Vertical Text Placeholder 2">
            <a:extLst>
              <a:ext uri="{FF2B5EF4-FFF2-40B4-BE49-F238E27FC236}">
                <a16:creationId xmlns:a16="http://schemas.microsoft.com/office/drawing/2014/main" id="{B2039A60-8BAD-D3CB-5195-B600C771E17A}"/>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4" name="Date Placeholder 3">
            <a:extLst>
              <a:ext uri="{FF2B5EF4-FFF2-40B4-BE49-F238E27FC236}">
                <a16:creationId xmlns:a16="http://schemas.microsoft.com/office/drawing/2014/main" id="{42CF8497-FBC8-C5AC-D8DF-9B075D0A4BE3}"/>
              </a:ext>
            </a:extLst>
          </p:cNvPr>
          <p:cNvSpPr>
            <a:spLocks noGrp="1"/>
          </p:cNvSpPr>
          <p:nvPr>
            <p:ph type="dt" sz="half" idx="10"/>
          </p:nvPr>
        </p:nvSpPr>
        <p:spPr/>
        <p:txBody>
          <a:bodyPr/>
          <a:lstStyle/>
          <a:p>
            <a:fld id="{BB6CC6B8-EB47-EA4D-BC75-D06A0CC2D4D7}" type="datetime1">
              <a:rPr lang="en-US" smtClean="0"/>
              <a:t>1/2/26</a:t>
            </a:fld>
            <a:endParaRPr lang="en-KR"/>
          </a:p>
        </p:txBody>
      </p:sp>
      <p:sp>
        <p:nvSpPr>
          <p:cNvPr id="5" name="Footer Placeholder 4">
            <a:extLst>
              <a:ext uri="{FF2B5EF4-FFF2-40B4-BE49-F238E27FC236}">
                <a16:creationId xmlns:a16="http://schemas.microsoft.com/office/drawing/2014/main" id="{1AF4AE0D-CC99-FAC3-A922-1779477673DC}"/>
              </a:ext>
            </a:extLst>
          </p:cNvPr>
          <p:cNvSpPr>
            <a:spLocks noGrp="1"/>
          </p:cNvSpPr>
          <p:nvPr>
            <p:ph type="ftr" sz="quarter" idx="11"/>
          </p:nvPr>
        </p:nvSpPr>
        <p:spPr/>
        <p:txBody>
          <a:bodyPr/>
          <a:lstStyle/>
          <a:p>
            <a:endParaRPr lang="en-KR"/>
          </a:p>
        </p:txBody>
      </p:sp>
      <p:sp>
        <p:nvSpPr>
          <p:cNvPr id="6" name="Slide Number Placeholder 5">
            <a:extLst>
              <a:ext uri="{FF2B5EF4-FFF2-40B4-BE49-F238E27FC236}">
                <a16:creationId xmlns:a16="http://schemas.microsoft.com/office/drawing/2014/main" id="{AD4F7524-24A2-143E-DD2F-F8626A94690E}"/>
              </a:ext>
            </a:extLst>
          </p:cNvPr>
          <p:cNvSpPr>
            <a:spLocks noGrp="1"/>
          </p:cNvSpPr>
          <p:nvPr>
            <p:ph type="sldNum" sz="quarter" idx="12"/>
          </p:nvPr>
        </p:nvSpPr>
        <p:spPr>
          <a:xfrm>
            <a:off x="8610600" y="6356350"/>
            <a:ext cx="2743200" cy="365125"/>
          </a:xfrm>
          <a:prstGeom prst="rect">
            <a:avLst/>
          </a:prstGeom>
        </p:spPr>
        <p:txBody>
          <a:bodyPr/>
          <a:lstStyle/>
          <a:p>
            <a:fld id="{E42FE30C-30E7-744B-836A-23530458DF33}" type="slidenum">
              <a:rPr lang="en-KR" smtClean="0"/>
              <a:t>‹#›</a:t>
            </a:fld>
            <a:endParaRPr lang="en-KR"/>
          </a:p>
        </p:txBody>
      </p:sp>
    </p:spTree>
    <p:extLst>
      <p:ext uri="{BB962C8B-B14F-4D97-AF65-F5344CB8AC3E}">
        <p14:creationId xmlns:p14="http://schemas.microsoft.com/office/powerpoint/2010/main" val="3373482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F38D6AA-BF94-B7A4-BEB5-94B7D494D97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CEE497E-9634-6648-B43C-50321F9D4515}" type="datetime1">
              <a:rPr lang="en-US" smtClean="0"/>
              <a:t>1/2/26</a:t>
            </a:fld>
            <a:endParaRPr lang="en-KR"/>
          </a:p>
        </p:txBody>
      </p:sp>
      <p:sp>
        <p:nvSpPr>
          <p:cNvPr id="5" name="Footer Placeholder 4">
            <a:extLst>
              <a:ext uri="{FF2B5EF4-FFF2-40B4-BE49-F238E27FC236}">
                <a16:creationId xmlns:a16="http://schemas.microsoft.com/office/drawing/2014/main" id="{C1334F99-7664-F70B-A87F-D3FE00DA7A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KR"/>
          </a:p>
        </p:txBody>
      </p:sp>
      <p:sp>
        <p:nvSpPr>
          <p:cNvPr id="7" name="Slide Number Placeholder 5">
            <a:extLst>
              <a:ext uri="{FF2B5EF4-FFF2-40B4-BE49-F238E27FC236}">
                <a16:creationId xmlns:a16="http://schemas.microsoft.com/office/drawing/2014/main" id="{D5176F92-44D7-C25D-E466-0C232BC87030}"/>
              </a:ext>
            </a:extLst>
          </p:cNvPr>
          <p:cNvSpPr txBox="1">
            <a:spLocks/>
          </p:cNvSpPr>
          <p:nvPr userDrawn="1"/>
        </p:nvSpPr>
        <p:spPr>
          <a:xfrm>
            <a:off x="9328728" y="6492875"/>
            <a:ext cx="2743200" cy="365125"/>
          </a:xfrm>
          <a:prstGeom prst="rect">
            <a:avLst/>
          </a:prstGeom>
        </p:spPr>
        <p:txBody>
          <a:bodyPr/>
          <a:lstStyle>
            <a:defPPr>
              <a:defRPr lang="en-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42FE30C-30E7-744B-836A-23530458DF33}" type="slidenum">
              <a:rPr lang="en-KR" sz="1200" smtClean="0">
                <a:solidFill>
                  <a:schemeClr val="bg1">
                    <a:lumMod val="75000"/>
                  </a:schemeClr>
                </a:solidFill>
                <a:latin typeface="Pretendard" panose="02000503000000020004" pitchFamily="2" charset="-127"/>
                <a:ea typeface="Pretendard" panose="02000503000000020004" pitchFamily="2" charset="-127"/>
                <a:cs typeface="Pretendard" panose="02000503000000020004" pitchFamily="2" charset="-127"/>
              </a:rPr>
              <a:pPr algn="r"/>
              <a:t>‹#›</a:t>
            </a:fld>
            <a:endParaRPr lang="en-KR" sz="1200" dirty="0">
              <a:solidFill>
                <a:schemeClr val="bg1">
                  <a:lumMod val="75000"/>
                </a:schemeClr>
              </a:solidFill>
              <a:latin typeface="Pretendard" panose="02000503000000020004" pitchFamily="2" charset="-127"/>
              <a:ea typeface="Pretendard" panose="02000503000000020004" pitchFamily="2" charset="-127"/>
              <a:cs typeface="Pretendard" panose="02000503000000020004" pitchFamily="2" charset="-127"/>
            </a:endParaRPr>
          </a:p>
        </p:txBody>
      </p:sp>
      <p:pic>
        <p:nvPicPr>
          <p:cNvPr id="8" name="Graphic 7">
            <a:extLst>
              <a:ext uri="{FF2B5EF4-FFF2-40B4-BE49-F238E27FC236}">
                <a16:creationId xmlns:a16="http://schemas.microsoft.com/office/drawing/2014/main" id="{EE14AD03-5656-19EF-4D4F-52CD0BA9370D}"/>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120072" y="6522511"/>
            <a:ext cx="1100695" cy="242207"/>
          </a:xfrm>
          <a:prstGeom prst="rect">
            <a:avLst/>
          </a:prstGeom>
        </p:spPr>
      </p:pic>
    </p:spTree>
    <p:extLst>
      <p:ext uri="{BB962C8B-B14F-4D97-AF65-F5344CB8AC3E}">
        <p14:creationId xmlns:p14="http://schemas.microsoft.com/office/powerpoint/2010/main" val="14199794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2FD3EF-4AF0-5D47-76F7-C49B36472788}"/>
              </a:ext>
            </a:extLst>
          </p:cNvPr>
          <p:cNvSpPr>
            <a:spLocks noGrp="1"/>
          </p:cNvSpPr>
          <p:nvPr>
            <p:ph type="ctrTitle"/>
          </p:nvPr>
        </p:nvSpPr>
        <p:spPr/>
        <p:txBody>
          <a:bodyPr/>
          <a:lstStyle/>
          <a:p>
            <a:pPr>
              <a:lnSpc>
                <a:spcPct val="100000"/>
              </a:lnSpc>
            </a:pPr>
            <a:r>
              <a:rPr lang="en-KR" sz="2400" dirty="0">
                <a:solidFill>
                  <a:schemeClr val="bg1">
                    <a:lumMod val="75000"/>
                  </a:schemeClr>
                </a:solidFill>
              </a:rPr>
              <a:t>Weekly Update</a:t>
            </a:r>
            <a:br>
              <a:rPr lang="en-KR" sz="2800" dirty="0"/>
            </a:br>
            <a:r>
              <a:rPr lang="en-US" altLang="ko-KR" sz="2800" dirty="0"/>
              <a:t>Concept Erasing on UMM</a:t>
            </a:r>
            <a:endParaRPr lang="en-KR" sz="3200" dirty="0"/>
          </a:p>
        </p:txBody>
      </p:sp>
      <p:sp>
        <p:nvSpPr>
          <p:cNvPr id="4" name="Subtitle 3">
            <a:extLst>
              <a:ext uri="{FF2B5EF4-FFF2-40B4-BE49-F238E27FC236}">
                <a16:creationId xmlns:a16="http://schemas.microsoft.com/office/drawing/2014/main" id="{F3B2ECD5-0A5C-4884-393F-48FD7CB6B3FB}"/>
              </a:ext>
            </a:extLst>
          </p:cNvPr>
          <p:cNvSpPr>
            <a:spLocks noGrp="1"/>
          </p:cNvSpPr>
          <p:nvPr>
            <p:ph type="subTitle" idx="1"/>
          </p:nvPr>
        </p:nvSpPr>
        <p:spPr/>
        <p:txBody>
          <a:bodyPr/>
          <a:lstStyle/>
          <a:p>
            <a:r>
              <a:rPr lang="en-US" dirty="0">
                <a:solidFill>
                  <a:schemeClr val="bg1">
                    <a:lumMod val="65000"/>
                  </a:schemeClr>
                </a:solidFill>
              </a:rPr>
              <a:t>2026.01.02</a:t>
            </a:r>
            <a:endParaRPr lang="en-KR" dirty="0">
              <a:solidFill>
                <a:schemeClr val="bg1">
                  <a:lumMod val="65000"/>
                </a:schemeClr>
              </a:solidFill>
            </a:endParaRPr>
          </a:p>
          <a:p>
            <a:r>
              <a:rPr lang="en-KR" dirty="0">
                <a:solidFill>
                  <a:schemeClr val="bg1">
                    <a:lumMod val="65000"/>
                  </a:schemeClr>
                </a:solidFill>
              </a:rPr>
              <a:t>Hayeon Jeong</a:t>
            </a:r>
          </a:p>
        </p:txBody>
      </p:sp>
    </p:spTree>
    <p:extLst>
      <p:ext uri="{BB962C8B-B14F-4D97-AF65-F5344CB8AC3E}">
        <p14:creationId xmlns:p14="http://schemas.microsoft.com/office/powerpoint/2010/main" val="23174550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D6B49-9C9F-73A7-2892-96829607274C}"/>
              </a:ext>
            </a:extLst>
          </p:cNvPr>
          <p:cNvSpPr>
            <a:spLocks noGrp="1"/>
          </p:cNvSpPr>
          <p:nvPr>
            <p:ph type="title"/>
          </p:nvPr>
        </p:nvSpPr>
        <p:spPr/>
        <p:txBody>
          <a:bodyPr/>
          <a:lstStyle/>
          <a:p>
            <a:r>
              <a:rPr lang="en-KR" dirty="0"/>
              <a:t>Table of Contents</a:t>
            </a:r>
          </a:p>
        </p:txBody>
      </p:sp>
      <p:sp>
        <p:nvSpPr>
          <p:cNvPr id="3" name="Content Placeholder 2">
            <a:extLst>
              <a:ext uri="{FF2B5EF4-FFF2-40B4-BE49-F238E27FC236}">
                <a16:creationId xmlns:a16="http://schemas.microsoft.com/office/drawing/2014/main" id="{A4006423-B665-98F8-00CC-D9E959094048}"/>
              </a:ext>
            </a:extLst>
          </p:cNvPr>
          <p:cNvSpPr>
            <a:spLocks noGrp="1"/>
          </p:cNvSpPr>
          <p:nvPr>
            <p:ph idx="1"/>
          </p:nvPr>
        </p:nvSpPr>
        <p:spPr/>
        <p:txBody>
          <a:bodyPr>
            <a:normAutofit/>
          </a:bodyPr>
          <a:lstStyle/>
          <a:p>
            <a:pPr marL="342900" indent="-342900">
              <a:lnSpc>
                <a:spcPct val="100000"/>
              </a:lnSpc>
              <a:buFont typeface="+mj-lt"/>
              <a:buAutoNum type="arabicPeriod"/>
            </a:pPr>
            <a:r>
              <a:rPr lang="en-US" altLang="ko-KR" dirty="0"/>
              <a:t>CVPR</a:t>
            </a:r>
            <a:r>
              <a:rPr lang="en-KR" altLang="ko-KR" dirty="0"/>
              <a:t> </a:t>
            </a:r>
            <a:r>
              <a:rPr lang="en-US" altLang="ko-KR" dirty="0"/>
              <a:t>2026</a:t>
            </a:r>
            <a:endParaRPr lang="en-KR" sz="1600" dirty="0"/>
          </a:p>
          <a:p>
            <a:pPr marL="342900" indent="-342900">
              <a:lnSpc>
                <a:spcPct val="100000"/>
              </a:lnSpc>
              <a:buFont typeface="+mj-lt"/>
              <a:buAutoNum type="arabicPeriod"/>
            </a:pPr>
            <a:r>
              <a:rPr lang="en-US" altLang="ko-KR" sz="1600" dirty="0"/>
              <a:t>UMM Unlearning</a:t>
            </a:r>
            <a:endParaRPr lang="en-KR" sz="1400" dirty="0"/>
          </a:p>
          <a:p>
            <a:pPr marL="342900" indent="-342900">
              <a:lnSpc>
                <a:spcPct val="100000"/>
              </a:lnSpc>
              <a:buFont typeface="+mj-lt"/>
              <a:buAutoNum type="arabicPeriod"/>
            </a:pPr>
            <a:r>
              <a:rPr lang="en-KR" sz="1600" dirty="0"/>
              <a:t>Plan</a:t>
            </a:r>
          </a:p>
          <a:p>
            <a:pPr lvl="1"/>
            <a:r>
              <a:rPr lang="en-KR" dirty="0"/>
              <a:t>Where to update?</a:t>
            </a:r>
          </a:p>
          <a:p>
            <a:pPr lvl="2"/>
            <a:r>
              <a:rPr lang="en-KR" dirty="0"/>
              <a:t>EraseAnything </a:t>
            </a:r>
            <a:r>
              <a:rPr lang="ko-KR" altLang="en-US" dirty="0"/>
              <a:t>논문처럼 </a:t>
            </a:r>
            <a:r>
              <a:rPr lang="en-US" altLang="ko-KR" dirty="0"/>
              <a:t>-</a:t>
            </a:r>
            <a:r>
              <a:rPr lang="ko-KR" altLang="en-US" dirty="0"/>
              <a:t>  </a:t>
            </a:r>
            <a:r>
              <a:rPr lang="en-US" altLang="ko-KR" dirty="0"/>
              <a:t>self-attention </a:t>
            </a:r>
            <a:r>
              <a:rPr lang="ko-KR" altLang="en-US" dirty="0"/>
              <a:t>부분을 </a:t>
            </a:r>
            <a:r>
              <a:rPr lang="en-US" altLang="ko-KR" dirty="0"/>
              <a:t>heatmap</a:t>
            </a:r>
            <a:r>
              <a:rPr lang="ko-KR" altLang="en-US" dirty="0" err="1"/>
              <a:t>으로</a:t>
            </a:r>
            <a:r>
              <a:rPr lang="ko-KR" altLang="en-US" dirty="0"/>
              <a:t> 그려보기</a:t>
            </a:r>
            <a:endParaRPr lang="en-KR" dirty="0"/>
          </a:p>
          <a:p>
            <a:pPr lvl="1"/>
            <a:r>
              <a:rPr lang="en-KR" dirty="0"/>
              <a:t>SPEED </a:t>
            </a:r>
            <a:r>
              <a:rPr lang="ko-KR" altLang="en-US" dirty="0"/>
              <a:t>방법을</a:t>
            </a:r>
            <a:r>
              <a:rPr lang="en-US" altLang="ko-KR" dirty="0"/>
              <a:t>,</a:t>
            </a:r>
            <a:r>
              <a:rPr lang="ko-KR" altLang="en-US" dirty="0"/>
              <a:t> </a:t>
            </a:r>
            <a:r>
              <a:rPr lang="en-US" altLang="ko-KR" dirty="0" err="1"/>
              <a:t>W_k</a:t>
            </a:r>
            <a:r>
              <a:rPr lang="en-US" altLang="ko-KR" dirty="0"/>
              <a:t>, </a:t>
            </a:r>
            <a:r>
              <a:rPr lang="en-US" altLang="ko-KR" dirty="0" err="1"/>
              <a:t>W_v</a:t>
            </a:r>
            <a:r>
              <a:rPr lang="ko-KR" altLang="en-US" dirty="0" err="1"/>
              <a:t>에</a:t>
            </a:r>
            <a:r>
              <a:rPr lang="ko-KR" altLang="en-US" dirty="0"/>
              <a:t> 적용해보기 </a:t>
            </a:r>
            <a:r>
              <a:rPr lang="en-US" altLang="ko-KR" dirty="0"/>
              <a:t>(</a:t>
            </a:r>
            <a:r>
              <a:rPr lang="ko-KR" altLang="en-US" dirty="0"/>
              <a:t>구현</a:t>
            </a:r>
            <a:r>
              <a:rPr lang="en-US" altLang="ko-KR" dirty="0"/>
              <a:t>)</a:t>
            </a:r>
            <a:r>
              <a:rPr lang="ko-KR" altLang="en-US" dirty="0"/>
              <a:t> </a:t>
            </a:r>
            <a:r>
              <a:rPr lang="en-US" altLang="ko-KR" dirty="0">
                <a:sym typeface="Wingdings" pitchFamily="2" charset="2"/>
              </a:rPr>
              <a:t></a:t>
            </a:r>
            <a:r>
              <a:rPr lang="ko-KR" altLang="en-US" dirty="0">
                <a:sym typeface="Wingdings" pitchFamily="2" charset="2"/>
              </a:rPr>
              <a:t> 발생하는 문제점 찾기</a:t>
            </a:r>
            <a:endParaRPr lang="en-US" altLang="ko-KR" dirty="0">
              <a:sym typeface="Wingdings" pitchFamily="2" charset="2"/>
            </a:endParaRPr>
          </a:p>
        </p:txBody>
      </p:sp>
    </p:spTree>
    <p:extLst>
      <p:ext uri="{BB962C8B-B14F-4D97-AF65-F5344CB8AC3E}">
        <p14:creationId xmlns:p14="http://schemas.microsoft.com/office/powerpoint/2010/main" val="33671543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8DE55-835B-C19B-E6DE-F92878C2CD13}"/>
              </a:ext>
            </a:extLst>
          </p:cNvPr>
          <p:cNvSpPr>
            <a:spLocks noGrp="1"/>
          </p:cNvSpPr>
          <p:nvPr>
            <p:ph type="title"/>
          </p:nvPr>
        </p:nvSpPr>
        <p:spPr/>
        <p:txBody>
          <a:bodyPr/>
          <a:lstStyle/>
          <a:p>
            <a:r>
              <a:rPr lang="en-KR" dirty="0"/>
              <a:t>What BAGEL can do?</a:t>
            </a:r>
          </a:p>
        </p:txBody>
      </p:sp>
      <p:sp>
        <p:nvSpPr>
          <p:cNvPr id="3" name="Content Placeholder 2">
            <a:extLst>
              <a:ext uri="{FF2B5EF4-FFF2-40B4-BE49-F238E27FC236}">
                <a16:creationId xmlns:a16="http://schemas.microsoft.com/office/drawing/2014/main" id="{1ECA1F4B-A590-B079-FD58-F4B8123157F6}"/>
              </a:ext>
            </a:extLst>
          </p:cNvPr>
          <p:cNvSpPr>
            <a:spLocks noGrp="1"/>
          </p:cNvSpPr>
          <p:nvPr>
            <p:ph idx="1"/>
          </p:nvPr>
        </p:nvSpPr>
        <p:spPr>
          <a:xfrm>
            <a:off x="365126" y="1137958"/>
            <a:ext cx="11416878" cy="1521475"/>
          </a:xfrm>
        </p:spPr>
        <p:txBody>
          <a:bodyPr>
            <a:normAutofit/>
          </a:bodyPr>
          <a:lstStyle/>
          <a:p>
            <a:pPr marL="342900" indent="-342900">
              <a:buFont typeface="+mj-lt"/>
              <a:buAutoNum type="arabicPeriod"/>
            </a:pPr>
            <a:r>
              <a:rPr lang="en-KR" dirty="0"/>
              <a:t>Image generation</a:t>
            </a:r>
            <a:r>
              <a:rPr lang="en-US" dirty="0"/>
              <a:t> +with think</a:t>
            </a:r>
          </a:p>
          <a:p>
            <a:pPr marL="342900" indent="-342900">
              <a:buFont typeface="+mj-lt"/>
              <a:buAutoNum type="arabicPeriod"/>
            </a:pPr>
            <a:r>
              <a:rPr lang="en-US" dirty="0"/>
              <a:t>Image Editing +with think</a:t>
            </a:r>
          </a:p>
          <a:p>
            <a:pPr marL="342900" indent="-342900">
              <a:buFont typeface="+mj-lt"/>
              <a:buAutoNum type="arabicPeriod"/>
            </a:pPr>
            <a:r>
              <a:rPr lang="en-US" dirty="0"/>
              <a:t>Text generation (Understanding)</a:t>
            </a:r>
            <a:br>
              <a:rPr lang="en-US" dirty="0"/>
            </a:br>
            <a:endParaRPr lang="en-KR" dirty="0"/>
          </a:p>
        </p:txBody>
      </p:sp>
      <p:pic>
        <p:nvPicPr>
          <p:cNvPr id="4" name="Picture 3">
            <a:extLst>
              <a:ext uri="{FF2B5EF4-FFF2-40B4-BE49-F238E27FC236}">
                <a16:creationId xmlns:a16="http://schemas.microsoft.com/office/drawing/2014/main" id="{135A38F1-AB71-EA36-EBFA-FB7B2AD551BC}"/>
              </a:ext>
            </a:extLst>
          </p:cNvPr>
          <p:cNvPicPr>
            <a:picLocks noChangeAspect="1"/>
          </p:cNvPicPr>
          <p:nvPr/>
        </p:nvPicPr>
        <p:blipFill>
          <a:blip r:embed="rId2"/>
          <a:stretch>
            <a:fillRect/>
          </a:stretch>
        </p:blipFill>
        <p:spPr>
          <a:xfrm>
            <a:off x="4573758" y="3428999"/>
            <a:ext cx="2927847" cy="2927847"/>
          </a:xfrm>
          <a:prstGeom prst="rect">
            <a:avLst/>
          </a:prstGeom>
        </p:spPr>
      </p:pic>
      <p:pic>
        <p:nvPicPr>
          <p:cNvPr id="5" name="Picture 4">
            <a:extLst>
              <a:ext uri="{FF2B5EF4-FFF2-40B4-BE49-F238E27FC236}">
                <a16:creationId xmlns:a16="http://schemas.microsoft.com/office/drawing/2014/main" id="{AA93B4F5-0487-B12E-3794-28D67916E9B0}"/>
              </a:ext>
            </a:extLst>
          </p:cNvPr>
          <p:cNvPicPr>
            <a:picLocks noChangeAspect="1"/>
          </p:cNvPicPr>
          <p:nvPr/>
        </p:nvPicPr>
        <p:blipFill>
          <a:blip r:embed="rId3"/>
          <a:stretch>
            <a:fillRect/>
          </a:stretch>
        </p:blipFill>
        <p:spPr>
          <a:xfrm>
            <a:off x="844651" y="3429000"/>
            <a:ext cx="2927847" cy="2927847"/>
          </a:xfrm>
          <a:prstGeom prst="rect">
            <a:avLst/>
          </a:prstGeom>
        </p:spPr>
      </p:pic>
      <p:sp>
        <p:nvSpPr>
          <p:cNvPr id="6" name="TextBox 5">
            <a:extLst>
              <a:ext uri="{FF2B5EF4-FFF2-40B4-BE49-F238E27FC236}">
                <a16:creationId xmlns:a16="http://schemas.microsoft.com/office/drawing/2014/main" id="{B9997CB8-FE0D-B28A-2C05-6E3BB512849D}"/>
              </a:ext>
            </a:extLst>
          </p:cNvPr>
          <p:cNvSpPr txBox="1"/>
          <p:nvPr/>
        </p:nvSpPr>
        <p:spPr>
          <a:xfrm>
            <a:off x="8030820" y="5559065"/>
            <a:ext cx="3796054" cy="1077218"/>
          </a:xfrm>
          <a:prstGeom prst="rect">
            <a:avLst/>
          </a:prstGeom>
          <a:noFill/>
        </p:spPr>
        <p:txBody>
          <a:bodyPr wrap="square" rtlCol="0">
            <a:spAutoFit/>
          </a:bodyPr>
          <a:lstStyle/>
          <a:p>
            <a:r>
              <a:rPr lang="en-US" sz="800" i="1" dirty="0"/>
              <a:t>The humor in this meme comes from the exaggerated change in handwriting style as the exam progresses. At the beginning, the handwriting is clear and legible, indicating a confident and well-prepared student. However, as the exam continues, the handwriting becomes increasingly difficult to read, suggesting that the student is becoming more anxious and less focused. The final part of the meme shows an electrocardiogram (ECG) reading, which humorously implies that the student's heart rate is racing due to stress, further emphasizing the comedic contrast between the initial calm and the final chaos.</a:t>
            </a:r>
            <a:endParaRPr lang="en-US" sz="800" dirty="0"/>
          </a:p>
        </p:txBody>
      </p:sp>
      <p:pic>
        <p:nvPicPr>
          <p:cNvPr id="7" name="Picture 6">
            <a:extLst>
              <a:ext uri="{FF2B5EF4-FFF2-40B4-BE49-F238E27FC236}">
                <a16:creationId xmlns:a16="http://schemas.microsoft.com/office/drawing/2014/main" id="{7A504B1A-8A43-B00F-1907-6004B846D948}"/>
              </a:ext>
            </a:extLst>
          </p:cNvPr>
          <p:cNvPicPr>
            <a:picLocks noChangeAspect="1"/>
          </p:cNvPicPr>
          <p:nvPr/>
        </p:nvPicPr>
        <p:blipFill>
          <a:blip r:embed="rId4"/>
          <a:stretch>
            <a:fillRect/>
          </a:stretch>
        </p:blipFill>
        <p:spPr>
          <a:xfrm>
            <a:off x="8732372" y="2659433"/>
            <a:ext cx="2190054" cy="2899632"/>
          </a:xfrm>
          <a:prstGeom prst="rect">
            <a:avLst/>
          </a:prstGeom>
        </p:spPr>
      </p:pic>
      <p:sp>
        <p:nvSpPr>
          <p:cNvPr id="8" name="TextBox 7">
            <a:extLst>
              <a:ext uri="{FF2B5EF4-FFF2-40B4-BE49-F238E27FC236}">
                <a16:creationId xmlns:a16="http://schemas.microsoft.com/office/drawing/2014/main" id="{CEB56806-F17F-C848-2BA7-5E708A55CF9C}"/>
              </a:ext>
            </a:extLst>
          </p:cNvPr>
          <p:cNvSpPr txBox="1"/>
          <p:nvPr/>
        </p:nvSpPr>
        <p:spPr>
          <a:xfrm>
            <a:off x="799781" y="2474893"/>
            <a:ext cx="3072425" cy="954107"/>
          </a:xfrm>
          <a:prstGeom prst="rect">
            <a:avLst/>
          </a:prstGeom>
          <a:noFill/>
        </p:spPr>
        <p:txBody>
          <a:bodyPr wrap="square" rtlCol="0">
            <a:spAutoFit/>
          </a:bodyPr>
          <a:lstStyle/>
          <a:p>
            <a:r>
              <a:rPr lang="en-US" sz="800" i="1" dirty="0"/>
              <a:t>A female cosplayer portraying an ethereal fairy or elf, wearing a flowing dress made of delicate fabrics in soft, mystical colors like emerald green and silver. She has pointed ears, a gentle, enchanting expression, and her outfit is adorned with sparkling jewels and intricate patterns. The background is a magical forest with glowing plants, mystical creatures, and a serene atmosphere."</a:t>
            </a:r>
            <a:endParaRPr lang="en-US" sz="800" dirty="0"/>
          </a:p>
        </p:txBody>
      </p:sp>
      <p:sp>
        <p:nvSpPr>
          <p:cNvPr id="9" name="TextBox 8">
            <a:extLst>
              <a:ext uri="{FF2B5EF4-FFF2-40B4-BE49-F238E27FC236}">
                <a16:creationId xmlns:a16="http://schemas.microsoft.com/office/drawing/2014/main" id="{CEC54DD2-DA9F-1EC8-9CB2-D6303EB952F7}"/>
              </a:ext>
            </a:extLst>
          </p:cNvPr>
          <p:cNvSpPr txBox="1"/>
          <p:nvPr/>
        </p:nvSpPr>
        <p:spPr>
          <a:xfrm>
            <a:off x="4535965" y="2474893"/>
            <a:ext cx="1643399" cy="246221"/>
          </a:xfrm>
          <a:prstGeom prst="rect">
            <a:avLst/>
          </a:prstGeom>
          <a:noFill/>
        </p:spPr>
        <p:txBody>
          <a:bodyPr wrap="none" rtlCol="0">
            <a:spAutoFit/>
          </a:bodyPr>
          <a:lstStyle/>
          <a:p>
            <a:r>
              <a:rPr lang="en-US" sz="1000" dirty="0"/>
              <a:t>“a car made of small cars”</a:t>
            </a:r>
          </a:p>
        </p:txBody>
      </p:sp>
    </p:spTree>
    <p:extLst>
      <p:ext uri="{BB962C8B-B14F-4D97-AF65-F5344CB8AC3E}">
        <p14:creationId xmlns:p14="http://schemas.microsoft.com/office/powerpoint/2010/main" val="40760341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7792E-50D6-1569-F6B1-DA57CDFE454D}"/>
              </a:ext>
            </a:extLst>
          </p:cNvPr>
          <p:cNvSpPr>
            <a:spLocks noGrp="1"/>
          </p:cNvSpPr>
          <p:nvPr>
            <p:ph type="title"/>
          </p:nvPr>
        </p:nvSpPr>
        <p:spPr/>
        <p:txBody>
          <a:bodyPr/>
          <a:lstStyle/>
          <a:p>
            <a:r>
              <a:rPr lang="en-KR" dirty="0"/>
              <a:t>Concept Erasing</a:t>
            </a:r>
          </a:p>
        </p:txBody>
      </p:sp>
      <p:sp>
        <p:nvSpPr>
          <p:cNvPr id="3" name="Content Placeholder 2">
            <a:extLst>
              <a:ext uri="{FF2B5EF4-FFF2-40B4-BE49-F238E27FC236}">
                <a16:creationId xmlns:a16="http://schemas.microsoft.com/office/drawing/2014/main" id="{DAAC2FC1-50BE-4856-D438-60D231D1460A}"/>
              </a:ext>
            </a:extLst>
          </p:cNvPr>
          <p:cNvSpPr>
            <a:spLocks noGrp="1"/>
          </p:cNvSpPr>
          <p:nvPr>
            <p:ph idx="1"/>
          </p:nvPr>
        </p:nvSpPr>
        <p:spPr/>
        <p:txBody>
          <a:bodyPr/>
          <a:lstStyle/>
          <a:p>
            <a:r>
              <a:rPr lang="en-US" dirty="0"/>
              <a:t>Preservation (</a:t>
            </a:r>
            <a:r>
              <a:rPr lang="ko-KR" altLang="en-US" dirty="0"/>
              <a:t>어떻게 잘 보존할 것인가</a:t>
            </a:r>
            <a:r>
              <a:rPr lang="en-US" altLang="ko-KR" dirty="0"/>
              <a:t>)</a:t>
            </a:r>
            <a:endParaRPr lang="en-KR" altLang="ko-KR" dirty="0"/>
          </a:p>
          <a:p>
            <a:pPr lvl="1"/>
            <a:r>
              <a:rPr lang="en-US" altLang="ko-KR" dirty="0" err="1"/>
              <a:t>AlphaEdit</a:t>
            </a:r>
            <a:r>
              <a:rPr lang="en-US" altLang="ko-KR" dirty="0"/>
              <a:t>: Null-Space Constrained Knowledge Editing for Language Models (CVPR, 2025)</a:t>
            </a:r>
          </a:p>
          <a:p>
            <a:pPr lvl="2"/>
            <a:r>
              <a:rPr lang="en-US" altLang="ko-KR" dirty="0" err="1"/>
              <a:t>AlphaEdit</a:t>
            </a:r>
            <a:r>
              <a:rPr lang="ko-KR" altLang="en-US" dirty="0"/>
              <a:t>는 </a:t>
            </a:r>
            <a:r>
              <a:rPr lang="en-US" altLang="ko-KR" dirty="0"/>
              <a:t>Transformer FFN</a:t>
            </a:r>
            <a:r>
              <a:rPr lang="ko-KR" altLang="en-US" dirty="0"/>
              <a:t>이 </a:t>
            </a:r>
            <a:r>
              <a:rPr lang="en-US" altLang="ko-KR" dirty="0"/>
              <a:t>memory </a:t>
            </a:r>
            <a:r>
              <a:rPr lang="ko-KR" altLang="en-US" dirty="0"/>
              <a:t>역할을 한다는 </a:t>
            </a:r>
            <a:r>
              <a:rPr lang="en-US" altLang="ko-KR" dirty="0"/>
              <a:t>ACL 2021 </a:t>
            </a:r>
            <a:r>
              <a:rPr lang="ko-KR" altLang="en-US" dirty="0"/>
              <a:t>분석에 기반함</a:t>
            </a:r>
            <a:endParaRPr lang="en-US" altLang="ko-KR" dirty="0"/>
          </a:p>
          <a:p>
            <a:pPr lvl="2"/>
            <a:r>
              <a:rPr lang="en-US" altLang="ko-KR" dirty="0" err="1"/>
              <a:t>ReLU</a:t>
            </a:r>
            <a:r>
              <a:rPr lang="en-US" altLang="ko-KR" dirty="0"/>
              <a:t> </a:t>
            </a:r>
            <a:r>
              <a:rPr lang="ko-KR" altLang="en-US" dirty="0"/>
              <a:t>활성화가 특정 지식 패턴을 담당한다는 </a:t>
            </a:r>
            <a:r>
              <a:rPr lang="ko-KR" altLang="en-US" dirty="0" err="1"/>
              <a:t>관찰로부터</a:t>
            </a:r>
            <a:r>
              <a:rPr lang="ko-KR" altLang="en-US" dirty="0"/>
              <a:t> </a:t>
            </a:r>
            <a:r>
              <a:rPr lang="en-US" altLang="ko-KR" dirty="0"/>
              <a:t>FFN</a:t>
            </a:r>
            <a:r>
              <a:rPr lang="ko-KR" altLang="en-US" dirty="0"/>
              <a:t>을 </a:t>
            </a:r>
            <a:r>
              <a:rPr lang="en-US" altLang="ko-KR" dirty="0"/>
              <a:t>editing </a:t>
            </a:r>
            <a:r>
              <a:rPr lang="ko-KR" altLang="en-US" dirty="0"/>
              <a:t>대상으로 삼음</a:t>
            </a:r>
            <a:endParaRPr lang="en-US" altLang="ko-KR" dirty="0"/>
          </a:p>
          <a:p>
            <a:pPr lvl="1"/>
            <a:r>
              <a:rPr lang="en-US" altLang="ko-KR" dirty="0"/>
              <a:t>SPEED: Scalable, Precise, and Efficient Concept Erasure for Diffusion Models (ICLR, 2026)</a:t>
            </a:r>
          </a:p>
          <a:p>
            <a:pPr lvl="2"/>
            <a:r>
              <a:rPr lang="en-US" dirty="0" err="1"/>
              <a:t>AlphaEdit</a:t>
            </a:r>
            <a:r>
              <a:rPr lang="ko-KR" altLang="en-US" dirty="0"/>
              <a:t>의 </a:t>
            </a:r>
            <a:r>
              <a:rPr lang="en-US" dirty="0"/>
              <a:t>null space projection </a:t>
            </a:r>
            <a:r>
              <a:rPr lang="ko-KR" altLang="en-US" dirty="0"/>
              <a:t>아이디어를 </a:t>
            </a:r>
            <a:r>
              <a:rPr lang="en-US" dirty="0"/>
              <a:t>diffusion </a:t>
            </a:r>
            <a:r>
              <a:rPr lang="ko-KR" altLang="en-US" dirty="0"/>
              <a:t>모델로 확장</a:t>
            </a:r>
            <a:endParaRPr lang="en-US" altLang="ko-KR" dirty="0"/>
          </a:p>
          <a:p>
            <a:pPr lvl="2"/>
            <a:r>
              <a:rPr lang="en-US" dirty="0"/>
              <a:t>Stable Diffusion</a:t>
            </a:r>
            <a:r>
              <a:rPr lang="ko-KR" altLang="en-US" dirty="0"/>
              <a:t>에서 </a:t>
            </a:r>
            <a:r>
              <a:rPr lang="en-US" dirty="0" err="1"/>
              <a:t>W_k</a:t>
            </a:r>
            <a:r>
              <a:rPr lang="en-US" dirty="0"/>
              <a:t>, </a:t>
            </a:r>
            <a:r>
              <a:rPr lang="en-US" dirty="0" err="1"/>
              <a:t>W_v</a:t>
            </a:r>
            <a:r>
              <a:rPr lang="ko-KR" altLang="en-US" dirty="0" err="1"/>
              <a:t>를</a:t>
            </a:r>
            <a:r>
              <a:rPr lang="ko-KR" altLang="en-US" dirty="0"/>
              <a:t> 수정 대상으로 삼아 </a:t>
            </a:r>
            <a:r>
              <a:rPr lang="en-US" dirty="0"/>
              <a:t>concept erasing</a:t>
            </a:r>
          </a:p>
          <a:p>
            <a:pPr lvl="2"/>
            <a:r>
              <a:rPr lang="ko-KR" altLang="en-US" dirty="0"/>
              <a:t>“어디를 고쳐야 </a:t>
            </a:r>
            <a:r>
              <a:rPr lang="en-US" dirty="0"/>
              <a:t>preservation</a:t>
            </a:r>
            <a:r>
              <a:rPr lang="ko-KR" altLang="en-US" dirty="0"/>
              <a:t>이 </a:t>
            </a:r>
            <a:r>
              <a:rPr lang="ko-KR" altLang="en-US" dirty="0" err="1"/>
              <a:t>되는가”를</a:t>
            </a:r>
            <a:r>
              <a:rPr lang="ko-KR" altLang="en-US" dirty="0"/>
              <a:t> 구조적으로 재정의</a:t>
            </a:r>
            <a:endParaRPr lang="en-US" altLang="ko-KR" dirty="0"/>
          </a:p>
        </p:txBody>
      </p:sp>
      <p:pic>
        <p:nvPicPr>
          <p:cNvPr id="6" name="Picture 5">
            <a:extLst>
              <a:ext uri="{FF2B5EF4-FFF2-40B4-BE49-F238E27FC236}">
                <a16:creationId xmlns:a16="http://schemas.microsoft.com/office/drawing/2014/main" id="{E5406513-D605-84D1-03CE-9BECD5CFB354}"/>
              </a:ext>
            </a:extLst>
          </p:cNvPr>
          <p:cNvPicPr>
            <a:picLocks noChangeAspect="1"/>
          </p:cNvPicPr>
          <p:nvPr/>
        </p:nvPicPr>
        <p:blipFill>
          <a:blip r:embed="rId2"/>
          <a:stretch>
            <a:fillRect/>
          </a:stretch>
        </p:blipFill>
        <p:spPr>
          <a:xfrm>
            <a:off x="198120" y="3815416"/>
            <a:ext cx="5363095" cy="1796878"/>
          </a:xfrm>
          <a:prstGeom prst="rect">
            <a:avLst/>
          </a:prstGeom>
        </p:spPr>
      </p:pic>
      <p:pic>
        <p:nvPicPr>
          <p:cNvPr id="7" name="Picture 6">
            <a:extLst>
              <a:ext uri="{FF2B5EF4-FFF2-40B4-BE49-F238E27FC236}">
                <a16:creationId xmlns:a16="http://schemas.microsoft.com/office/drawing/2014/main" id="{8E2ED52B-FB1C-7460-75FF-5D5B133F4067}"/>
              </a:ext>
            </a:extLst>
          </p:cNvPr>
          <p:cNvPicPr>
            <a:picLocks noChangeAspect="1"/>
          </p:cNvPicPr>
          <p:nvPr/>
        </p:nvPicPr>
        <p:blipFill>
          <a:blip r:embed="rId3"/>
          <a:stretch>
            <a:fillRect/>
          </a:stretch>
        </p:blipFill>
        <p:spPr>
          <a:xfrm>
            <a:off x="6762750" y="3871398"/>
            <a:ext cx="3772728" cy="512642"/>
          </a:xfrm>
          <a:prstGeom prst="rect">
            <a:avLst/>
          </a:prstGeom>
        </p:spPr>
      </p:pic>
      <p:pic>
        <p:nvPicPr>
          <p:cNvPr id="8" name="Picture 7">
            <a:extLst>
              <a:ext uri="{FF2B5EF4-FFF2-40B4-BE49-F238E27FC236}">
                <a16:creationId xmlns:a16="http://schemas.microsoft.com/office/drawing/2014/main" id="{CA502013-F5F0-B6CC-4A36-9DE7ADD5C9E7}"/>
              </a:ext>
            </a:extLst>
          </p:cNvPr>
          <p:cNvPicPr>
            <a:picLocks noChangeAspect="1"/>
          </p:cNvPicPr>
          <p:nvPr/>
        </p:nvPicPr>
        <p:blipFill>
          <a:blip r:embed="rId4"/>
          <a:stretch>
            <a:fillRect/>
          </a:stretch>
        </p:blipFill>
        <p:spPr>
          <a:xfrm>
            <a:off x="7434524" y="4579340"/>
            <a:ext cx="2429179" cy="269030"/>
          </a:xfrm>
          <a:prstGeom prst="rect">
            <a:avLst/>
          </a:prstGeom>
        </p:spPr>
      </p:pic>
      <p:pic>
        <p:nvPicPr>
          <p:cNvPr id="9" name="Picture 8">
            <a:extLst>
              <a:ext uri="{FF2B5EF4-FFF2-40B4-BE49-F238E27FC236}">
                <a16:creationId xmlns:a16="http://schemas.microsoft.com/office/drawing/2014/main" id="{37BDF455-DAE7-634A-B7F4-6C0069BEA32C}"/>
              </a:ext>
            </a:extLst>
          </p:cNvPr>
          <p:cNvPicPr>
            <a:picLocks noChangeAspect="1"/>
          </p:cNvPicPr>
          <p:nvPr/>
        </p:nvPicPr>
        <p:blipFill>
          <a:blip r:embed="rId5"/>
          <a:stretch>
            <a:fillRect/>
          </a:stretch>
        </p:blipFill>
        <p:spPr>
          <a:xfrm>
            <a:off x="6829121" y="5169924"/>
            <a:ext cx="3523477" cy="268533"/>
          </a:xfrm>
          <a:prstGeom prst="rect">
            <a:avLst/>
          </a:prstGeom>
        </p:spPr>
      </p:pic>
    </p:spTree>
    <p:extLst>
      <p:ext uri="{BB962C8B-B14F-4D97-AF65-F5344CB8AC3E}">
        <p14:creationId xmlns:p14="http://schemas.microsoft.com/office/powerpoint/2010/main" val="42822364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4CDA1-574D-2F07-1DE4-DAB8EB5BB116}"/>
              </a:ext>
            </a:extLst>
          </p:cNvPr>
          <p:cNvSpPr>
            <a:spLocks noGrp="1"/>
          </p:cNvSpPr>
          <p:nvPr>
            <p:ph type="title"/>
          </p:nvPr>
        </p:nvSpPr>
        <p:spPr/>
        <p:txBody>
          <a:bodyPr/>
          <a:lstStyle/>
          <a:p>
            <a:r>
              <a:rPr lang="en-KR" dirty="0"/>
              <a:t>Concept Erasing</a:t>
            </a:r>
          </a:p>
        </p:txBody>
      </p:sp>
      <p:sp>
        <p:nvSpPr>
          <p:cNvPr id="3" name="Content Placeholder 2">
            <a:extLst>
              <a:ext uri="{FF2B5EF4-FFF2-40B4-BE49-F238E27FC236}">
                <a16:creationId xmlns:a16="http://schemas.microsoft.com/office/drawing/2014/main" id="{E7BC4BBF-3CB5-2EC9-1110-6E68D33890AF}"/>
              </a:ext>
            </a:extLst>
          </p:cNvPr>
          <p:cNvSpPr>
            <a:spLocks noGrp="1"/>
          </p:cNvSpPr>
          <p:nvPr>
            <p:ph idx="1"/>
          </p:nvPr>
        </p:nvSpPr>
        <p:spPr/>
        <p:txBody>
          <a:bodyPr/>
          <a:lstStyle/>
          <a:p>
            <a:r>
              <a:rPr lang="en-US" dirty="0"/>
              <a:t>FLUX </a:t>
            </a:r>
            <a:r>
              <a:rPr lang="ko-KR" altLang="en-US" dirty="0"/>
              <a:t>모델에서의 </a:t>
            </a:r>
            <a:r>
              <a:rPr lang="en-US" altLang="ko-KR" dirty="0"/>
              <a:t>concept erasing</a:t>
            </a:r>
          </a:p>
          <a:p>
            <a:pPr lvl="1"/>
            <a:r>
              <a:rPr lang="en-US" dirty="0" err="1"/>
              <a:t>EraseAnything</a:t>
            </a:r>
            <a:r>
              <a:rPr lang="en-US" dirty="0"/>
              <a:t>: Enabling Concept Erasure in Rectified Flow Transformers (ICML, 2025)</a:t>
            </a:r>
          </a:p>
          <a:p>
            <a:pPr lvl="1"/>
            <a:r>
              <a:rPr lang="en-US" dirty="0"/>
              <a:t>Minimalist Concept Erasure in Generative Models (ICML, 2025)</a:t>
            </a:r>
            <a:endParaRPr lang="en-KR" dirty="0"/>
          </a:p>
        </p:txBody>
      </p:sp>
      <p:pic>
        <p:nvPicPr>
          <p:cNvPr id="4" name="Picture 3">
            <a:extLst>
              <a:ext uri="{FF2B5EF4-FFF2-40B4-BE49-F238E27FC236}">
                <a16:creationId xmlns:a16="http://schemas.microsoft.com/office/drawing/2014/main" id="{F727788A-0B44-32E9-D7B2-76FE33229E0F}"/>
              </a:ext>
            </a:extLst>
          </p:cNvPr>
          <p:cNvPicPr>
            <a:picLocks noChangeAspect="1"/>
          </p:cNvPicPr>
          <p:nvPr/>
        </p:nvPicPr>
        <p:blipFill>
          <a:blip r:embed="rId2"/>
          <a:stretch>
            <a:fillRect/>
          </a:stretch>
        </p:blipFill>
        <p:spPr>
          <a:xfrm>
            <a:off x="4113415" y="2775794"/>
            <a:ext cx="3473083" cy="1572417"/>
          </a:xfrm>
          <a:prstGeom prst="rect">
            <a:avLst/>
          </a:prstGeom>
        </p:spPr>
      </p:pic>
      <p:pic>
        <p:nvPicPr>
          <p:cNvPr id="5" name="Picture 4">
            <a:extLst>
              <a:ext uri="{FF2B5EF4-FFF2-40B4-BE49-F238E27FC236}">
                <a16:creationId xmlns:a16="http://schemas.microsoft.com/office/drawing/2014/main" id="{A2B98E59-DE25-3D68-F75E-5E99FCBE5E83}"/>
              </a:ext>
            </a:extLst>
          </p:cNvPr>
          <p:cNvPicPr>
            <a:picLocks noChangeAspect="1"/>
          </p:cNvPicPr>
          <p:nvPr/>
        </p:nvPicPr>
        <p:blipFill>
          <a:blip r:embed="rId3"/>
          <a:stretch>
            <a:fillRect/>
          </a:stretch>
        </p:blipFill>
        <p:spPr>
          <a:xfrm>
            <a:off x="4477778" y="4653763"/>
            <a:ext cx="2744355" cy="994965"/>
          </a:xfrm>
          <a:prstGeom prst="rect">
            <a:avLst/>
          </a:prstGeom>
        </p:spPr>
      </p:pic>
      <p:pic>
        <p:nvPicPr>
          <p:cNvPr id="6" name="Picture 5">
            <a:extLst>
              <a:ext uri="{FF2B5EF4-FFF2-40B4-BE49-F238E27FC236}">
                <a16:creationId xmlns:a16="http://schemas.microsoft.com/office/drawing/2014/main" id="{B91AD827-7711-ABCF-19E0-8A0B6D7FEE74}"/>
              </a:ext>
            </a:extLst>
          </p:cNvPr>
          <p:cNvPicPr>
            <a:picLocks noChangeAspect="1"/>
          </p:cNvPicPr>
          <p:nvPr/>
        </p:nvPicPr>
        <p:blipFill>
          <a:blip r:embed="rId4"/>
          <a:stretch>
            <a:fillRect/>
          </a:stretch>
        </p:blipFill>
        <p:spPr>
          <a:xfrm>
            <a:off x="480753" y="2064796"/>
            <a:ext cx="3167474" cy="2179767"/>
          </a:xfrm>
          <a:prstGeom prst="rect">
            <a:avLst/>
          </a:prstGeom>
        </p:spPr>
      </p:pic>
      <p:pic>
        <p:nvPicPr>
          <p:cNvPr id="7" name="Picture 6">
            <a:extLst>
              <a:ext uri="{FF2B5EF4-FFF2-40B4-BE49-F238E27FC236}">
                <a16:creationId xmlns:a16="http://schemas.microsoft.com/office/drawing/2014/main" id="{ED1D69DA-9048-839C-377B-B24D121CE389}"/>
              </a:ext>
            </a:extLst>
          </p:cNvPr>
          <p:cNvPicPr>
            <a:picLocks noChangeAspect="1"/>
          </p:cNvPicPr>
          <p:nvPr/>
        </p:nvPicPr>
        <p:blipFill>
          <a:blip r:embed="rId5"/>
          <a:stretch>
            <a:fillRect/>
          </a:stretch>
        </p:blipFill>
        <p:spPr>
          <a:xfrm>
            <a:off x="705197" y="4470965"/>
            <a:ext cx="2525087" cy="2021910"/>
          </a:xfrm>
          <a:prstGeom prst="rect">
            <a:avLst/>
          </a:prstGeom>
        </p:spPr>
      </p:pic>
      <p:grpSp>
        <p:nvGrpSpPr>
          <p:cNvPr id="13" name="Group 12">
            <a:extLst>
              <a:ext uri="{FF2B5EF4-FFF2-40B4-BE49-F238E27FC236}">
                <a16:creationId xmlns:a16="http://schemas.microsoft.com/office/drawing/2014/main" id="{ECBF9B86-B498-A90D-8A77-B7DC1B72466B}"/>
              </a:ext>
            </a:extLst>
          </p:cNvPr>
          <p:cNvGrpSpPr/>
          <p:nvPr/>
        </p:nvGrpSpPr>
        <p:grpSpPr>
          <a:xfrm>
            <a:off x="7667841" y="3154679"/>
            <a:ext cx="4281236" cy="2021910"/>
            <a:chOff x="943906" y="3508513"/>
            <a:chExt cx="4457007" cy="2071365"/>
          </a:xfrm>
        </p:grpSpPr>
        <p:pic>
          <p:nvPicPr>
            <p:cNvPr id="9" name="Picture 8">
              <a:extLst>
                <a:ext uri="{FF2B5EF4-FFF2-40B4-BE49-F238E27FC236}">
                  <a16:creationId xmlns:a16="http://schemas.microsoft.com/office/drawing/2014/main" id="{E14A4700-3A9D-8589-1A7B-DB99759E0465}"/>
                </a:ext>
              </a:extLst>
            </p:cNvPr>
            <p:cNvPicPr>
              <a:picLocks noChangeAspect="1"/>
            </p:cNvPicPr>
            <p:nvPr/>
          </p:nvPicPr>
          <p:blipFill>
            <a:blip r:embed="rId6"/>
            <a:stretch>
              <a:fillRect/>
            </a:stretch>
          </p:blipFill>
          <p:spPr>
            <a:xfrm>
              <a:off x="943906" y="3508513"/>
              <a:ext cx="4457007" cy="2071365"/>
            </a:xfrm>
            <a:prstGeom prst="rect">
              <a:avLst/>
            </a:prstGeom>
          </p:spPr>
        </p:pic>
        <p:sp>
          <p:nvSpPr>
            <p:cNvPr id="10" name="Rectangle 9">
              <a:extLst>
                <a:ext uri="{FF2B5EF4-FFF2-40B4-BE49-F238E27FC236}">
                  <a16:creationId xmlns:a16="http://schemas.microsoft.com/office/drawing/2014/main" id="{A2DAD67F-9690-B18E-444D-7AA19F6EE32A}"/>
                </a:ext>
              </a:extLst>
            </p:cNvPr>
            <p:cNvSpPr/>
            <p:nvPr/>
          </p:nvSpPr>
          <p:spPr>
            <a:xfrm>
              <a:off x="4102873" y="3880236"/>
              <a:ext cx="429370" cy="405517"/>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11" name="Rectangle 10">
              <a:extLst>
                <a:ext uri="{FF2B5EF4-FFF2-40B4-BE49-F238E27FC236}">
                  <a16:creationId xmlns:a16="http://schemas.microsoft.com/office/drawing/2014/main" id="{B59C5B24-9A62-188C-F0D1-C7C4EA653087}"/>
                </a:ext>
              </a:extLst>
            </p:cNvPr>
            <p:cNvSpPr/>
            <p:nvPr/>
          </p:nvSpPr>
          <p:spPr>
            <a:xfrm>
              <a:off x="4104198" y="4285753"/>
              <a:ext cx="429370" cy="405517"/>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12" name="Rectangle 11">
              <a:extLst>
                <a:ext uri="{FF2B5EF4-FFF2-40B4-BE49-F238E27FC236}">
                  <a16:creationId xmlns:a16="http://schemas.microsoft.com/office/drawing/2014/main" id="{E47B2E2F-D756-D19A-A52F-660716CBD858}"/>
                </a:ext>
              </a:extLst>
            </p:cNvPr>
            <p:cNvSpPr/>
            <p:nvPr/>
          </p:nvSpPr>
          <p:spPr>
            <a:xfrm>
              <a:off x="4102873" y="4691270"/>
              <a:ext cx="429370" cy="405517"/>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R"/>
            </a:p>
          </p:txBody>
        </p:sp>
      </p:grpSp>
    </p:spTree>
    <p:extLst>
      <p:ext uri="{BB962C8B-B14F-4D97-AF65-F5344CB8AC3E}">
        <p14:creationId xmlns:p14="http://schemas.microsoft.com/office/powerpoint/2010/main" val="25153405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4068F-8135-0971-B4E5-DA09873D5605}"/>
              </a:ext>
            </a:extLst>
          </p:cNvPr>
          <p:cNvSpPr>
            <a:spLocks noGrp="1"/>
          </p:cNvSpPr>
          <p:nvPr>
            <p:ph type="title"/>
          </p:nvPr>
        </p:nvSpPr>
        <p:spPr/>
        <p:txBody>
          <a:bodyPr/>
          <a:lstStyle/>
          <a:p>
            <a:r>
              <a:rPr lang="en-US" dirty="0"/>
              <a:t>Experiment</a:t>
            </a:r>
            <a:endParaRPr lang="en-KR" dirty="0"/>
          </a:p>
        </p:txBody>
      </p:sp>
      <p:graphicFrame>
        <p:nvGraphicFramePr>
          <p:cNvPr id="4" name="Content Placeholder 3">
            <a:extLst>
              <a:ext uri="{FF2B5EF4-FFF2-40B4-BE49-F238E27FC236}">
                <a16:creationId xmlns:a16="http://schemas.microsoft.com/office/drawing/2014/main" id="{72242207-D778-3249-AB25-AB4706173B06}"/>
              </a:ext>
            </a:extLst>
          </p:cNvPr>
          <p:cNvGraphicFramePr>
            <a:graphicFrameLocks noGrp="1"/>
          </p:cNvGraphicFramePr>
          <p:nvPr>
            <p:ph idx="1"/>
            <p:extLst>
              <p:ext uri="{D42A27DB-BD31-4B8C-83A1-F6EECF244321}">
                <p14:modId xmlns:p14="http://schemas.microsoft.com/office/powerpoint/2010/main" val="252920169"/>
              </p:ext>
            </p:extLst>
          </p:nvPr>
        </p:nvGraphicFramePr>
        <p:xfrm>
          <a:off x="3892355" y="2465150"/>
          <a:ext cx="4407290" cy="2684366"/>
        </p:xfrm>
        <a:graphic>
          <a:graphicData uri="http://schemas.openxmlformats.org/drawingml/2006/table">
            <a:tbl>
              <a:tblPr firstRow="1" bandRow="1">
                <a:tableStyleId>{5940675A-B579-460E-94D1-54222C63F5DA}</a:tableStyleId>
              </a:tblPr>
              <a:tblGrid>
                <a:gridCol w="2203645">
                  <a:extLst>
                    <a:ext uri="{9D8B030D-6E8A-4147-A177-3AD203B41FA5}">
                      <a16:colId xmlns:a16="http://schemas.microsoft.com/office/drawing/2014/main" val="1276286053"/>
                    </a:ext>
                  </a:extLst>
                </a:gridCol>
                <a:gridCol w="2203645">
                  <a:extLst>
                    <a:ext uri="{9D8B030D-6E8A-4147-A177-3AD203B41FA5}">
                      <a16:colId xmlns:a16="http://schemas.microsoft.com/office/drawing/2014/main" val="226945541"/>
                    </a:ext>
                  </a:extLst>
                </a:gridCol>
              </a:tblGrid>
              <a:tr h="1342183">
                <a:tc>
                  <a:txBody>
                    <a:bodyPr/>
                    <a:lstStyle/>
                    <a:p>
                      <a:endParaRPr lang="en-KR" dirty="0"/>
                    </a:p>
                  </a:txBody>
                  <a:tcPr>
                    <a:solidFill>
                      <a:schemeClr val="bg1">
                        <a:lumMod val="95000"/>
                      </a:schemeClr>
                    </a:solidFill>
                  </a:tcPr>
                </a:tc>
                <a:tc>
                  <a:txBody>
                    <a:bodyPr/>
                    <a:lstStyle/>
                    <a:p>
                      <a:endParaRPr lang="en-KR" dirty="0"/>
                    </a:p>
                  </a:txBody>
                  <a:tcPr>
                    <a:solidFill>
                      <a:schemeClr val="tx2">
                        <a:lumMod val="10000"/>
                        <a:lumOff val="90000"/>
                      </a:schemeClr>
                    </a:solidFill>
                  </a:tcPr>
                </a:tc>
                <a:extLst>
                  <a:ext uri="{0D108BD9-81ED-4DB2-BD59-A6C34878D82A}">
                    <a16:rowId xmlns:a16="http://schemas.microsoft.com/office/drawing/2014/main" val="1767675453"/>
                  </a:ext>
                </a:extLst>
              </a:tr>
              <a:tr h="1342183">
                <a:tc>
                  <a:txBody>
                    <a:bodyPr/>
                    <a:lstStyle/>
                    <a:p>
                      <a:endParaRPr lang="en-KR" dirty="0"/>
                    </a:p>
                  </a:txBody>
                  <a:tcPr>
                    <a:solidFill>
                      <a:schemeClr val="accent2">
                        <a:lumMod val="20000"/>
                        <a:lumOff val="80000"/>
                      </a:schemeClr>
                    </a:solidFill>
                  </a:tcPr>
                </a:tc>
                <a:tc>
                  <a:txBody>
                    <a:bodyPr/>
                    <a:lstStyle/>
                    <a:p>
                      <a:endParaRPr lang="en-KR" dirty="0"/>
                    </a:p>
                  </a:txBody>
                  <a:tcPr>
                    <a:solidFill>
                      <a:schemeClr val="bg1">
                        <a:lumMod val="95000"/>
                      </a:schemeClr>
                    </a:solidFill>
                  </a:tcPr>
                </a:tc>
                <a:extLst>
                  <a:ext uri="{0D108BD9-81ED-4DB2-BD59-A6C34878D82A}">
                    <a16:rowId xmlns:a16="http://schemas.microsoft.com/office/drawing/2014/main" val="3046388620"/>
                  </a:ext>
                </a:extLst>
              </a:tr>
            </a:tbl>
          </a:graphicData>
        </a:graphic>
      </p:graphicFrame>
      <p:sp>
        <p:nvSpPr>
          <p:cNvPr id="5" name="TextBox 4">
            <a:extLst>
              <a:ext uri="{FF2B5EF4-FFF2-40B4-BE49-F238E27FC236}">
                <a16:creationId xmlns:a16="http://schemas.microsoft.com/office/drawing/2014/main" id="{97130E8A-F721-29A1-50A4-9868C7B86B82}"/>
              </a:ext>
            </a:extLst>
          </p:cNvPr>
          <p:cNvSpPr txBox="1"/>
          <p:nvPr/>
        </p:nvSpPr>
        <p:spPr>
          <a:xfrm>
            <a:off x="3382593" y="2976956"/>
            <a:ext cx="437940" cy="369332"/>
          </a:xfrm>
          <a:prstGeom prst="rect">
            <a:avLst/>
          </a:prstGeom>
          <a:noFill/>
        </p:spPr>
        <p:txBody>
          <a:bodyPr wrap="none" rtlCol="0">
            <a:spAutoFit/>
          </a:bodyPr>
          <a:lstStyle/>
          <a:p>
            <a:r>
              <a:rPr lang="en-US" dirty="0"/>
              <a:t>txt</a:t>
            </a:r>
            <a:endParaRPr lang="en-KR" dirty="0"/>
          </a:p>
        </p:txBody>
      </p:sp>
      <p:sp>
        <p:nvSpPr>
          <p:cNvPr id="6" name="TextBox 5">
            <a:extLst>
              <a:ext uri="{FF2B5EF4-FFF2-40B4-BE49-F238E27FC236}">
                <a16:creationId xmlns:a16="http://schemas.microsoft.com/office/drawing/2014/main" id="{83CE3F56-2F24-FF24-E60C-4E9888D8E1B5}"/>
              </a:ext>
            </a:extLst>
          </p:cNvPr>
          <p:cNvSpPr txBox="1"/>
          <p:nvPr/>
        </p:nvSpPr>
        <p:spPr>
          <a:xfrm>
            <a:off x="3382593" y="4309163"/>
            <a:ext cx="548548" cy="369332"/>
          </a:xfrm>
          <a:prstGeom prst="rect">
            <a:avLst/>
          </a:prstGeom>
          <a:noFill/>
        </p:spPr>
        <p:txBody>
          <a:bodyPr wrap="none" rtlCol="0">
            <a:spAutoFit/>
          </a:bodyPr>
          <a:lstStyle/>
          <a:p>
            <a:r>
              <a:rPr lang="en-KR" dirty="0"/>
              <a:t>img</a:t>
            </a:r>
          </a:p>
        </p:txBody>
      </p:sp>
      <p:sp>
        <p:nvSpPr>
          <p:cNvPr id="7" name="TextBox 6">
            <a:extLst>
              <a:ext uri="{FF2B5EF4-FFF2-40B4-BE49-F238E27FC236}">
                <a16:creationId xmlns:a16="http://schemas.microsoft.com/office/drawing/2014/main" id="{2D2C0F0E-48A6-83CB-B76E-59D2AFCDE95E}"/>
              </a:ext>
            </a:extLst>
          </p:cNvPr>
          <p:cNvSpPr txBox="1"/>
          <p:nvPr/>
        </p:nvSpPr>
        <p:spPr>
          <a:xfrm>
            <a:off x="4757630" y="5149516"/>
            <a:ext cx="437940" cy="369332"/>
          </a:xfrm>
          <a:prstGeom prst="rect">
            <a:avLst/>
          </a:prstGeom>
          <a:noFill/>
        </p:spPr>
        <p:txBody>
          <a:bodyPr wrap="none" rtlCol="0">
            <a:spAutoFit/>
          </a:bodyPr>
          <a:lstStyle/>
          <a:p>
            <a:r>
              <a:rPr lang="en-KR" dirty="0"/>
              <a:t>txt</a:t>
            </a:r>
          </a:p>
        </p:txBody>
      </p:sp>
      <p:sp>
        <p:nvSpPr>
          <p:cNvPr id="8" name="TextBox 7">
            <a:extLst>
              <a:ext uri="{FF2B5EF4-FFF2-40B4-BE49-F238E27FC236}">
                <a16:creationId xmlns:a16="http://schemas.microsoft.com/office/drawing/2014/main" id="{420E014A-24A0-3A64-1768-2EE0DDFC62F3}"/>
              </a:ext>
            </a:extLst>
          </p:cNvPr>
          <p:cNvSpPr txBox="1"/>
          <p:nvPr/>
        </p:nvSpPr>
        <p:spPr>
          <a:xfrm>
            <a:off x="6916438" y="5149516"/>
            <a:ext cx="548548" cy="369332"/>
          </a:xfrm>
          <a:prstGeom prst="rect">
            <a:avLst/>
          </a:prstGeom>
          <a:noFill/>
        </p:spPr>
        <p:txBody>
          <a:bodyPr wrap="none" rtlCol="0">
            <a:spAutoFit/>
          </a:bodyPr>
          <a:lstStyle/>
          <a:p>
            <a:r>
              <a:rPr lang="en-KR" dirty="0"/>
              <a:t>img</a:t>
            </a:r>
          </a:p>
        </p:txBody>
      </p:sp>
      <p:sp>
        <p:nvSpPr>
          <p:cNvPr id="9" name="TextBox 8">
            <a:extLst>
              <a:ext uri="{FF2B5EF4-FFF2-40B4-BE49-F238E27FC236}">
                <a16:creationId xmlns:a16="http://schemas.microsoft.com/office/drawing/2014/main" id="{243597B7-19B9-F5EB-5366-A57F27B683AF}"/>
              </a:ext>
            </a:extLst>
          </p:cNvPr>
          <p:cNvSpPr txBox="1"/>
          <p:nvPr/>
        </p:nvSpPr>
        <p:spPr>
          <a:xfrm>
            <a:off x="4330077" y="4170663"/>
            <a:ext cx="1293046" cy="646331"/>
          </a:xfrm>
          <a:prstGeom prst="rect">
            <a:avLst/>
          </a:prstGeom>
          <a:noFill/>
        </p:spPr>
        <p:txBody>
          <a:bodyPr wrap="none" rtlCol="0">
            <a:spAutoFit/>
          </a:bodyPr>
          <a:lstStyle/>
          <a:p>
            <a:pPr algn="ctr"/>
            <a:r>
              <a:rPr lang="en-US" dirty="0"/>
              <a:t>G</a:t>
            </a:r>
            <a:r>
              <a:rPr lang="en-KR" dirty="0"/>
              <a:t>eneration</a:t>
            </a:r>
          </a:p>
          <a:p>
            <a:pPr algn="ctr"/>
            <a:r>
              <a:rPr lang="en-US" dirty="0"/>
              <a:t>E</a:t>
            </a:r>
            <a:r>
              <a:rPr lang="en-KR" dirty="0"/>
              <a:t>diting</a:t>
            </a:r>
          </a:p>
        </p:txBody>
      </p:sp>
      <p:sp>
        <p:nvSpPr>
          <p:cNvPr id="10" name="TextBox 9">
            <a:extLst>
              <a:ext uri="{FF2B5EF4-FFF2-40B4-BE49-F238E27FC236}">
                <a16:creationId xmlns:a16="http://schemas.microsoft.com/office/drawing/2014/main" id="{2377914C-E81A-3BAB-069D-07014FB8616C}"/>
              </a:ext>
            </a:extLst>
          </p:cNvPr>
          <p:cNvSpPr txBox="1"/>
          <p:nvPr/>
        </p:nvSpPr>
        <p:spPr>
          <a:xfrm>
            <a:off x="4093987" y="2948575"/>
            <a:ext cx="1765227" cy="369332"/>
          </a:xfrm>
          <a:prstGeom prst="rect">
            <a:avLst/>
          </a:prstGeom>
          <a:noFill/>
        </p:spPr>
        <p:txBody>
          <a:bodyPr wrap="none" rtlCol="0">
            <a:spAutoFit/>
          </a:bodyPr>
          <a:lstStyle/>
          <a:p>
            <a:pPr algn="ctr"/>
            <a:r>
              <a:rPr lang="en-US" dirty="0"/>
              <a:t>(Thinking mode)</a:t>
            </a:r>
          </a:p>
        </p:txBody>
      </p:sp>
      <p:sp>
        <p:nvSpPr>
          <p:cNvPr id="11" name="TextBox 10">
            <a:extLst>
              <a:ext uri="{FF2B5EF4-FFF2-40B4-BE49-F238E27FC236}">
                <a16:creationId xmlns:a16="http://schemas.microsoft.com/office/drawing/2014/main" id="{B9ADCD6E-AAF4-98CE-A38F-1947C7FF352D}"/>
              </a:ext>
            </a:extLst>
          </p:cNvPr>
          <p:cNvSpPr txBox="1"/>
          <p:nvPr/>
        </p:nvSpPr>
        <p:spPr>
          <a:xfrm>
            <a:off x="6364045" y="2948575"/>
            <a:ext cx="1653338" cy="369332"/>
          </a:xfrm>
          <a:prstGeom prst="rect">
            <a:avLst/>
          </a:prstGeom>
          <a:noFill/>
        </p:spPr>
        <p:txBody>
          <a:bodyPr wrap="none" rtlCol="0">
            <a:spAutoFit/>
          </a:bodyPr>
          <a:lstStyle/>
          <a:p>
            <a:pPr algn="ctr"/>
            <a:r>
              <a:rPr lang="en-US" dirty="0"/>
              <a:t>Understanding</a:t>
            </a:r>
          </a:p>
        </p:txBody>
      </p:sp>
      <p:sp>
        <p:nvSpPr>
          <p:cNvPr id="13" name="Content Placeholder 2">
            <a:extLst>
              <a:ext uri="{FF2B5EF4-FFF2-40B4-BE49-F238E27FC236}">
                <a16:creationId xmlns:a16="http://schemas.microsoft.com/office/drawing/2014/main" id="{0F117DF4-1AA9-69C7-4513-0CA5C2A9BE5B}"/>
              </a:ext>
            </a:extLst>
          </p:cNvPr>
          <p:cNvSpPr txBox="1">
            <a:spLocks/>
          </p:cNvSpPr>
          <p:nvPr/>
        </p:nvSpPr>
        <p:spPr>
          <a:xfrm>
            <a:off x="365126" y="1137958"/>
            <a:ext cx="11416878" cy="1521475"/>
          </a:xfrm>
          <a:prstGeom prst="rect">
            <a:avLst/>
          </a:prstGeom>
        </p:spPr>
        <p:txBody>
          <a:bodyPr>
            <a:normAutofit/>
          </a:bodyPr>
          <a:lstStyle>
            <a:lvl1pPr marL="228600" indent="-228600" algn="l" defTabSz="914400" rtl="0" eaLnBrk="1" latinLnBrk="0" hangingPunct="1">
              <a:lnSpc>
                <a:spcPct val="100000"/>
              </a:lnSpc>
              <a:spcBef>
                <a:spcPts val="1000"/>
              </a:spcBef>
              <a:buFont typeface="Arial" panose="020B0604020202020204" pitchFamily="34" charset="0"/>
              <a:buChar char="•"/>
              <a:defRPr sz="1600" b="0" i="0" kern="1200">
                <a:solidFill>
                  <a:schemeClr val="tx1"/>
                </a:solidFill>
                <a:latin typeface="Pretendard" panose="02000503000000020004" pitchFamily="2" charset="-127"/>
                <a:ea typeface="Pretendard" panose="02000503000000020004" pitchFamily="2" charset="-127"/>
                <a:cs typeface="Pretendard" panose="02000503000000020004" pitchFamily="2" charset="-127"/>
              </a:defRPr>
            </a:lvl1pPr>
            <a:lvl2pPr marL="685800" indent="-228600" algn="l" defTabSz="914400" rtl="0" eaLnBrk="1" latinLnBrk="0" hangingPunct="1">
              <a:lnSpc>
                <a:spcPct val="100000"/>
              </a:lnSpc>
              <a:spcBef>
                <a:spcPts val="500"/>
              </a:spcBef>
              <a:buFont typeface="Arial" panose="020B0604020202020204" pitchFamily="34" charset="0"/>
              <a:buChar char="•"/>
              <a:defRPr sz="1400" b="0" i="0" kern="1200">
                <a:solidFill>
                  <a:schemeClr val="tx1"/>
                </a:solidFill>
                <a:latin typeface="Pretendard" panose="02000503000000020004" pitchFamily="2" charset="-127"/>
                <a:ea typeface="Pretendard" panose="02000503000000020004" pitchFamily="2" charset="-127"/>
                <a:cs typeface="Pretendard" panose="02000503000000020004" pitchFamily="2" charset="-127"/>
              </a:defRPr>
            </a:lvl2pPr>
            <a:lvl3pPr marL="1143000" indent="-228600" algn="l" defTabSz="914400" rtl="0" eaLnBrk="1" latinLnBrk="0" hangingPunct="1">
              <a:lnSpc>
                <a:spcPct val="100000"/>
              </a:lnSpc>
              <a:spcBef>
                <a:spcPts val="500"/>
              </a:spcBef>
              <a:buFont typeface="Arial" panose="020B0604020202020204" pitchFamily="34" charset="0"/>
              <a:buChar char="•"/>
              <a:defRPr sz="1200" b="0" i="0" kern="1200">
                <a:solidFill>
                  <a:schemeClr val="tx1"/>
                </a:solidFill>
                <a:latin typeface="Pretendard" panose="02000503000000020004" pitchFamily="2" charset="-127"/>
                <a:ea typeface="Pretendard" panose="02000503000000020004" pitchFamily="2" charset="-127"/>
                <a:cs typeface="Pretendard" panose="02000503000000020004" pitchFamily="2" charset="-127"/>
              </a:defRPr>
            </a:lvl3pPr>
            <a:lvl4pPr marL="1600200" indent="-228600" algn="l" defTabSz="914400" rtl="0" eaLnBrk="1" latinLnBrk="0" hangingPunct="1">
              <a:lnSpc>
                <a:spcPct val="100000"/>
              </a:lnSpc>
              <a:spcBef>
                <a:spcPts val="500"/>
              </a:spcBef>
              <a:buFont typeface="Arial" panose="020B0604020202020204" pitchFamily="34" charset="0"/>
              <a:buChar char="•"/>
              <a:defRPr sz="1100" b="0" i="0" kern="1200">
                <a:solidFill>
                  <a:schemeClr val="tx1"/>
                </a:solidFill>
                <a:latin typeface="Pretendard" panose="02000503000000020004" pitchFamily="2" charset="-127"/>
                <a:ea typeface="Pretendard" panose="02000503000000020004" pitchFamily="2" charset="-127"/>
                <a:cs typeface="Pretendard" panose="02000503000000020004" pitchFamily="2" charset="-127"/>
              </a:defRPr>
            </a:lvl4pPr>
            <a:lvl5pPr marL="2057400" indent="-228600" algn="l" defTabSz="914400" rtl="0" eaLnBrk="1" latinLnBrk="0" hangingPunct="1">
              <a:lnSpc>
                <a:spcPct val="100000"/>
              </a:lnSpc>
              <a:spcBef>
                <a:spcPts val="500"/>
              </a:spcBef>
              <a:buFont typeface="Arial" panose="020B0604020202020204" pitchFamily="34" charset="0"/>
              <a:buChar char="•"/>
              <a:defRPr sz="1100" b="0" i="0" kern="1200">
                <a:solidFill>
                  <a:schemeClr val="tx1"/>
                </a:solidFill>
                <a:latin typeface="Pretendard" panose="02000503000000020004" pitchFamily="2" charset="-127"/>
                <a:ea typeface="Pretendard" panose="02000503000000020004" pitchFamily="2" charset="-127"/>
                <a:cs typeface="Pretendard" panose="02000503000000020004" pitchFamily="2" charset="-12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BAGEL model’s Q-K attention map</a:t>
            </a:r>
          </a:p>
          <a:p>
            <a:pPr lvl="1"/>
            <a:r>
              <a:rPr lang="en-US" dirty="0"/>
              <a:t>Q: </a:t>
            </a:r>
            <a:r>
              <a:rPr lang="ko-KR" altLang="en-US" dirty="0"/>
              <a:t>프롬프트 토큰들</a:t>
            </a:r>
            <a:r>
              <a:rPr lang="en-US" altLang="ko-KR" dirty="0"/>
              <a:t>(76</a:t>
            </a:r>
            <a:r>
              <a:rPr lang="ko-KR" altLang="en-US" dirty="0"/>
              <a:t>개</a:t>
            </a:r>
            <a:r>
              <a:rPr lang="en-US" altLang="ko-KR" dirty="0"/>
              <a:t>) + &lt;|</a:t>
            </a:r>
            <a:r>
              <a:rPr lang="en-US" dirty="0" err="1"/>
              <a:t>vision_start</a:t>
            </a:r>
            <a:r>
              <a:rPr lang="en-US" dirty="0"/>
              <a:t>|&gt;(1</a:t>
            </a:r>
            <a:r>
              <a:rPr lang="ko-KR" altLang="en-US" dirty="0"/>
              <a:t>개</a:t>
            </a:r>
            <a:r>
              <a:rPr lang="en-US" altLang="ko-KR" dirty="0"/>
              <a:t>)] + </a:t>
            </a:r>
            <a:r>
              <a:rPr lang="en-US" dirty="0"/>
              <a:t>VAE Latent </a:t>
            </a:r>
            <a:r>
              <a:rPr lang="ko-KR" altLang="en-US" dirty="0"/>
              <a:t>토큰들</a:t>
            </a:r>
            <a:r>
              <a:rPr lang="en-US" altLang="ko-KR" dirty="0"/>
              <a:t>(4096</a:t>
            </a:r>
            <a:r>
              <a:rPr lang="ko-KR" altLang="en-US" dirty="0"/>
              <a:t>개</a:t>
            </a:r>
            <a:r>
              <a:rPr lang="en-US" altLang="ko-KR" dirty="0"/>
              <a:t>) + &lt;|</a:t>
            </a:r>
            <a:r>
              <a:rPr lang="en-US" dirty="0" err="1"/>
              <a:t>vision_end</a:t>
            </a:r>
            <a:r>
              <a:rPr lang="en-US" dirty="0"/>
              <a:t>|&gt;(1</a:t>
            </a:r>
            <a:r>
              <a:rPr lang="ko-KR" altLang="en-US" dirty="0"/>
              <a:t>개</a:t>
            </a:r>
            <a:r>
              <a:rPr lang="en-US" altLang="ko-KR" dirty="0"/>
              <a:t>)</a:t>
            </a:r>
          </a:p>
          <a:p>
            <a:pPr lvl="1"/>
            <a:r>
              <a:rPr lang="en-US" dirty="0"/>
              <a:t>K: </a:t>
            </a:r>
            <a:r>
              <a:rPr lang="ko-KR" altLang="en-US" dirty="0"/>
              <a:t>프롬프트 토큰들</a:t>
            </a:r>
            <a:r>
              <a:rPr lang="en-US" altLang="ko-KR" dirty="0"/>
              <a:t>(76</a:t>
            </a:r>
            <a:r>
              <a:rPr lang="ko-KR" altLang="en-US" dirty="0"/>
              <a:t>개</a:t>
            </a:r>
            <a:r>
              <a:rPr lang="en-US" altLang="ko-KR" dirty="0"/>
              <a:t>) + &lt;|</a:t>
            </a:r>
            <a:r>
              <a:rPr lang="en-US" dirty="0" err="1"/>
              <a:t>vision_start</a:t>
            </a:r>
            <a:r>
              <a:rPr lang="en-US" dirty="0"/>
              <a:t>|&gt;(1</a:t>
            </a:r>
            <a:r>
              <a:rPr lang="ko-KR" altLang="en-US" dirty="0"/>
              <a:t>개</a:t>
            </a:r>
            <a:r>
              <a:rPr lang="en-US" altLang="ko-KR" dirty="0"/>
              <a:t>)] + </a:t>
            </a:r>
            <a:r>
              <a:rPr lang="en-US" dirty="0"/>
              <a:t>VAE Latent </a:t>
            </a:r>
            <a:r>
              <a:rPr lang="ko-KR" altLang="en-US" dirty="0"/>
              <a:t>토큰들</a:t>
            </a:r>
            <a:r>
              <a:rPr lang="en-US" altLang="ko-KR" dirty="0"/>
              <a:t>(4096</a:t>
            </a:r>
            <a:r>
              <a:rPr lang="ko-KR" altLang="en-US" dirty="0"/>
              <a:t>개</a:t>
            </a:r>
            <a:r>
              <a:rPr lang="en-US" altLang="ko-KR" dirty="0"/>
              <a:t>) + &lt;|</a:t>
            </a:r>
            <a:r>
              <a:rPr lang="en-US" dirty="0" err="1"/>
              <a:t>vision_end</a:t>
            </a:r>
            <a:r>
              <a:rPr lang="en-US" dirty="0"/>
              <a:t>|&gt;(1</a:t>
            </a:r>
            <a:r>
              <a:rPr lang="ko-KR" altLang="en-US" dirty="0"/>
              <a:t>개</a:t>
            </a:r>
            <a:r>
              <a:rPr lang="en-US" altLang="ko-KR" dirty="0"/>
              <a:t>)</a:t>
            </a:r>
            <a:endParaRPr lang="en-KR" dirty="0"/>
          </a:p>
          <a:p>
            <a:pPr lvl="1"/>
            <a:endParaRPr lang="en-KR" dirty="0"/>
          </a:p>
        </p:txBody>
      </p:sp>
      <p:cxnSp>
        <p:nvCxnSpPr>
          <p:cNvPr id="15" name="Straight Connector 14">
            <a:extLst>
              <a:ext uri="{FF2B5EF4-FFF2-40B4-BE49-F238E27FC236}">
                <a16:creationId xmlns:a16="http://schemas.microsoft.com/office/drawing/2014/main" id="{E2C8D35E-D818-B923-44A2-01C62923DF1F}"/>
              </a:ext>
            </a:extLst>
          </p:cNvPr>
          <p:cNvCxnSpPr>
            <a:cxnSpLocks/>
          </p:cNvCxnSpPr>
          <p:nvPr/>
        </p:nvCxnSpPr>
        <p:spPr>
          <a:xfrm>
            <a:off x="3892355" y="3891355"/>
            <a:ext cx="4407290" cy="0"/>
          </a:xfrm>
          <a:prstGeom prst="line">
            <a:avLst/>
          </a:prstGeom>
          <a:ln w="12700"/>
        </p:spPr>
        <p:style>
          <a:lnRef idx="2">
            <a:schemeClr val="dk1"/>
          </a:lnRef>
          <a:fillRef idx="0">
            <a:schemeClr val="dk1"/>
          </a:fillRef>
          <a:effectRef idx="1">
            <a:schemeClr val="dk1"/>
          </a:effectRef>
          <a:fontRef idx="minor">
            <a:schemeClr val="tx1"/>
          </a:fontRef>
        </p:style>
      </p:cxnSp>
      <p:cxnSp>
        <p:nvCxnSpPr>
          <p:cNvPr id="17" name="Straight Connector 16">
            <a:extLst>
              <a:ext uri="{FF2B5EF4-FFF2-40B4-BE49-F238E27FC236}">
                <a16:creationId xmlns:a16="http://schemas.microsoft.com/office/drawing/2014/main" id="{71AFCB1C-8B3B-4C6D-E100-BA49EB80E5DB}"/>
              </a:ext>
            </a:extLst>
          </p:cNvPr>
          <p:cNvCxnSpPr>
            <a:cxnSpLocks/>
          </p:cNvCxnSpPr>
          <p:nvPr/>
        </p:nvCxnSpPr>
        <p:spPr>
          <a:xfrm>
            <a:off x="3892355" y="5068159"/>
            <a:ext cx="4407290" cy="0"/>
          </a:xfrm>
          <a:prstGeom prst="line">
            <a:avLst/>
          </a:prstGeom>
          <a:ln w="12700"/>
        </p:spPr>
        <p:style>
          <a:lnRef idx="2">
            <a:schemeClr val="dk1"/>
          </a:lnRef>
          <a:fillRef idx="0">
            <a:schemeClr val="dk1"/>
          </a:fillRef>
          <a:effectRef idx="1">
            <a:schemeClr val="dk1"/>
          </a:effectRef>
          <a:fontRef idx="minor">
            <a:schemeClr val="tx1"/>
          </a:fontRef>
        </p:style>
      </p:cxnSp>
      <p:cxnSp>
        <p:nvCxnSpPr>
          <p:cNvPr id="18" name="Straight Connector 17">
            <a:extLst>
              <a:ext uri="{FF2B5EF4-FFF2-40B4-BE49-F238E27FC236}">
                <a16:creationId xmlns:a16="http://schemas.microsoft.com/office/drawing/2014/main" id="{867EB57F-1A94-2196-A1AE-356E9BAF0A00}"/>
              </a:ext>
            </a:extLst>
          </p:cNvPr>
          <p:cNvCxnSpPr>
            <a:cxnSpLocks/>
          </p:cNvCxnSpPr>
          <p:nvPr/>
        </p:nvCxnSpPr>
        <p:spPr>
          <a:xfrm>
            <a:off x="6185290" y="2465150"/>
            <a:ext cx="0" cy="2684366"/>
          </a:xfrm>
          <a:prstGeom prst="line">
            <a:avLst/>
          </a:prstGeom>
          <a:ln w="12700"/>
        </p:spPr>
        <p:style>
          <a:lnRef idx="2">
            <a:schemeClr val="dk1"/>
          </a:lnRef>
          <a:fillRef idx="0">
            <a:schemeClr val="dk1"/>
          </a:fillRef>
          <a:effectRef idx="1">
            <a:schemeClr val="dk1"/>
          </a:effectRef>
          <a:fontRef idx="minor">
            <a:schemeClr val="tx1"/>
          </a:fontRef>
        </p:style>
      </p:cxnSp>
      <p:cxnSp>
        <p:nvCxnSpPr>
          <p:cNvPr id="21" name="Straight Connector 20">
            <a:extLst>
              <a:ext uri="{FF2B5EF4-FFF2-40B4-BE49-F238E27FC236}">
                <a16:creationId xmlns:a16="http://schemas.microsoft.com/office/drawing/2014/main" id="{1B601AD2-D9D9-9095-42E1-0106488D5352}"/>
              </a:ext>
            </a:extLst>
          </p:cNvPr>
          <p:cNvCxnSpPr>
            <a:cxnSpLocks/>
          </p:cNvCxnSpPr>
          <p:nvPr/>
        </p:nvCxnSpPr>
        <p:spPr>
          <a:xfrm>
            <a:off x="8228367" y="2465150"/>
            <a:ext cx="0" cy="2684366"/>
          </a:xfrm>
          <a:prstGeom prst="line">
            <a:avLst/>
          </a:prstGeom>
          <a:ln w="12700"/>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0983136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A8AE0-347C-F997-E54C-C68CA22A4B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11E03B-5745-94A6-1759-C6FD00CD2028}"/>
              </a:ext>
            </a:extLst>
          </p:cNvPr>
          <p:cNvSpPr>
            <a:spLocks noGrp="1"/>
          </p:cNvSpPr>
          <p:nvPr>
            <p:ph type="title"/>
          </p:nvPr>
        </p:nvSpPr>
        <p:spPr/>
        <p:txBody>
          <a:bodyPr/>
          <a:lstStyle/>
          <a:p>
            <a:r>
              <a:rPr lang="en-US" dirty="0"/>
              <a:t>Experiment</a:t>
            </a:r>
            <a:endParaRPr lang="en-KR" dirty="0"/>
          </a:p>
        </p:txBody>
      </p:sp>
      <p:graphicFrame>
        <p:nvGraphicFramePr>
          <p:cNvPr id="4" name="Content Placeholder 3">
            <a:extLst>
              <a:ext uri="{FF2B5EF4-FFF2-40B4-BE49-F238E27FC236}">
                <a16:creationId xmlns:a16="http://schemas.microsoft.com/office/drawing/2014/main" id="{691EFBCF-B2CA-135F-0269-8694BAA0DB38}"/>
              </a:ext>
            </a:extLst>
          </p:cNvPr>
          <p:cNvGraphicFramePr>
            <a:graphicFrameLocks noGrp="1"/>
          </p:cNvGraphicFramePr>
          <p:nvPr>
            <p:ph idx="1"/>
          </p:nvPr>
        </p:nvGraphicFramePr>
        <p:xfrm>
          <a:off x="3892355" y="2465150"/>
          <a:ext cx="4407290" cy="2684366"/>
        </p:xfrm>
        <a:graphic>
          <a:graphicData uri="http://schemas.openxmlformats.org/drawingml/2006/table">
            <a:tbl>
              <a:tblPr firstRow="1" bandRow="1">
                <a:tableStyleId>{5940675A-B579-460E-94D1-54222C63F5DA}</a:tableStyleId>
              </a:tblPr>
              <a:tblGrid>
                <a:gridCol w="2203645">
                  <a:extLst>
                    <a:ext uri="{9D8B030D-6E8A-4147-A177-3AD203B41FA5}">
                      <a16:colId xmlns:a16="http://schemas.microsoft.com/office/drawing/2014/main" val="1276286053"/>
                    </a:ext>
                  </a:extLst>
                </a:gridCol>
                <a:gridCol w="2203645">
                  <a:extLst>
                    <a:ext uri="{9D8B030D-6E8A-4147-A177-3AD203B41FA5}">
                      <a16:colId xmlns:a16="http://schemas.microsoft.com/office/drawing/2014/main" val="226945541"/>
                    </a:ext>
                  </a:extLst>
                </a:gridCol>
              </a:tblGrid>
              <a:tr h="1342183">
                <a:tc>
                  <a:txBody>
                    <a:bodyPr/>
                    <a:lstStyle/>
                    <a:p>
                      <a:endParaRPr lang="en-KR" dirty="0"/>
                    </a:p>
                  </a:txBody>
                  <a:tcPr>
                    <a:solidFill>
                      <a:schemeClr val="bg1">
                        <a:lumMod val="95000"/>
                      </a:schemeClr>
                    </a:solidFill>
                  </a:tcPr>
                </a:tc>
                <a:tc>
                  <a:txBody>
                    <a:bodyPr/>
                    <a:lstStyle/>
                    <a:p>
                      <a:endParaRPr lang="en-KR" dirty="0"/>
                    </a:p>
                  </a:txBody>
                  <a:tcPr>
                    <a:solidFill>
                      <a:schemeClr val="tx2">
                        <a:lumMod val="10000"/>
                        <a:lumOff val="90000"/>
                      </a:schemeClr>
                    </a:solidFill>
                  </a:tcPr>
                </a:tc>
                <a:extLst>
                  <a:ext uri="{0D108BD9-81ED-4DB2-BD59-A6C34878D82A}">
                    <a16:rowId xmlns:a16="http://schemas.microsoft.com/office/drawing/2014/main" val="1767675453"/>
                  </a:ext>
                </a:extLst>
              </a:tr>
              <a:tr h="1342183">
                <a:tc>
                  <a:txBody>
                    <a:bodyPr/>
                    <a:lstStyle/>
                    <a:p>
                      <a:endParaRPr lang="en-KR" dirty="0"/>
                    </a:p>
                  </a:txBody>
                  <a:tcPr>
                    <a:solidFill>
                      <a:schemeClr val="accent2">
                        <a:lumMod val="20000"/>
                        <a:lumOff val="80000"/>
                      </a:schemeClr>
                    </a:solidFill>
                  </a:tcPr>
                </a:tc>
                <a:tc>
                  <a:txBody>
                    <a:bodyPr/>
                    <a:lstStyle/>
                    <a:p>
                      <a:endParaRPr lang="en-KR" dirty="0"/>
                    </a:p>
                  </a:txBody>
                  <a:tcPr>
                    <a:solidFill>
                      <a:schemeClr val="bg1">
                        <a:lumMod val="95000"/>
                      </a:schemeClr>
                    </a:solidFill>
                  </a:tcPr>
                </a:tc>
                <a:extLst>
                  <a:ext uri="{0D108BD9-81ED-4DB2-BD59-A6C34878D82A}">
                    <a16:rowId xmlns:a16="http://schemas.microsoft.com/office/drawing/2014/main" val="3046388620"/>
                  </a:ext>
                </a:extLst>
              </a:tr>
            </a:tbl>
          </a:graphicData>
        </a:graphic>
      </p:graphicFrame>
      <p:sp>
        <p:nvSpPr>
          <p:cNvPr id="5" name="TextBox 4">
            <a:extLst>
              <a:ext uri="{FF2B5EF4-FFF2-40B4-BE49-F238E27FC236}">
                <a16:creationId xmlns:a16="http://schemas.microsoft.com/office/drawing/2014/main" id="{D701A8AE-F6FD-7E25-E2B2-2F91A98A7025}"/>
              </a:ext>
            </a:extLst>
          </p:cNvPr>
          <p:cNvSpPr txBox="1"/>
          <p:nvPr/>
        </p:nvSpPr>
        <p:spPr>
          <a:xfrm>
            <a:off x="3382593" y="2976956"/>
            <a:ext cx="437940" cy="369332"/>
          </a:xfrm>
          <a:prstGeom prst="rect">
            <a:avLst/>
          </a:prstGeom>
          <a:noFill/>
        </p:spPr>
        <p:txBody>
          <a:bodyPr wrap="none" rtlCol="0">
            <a:spAutoFit/>
          </a:bodyPr>
          <a:lstStyle/>
          <a:p>
            <a:r>
              <a:rPr lang="en-US" dirty="0"/>
              <a:t>txt</a:t>
            </a:r>
            <a:endParaRPr lang="en-KR" dirty="0"/>
          </a:p>
        </p:txBody>
      </p:sp>
      <p:sp>
        <p:nvSpPr>
          <p:cNvPr id="6" name="TextBox 5">
            <a:extLst>
              <a:ext uri="{FF2B5EF4-FFF2-40B4-BE49-F238E27FC236}">
                <a16:creationId xmlns:a16="http://schemas.microsoft.com/office/drawing/2014/main" id="{82D1FBC3-1EF4-3737-F47A-25732E5D0EEB}"/>
              </a:ext>
            </a:extLst>
          </p:cNvPr>
          <p:cNvSpPr txBox="1"/>
          <p:nvPr/>
        </p:nvSpPr>
        <p:spPr>
          <a:xfrm>
            <a:off x="3382593" y="4309163"/>
            <a:ext cx="548548" cy="369332"/>
          </a:xfrm>
          <a:prstGeom prst="rect">
            <a:avLst/>
          </a:prstGeom>
          <a:noFill/>
        </p:spPr>
        <p:txBody>
          <a:bodyPr wrap="none" rtlCol="0">
            <a:spAutoFit/>
          </a:bodyPr>
          <a:lstStyle/>
          <a:p>
            <a:r>
              <a:rPr lang="en-KR" dirty="0"/>
              <a:t>img</a:t>
            </a:r>
          </a:p>
        </p:txBody>
      </p:sp>
      <p:sp>
        <p:nvSpPr>
          <p:cNvPr id="7" name="TextBox 6">
            <a:extLst>
              <a:ext uri="{FF2B5EF4-FFF2-40B4-BE49-F238E27FC236}">
                <a16:creationId xmlns:a16="http://schemas.microsoft.com/office/drawing/2014/main" id="{BEADF013-FADE-0574-D9BE-C2A0CA663B28}"/>
              </a:ext>
            </a:extLst>
          </p:cNvPr>
          <p:cNvSpPr txBox="1"/>
          <p:nvPr/>
        </p:nvSpPr>
        <p:spPr>
          <a:xfrm>
            <a:off x="4757630" y="5149516"/>
            <a:ext cx="437940" cy="369332"/>
          </a:xfrm>
          <a:prstGeom prst="rect">
            <a:avLst/>
          </a:prstGeom>
          <a:noFill/>
        </p:spPr>
        <p:txBody>
          <a:bodyPr wrap="none" rtlCol="0">
            <a:spAutoFit/>
          </a:bodyPr>
          <a:lstStyle/>
          <a:p>
            <a:r>
              <a:rPr lang="en-KR" dirty="0"/>
              <a:t>txt</a:t>
            </a:r>
          </a:p>
        </p:txBody>
      </p:sp>
      <p:sp>
        <p:nvSpPr>
          <p:cNvPr id="8" name="TextBox 7">
            <a:extLst>
              <a:ext uri="{FF2B5EF4-FFF2-40B4-BE49-F238E27FC236}">
                <a16:creationId xmlns:a16="http://schemas.microsoft.com/office/drawing/2014/main" id="{056F0C8A-4566-E796-BDA9-AE7A4FE8DFD5}"/>
              </a:ext>
            </a:extLst>
          </p:cNvPr>
          <p:cNvSpPr txBox="1"/>
          <p:nvPr/>
        </p:nvSpPr>
        <p:spPr>
          <a:xfrm>
            <a:off x="6916438" y="5149516"/>
            <a:ext cx="548548" cy="369332"/>
          </a:xfrm>
          <a:prstGeom prst="rect">
            <a:avLst/>
          </a:prstGeom>
          <a:noFill/>
        </p:spPr>
        <p:txBody>
          <a:bodyPr wrap="none" rtlCol="0">
            <a:spAutoFit/>
          </a:bodyPr>
          <a:lstStyle/>
          <a:p>
            <a:r>
              <a:rPr lang="en-KR" dirty="0"/>
              <a:t>img</a:t>
            </a:r>
          </a:p>
        </p:txBody>
      </p:sp>
      <p:sp>
        <p:nvSpPr>
          <p:cNvPr id="9" name="TextBox 8">
            <a:extLst>
              <a:ext uri="{FF2B5EF4-FFF2-40B4-BE49-F238E27FC236}">
                <a16:creationId xmlns:a16="http://schemas.microsoft.com/office/drawing/2014/main" id="{DD83A2C7-E17C-1664-CCF8-9113273D4A43}"/>
              </a:ext>
            </a:extLst>
          </p:cNvPr>
          <p:cNvSpPr txBox="1"/>
          <p:nvPr/>
        </p:nvSpPr>
        <p:spPr>
          <a:xfrm>
            <a:off x="4330077" y="4170663"/>
            <a:ext cx="1293046" cy="646331"/>
          </a:xfrm>
          <a:prstGeom prst="rect">
            <a:avLst/>
          </a:prstGeom>
          <a:noFill/>
        </p:spPr>
        <p:txBody>
          <a:bodyPr wrap="none" rtlCol="0">
            <a:spAutoFit/>
          </a:bodyPr>
          <a:lstStyle/>
          <a:p>
            <a:pPr algn="ctr"/>
            <a:r>
              <a:rPr lang="en-US" dirty="0"/>
              <a:t>G</a:t>
            </a:r>
            <a:r>
              <a:rPr lang="en-KR" dirty="0"/>
              <a:t>eneration</a:t>
            </a:r>
          </a:p>
          <a:p>
            <a:pPr algn="ctr"/>
            <a:r>
              <a:rPr lang="en-US" dirty="0"/>
              <a:t>E</a:t>
            </a:r>
            <a:r>
              <a:rPr lang="en-KR" dirty="0"/>
              <a:t>diting</a:t>
            </a:r>
          </a:p>
        </p:txBody>
      </p:sp>
      <p:sp>
        <p:nvSpPr>
          <p:cNvPr id="10" name="TextBox 9">
            <a:extLst>
              <a:ext uri="{FF2B5EF4-FFF2-40B4-BE49-F238E27FC236}">
                <a16:creationId xmlns:a16="http://schemas.microsoft.com/office/drawing/2014/main" id="{801D72E3-A17C-82D0-74B8-D063213C8A65}"/>
              </a:ext>
            </a:extLst>
          </p:cNvPr>
          <p:cNvSpPr txBox="1"/>
          <p:nvPr/>
        </p:nvSpPr>
        <p:spPr>
          <a:xfrm>
            <a:off x="4093987" y="2948575"/>
            <a:ext cx="1765227" cy="369332"/>
          </a:xfrm>
          <a:prstGeom prst="rect">
            <a:avLst/>
          </a:prstGeom>
          <a:noFill/>
        </p:spPr>
        <p:txBody>
          <a:bodyPr wrap="none" rtlCol="0">
            <a:spAutoFit/>
          </a:bodyPr>
          <a:lstStyle/>
          <a:p>
            <a:pPr algn="ctr"/>
            <a:r>
              <a:rPr lang="en-US" dirty="0"/>
              <a:t>(Thinking mode)</a:t>
            </a:r>
          </a:p>
        </p:txBody>
      </p:sp>
      <p:sp>
        <p:nvSpPr>
          <p:cNvPr id="11" name="TextBox 10">
            <a:extLst>
              <a:ext uri="{FF2B5EF4-FFF2-40B4-BE49-F238E27FC236}">
                <a16:creationId xmlns:a16="http://schemas.microsoft.com/office/drawing/2014/main" id="{9B7C888D-EB74-59B5-9031-C3DAA900B98A}"/>
              </a:ext>
            </a:extLst>
          </p:cNvPr>
          <p:cNvSpPr txBox="1"/>
          <p:nvPr/>
        </p:nvSpPr>
        <p:spPr>
          <a:xfrm>
            <a:off x="6364045" y="2948575"/>
            <a:ext cx="1653338" cy="369332"/>
          </a:xfrm>
          <a:prstGeom prst="rect">
            <a:avLst/>
          </a:prstGeom>
          <a:noFill/>
        </p:spPr>
        <p:txBody>
          <a:bodyPr wrap="none" rtlCol="0">
            <a:spAutoFit/>
          </a:bodyPr>
          <a:lstStyle/>
          <a:p>
            <a:pPr algn="ctr"/>
            <a:r>
              <a:rPr lang="en-US" dirty="0"/>
              <a:t>Understanding</a:t>
            </a:r>
          </a:p>
        </p:txBody>
      </p:sp>
      <p:sp>
        <p:nvSpPr>
          <p:cNvPr id="13" name="Content Placeholder 2">
            <a:extLst>
              <a:ext uri="{FF2B5EF4-FFF2-40B4-BE49-F238E27FC236}">
                <a16:creationId xmlns:a16="http://schemas.microsoft.com/office/drawing/2014/main" id="{ABA90035-75BC-2469-16BF-A34D5447E449}"/>
              </a:ext>
            </a:extLst>
          </p:cNvPr>
          <p:cNvSpPr txBox="1">
            <a:spLocks/>
          </p:cNvSpPr>
          <p:nvPr/>
        </p:nvSpPr>
        <p:spPr>
          <a:xfrm>
            <a:off x="365126" y="1137958"/>
            <a:ext cx="11416878" cy="1521475"/>
          </a:xfrm>
          <a:prstGeom prst="rect">
            <a:avLst/>
          </a:prstGeom>
        </p:spPr>
        <p:txBody>
          <a:bodyPr>
            <a:normAutofit/>
          </a:bodyPr>
          <a:lstStyle>
            <a:lvl1pPr marL="228600" indent="-228600" algn="l" defTabSz="914400" rtl="0" eaLnBrk="1" latinLnBrk="0" hangingPunct="1">
              <a:lnSpc>
                <a:spcPct val="100000"/>
              </a:lnSpc>
              <a:spcBef>
                <a:spcPts val="1000"/>
              </a:spcBef>
              <a:buFont typeface="Arial" panose="020B0604020202020204" pitchFamily="34" charset="0"/>
              <a:buChar char="•"/>
              <a:defRPr sz="1600" b="0" i="0" kern="1200">
                <a:solidFill>
                  <a:schemeClr val="tx1"/>
                </a:solidFill>
                <a:latin typeface="Pretendard" panose="02000503000000020004" pitchFamily="2" charset="-127"/>
                <a:ea typeface="Pretendard" panose="02000503000000020004" pitchFamily="2" charset="-127"/>
                <a:cs typeface="Pretendard" panose="02000503000000020004" pitchFamily="2" charset="-127"/>
              </a:defRPr>
            </a:lvl1pPr>
            <a:lvl2pPr marL="685800" indent="-228600" algn="l" defTabSz="914400" rtl="0" eaLnBrk="1" latinLnBrk="0" hangingPunct="1">
              <a:lnSpc>
                <a:spcPct val="100000"/>
              </a:lnSpc>
              <a:spcBef>
                <a:spcPts val="500"/>
              </a:spcBef>
              <a:buFont typeface="Arial" panose="020B0604020202020204" pitchFamily="34" charset="0"/>
              <a:buChar char="•"/>
              <a:defRPr sz="1400" b="0" i="0" kern="1200">
                <a:solidFill>
                  <a:schemeClr val="tx1"/>
                </a:solidFill>
                <a:latin typeface="Pretendard" panose="02000503000000020004" pitchFamily="2" charset="-127"/>
                <a:ea typeface="Pretendard" panose="02000503000000020004" pitchFamily="2" charset="-127"/>
                <a:cs typeface="Pretendard" panose="02000503000000020004" pitchFamily="2" charset="-127"/>
              </a:defRPr>
            </a:lvl2pPr>
            <a:lvl3pPr marL="1143000" indent="-228600" algn="l" defTabSz="914400" rtl="0" eaLnBrk="1" latinLnBrk="0" hangingPunct="1">
              <a:lnSpc>
                <a:spcPct val="100000"/>
              </a:lnSpc>
              <a:spcBef>
                <a:spcPts val="500"/>
              </a:spcBef>
              <a:buFont typeface="Arial" panose="020B0604020202020204" pitchFamily="34" charset="0"/>
              <a:buChar char="•"/>
              <a:defRPr sz="1200" b="0" i="0" kern="1200">
                <a:solidFill>
                  <a:schemeClr val="tx1"/>
                </a:solidFill>
                <a:latin typeface="Pretendard" panose="02000503000000020004" pitchFamily="2" charset="-127"/>
                <a:ea typeface="Pretendard" panose="02000503000000020004" pitchFamily="2" charset="-127"/>
                <a:cs typeface="Pretendard" panose="02000503000000020004" pitchFamily="2" charset="-127"/>
              </a:defRPr>
            </a:lvl3pPr>
            <a:lvl4pPr marL="1600200" indent="-228600" algn="l" defTabSz="914400" rtl="0" eaLnBrk="1" latinLnBrk="0" hangingPunct="1">
              <a:lnSpc>
                <a:spcPct val="100000"/>
              </a:lnSpc>
              <a:spcBef>
                <a:spcPts val="500"/>
              </a:spcBef>
              <a:buFont typeface="Arial" panose="020B0604020202020204" pitchFamily="34" charset="0"/>
              <a:buChar char="•"/>
              <a:defRPr sz="1100" b="0" i="0" kern="1200">
                <a:solidFill>
                  <a:schemeClr val="tx1"/>
                </a:solidFill>
                <a:latin typeface="Pretendard" panose="02000503000000020004" pitchFamily="2" charset="-127"/>
                <a:ea typeface="Pretendard" panose="02000503000000020004" pitchFamily="2" charset="-127"/>
                <a:cs typeface="Pretendard" panose="02000503000000020004" pitchFamily="2" charset="-127"/>
              </a:defRPr>
            </a:lvl4pPr>
            <a:lvl5pPr marL="2057400" indent="-228600" algn="l" defTabSz="914400" rtl="0" eaLnBrk="1" latinLnBrk="0" hangingPunct="1">
              <a:lnSpc>
                <a:spcPct val="100000"/>
              </a:lnSpc>
              <a:spcBef>
                <a:spcPts val="500"/>
              </a:spcBef>
              <a:buFont typeface="Arial" panose="020B0604020202020204" pitchFamily="34" charset="0"/>
              <a:buChar char="•"/>
              <a:defRPr sz="1100" b="0" i="0" kern="1200">
                <a:solidFill>
                  <a:schemeClr val="tx1"/>
                </a:solidFill>
                <a:latin typeface="Pretendard" panose="02000503000000020004" pitchFamily="2" charset="-127"/>
                <a:ea typeface="Pretendard" panose="02000503000000020004" pitchFamily="2" charset="-127"/>
                <a:cs typeface="Pretendard" panose="02000503000000020004" pitchFamily="2" charset="-12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BAGEL model’s Q-K attention map</a:t>
            </a:r>
          </a:p>
          <a:p>
            <a:pPr lvl="1"/>
            <a:r>
              <a:rPr lang="en-US" dirty="0"/>
              <a:t>Q: </a:t>
            </a:r>
            <a:r>
              <a:rPr lang="ko-KR" altLang="en-US" dirty="0"/>
              <a:t>프롬프트 토큰들</a:t>
            </a:r>
            <a:r>
              <a:rPr lang="en-US" altLang="ko-KR" dirty="0"/>
              <a:t>(76</a:t>
            </a:r>
            <a:r>
              <a:rPr lang="ko-KR" altLang="en-US" dirty="0"/>
              <a:t>개</a:t>
            </a:r>
            <a:r>
              <a:rPr lang="en-US" altLang="ko-KR" dirty="0"/>
              <a:t>) + &lt;|</a:t>
            </a:r>
            <a:r>
              <a:rPr lang="en-US" dirty="0" err="1"/>
              <a:t>vision_start</a:t>
            </a:r>
            <a:r>
              <a:rPr lang="en-US" dirty="0"/>
              <a:t>|&gt;(1</a:t>
            </a:r>
            <a:r>
              <a:rPr lang="ko-KR" altLang="en-US" dirty="0"/>
              <a:t>개</a:t>
            </a:r>
            <a:r>
              <a:rPr lang="en-US" altLang="ko-KR" dirty="0"/>
              <a:t>)] + </a:t>
            </a:r>
            <a:r>
              <a:rPr lang="en-US" dirty="0"/>
              <a:t>VAE Latent </a:t>
            </a:r>
            <a:r>
              <a:rPr lang="ko-KR" altLang="en-US" dirty="0"/>
              <a:t>토큰들</a:t>
            </a:r>
            <a:r>
              <a:rPr lang="en-US" altLang="ko-KR" dirty="0"/>
              <a:t>(4096</a:t>
            </a:r>
            <a:r>
              <a:rPr lang="ko-KR" altLang="en-US" dirty="0"/>
              <a:t>개</a:t>
            </a:r>
            <a:r>
              <a:rPr lang="en-US" altLang="ko-KR" dirty="0"/>
              <a:t>) + &lt;|</a:t>
            </a:r>
            <a:r>
              <a:rPr lang="en-US" dirty="0" err="1"/>
              <a:t>vision_end</a:t>
            </a:r>
            <a:r>
              <a:rPr lang="en-US" dirty="0"/>
              <a:t>|&gt;(1</a:t>
            </a:r>
            <a:r>
              <a:rPr lang="ko-KR" altLang="en-US" dirty="0"/>
              <a:t>개</a:t>
            </a:r>
            <a:r>
              <a:rPr lang="en-US" altLang="ko-KR" dirty="0"/>
              <a:t>)</a:t>
            </a:r>
          </a:p>
          <a:p>
            <a:pPr lvl="1"/>
            <a:r>
              <a:rPr lang="en-US" dirty="0"/>
              <a:t>K: </a:t>
            </a:r>
            <a:r>
              <a:rPr lang="ko-KR" altLang="en-US" dirty="0"/>
              <a:t>프롬프트 토큰들</a:t>
            </a:r>
            <a:r>
              <a:rPr lang="en-US" altLang="ko-KR" dirty="0"/>
              <a:t>(76</a:t>
            </a:r>
            <a:r>
              <a:rPr lang="ko-KR" altLang="en-US" dirty="0"/>
              <a:t>개</a:t>
            </a:r>
            <a:r>
              <a:rPr lang="en-US" altLang="ko-KR" dirty="0"/>
              <a:t>) + &lt;|</a:t>
            </a:r>
            <a:r>
              <a:rPr lang="en-US" dirty="0" err="1"/>
              <a:t>vision_start</a:t>
            </a:r>
            <a:r>
              <a:rPr lang="en-US" dirty="0"/>
              <a:t>|&gt;(1</a:t>
            </a:r>
            <a:r>
              <a:rPr lang="ko-KR" altLang="en-US" dirty="0"/>
              <a:t>개</a:t>
            </a:r>
            <a:r>
              <a:rPr lang="en-US" altLang="ko-KR" dirty="0"/>
              <a:t>)] + </a:t>
            </a:r>
            <a:r>
              <a:rPr lang="en-US" dirty="0"/>
              <a:t>VAE Latent </a:t>
            </a:r>
            <a:r>
              <a:rPr lang="ko-KR" altLang="en-US" dirty="0"/>
              <a:t>토큰들</a:t>
            </a:r>
            <a:r>
              <a:rPr lang="en-US" altLang="ko-KR" dirty="0"/>
              <a:t>(4096</a:t>
            </a:r>
            <a:r>
              <a:rPr lang="ko-KR" altLang="en-US" dirty="0"/>
              <a:t>개</a:t>
            </a:r>
            <a:r>
              <a:rPr lang="en-US" altLang="ko-KR" dirty="0"/>
              <a:t>) + &lt;|</a:t>
            </a:r>
            <a:r>
              <a:rPr lang="en-US" dirty="0" err="1"/>
              <a:t>vision_end</a:t>
            </a:r>
            <a:r>
              <a:rPr lang="en-US" dirty="0"/>
              <a:t>|&gt;(1</a:t>
            </a:r>
            <a:r>
              <a:rPr lang="ko-KR" altLang="en-US" dirty="0"/>
              <a:t>개</a:t>
            </a:r>
            <a:r>
              <a:rPr lang="en-US" altLang="ko-KR" dirty="0"/>
              <a:t>)</a:t>
            </a:r>
            <a:endParaRPr lang="en-KR" dirty="0"/>
          </a:p>
          <a:p>
            <a:pPr lvl="1"/>
            <a:endParaRPr lang="en-KR" dirty="0"/>
          </a:p>
        </p:txBody>
      </p:sp>
      <p:cxnSp>
        <p:nvCxnSpPr>
          <p:cNvPr id="15" name="Straight Connector 14">
            <a:extLst>
              <a:ext uri="{FF2B5EF4-FFF2-40B4-BE49-F238E27FC236}">
                <a16:creationId xmlns:a16="http://schemas.microsoft.com/office/drawing/2014/main" id="{A5A596CC-AFC8-3793-FAAC-E2DDFF2903D8}"/>
              </a:ext>
            </a:extLst>
          </p:cNvPr>
          <p:cNvCxnSpPr>
            <a:cxnSpLocks/>
          </p:cNvCxnSpPr>
          <p:nvPr/>
        </p:nvCxnSpPr>
        <p:spPr>
          <a:xfrm>
            <a:off x="3892355" y="3891355"/>
            <a:ext cx="4407290" cy="0"/>
          </a:xfrm>
          <a:prstGeom prst="line">
            <a:avLst/>
          </a:prstGeom>
          <a:ln w="12700"/>
        </p:spPr>
        <p:style>
          <a:lnRef idx="2">
            <a:schemeClr val="dk1"/>
          </a:lnRef>
          <a:fillRef idx="0">
            <a:schemeClr val="dk1"/>
          </a:fillRef>
          <a:effectRef idx="1">
            <a:schemeClr val="dk1"/>
          </a:effectRef>
          <a:fontRef idx="minor">
            <a:schemeClr val="tx1"/>
          </a:fontRef>
        </p:style>
      </p:cxnSp>
      <p:cxnSp>
        <p:nvCxnSpPr>
          <p:cNvPr id="17" name="Straight Connector 16">
            <a:extLst>
              <a:ext uri="{FF2B5EF4-FFF2-40B4-BE49-F238E27FC236}">
                <a16:creationId xmlns:a16="http://schemas.microsoft.com/office/drawing/2014/main" id="{08C37F65-A0AB-CFFF-F7A1-80F7BC698A01}"/>
              </a:ext>
            </a:extLst>
          </p:cNvPr>
          <p:cNvCxnSpPr>
            <a:cxnSpLocks/>
          </p:cNvCxnSpPr>
          <p:nvPr/>
        </p:nvCxnSpPr>
        <p:spPr>
          <a:xfrm>
            <a:off x="3892355" y="5068159"/>
            <a:ext cx="4407290" cy="0"/>
          </a:xfrm>
          <a:prstGeom prst="line">
            <a:avLst/>
          </a:prstGeom>
          <a:ln w="12700"/>
        </p:spPr>
        <p:style>
          <a:lnRef idx="2">
            <a:schemeClr val="dk1"/>
          </a:lnRef>
          <a:fillRef idx="0">
            <a:schemeClr val="dk1"/>
          </a:fillRef>
          <a:effectRef idx="1">
            <a:schemeClr val="dk1"/>
          </a:effectRef>
          <a:fontRef idx="minor">
            <a:schemeClr val="tx1"/>
          </a:fontRef>
        </p:style>
      </p:cxnSp>
      <p:cxnSp>
        <p:nvCxnSpPr>
          <p:cNvPr id="18" name="Straight Connector 17">
            <a:extLst>
              <a:ext uri="{FF2B5EF4-FFF2-40B4-BE49-F238E27FC236}">
                <a16:creationId xmlns:a16="http://schemas.microsoft.com/office/drawing/2014/main" id="{6F410EBF-8382-C554-C5E4-9B02A1CA321C}"/>
              </a:ext>
            </a:extLst>
          </p:cNvPr>
          <p:cNvCxnSpPr>
            <a:cxnSpLocks/>
          </p:cNvCxnSpPr>
          <p:nvPr/>
        </p:nvCxnSpPr>
        <p:spPr>
          <a:xfrm>
            <a:off x="6185290" y="2465150"/>
            <a:ext cx="0" cy="2684366"/>
          </a:xfrm>
          <a:prstGeom prst="line">
            <a:avLst/>
          </a:prstGeom>
          <a:ln w="12700"/>
        </p:spPr>
        <p:style>
          <a:lnRef idx="2">
            <a:schemeClr val="dk1"/>
          </a:lnRef>
          <a:fillRef idx="0">
            <a:schemeClr val="dk1"/>
          </a:fillRef>
          <a:effectRef idx="1">
            <a:schemeClr val="dk1"/>
          </a:effectRef>
          <a:fontRef idx="minor">
            <a:schemeClr val="tx1"/>
          </a:fontRef>
        </p:style>
      </p:cxnSp>
      <p:cxnSp>
        <p:nvCxnSpPr>
          <p:cNvPr id="21" name="Straight Connector 20">
            <a:extLst>
              <a:ext uri="{FF2B5EF4-FFF2-40B4-BE49-F238E27FC236}">
                <a16:creationId xmlns:a16="http://schemas.microsoft.com/office/drawing/2014/main" id="{259A9005-40EB-14FD-558C-F8AAEE651F62}"/>
              </a:ext>
            </a:extLst>
          </p:cNvPr>
          <p:cNvCxnSpPr>
            <a:cxnSpLocks/>
          </p:cNvCxnSpPr>
          <p:nvPr/>
        </p:nvCxnSpPr>
        <p:spPr>
          <a:xfrm>
            <a:off x="8228367" y="2465150"/>
            <a:ext cx="0" cy="2684366"/>
          </a:xfrm>
          <a:prstGeom prst="line">
            <a:avLst/>
          </a:prstGeom>
          <a:ln w="12700"/>
        </p:spPr>
        <p:style>
          <a:lnRef idx="2">
            <a:schemeClr val="dk1"/>
          </a:lnRef>
          <a:fillRef idx="0">
            <a:schemeClr val="dk1"/>
          </a:fillRef>
          <a:effectRef idx="1">
            <a:schemeClr val="dk1"/>
          </a:effectRef>
          <a:fontRef idx="minor">
            <a:schemeClr val="tx1"/>
          </a:fontRef>
        </p:style>
      </p:cxnSp>
      <p:sp>
        <p:nvSpPr>
          <p:cNvPr id="3" name="Rectangle 2">
            <a:extLst>
              <a:ext uri="{FF2B5EF4-FFF2-40B4-BE49-F238E27FC236}">
                <a16:creationId xmlns:a16="http://schemas.microsoft.com/office/drawing/2014/main" id="{7F97D221-B256-1D87-855F-22BFB7EF44B7}"/>
              </a:ext>
            </a:extLst>
          </p:cNvPr>
          <p:cNvSpPr/>
          <p:nvPr/>
        </p:nvSpPr>
        <p:spPr>
          <a:xfrm>
            <a:off x="4041994" y="3807333"/>
            <a:ext cx="103986" cy="1353912"/>
          </a:xfrm>
          <a:prstGeom prst="rect">
            <a:avLst/>
          </a:prstGeom>
          <a:solidFill>
            <a:srgbClr val="C00000"/>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12" name="TextBox 11">
            <a:extLst>
              <a:ext uri="{FF2B5EF4-FFF2-40B4-BE49-F238E27FC236}">
                <a16:creationId xmlns:a16="http://schemas.microsoft.com/office/drawing/2014/main" id="{E60281A4-2F2D-5801-3C5A-4FD7F7EA108B}"/>
              </a:ext>
            </a:extLst>
          </p:cNvPr>
          <p:cNvSpPr txBox="1"/>
          <p:nvPr/>
        </p:nvSpPr>
        <p:spPr>
          <a:xfrm rot="5400000">
            <a:off x="3745639" y="4348878"/>
            <a:ext cx="1008609" cy="261610"/>
          </a:xfrm>
          <a:prstGeom prst="rect">
            <a:avLst/>
          </a:prstGeom>
          <a:noFill/>
        </p:spPr>
        <p:txBody>
          <a:bodyPr wrap="none" rtlCol="0">
            <a:spAutoFit/>
          </a:bodyPr>
          <a:lstStyle/>
          <a:p>
            <a:r>
              <a:rPr lang="en-KR" sz="1100" dirty="0">
                <a:solidFill>
                  <a:srgbClr val="C00000"/>
                </a:solidFill>
              </a:rPr>
              <a:t>(4096=64x64)</a:t>
            </a:r>
          </a:p>
        </p:txBody>
      </p:sp>
    </p:spTree>
    <p:extLst>
      <p:ext uri="{BB962C8B-B14F-4D97-AF65-F5344CB8AC3E}">
        <p14:creationId xmlns:p14="http://schemas.microsoft.com/office/powerpoint/2010/main" val="17822269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29CE2-0966-A4EB-0B16-F97F544E226D}"/>
              </a:ext>
            </a:extLst>
          </p:cNvPr>
          <p:cNvSpPr>
            <a:spLocks noGrp="1"/>
          </p:cNvSpPr>
          <p:nvPr>
            <p:ph type="title"/>
          </p:nvPr>
        </p:nvSpPr>
        <p:spPr/>
        <p:txBody>
          <a:bodyPr/>
          <a:lstStyle/>
          <a:p>
            <a:r>
              <a:rPr lang="en-US" dirty="0"/>
              <a:t>Experiment Results</a:t>
            </a:r>
            <a:endParaRPr lang="en-KR" dirty="0"/>
          </a:p>
        </p:txBody>
      </p:sp>
      <p:sp>
        <p:nvSpPr>
          <p:cNvPr id="3" name="Content Placeholder 2">
            <a:extLst>
              <a:ext uri="{FF2B5EF4-FFF2-40B4-BE49-F238E27FC236}">
                <a16:creationId xmlns:a16="http://schemas.microsoft.com/office/drawing/2014/main" id="{21001E13-CC88-DB2A-78C7-874B52485A26}"/>
              </a:ext>
            </a:extLst>
          </p:cNvPr>
          <p:cNvSpPr>
            <a:spLocks noGrp="1"/>
          </p:cNvSpPr>
          <p:nvPr>
            <p:ph idx="1"/>
          </p:nvPr>
        </p:nvSpPr>
        <p:spPr>
          <a:xfrm>
            <a:off x="365126" y="1137958"/>
            <a:ext cx="11416878" cy="1137729"/>
          </a:xfrm>
        </p:spPr>
        <p:txBody>
          <a:bodyPr/>
          <a:lstStyle/>
          <a:p>
            <a:r>
              <a:rPr lang="en-KR" dirty="0"/>
              <a:t>BAGEL</a:t>
            </a:r>
            <a:r>
              <a:rPr lang="ko-KR" altLang="en-US" dirty="0"/>
              <a:t> 모델에서</a:t>
            </a:r>
            <a:r>
              <a:rPr lang="en-US" altLang="ko-KR" dirty="0"/>
              <a:t> Q-K attention map</a:t>
            </a:r>
            <a:r>
              <a:rPr lang="ko-KR" altLang="en-US" dirty="0"/>
              <a:t> 확인</a:t>
            </a:r>
            <a:endParaRPr lang="en-KR" dirty="0"/>
          </a:p>
          <a:p>
            <a:pPr lvl="1"/>
            <a:r>
              <a:rPr lang="en-US" dirty="0" err="1"/>
              <a:t>EraseAnything</a:t>
            </a:r>
            <a:r>
              <a:rPr lang="ko-KR" altLang="en-US" dirty="0"/>
              <a:t>에서 </a:t>
            </a:r>
            <a:r>
              <a:rPr lang="en-US" dirty="0"/>
              <a:t>FLUX</a:t>
            </a:r>
            <a:r>
              <a:rPr lang="ko-KR" altLang="en-US" dirty="0"/>
              <a:t>의 </a:t>
            </a:r>
            <a:r>
              <a:rPr lang="en-US" dirty="0"/>
              <a:t>Self-Attention</a:t>
            </a:r>
            <a:r>
              <a:rPr lang="ko-KR" altLang="en-US" dirty="0"/>
              <a:t>이 </a:t>
            </a:r>
            <a:r>
              <a:rPr lang="en-US" dirty="0"/>
              <a:t>Cross attention</a:t>
            </a:r>
            <a:r>
              <a:rPr lang="ko-KR" altLang="en-US" dirty="0" err="1"/>
              <a:t>처럼</a:t>
            </a:r>
            <a:r>
              <a:rPr lang="ko-KR" altLang="en-US" dirty="0"/>
              <a:t> 토큰 별로 특정한 위치에 영향을 준다는 사실을 발견함</a:t>
            </a:r>
            <a:r>
              <a:rPr lang="en-US" altLang="ko-KR" dirty="0"/>
              <a:t>.</a:t>
            </a:r>
          </a:p>
          <a:p>
            <a:pPr lvl="1"/>
            <a:r>
              <a:rPr lang="en-US" dirty="0"/>
              <a:t>BAGEL </a:t>
            </a:r>
            <a:r>
              <a:rPr lang="ko-KR" altLang="en-US" dirty="0"/>
              <a:t>모델에서도 동일 현상이 발생하는지 확인하면</a:t>
            </a:r>
            <a:r>
              <a:rPr lang="en-US" altLang="ko-KR" dirty="0"/>
              <a:t>, </a:t>
            </a:r>
            <a:r>
              <a:rPr lang="en-US" dirty="0" err="1"/>
              <a:t>W_q</a:t>
            </a:r>
            <a:r>
              <a:rPr lang="en-US" dirty="0"/>
              <a:t>, </a:t>
            </a:r>
            <a:r>
              <a:rPr lang="en-US" dirty="0" err="1"/>
              <a:t>W_k</a:t>
            </a:r>
            <a:r>
              <a:rPr lang="ko-KR" altLang="en-US" dirty="0" err="1"/>
              <a:t>를</a:t>
            </a:r>
            <a:r>
              <a:rPr lang="ko-KR" altLang="en-US" dirty="0"/>
              <a:t> 대상으로 </a:t>
            </a:r>
            <a:r>
              <a:rPr lang="en-US" dirty="0"/>
              <a:t>concept erasing</a:t>
            </a:r>
            <a:r>
              <a:rPr lang="ko-KR" altLang="en-US" dirty="0"/>
              <a:t>을 진행하는 근거를 확보할 수 있음</a:t>
            </a:r>
            <a:r>
              <a:rPr lang="en-US" altLang="ko-KR" dirty="0"/>
              <a:t>.</a:t>
            </a:r>
          </a:p>
          <a:p>
            <a:endParaRPr lang="en-KR" dirty="0"/>
          </a:p>
        </p:txBody>
      </p:sp>
      <p:pic>
        <p:nvPicPr>
          <p:cNvPr id="5" name="Picture 4" descr="A person in a dress looking at herself in a mirror&#10;&#10;AI-generated content may be incorrect.">
            <a:extLst>
              <a:ext uri="{FF2B5EF4-FFF2-40B4-BE49-F238E27FC236}">
                <a16:creationId xmlns:a16="http://schemas.microsoft.com/office/drawing/2014/main" id="{C75BB81D-2507-7B38-2C30-D282C0B38594}"/>
              </a:ext>
            </a:extLst>
          </p:cNvPr>
          <p:cNvPicPr>
            <a:picLocks noChangeAspect="1"/>
          </p:cNvPicPr>
          <p:nvPr/>
        </p:nvPicPr>
        <p:blipFill>
          <a:blip r:embed="rId2"/>
          <a:stretch>
            <a:fillRect/>
          </a:stretch>
        </p:blipFill>
        <p:spPr>
          <a:xfrm>
            <a:off x="300980" y="2899611"/>
            <a:ext cx="2174278" cy="2174278"/>
          </a:xfrm>
          <a:prstGeom prst="rect">
            <a:avLst/>
          </a:prstGeom>
        </p:spPr>
      </p:pic>
      <p:pic>
        <p:nvPicPr>
          <p:cNvPr id="7" name="Picture 6" descr="A collage of images of a person&#10;&#10;AI-generated content may be incorrect.">
            <a:extLst>
              <a:ext uri="{FF2B5EF4-FFF2-40B4-BE49-F238E27FC236}">
                <a16:creationId xmlns:a16="http://schemas.microsoft.com/office/drawing/2014/main" id="{364CEE28-EC29-9312-7F86-36BEBABC0429}"/>
              </a:ext>
            </a:extLst>
          </p:cNvPr>
          <p:cNvPicPr>
            <a:picLocks noChangeAspect="1"/>
          </p:cNvPicPr>
          <p:nvPr/>
        </p:nvPicPr>
        <p:blipFill>
          <a:blip r:embed="rId3"/>
          <a:stretch>
            <a:fillRect/>
          </a:stretch>
        </p:blipFill>
        <p:spPr>
          <a:xfrm>
            <a:off x="2653823" y="2798122"/>
            <a:ext cx="9237197" cy="3462008"/>
          </a:xfrm>
          <a:prstGeom prst="rect">
            <a:avLst/>
          </a:prstGeom>
        </p:spPr>
      </p:pic>
      <p:sp>
        <p:nvSpPr>
          <p:cNvPr id="8" name="TextBox 7">
            <a:extLst>
              <a:ext uri="{FF2B5EF4-FFF2-40B4-BE49-F238E27FC236}">
                <a16:creationId xmlns:a16="http://schemas.microsoft.com/office/drawing/2014/main" id="{AC9B1BA0-774B-A17D-64CE-DF9CE22842C6}"/>
              </a:ext>
            </a:extLst>
          </p:cNvPr>
          <p:cNvSpPr txBox="1"/>
          <p:nvPr/>
        </p:nvSpPr>
        <p:spPr>
          <a:xfrm>
            <a:off x="256109" y="5119878"/>
            <a:ext cx="2288697" cy="769441"/>
          </a:xfrm>
          <a:prstGeom prst="rect">
            <a:avLst/>
          </a:prstGeom>
          <a:noFill/>
        </p:spPr>
        <p:txBody>
          <a:bodyPr wrap="square" rtlCol="0">
            <a:spAutoFit/>
          </a:bodyPr>
          <a:lstStyle/>
          <a:p>
            <a:r>
              <a:rPr lang="en-US" sz="1100" dirty="0"/>
              <a:t>"Woman wearing a neckless and a dress standing in front of a mirror, near a bed”</a:t>
            </a:r>
          </a:p>
          <a:p>
            <a:r>
              <a:rPr lang="en-US" sz="1100" dirty="0"/>
              <a:t>(timestep 27, layer 13)</a:t>
            </a:r>
            <a:endParaRPr lang="en-KR" sz="1100" dirty="0"/>
          </a:p>
        </p:txBody>
      </p:sp>
    </p:spTree>
    <p:extLst>
      <p:ext uri="{BB962C8B-B14F-4D97-AF65-F5344CB8AC3E}">
        <p14:creationId xmlns:p14="http://schemas.microsoft.com/office/powerpoint/2010/main" val="28226844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F675D-0355-00F7-FB2C-645C3AB71BAB}"/>
            </a:ext>
          </a:extLst>
        </p:cNvPr>
        <p:cNvGrpSpPr/>
        <p:nvPr/>
      </p:nvGrpSpPr>
      <p:grpSpPr>
        <a:xfrm>
          <a:off x="0" y="0"/>
          <a:ext cx="0" cy="0"/>
          <a:chOff x="0" y="0"/>
          <a:chExt cx="0" cy="0"/>
        </a:xfrm>
      </p:grpSpPr>
      <p:pic>
        <p:nvPicPr>
          <p:cNvPr id="6" name="Picture 5" descr="A blue and yellow cat characters shaking hands&#10;&#10;AI-generated content may be incorrect.">
            <a:extLst>
              <a:ext uri="{FF2B5EF4-FFF2-40B4-BE49-F238E27FC236}">
                <a16:creationId xmlns:a16="http://schemas.microsoft.com/office/drawing/2014/main" id="{29DA589E-797F-06A3-8C50-800337937DA5}"/>
              </a:ext>
            </a:extLst>
          </p:cNvPr>
          <p:cNvPicPr>
            <a:picLocks noChangeAspect="1"/>
          </p:cNvPicPr>
          <p:nvPr/>
        </p:nvPicPr>
        <p:blipFill>
          <a:blip r:embed="rId2"/>
          <a:stretch>
            <a:fillRect/>
          </a:stretch>
        </p:blipFill>
        <p:spPr>
          <a:xfrm>
            <a:off x="300980" y="2899611"/>
            <a:ext cx="2174278" cy="2174278"/>
          </a:xfrm>
          <a:prstGeom prst="rect">
            <a:avLst/>
          </a:prstGeom>
        </p:spPr>
      </p:pic>
      <p:sp>
        <p:nvSpPr>
          <p:cNvPr id="2" name="Title 1">
            <a:extLst>
              <a:ext uri="{FF2B5EF4-FFF2-40B4-BE49-F238E27FC236}">
                <a16:creationId xmlns:a16="http://schemas.microsoft.com/office/drawing/2014/main" id="{24629F66-7B43-EA15-3C94-022B8F7E9282}"/>
              </a:ext>
            </a:extLst>
          </p:cNvPr>
          <p:cNvSpPr>
            <a:spLocks noGrp="1"/>
          </p:cNvSpPr>
          <p:nvPr>
            <p:ph type="title"/>
          </p:nvPr>
        </p:nvSpPr>
        <p:spPr/>
        <p:txBody>
          <a:bodyPr/>
          <a:lstStyle/>
          <a:p>
            <a:r>
              <a:rPr lang="en-US" dirty="0"/>
              <a:t>Experiment Results</a:t>
            </a:r>
            <a:endParaRPr lang="en-KR" dirty="0"/>
          </a:p>
        </p:txBody>
      </p:sp>
      <p:sp>
        <p:nvSpPr>
          <p:cNvPr id="3" name="Content Placeholder 2">
            <a:extLst>
              <a:ext uri="{FF2B5EF4-FFF2-40B4-BE49-F238E27FC236}">
                <a16:creationId xmlns:a16="http://schemas.microsoft.com/office/drawing/2014/main" id="{1D658CC0-947B-2474-5E04-A47F9D9991E5}"/>
              </a:ext>
            </a:extLst>
          </p:cNvPr>
          <p:cNvSpPr>
            <a:spLocks noGrp="1"/>
          </p:cNvSpPr>
          <p:nvPr>
            <p:ph idx="1"/>
          </p:nvPr>
        </p:nvSpPr>
        <p:spPr>
          <a:xfrm>
            <a:off x="365126" y="1137958"/>
            <a:ext cx="11416878" cy="1502114"/>
          </a:xfrm>
        </p:spPr>
        <p:txBody>
          <a:bodyPr>
            <a:normAutofit/>
          </a:bodyPr>
          <a:lstStyle/>
          <a:p>
            <a:r>
              <a:rPr lang="en-KR" dirty="0"/>
              <a:t>BAGEL</a:t>
            </a:r>
            <a:r>
              <a:rPr lang="ko-KR" altLang="en-US" dirty="0"/>
              <a:t> 모델에서</a:t>
            </a:r>
            <a:r>
              <a:rPr lang="en-US" altLang="ko-KR" dirty="0"/>
              <a:t> Q-K attention map</a:t>
            </a:r>
            <a:r>
              <a:rPr lang="ko-KR" altLang="en-US" dirty="0"/>
              <a:t> 확인</a:t>
            </a:r>
            <a:endParaRPr lang="en-KR" dirty="0"/>
          </a:p>
          <a:p>
            <a:pPr lvl="1"/>
            <a:r>
              <a:rPr lang="en-US" dirty="0" err="1"/>
              <a:t>EraseAnything</a:t>
            </a:r>
            <a:r>
              <a:rPr lang="ko-KR" altLang="en-US" dirty="0"/>
              <a:t>에서 </a:t>
            </a:r>
            <a:r>
              <a:rPr lang="en-US" dirty="0"/>
              <a:t>FLUX</a:t>
            </a:r>
            <a:r>
              <a:rPr lang="ko-KR" altLang="en-US" dirty="0"/>
              <a:t>의 </a:t>
            </a:r>
            <a:r>
              <a:rPr lang="en-US" dirty="0"/>
              <a:t>Self-Attention</a:t>
            </a:r>
            <a:r>
              <a:rPr lang="ko-KR" altLang="en-US" dirty="0"/>
              <a:t>이 </a:t>
            </a:r>
            <a:r>
              <a:rPr lang="en-US" dirty="0"/>
              <a:t>Cross attention</a:t>
            </a:r>
            <a:r>
              <a:rPr lang="ko-KR" altLang="en-US" dirty="0" err="1"/>
              <a:t>처럼</a:t>
            </a:r>
            <a:r>
              <a:rPr lang="ko-KR" altLang="en-US" dirty="0"/>
              <a:t> 토큰 별로 특정한 위치에 영향을 준다는 사실을 발견함</a:t>
            </a:r>
            <a:r>
              <a:rPr lang="en-US" altLang="ko-KR" dirty="0"/>
              <a:t>.</a:t>
            </a:r>
          </a:p>
          <a:p>
            <a:pPr lvl="1"/>
            <a:r>
              <a:rPr lang="en-US" dirty="0"/>
              <a:t>BAGEL </a:t>
            </a:r>
            <a:r>
              <a:rPr lang="ko-KR" altLang="en-US" dirty="0"/>
              <a:t>모델에서도 동일 현상이 발생하는지 확인하면</a:t>
            </a:r>
            <a:r>
              <a:rPr lang="en-US" altLang="ko-KR" dirty="0"/>
              <a:t>, </a:t>
            </a:r>
            <a:r>
              <a:rPr lang="en-US" dirty="0" err="1"/>
              <a:t>W_q</a:t>
            </a:r>
            <a:r>
              <a:rPr lang="en-US" dirty="0"/>
              <a:t>, </a:t>
            </a:r>
            <a:r>
              <a:rPr lang="en-US" dirty="0" err="1"/>
              <a:t>W_k</a:t>
            </a:r>
            <a:r>
              <a:rPr lang="ko-KR" altLang="en-US" dirty="0" err="1"/>
              <a:t>를</a:t>
            </a:r>
            <a:r>
              <a:rPr lang="ko-KR" altLang="en-US" dirty="0"/>
              <a:t> 대상으로 </a:t>
            </a:r>
            <a:r>
              <a:rPr lang="en-US" dirty="0"/>
              <a:t>concept erasing</a:t>
            </a:r>
            <a:r>
              <a:rPr lang="ko-KR" altLang="en-US" dirty="0"/>
              <a:t>을 진행하는 근거를 확보할 수 있음</a:t>
            </a:r>
            <a:r>
              <a:rPr lang="en-US" altLang="ko-KR" dirty="0"/>
              <a:t>.</a:t>
            </a:r>
          </a:p>
          <a:p>
            <a:pPr lvl="1"/>
            <a:r>
              <a:rPr lang="en-KR" dirty="0">
                <a:solidFill>
                  <a:srgbClr val="0070C0"/>
                </a:solidFill>
              </a:rPr>
              <a:t>TODO: QK-V</a:t>
            </a:r>
            <a:r>
              <a:rPr lang="ko-KR" altLang="en-US" dirty="0">
                <a:solidFill>
                  <a:srgbClr val="0070C0"/>
                </a:solidFill>
              </a:rPr>
              <a:t> </a:t>
            </a:r>
            <a:r>
              <a:rPr lang="en-US" altLang="ko-KR" dirty="0">
                <a:solidFill>
                  <a:srgbClr val="0070C0"/>
                </a:solidFill>
              </a:rPr>
              <a:t>attention map</a:t>
            </a:r>
            <a:endParaRPr lang="en-KR" dirty="0">
              <a:solidFill>
                <a:srgbClr val="0070C0"/>
              </a:solidFill>
            </a:endParaRPr>
          </a:p>
        </p:txBody>
      </p:sp>
      <p:sp>
        <p:nvSpPr>
          <p:cNvPr id="8" name="TextBox 7">
            <a:extLst>
              <a:ext uri="{FF2B5EF4-FFF2-40B4-BE49-F238E27FC236}">
                <a16:creationId xmlns:a16="http://schemas.microsoft.com/office/drawing/2014/main" id="{465ABB3F-18A6-5670-1CAE-711AC15BFF7E}"/>
              </a:ext>
            </a:extLst>
          </p:cNvPr>
          <p:cNvSpPr txBox="1"/>
          <p:nvPr/>
        </p:nvSpPr>
        <p:spPr>
          <a:xfrm>
            <a:off x="256109" y="5119878"/>
            <a:ext cx="2288697" cy="600164"/>
          </a:xfrm>
          <a:prstGeom prst="rect">
            <a:avLst/>
          </a:prstGeom>
          <a:noFill/>
        </p:spPr>
        <p:txBody>
          <a:bodyPr wrap="square" rtlCol="0">
            <a:spAutoFit/>
          </a:bodyPr>
          <a:lstStyle/>
          <a:p>
            <a:r>
              <a:rPr lang="en-US" sz="1100" dirty="0"/>
              <a:t>“Yellow cat shake hands with Blue cat”</a:t>
            </a:r>
          </a:p>
          <a:p>
            <a:r>
              <a:rPr lang="en-US" sz="1100" dirty="0"/>
              <a:t>(timestep 27, layer 13)</a:t>
            </a:r>
            <a:endParaRPr lang="en-KR" sz="1100" dirty="0"/>
          </a:p>
        </p:txBody>
      </p:sp>
      <p:pic>
        <p:nvPicPr>
          <p:cNvPr id="10" name="Picture 9" descr="A collage of images of blue and yellow colors&#10;&#10;AI-generated content may be incorrect.">
            <a:extLst>
              <a:ext uri="{FF2B5EF4-FFF2-40B4-BE49-F238E27FC236}">
                <a16:creationId xmlns:a16="http://schemas.microsoft.com/office/drawing/2014/main" id="{7541A011-65B1-92A2-5D8B-FEF30548688F}"/>
              </a:ext>
            </a:extLst>
          </p:cNvPr>
          <p:cNvPicPr>
            <a:picLocks noChangeAspect="1"/>
          </p:cNvPicPr>
          <p:nvPr/>
        </p:nvPicPr>
        <p:blipFill>
          <a:blip r:embed="rId3"/>
          <a:stretch>
            <a:fillRect/>
          </a:stretch>
        </p:blipFill>
        <p:spPr>
          <a:xfrm>
            <a:off x="2653821" y="2812379"/>
            <a:ext cx="9380253" cy="1202731"/>
          </a:xfrm>
          <a:prstGeom prst="rect">
            <a:avLst/>
          </a:prstGeom>
        </p:spPr>
      </p:pic>
    </p:spTree>
    <p:extLst>
      <p:ext uri="{BB962C8B-B14F-4D97-AF65-F5344CB8AC3E}">
        <p14:creationId xmlns:p14="http://schemas.microsoft.com/office/powerpoint/2010/main" val="21629600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2D61B-3A12-730A-45A4-79F16EE53A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9432F4-9DA9-8CAF-A036-6EBFEBF2CD27}"/>
              </a:ext>
            </a:extLst>
          </p:cNvPr>
          <p:cNvSpPr>
            <a:spLocks noGrp="1"/>
          </p:cNvSpPr>
          <p:nvPr>
            <p:ph type="title"/>
          </p:nvPr>
        </p:nvSpPr>
        <p:spPr/>
        <p:txBody>
          <a:bodyPr/>
          <a:lstStyle/>
          <a:p>
            <a:r>
              <a:rPr lang="en-KR" dirty="0"/>
              <a:t>Hypothesis</a:t>
            </a:r>
            <a:r>
              <a:rPr lang="ko-KR" altLang="en-US" dirty="0"/>
              <a:t> </a:t>
            </a:r>
            <a:r>
              <a:rPr lang="en-US" altLang="ko-KR" dirty="0"/>
              <a:t>1</a:t>
            </a:r>
            <a:endParaRPr lang="en-KR" dirty="0"/>
          </a:p>
        </p:txBody>
      </p:sp>
      <p:graphicFrame>
        <p:nvGraphicFramePr>
          <p:cNvPr id="4" name="Content Placeholder 3">
            <a:extLst>
              <a:ext uri="{FF2B5EF4-FFF2-40B4-BE49-F238E27FC236}">
                <a16:creationId xmlns:a16="http://schemas.microsoft.com/office/drawing/2014/main" id="{B5F69BF0-FD2D-2ED1-421C-50C2B1E2E7DC}"/>
              </a:ext>
            </a:extLst>
          </p:cNvPr>
          <p:cNvGraphicFramePr>
            <a:graphicFrameLocks noGrp="1"/>
          </p:cNvGraphicFramePr>
          <p:nvPr>
            <p:ph idx="1"/>
          </p:nvPr>
        </p:nvGraphicFramePr>
        <p:xfrm>
          <a:off x="5233017" y="2390649"/>
          <a:ext cx="4407290" cy="2684366"/>
        </p:xfrm>
        <a:graphic>
          <a:graphicData uri="http://schemas.openxmlformats.org/drawingml/2006/table">
            <a:tbl>
              <a:tblPr firstRow="1" bandRow="1">
                <a:tableStyleId>{5940675A-B579-460E-94D1-54222C63F5DA}</a:tableStyleId>
              </a:tblPr>
              <a:tblGrid>
                <a:gridCol w="2203645">
                  <a:extLst>
                    <a:ext uri="{9D8B030D-6E8A-4147-A177-3AD203B41FA5}">
                      <a16:colId xmlns:a16="http://schemas.microsoft.com/office/drawing/2014/main" val="1276286053"/>
                    </a:ext>
                  </a:extLst>
                </a:gridCol>
                <a:gridCol w="2203645">
                  <a:extLst>
                    <a:ext uri="{9D8B030D-6E8A-4147-A177-3AD203B41FA5}">
                      <a16:colId xmlns:a16="http://schemas.microsoft.com/office/drawing/2014/main" val="226945541"/>
                    </a:ext>
                  </a:extLst>
                </a:gridCol>
              </a:tblGrid>
              <a:tr h="1342183">
                <a:tc>
                  <a:txBody>
                    <a:bodyPr/>
                    <a:lstStyle/>
                    <a:p>
                      <a:endParaRPr lang="en-KR" dirty="0"/>
                    </a:p>
                  </a:txBody>
                  <a:tcPr>
                    <a:solidFill>
                      <a:schemeClr val="bg1">
                        <a:lumMod val="95000"/>
                      </a:schemeClr>
                    </a:solidFill>
                  </a:tcPr>
                </a:tc>
                <a:tc>
                  <a:txBody>
                    <a:bodyPr/>
                    <a:lstStyle/>
                    <a:p>
                      <a:endParaRPr lang="en-KR" dirty="0"/>
                    </a:p>
                  </a:txBody>
                  <a:tcPr>
                    <a:solidFill>
                      <a:schemeClr val="tx2">
                        <a:lumMod val="10000"/>
                        <a:lumOff val="90000"/>
                      </a:schemeClr>
                    </a:solidFill>
                  </a:tcPr>
                </a:tc>
                <a:extLst>
                  <a:ext uri="{0D108BD9-81ED-4DB2-BD59-A6C34878D82A}">
                    <a16:rowId xmlns:a16="http://schemas.microsoft.com/office/drawing/2014/main" val="1767675453"/>
                  </a:ext>
                </a:extLst>
              </a:tr>
              <a:tr h="1342183">
                <a:tc>
                  <a:txBody>
                    <a:bodyPr/>
                    <a:lstStyle/>
                    <a:p>
                      <a:endParaRPr lang="en-KR" dirty="0"/>
                    </a:p>
                  </a:txBody>
                  <a:tcPr>
                    <a:solidFill>
                      <a:schemeClr val="accent2">
                        <a:lumMod val="20000"/>
                        <a:lumOff val="80000"/>
                      </a:schemeClr>
                    </a:solidFill>
                  </a:tcPr>
                </a:tc>
                <a:tc>
                  <a:txBody>
                    <a:bodyPr/>
                    <a:lstStyle/>
                    <a:p>
                      <a:endParaRPr lang="en-KR" dirty="0"/>
                    </a:p>
                  </a:txBody>
                  <a:tcPr>
                    <a:solidFill>
                      <a:schemeClr val="bg1">
                        <a:lumMod val="95000"/>
                      </a:schemeClr>
                    </a:solidFill>
                  </a:tcPr>
                </a:tc>
                <a:extLst>
                  <a:ext uri="{0D108BD9-81ED-4DB2-BD59-A6C34878D82A}">
                    <a16:rowId xmlns:a16="http://schemas.microsoft.com/office/drawing/2014/main" val="3046388620"/>
                  </a:ext>
                </a:extLst>
              </a:tr>
            </a:tbl>
          </a:graphicData>
        </a:graphic>
      </p:graphicFrame>
      <p:sp>
        <p:nvSpPr>
          <p:cNvPr id="5" name="TextBox 4">
            <a:extLst>
              <a:ext uri="{FF2B5EF4-FFF2-40B4-BE49-F238E27FC236}">
                <a16:creationId xmlns:a16="http://schemas.microsoft.com/office/drawing/2014/main" id="{CC0E4D43-CD1B-192F-5AD1-E420E66B29FB}"/>
              </a:ext>
            </a:extLst>
          </p:cNvPr>
          <p:cNvSpPr txBox="1"/>
          <p:nvPr/>
        </p:nvSpPr>
        <p:spPr>
          <a:xfrm>
            <a:off x="4723255" y="2902455"/>
            <a:ext cx="437940" cy="369332"/>
          </a:xfrm>
          <a:prstGeom prst="rect">
            <a:avLst/>
          </a:prstGeom>
          <a:noFill/>
        </p:spPr>
        <p:txBody>
          <a:bodyPr wrap="none" rtlCol="0">
            <a:spAutoFit/>
          </a:bodyPr>
          <a:lstStyle/>
          <a:p>
            <a:r>
              <a:rPr lang="en-US" dirty="0"/>
              <a:t>txt</a:t>
            </a:r>
            <a:endParaRPr lang="en-KR" dirty="0"/>
          </a:p>
        </p:txBody>
      </p:sp>
      <p:sp>
        <p:nvSpPr>
          <p:cNvPr id="6" name="TextBox 5">
            <a:extLst>
              <a:ext uri="{FF2B5EF4-FFF2-40B4-BE49-F238E27FC236}">
                <a16:creationId xmlns:a16="http://schemas.microsoft.com/office/drawing/2014/main" id="{CB41B4A1-7D9D-CEF9-B40E-80A8F6EAC7C2}"/>
              </a:ext>
            </a:extLst>
          </p:cNvPr>
          <p:cNvSpPr txBox="1"/>
          <p:nvPr/>
        </p:nvSpPr>
        <p:spPr>
          <a:xfrm>
            <a:off x="4723255" y="4234662"/>
            <a:ext cx="548548" cy="369332"/>
          </a:xfrm>
          <a:prstGeom prst="rect">
            <a:avLst/>
          </a:prstGeom>
          <a:noFill/>
        </p:spPr>
        <p:txBody>
          <a:bodyPr wrap="none" rtlCol="0">
            <a:spAutoFit/>
          </a:bodyPr>
          <a:lstStyle/>
          <a:p>
            <a:r>
              <a:rPr lang="en-KR" dirty="0"/>
              <a:t>img</a:t>
            </a:r>
          </a:p>
        </p:txBody>
      </p:sp>
      <p:sp>
        <p:nvSpPr>
          <p:cNvPr id="7" name="TextBox 6">
            <a:extLst>
              <a:ext uri="{FF2B5EF4-FFF2-40B4-BE49-F238E27FC236}">
                <a16:creationId xmlns:a16="http://schemas.microsoft.com/office/drawing/2014/main" id="{BB45B45E-F6B6-A5CC-B8C6-6CD866F7B70C}"/>
              </a:ext>
            </a:extLst>
          </p:cNvPr>
          <p:cNvSpPr txBox="1"/>
          <p:nvPr/>
        </p:nvSpPr>
        <p:spPr>
          <a:xfrm>
            <a:off x="6098292" y="5075015"/>
            <a:ext cx="437940" cy="369332"/>
          </a:xfrm>
          <a:prstGeom prst="rect">
            <a:avLst/>
          </a:prstGeom>
          <a:noFill/>
        </p:spPr>
        <p:txBody>
          <a:bodyPr wrap="none" rtlCol="0">
            <a:spAutoFit/>
          </a:bodyPr>
          <a:lstStyle/>
          <a:p>
            <a:r>
              <a:rPr lang="en-KR" dirty="0"/>
              <a:t>txt</a:t>
            </a:r>
          </a:p>
        </p:txBody>
      </p:sp>
      <p:sp>
        <p:nvSpPr>
          <p:cNvPr id="8" name="TextBox 7">
            <a:extLst>
              <a:ext uri="{FF2B5EF4-FFF2-40B4-BE49-F238E27FC236}">
                <a16:creationId xmlns:a16="http://schemas.microsoft.com/office/drawing/2014/main" id="{9BAE8C1E-F1ED-A05A-148F-B76573DB9E69}"/>
              </a:ext>
            </a:extLst>
          </p:cNvPr>
          <p:cNvSpPr txBox="1"/>
          <p:nvPr/>
        </p:nvSpPr>
        <p:spPr>
          <a:xfrm>
            <a:off x="8257100" y="5075015"/>
            <a:ext cx="548548" cy="369332"/>
          </a:xfrm>
          <a:prstGeom prst="rect">
            <a:avLst/>
          </a:prstGeom>
          <a:noFill/>
        </p:spPr>
        <p:txBody>
          <a:bodyPr wrap="none" rtlCol="0">
            <a:spAutoFit/>
          </a:bodyPr>
          <a:lstStyle/>
          <a:p>
            <a:r>
              <a:rPr lang="en-KR" dirty="0"/>
              <a:t>img</a:t>
            </a:r>
          </a:p>
        </p:txBody>
      </p:sp>
      <p:sp>
        <p:nvSpPr>
          <p:cNvPr id="13" name="Content Placeholder 2">
            <a:extLst>
              <a:ext uri="{FF2B5EF4-FFF2-40B4-BE49-F238E27FC236}">
                <a16:creationId xmlns:a16="http://schemas.microsoft.com/office/drawing/2014/main" id="{06028A29-BBE1-15D3-2DDF-6480366911A1}"/>
              </a:ext>
            </a:extLst>
          </p:cNvPr>
          <p:cNvSpPr txBox="1">
            <a:spLocks/>
          </p:cNvSpPr>
          <p:nvPr/>
        </p:nvSpPr>
        <p:spPr>
          <a:xfrm>
            <a:off x="365126" y="1137958"/>
            <a:ext cx="11416878" cy="1521475"/>
          </a:xfrm>
          <a:prstGeom prst="rect">
            <a:avLst/>
          </a:prstGeom>
        </p:spPr>
        <p:txBody>
          <a:bodyPr>
            <a:normAutofit/>
          </a:bodyPr>
          <a:lstStyle>
            <a:lvl1pPr marL="228600" indent="-228600" algn="l" defTabSz="914400" rtl="0" eaLnBrk="1" latinLnBrk="0" hangingPunct="1">
              <a:lnSpc>
                <a:spcPct val="100000"/>
              </a:lnSpc>
              <a:spcBef>
                <a:spcPts val="1000"/>
              </a:spcBef>
              <a:buFont typeface="Arial" panose="020B0604020202020204" pitchFamily="34" charset="0"/>
              <a:buChar char="•"/>
              <a:defRPr sz="1600" b="0" i="0" kern="1200">
                <a:solidFill>
                  <a:schemeClr val="tx1"/>
                </a:solidFill>
                <a:latin typeface="Pretendard" panose="02000503000000020004" pitchFamily="2" charset="-127"/>
                <a:ea typeface="Pretendard" panose="02000503000000020004" pitchFamily="2" charset="-127"/>
                <a:cs typeface="Pretendard" panose="02000503000000020004" pitchFamily="2" charset="-127"/>
              </a:defRPr>
            </a:lvl1pPr>
            <a:lvl2pPr marL="685800" indent="-228600" algn="l" defTabSz="914400" rtl="0" eaLnBrk="1" latinLnBrk="0" hangingPunct="1">
              <a:lnSpc>
                <a:spcPct val="100000"/>
              </a:lnSpc>
              <a:spcBef>
                <a:spcPts val="500"/>
              </a:spcBef>
              <a:buFont typeface="Arial" panose="020B0604020202020204" pitchFamily="34" charset="0"/>
              <a:buChar char="•"/>
              <a:defRPr sz="1400" b="0" i="0" kern="1200">
                <a:solidFill>
                  <a:schemeClr val="tx1"/>
                </a:solidFill>
                <a:latin typeface="Pretendard" panose="02000503000000020004" pitchFamily="2" charset="-127"/>
                <a:ea typeface="Pretendard" panose="02000503000000020004" pitchFamily="2" charset="-127"/>
                <a:cs typeface="Pretendard" panose="02000503000000020004" pitchFamily="2" charset="-127"/>
              </a:defRPr>
            </a:lvl2pPr>
            <a:lvl3pPr marL="1143000" indent="-228600" algn="l" defTabSz="914400" rtl="0" eaLnBrk="1" latinLnBrk="0" hangingPunct="1">
              <a:lnSpc>
                <a:spcPct val="100000"/>
              </a:lnSpc>
              <a:spcBef>
                <a:spcPts val="500"/>
              </a:spcBef>
              <a:buFont typeface="Arial" panose="020B0604020202020204" pitchFamily="34" charset="0"/>
              <a:buChar char="•"/>
              <a:defRPr sz="1200" b="0" i="0" kern="1200">
                <a:solidFill>
                  <a:schemeClr val="tx1"/>
                </a:solidFill>
                <a:latin typeface="Pretendard" panose="02000503000000020004" pitchFamily="2" charset="-127"/>
                <a:ea typeface="Pretendard" panose="02000503000000020004" pitchFamily="2" charset="-127"/>
                <a:cs typeface="Pretendard" panose="02000503000000020004" pitchFamily="2" charset="-127"/>
              </a:defRPr>
            </a:lvl3pPr>
            <a:lvl4pPr marL="1600200" indent="-228600" algn="l" defTabSz="914400" rtl="0" eaLnBrk="1" latinLnBrk="0" hangingPunct="1">
              <a:lnSpc>
                <a:spcPct val="100000"/>
              </a:lnSpc>
              <a:spcBef>
                <a:spcPts val="500"/>
              </a:spcBef>
              <a:buFont typeface="Arial" panose="020B0604020202020204" pitchFamily="34" charset="0"/>
              <a:buChar char="•"/>
              <a:defRPr sz="1100" b="0" i="0" kern="1200">
                <a:solidFill>
                  <a:schemeClr val="tx1"/>
                </a:solidFill>
                <a:latin typeface="Pretendard" panose="02000503000000020004" pitchFamily="2" charset="-127"/>
                <a:ea typeface="Pretendard" panose="02000503000000020004" pitchFamily="2" charset="-127"/>
                <a:cs typeface="Pretendard" panose="02000503000000020004" pitchFamily="2" charset="-127"/>
              </a:defRPr>
            </a:lvl4pPr>
            <a:lvl5pPr marL="2057400" indent="-228600" algn="l" defTabSz="914400" rtl="0" eaLnBrk="1" latinLnBrk="0" hangingPunct="1">
              <a:lnSpc>
                <a:spcPct val="100000"/>
              </a:lnSpc>
              <a:spcBef>
                <a:spcPts val="500"/>
              </a:spcBef>
              <a:buFont typeface="Arial" panose="020B0604020202020204" pitchFamily="34" charset="0"/>
              <a:buChar char="•"/>
              <a:defRPr sz="1100" b="0" i="0" kern="1200">
                <a:solidFill>
                  <a:schemeClr val="tx1"/>
                </a:solidFill>
                <a:latin typeface="Pretendard" panose="02000503000000020004" pitchFamily="2" charset="-127"/>
                <a:ea typeface="Pretendard" panose="02000503000000020004" pitchFamily="2" charset="-127"/>
                <a:cs typeface="Pretendard" panose="02000503000000020004" pitchFamily="2" charset="-12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ko-KR" altLang="en-US" dirty="0"/>
              <a:t>기존 </a:t>
            </a:r>
            <a:r>
              <a:rPr lang="en-US" altLang="ko-KR" dirty="0" err="1"/>
              <a:t>EraseAnything</a:t>
            </a:r>
            <a:r>
              <a:rPr lang="en-US" altLang="ko-KR" dirty="0"/>
              <a:t> </a:t>
            </a:r>
            <a:r>
              <a:rPr lang="ko-KR" altLang="en-US" dirty="0"/>
              <a:t>방식의 문제</a:t>
            </a:r>
            <a:r>
              <a:rPr lang="en-US" altLang="ko-KR" dirty="0"/>
              <a:t>:</a:t>
            </a:r>
            <a:r>
              <a:rPr lang="ko-KR" altLang="en-US" dirty="0"/>
              <a:t> </a:t>
            </a:r>
            <a:endParaRPr lang="en-KR" dirty="0"/>
          </a:p>
        </p:txBody>
      </p:sp>
      <p:cxnSp>
        <p:nvCxnSpPr>
          <p:cNvPr id="15" name="Straight Connector 14">
            <a:extLst>
              <a:ext uri="{FF2B5EF4-FFF2-40B4-BE49-F238E27FC236}">
                <a16:creationId xmlns:a16="http://schemas.microsoft.com/office/drawing/2014/main" id="{FE0007F3-1B14-6806-4813-4949F9BE579C}"/>
              </a:ext>
            </a:extLst>
          </p:cNvPr>
          <p:cNvCxnSpPr>
            <a:cxnSpLocks/>
          </p:cNvCxnSpPr>
          <p:nvPr/>
        </p:nvCxnSpPr>
        <p:spPr>
          <a:xfrm>
            <a:off x="5233017" y="3816854"/>
            <a:ext cx="4407290" cy="0"/>
          </a:xfrm>
          <a:prstGeom prst="line">
            <a:avLst/>
          </a:prstGeom>
          <a:ln w="12700"/>
        </p:spPr>
        <p:style>
          <a:lnRef idx="2">
            <a:schemeClr val="dk1"/>
          </a:lnRef>
          <a:fillRef idx="0">
            <a:schemeClr val="dk1"/>
          </a:fillRef>
          <a:effectRef idx="1">
            <a:schemeClr val="dk1"/>
          </a:effectRef>
          <a:fontRef idx="minor">
            <a:schemeClr val="tx1"/>
          </a:fontRef>
        </p:style>
      </p:cxnSp>
      <p:cxnSp>
        <p:nvCxnSpPr>
          <p:cNvPr id="17" name="Straight Connector 16">
            <a:extLst>
              <a:ext uri="{FF2B5EF4-FFF2-40B4-BE49-F238E27FC236}">
                <a16:creationId xmlns:a16="http://schemas.microsoft.com/office/drawing/2014/main" id="{154EDCD0-E687-DEA0-F35A-EF90509A3D99}"/>
              </a:ext>
            </a:extLst>
          </p:cNvPr>
          <p:cNvCxnSpPr>
            <a:cxnSpLocks/>
          </p:cNvCxnSpPr>
          <p:nvPr/>
        </p:nvCxnSpPr>
        <p:spPr>
          <a:xfrm>
            <a:off x="5233017" y="4993658"/>
            <a:ext cx="4407290" cy="0"/>
          </a:xfrm>
          <a:prstGeom prst="line">
            <a:avLst/>
          </a:prstGeom>
          <a:ln w="12700"/>
        </p:spPr>
        <p:style>
          <a:lnRef idx="2">
            <a:schemeClr val="dk1"/>
          </a:lnRef>
          <a:fillRef idx="0">
            <a:schemeClr val="dk1"/>
          </a:fillRef>
          <a:effectRef idx="1">
            <a:schemeClr val="dk1"/>
          </a:effectRef>
          <a:fontRef idx="minor">
            <a:schemeClr val="tx1"/>
          </a:fontRef>
        </p:style>
      </p:cxnSp>
      <p:cxnSp>
        <p:nvCxnSpPr>
          <p:cNvPr id="18" name="Straight Connector 17">
            <a:extLst>
              <a:ext uri="{FF2B5EF4-FFF2-40B4-BE49-F238E27FC236}">
                <a16:creationId xmlns:a16="http://schemas.microsoft.com/office/drawing/2014/main" id="{D0795C10-611A-DCC0-D498-F004A5CD8C30}"/>
              </a:ext>
            </a:extLst>
          </p:cNvPr>
          <p:cNvCxnSpPr>
            <a:cxnSpLocks/>
          </p:cNvCxnSpPr>
          <p:nvPr/>
        </p:nvCxnSpPr>
        <p:spPr>
          <a:xfrm>
            <a:off x="7525952" y="2390649"/>
            <a:ext cx="0" cy="2684366"/>
          </a:xfrm>
          <a:prstGeom prst="line">
            <a:avLst/>
          </a:prstGeom>
          <a:ln w="12700"/>
        </p:spPr>
        <p:style>
          <a:lnRef idx="2">
            <a:schemeClr val="dk1"/>
          </a:lnRef>
          <a:fillRef idx="0">
            <a:schemeClr val="dk1"/>
          </a:fillRef>
          <a:effectRef idx="1">
            <a:schemeClr val="dk1"/>
          </a:effectRef>
          <a:fontRef idx="minor">
            <a:schemeClr val="tx1"/>
          </a:fontRef>
        </p:style>
      </p:cxnSp>
      <p:cxnSp>
        <p:nvCxnSpPr>
          <p:cNvPr id="21" name="Straight Connector 20">
            <a:extLst>
              <a:ext uri="{FF2B5EF4-FFF2-40B4-BE49-F238E27FC236}">
                <a16:creationId xmlns:a16="http://schemas.microsoft.com/office/drawing/2014/main" id="{09C2BEB5-206A-E271-3352-A616B2AA36E1}"/>
              </a:ext>
            </a:extLst>
          </p:cNvPr>
          <p:cNvCxnSpPr>
            <a:cxnSpLocks/>
          </p:cNvCxnSpPr>
          <p:nvPr/>
        </p:nvCxnSpPr>
        <p:spPr>
          <a:xfrm>
            <a:off x="9569029" y="2390649"/>
            <a:ext cx="0" cy="2684366"/>
          </a:xfrm>
          <a:prstGeom prst="line">
            <a:avLst/>
          </a:prstGeom>
          <a:ln w="12700"/>
        </p:spPr>
        <p:style>
          <a:lnRef idx="2">
            <a:schemeClr val="dk1"/>
          </a:lnRef>
          <a:fillRef idx="0">
            <a:schemeClr val="dk1"/>
          </a:fillRef>
          <a:effectRef idx="1">
            <a:schemeClr val="dk1"/>
          </a:effectRef>
          <a:fontRef idx="minor">
            <a:schemeClr val="tx1"/>
          </a:fontRef>
        </p:style>
      </p:cxnSp>
      <p:pic>
        <p:nvPicPr>
          <p:cNvPr id="3" name="Picture 2">
            <a:extLst>
              <a:ext uri="{FF2B5EF4-FFF2-40B4-BE49-F238E27FC236}">
                <a16:creationId xmlns:a16="http://schemas.microsoft.com/office/drawing/2014/main" id="{94118FE4-3DF4-9C34-A83E-1F3343506EEB}"/>
              </a:ext>
            </a:extLst>
          </p:cNvPr>
          <p:cNvPicPr>
            <a:picLocks noChangeAspect="1"/>
          </p:cNvPicPr>
          <p:nvPr/>
        </p:nvPicPr>
        <p:blipFill>
          <a:blip r:embed="rId2"/>
          <a:srcRect l="26119" t="65484" r="30013"/>
          <a:stretch>
            <a:fillRect/>
          </a:stretch>
        </p:blipFill>
        <p:spPr>
          <a:xfrm>
            <a:off x="1075361" y="3365501"/>
            <a:ext cx="2276217" cy="888955"/>
          </a:xfrm>
          <a:prstGeom prst="rect">
            <a:avLst/>
          </a:prstGeom>
        </p:spPr>
      </p:pic>
      <p:sp>
        <p:nvSpPr>
          <p:cNvPr id="12" name="Rectangle 11">
            <a:extLst>
              <a:ext uri="{FF2B5EF4-FFF2-40B4-BE49-F238E27FC236}">
                <a16:creationId xmlns:a16="http://schemas.microsoft.com/office/drawing/2014/main" id="{009E4CA1-B2DA-545F-E958-9CF703C3898C}"/>
              </a:ext>
            </a:extLst>
          </p:cNvPr>
          <p:cNvSpPr/>
          <p:nvPr/>
        </p:nvSpPr>
        <p:spPr>
          <a:xfrm>
            <a:off x="5513902" y="2390648"/>
            <a:ext cx="86610" cy="2684367"/>
          </a:xfrm>
          <a:prstGeom prst="rect">
            <a:avLst/>
          </a:prstGeom>
          <a:solidFill>
            <a:srgbClr val="C00000"/>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14" name="Rectangle 13">
            <a:extLst>
              <a:ext uri="{FF2B5EF4-FFF2-40B4-BE49-F238E27FC236}">
                <a16:creationId xmlns:a16="http://schemas.microsoft.com/office/drawing/2014/main" id="{57AF9EDC-EC31-5E9A-B1FC-834E6D871702}"/>
              </a:ext>
            </a:extLst>
          </p:cNvPr>
          <p:cNvSpPr/>
          <p:nvPr/>
        </p:nvSpPr>
        <p:spPr>
          <a:xfrm>
            <a:off x="5605728" y="2390647"/>
            <a:ext cx="86610" cy="2684367"/>
          </a:xfrm>
          <a:prstGeom prst="rect">
            <a:avLst/>
          </a:prstGeom>
          <a:solidFill>
            <a:srgbClr val="C00000"/>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16" name="TextBox 15">
            <a:extLst>
              <a:ext uri="{FF2B5EF4-FFF2-40B4-BE49-F238E27FC236}">
                <a16:creationId xmlns:a16="http://schemas.microsoft.com/office/drawing/2014/main" id="{CF1E9B9F-215D-032E-1B91-5C401BA9C2FF}"/>
              </a:ext>
            </a:extLst>
          </p:cNvPr>
          <p:cNvSpPr txBox="1"/>
          <p:nvPr/>
        </p:nvSpPr>
        <p:spPr>
          <a:xfrm>
            <a:off x="4655718" y="5383323"/>
            <a:ext cx="1292662" cy="307777"/>
          </a:xfrm>
          <a:prstGeom prst="rect">
            <a:avLst/>
          </a:prstGeom>
          <a:noFill/>
        </p:spPr>
        <p:txBody>
          <a:bodyPr wrap="none" rtlCol="0">
            <a:spAutoFit/>
          </a:bodyPr>
          <a:lstStyle/>
          <a:p>
            <a:r>
              <a:rPr lang="en-US" sz="1400" i="1" u="sng" dirty="0">
                <a:solidFill>
                  <a:srgbClr val="C00000"/>
                </a:solidFill>
              </a:rPr>
              <a:t>Mickey</a:t>
            </a:r>
            <a:r>
              <a:rPr lang="en-US" sz="1400" i="1" dirty="0">
                <a:solidFill>
                  <a:srgbClr val="C00000"/>
                </a:solidFill>
              </a:rPr>
              <a:t> </a:t>
            </a:r>
            <a:r>
              <a:rPr lang="en-US" sz="1400" i="1" u="sng" dirty="0">
                <a:solidFill>
                  <a:srgbClr val="C00000"/>
                </a:solidFill>
              </a:rPr>
              <a:t>mouse</a:t>
            </a:r>
            <a:endParaRPr lang="en-KR" sz="1400" i="1" u="sng" dirty="0">
              <a:solidFill>
                <a:srgbClr val="C00000"/>
              </a:solidFill>
            </a:endParaRPr>
          </a:p>
        </p:txBody>
      </p:sp>
      <p:cxnSp>
        <p:nvCxnSpPr>
          <p:cNvPr id="19" name="Straight Connector 18">
            <a:extLst>
              <a:ext uri="{FF2B5EF4-FFF2-40B4-BE49-F238E27FC236}">
                <a16:creationId xmlns:a16="http://schemas.microsoft.com/office/drawing/2014/main" id="{293A024D-170E-799D-BB35-46395D78C661}"/>
              </a:ext>
            </a:extLst>
          </p:cNvPr>
          <p:cNvCxnSpPr>
            <a:cxnSpLocks/>
          </p:cNvCxnSpPr>
          <p:nvPr/>
        </p:nvCxnSpPr>
        <p:spPr>
          <a:xfrm flipH="1">
            <a:off x="5021338" y="5075014"/>
            <a:ext cx="538477" cy="369333"/>
          </a:xfrm>
          <a:prstGeom prst="line">
            <a:avLst/>
          </a:prstGeom>
          <a:ln w="12700"/>
        </p:spPr>
        <p:style>
          <a:lnRef idx="2">
            <a:schemeClr val="dk1"/>
          </a:lnRef>
          <a:fillRef idx="0">
            <a:schemeClr val="dk1"/>
          </a:fillRef>
          <a:effectRef idx="1">
            <a:schemeClr val="dk1"/>
          </a:effectRef>
          <a:fontRef idx="minor">
            <a:schemeClr val="tx1"/>
          </a:fontRef>
        </p:style>
      </p:cxnSp>
      <p:cxnSp>
        <p:nvCxnSpPr>
          <p:cNvPr id="23" name="Straight Connector 22">
            <a:extLst>
              <a:ext uri="{FF2B5EF4-FFF2-40B4-BE49-F238E27FC236}">
                <a16:creationId xmlns:a16="http://schemas.microsoft.com/office/drawing/2014/main" id="{757D95D2-5F7E-A246-460E-7BC8C8E5B780}"/>
              </a:ext>
            </a:extLst>
          </p:cNvPr>
          <p:cNvCxnSpPr>
            <a:cxnSpLocks/>
          </p:cNvCxnSpPr>
          <p:nvPr/>
        </p:nvCxnSpPr>
        <p:spPr>
          <a:xfrm>
            <a:off x="5651641" y="5085179"/>
            <a:ext cx="7331" cy="359168"/>
          </a:xfrm>
          <a:prstGeom prst="line">
            <a:avLst/>
          </a:prstGeom>
          <a:ln w="12700"/>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9486114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A2AB6-42AD-3314-9558-250596D898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506FD6-7C89-10FD-45B0-232063737985}"/>
              </a:ext>
            </a:extLst>
          </p:cNvPr>
          <p:cNvSpPr>
            <a:spLocks noGrp="1"/>
          </p:cNvSpPr>
          <p:nvPr>
            <p:ph type="title"/>
          </p:nvPr>
        </p:nvSpPr>
        <p:spPr/>
        <p:txBody>
          <a:bodyPr/>
          <a:lstStyle/>
          <a:p>
            <a:r>
              <a:rPr lang="en-KR" dirty="0"/>
              <a:t>Hypothesis</a:t>
            </a:r>
            <a:r>
              <a:rPr lang="ko-KR" altLang="en-US" dirty="0"/>
              <a:t> </a:t>
            </a:r>
            <a:r>
              <a:rPr lang="en-US" altLang="ko-KR" dirty="0"/>
              <a:t>1</a:t>
            </a:r>
            <a:endParaRPr lang="en-KR" dirty="0"/>
          </a:p>
        </p:txBody>
      </p:sp>
      <p:graphicFrame>
        <p:nvGraphicFramePr>
          <p:cNvPr id="4" name="Content Placeholder 3">
            <a:extLst>
              <a:ext uri="{FF2B5EF4-FFF2-40B4-BE49-F238E27FC236}">
                <a16:creationId xmlns:a16="http://schemas.microsoft.com/office/drawing/2014/main" id="{27E4864A-6554-96D9-6566-F8D87E5A170F}"/>
              </a:ext>
            </a:extLst>
          </p:cNvPr>
          <p:cNvGraphicFramePr>
            <a:graphicFrameLocks noGrp="1"/>
          </p:cNvGraphicFramePr>
          <p:nvPr>
            <p:ph idx="1"/>
            <p:extLst>
              <p:ext uri="{D42A27DB-BD31-4B8C-83A1-F6EECF244321}">
                <p14:modId xmlns:p14="http://schemas.microsoft.com/office/powerpoint/2010/main" val="630551552"/>
              </p:ext>
            </p:extLst>
          </p:nvPr>
        </p:nvGraphicFramePr>
        <p:xfrm>
          <a:off x="5233017" y="2390649"/>
          <a:ext cx="4407290" cy="2684366"/>
        </p:xfrm>
        <a:graphic>
          <a:graphicData uri="http://schemas.openxmlformats.org/drawingml/2006/table">
            <a:tbl>
              <a:tblPr firstRow="1" bandRow="1">
                <a:tableStyleId>{5940675A-B579-460E-94D1-54222C63F5DA}</a:tableStyleId>
              </a:tblPr>
              <a:tblGrid>
                <a:gridCol w="2203645">
                  <a:extLst>
                    <a:ext uri="{9D8B030D-6E8A-4147-A177-3AD203B41FA5}">
                      <a16:colId xmlns:a16="http://schemas.microsoft.com/office/drawing/2014/main" val="1276286053"/>
                    </a:ext>
                  </a:extLst>
                </a:gridCol>
                <a:gridCol w="2203645">
                  <a:extLst>
                    <a:ext uri="{9D8B030D-6E8A-4147-A177-3AD203B41FA5}">
                      <a16:colId xmlns:a16="http://schemas.microsoft.com/office/drawing/2014/main" val="226945541"/>
                    </a:ext>
                  </a:extLst>
                </a:gridCol>
              </a:tblGrid>
              <a:tr h="1342183">
                <a:tc>
                  <a:txBody>
                    <a:bodyPr/>
                    <a:lstStyle/>
                    <a:p>
                      <a:endParaRPr lang="en-KR" dirty="0"/>
                    </a:p>
                  </a:txBody>
                  <a:tcPr>
                    <a:solidFill>
                      <a:schemeClr val="bg1">
                        <a:lumMod val="95000"/>
                      </a:schemeClr>
                    </a:solidFill>
                  </a:tcPr>
                </a:tc>
                <a:tc>
                  <a:txBody>
                    <a:bodyPr/>
                    <a:lstStyle/>
                    <a:p>
                      <a:endParaRPr lang="en-KR" dirty="0"/>
                    </a:p>
                  </a:txBody>
                  <a:tcPr>
                    <a:solidFill>
                      <a:schemeClr val="tx2">
                        <a:lumMod val="10000"/>
                        <a:lumOff val="90000"/>
                      </a:schemeClr>
                    </a:solidFill>
                  </a:tcPr>
                </a:tc>
                <a:extLst>
                  <a:ext uri="{0D108BD9-81ED-4DB2-BD59-A6C34878D82A}">
                    <a16:rowId xmlns:a16="http://schemas.microsoft.com/office/drawing/2014/main" val="1767675453"/>
                  </a:ext>
                </a:extLst>
              </a:tr>
              <a:tr h="1342183">
                <a:tc>
                  <a:txBody>
                    <a:bodyPr/>
                    <a:lstStyle/>
                    <a:p>
                      <a:endParaRPr lang="en-KR" dirty="0"/>
                    </a:p>
                  </a:txBody>
                  <a:tcPr>
                    <a:solidFill>
                      <a:schemeClr val="accent2">
                        <a:lumMod val="20000"/>
                        <a:lumOff val="80000"/>
                      </a:schemeClr>
                    </a:solidFill>
                  </a:tcPr>
                </a:tc>
                <a:tc>
                  <a:txBody>
                    <a:bodyPr/>
                    <a:lstStyle/>
                    <a:p>
                      <a:endParaRPr lang="en-KR" dirty="0"/>
                    </a:p>
                  </a:txBody>
                  <a:tcPr>
                    <a:solidFill>
                      <a:schemeClr val="bg1">
                        <a:lumMod val="95000"/>
                      </a:schemeClr>
                    </a:solidFill>
                  </a:tcPr>
                </a:tc>
                <a:extLst>
                  <a:ext uri="{0D108BD9-81ED-4DB2-BD59-A6C34878D82A}">
                    <a16:rowId xmlns:a16="http://schemas.microsoft.com/office/drawing/2014/main" val="3046388620"/>
                  </a:ext>
                </a:extLst>
              </a:tr>
            </a:tbl>
          </a:graphicData>
        </a:graphic>
      </p:graphicFrame>
      <p:sp>
        <p:nvSpPr>
          <p:cNvPr id="5" name="TextBox 4">
            <a:extLst>
              <a:ext uri="{FF2B5EF4-FFF2-40B4-BE49-F238E27FC236}">
                <a16:creationId xmlns:a16="http://schemas.microsoft.com/office/drawing/2014/main" id="{9984AAA9-C510-C8A1-7895-C517CD285A77}"/>
              </a:ext>
            </a:extLst>
          </p:cNvPr>
          <p:cNvSpPr txBox="1"/>
          <p:nvPr/>
        </p:nvSpPr>
        <p:spPr>
          <a:xfrm>
            <a:off x="4723255" y="2902455"/>
            <a:ext cx="437940" cy="369332"/>
          </a:xfrm>
          <a:prstGeom prst="rect">
            <a:avLst/>
          </a:prstGeom>
          <a:noFill/>
        </p:spPr>
        <p:txBody>
          <a:bodyPr wrap="none" rtlCol="0">
            <a:spAutoFit/>
          </a:bodyPr>
          <a:lstStyle/>
          <a:p>
            <a:r>
              <a:rPr lang="en-US" dirty="0"/>
              <a:t>txt</a:t>
            </a:r>
            <a:endParaRPr lang="en-KR" dirty="0"/>
          </a:p>
        </p:txBody>
      </p:sp>
      <p:sp>
        <p:nvSpPr>
          <p:cNvPr id="6" name="TextBox 5">
            <a:extLst>
              <a:ext uri="{FF2B5EF4-FFF2-40B4-BE49-F238E27FC236}">
                <a16:creationId xmlns:a16="http://schemas.microsoft.com/office/drawing/2014/main" id="{A0C28049-CA29-9A97-8872-3FDF63E1933F}"/>
              </a:ext>
            </a:extLst>
          </p:cNvPr>
          <p:cNvSpPr txBox="1"/>
          <p:nvPr/>
        </p:nvSpPr>
        <p:spPr>
          <a:xfrm>
            <a:off x="4723255" y="4234662"/>
            <a:ext cx="548548" cy="369332"/>
          </a:xfrm>
          <a:prstGeom prst="rect">
            <a:avLst/>
          </a:prstGeom>
          <a:noFill/>
        </p:spPr>
        <p:txBody>
          <a:bodyPr wrap="none" rtlCol="0">
            <a:spAutoFit/>
          </a:bodyPr>
          <a:lstStyle/>
          <a:p>
            <a:r>
              <a:rPr lang="en-KR" dirty="0"/>
              <a:t>img</a:t>
            </a:r>
          </a:p>
        </p:txBody>
      </p:sp>
      <p:sp>
        <p:nvSpPr>
          <p:cNvPr id="7" name="TextBox 6">
            <a:extLst>
              <a:ext uri="{FF2B5EF4-FFF2-40B4-BE49-F238E27FC236}">
                <a16:creationId xmlns:a16="http://schemas.microsoft.com/office/drawing/2014/main" id="{B9DD2582-28DF-A056-95C9-6D49ABF22CEE}"/>
              </a:ext>
            </a:extLst>
          </p:cNvPr>
          <p:cNvSpPr txBox="1"/>
          <p:nvPr/>
        </p:nvSpPr>
        <p:spPr>
          <a:xfrm>
            <a:off x="6098292" y="5075015"/>
            <a:ext cx="437940" cy="369332"/>
          </a:xfrm>
          <a:prstGeom prst="rect">
            <a:avLst/>
          </a:prstGeom>
          <a:noFill/>
        </p:spPr>
        <p:txBody>
          <a:bodyPr wrap="none" rtlCol="0">
            <a:spAutoFit/>
          </a:bodyPr>
          <a:lstStyle/>
          <a:p>
            <a:r>
              <a:rPr lang="en-KR" dirty="0"/>
              <a:t>txt</a:t>
            </a:r>
          </a:p>
        </p:txBody>
      </p:sp>
      <p:sp>
        <p:nvSpPr>
          <p:cNvPr id="8" name="TextBox 7">
            <a:extLst>
              <a:ext uri="{FF2B5EF4-FFF2-40B4-BE49-F238E27FC236}">
                <a16:creationId xmlns:a16="http://schemas.microsoft.com/office/drawing/2014/main" id="{7BF1C28B-E35D-530C-E6B1-87FA810C4CA7}"/>
              </a:ext>
            </a:extLst>
          </p:cNvPr>
          <p:cNvSpPr txBox="1"/>
          <p:nvPr/>
        </p:nvSpPr>
        <p:spPr>
          <a:xfrm>
            <a:off x="8257100" y="5075015"/>
            <a:ext cx="548548" cy="369332"/>
          </a:xfrm>
          <a:prstGeom prst="rect">
            <a:avLst/>
          </a:prstGeom>
          <a:noFill/>
        </p:spPr>
        <p:txBody>
          <a:bodyPr wrap="none" rtlCol="0">
            <a:spAutoFit/>
          </a:bodyPr>
          <a:lstStyle/>
          <a:p>
            <a:r>
              <a:rPr lang="en-KR" dirty="0"/>
              <a:t>img</a:t>
            </a:r>
          </a:p>
        </p:txBody>
      </p:sp>
      <p:sp>
        <p:nvSpPr>
          <p:cNvPr id="13" name="Content Placeholder 2">
            <a:extLst>
              <a:ext uri="{FF2B5EF4-FFF2-40B4-BE49-F238E27FC236}">
                <a16:creationId xmlns:a16="http://schemas.microsoft.com/office/drawing/2014/main" id="{658840C7-2B74-3A0D-D197-6152AE688555}"/>
              </a:ext>
            </a:extLst>
          </p:cNvPr>
          <p:cNvSpPr txBox="1">
            <a:spLocks/>
          </p:cNvSpPr>
          <p:nvPr/>
        </p:nvSpPr>
        <p:spPr>
          <a:xfrm>
            <a:off x="365126" y="1137958"/>
            <a:ext cx="11416878" cy="1521475"/>
          </a:xfrm>
          <a:prstGeom prst="rect">
            <a:avLst/>
          </a:prstGeom>
        </p:spPr>
        <p:txBody>
          <a:bodyPr>
            <a:normAutofit/>
          </a:bodyPr>
          <a:lstStyle>
            <a:lvl1pPr marL="228600" indent="-228600" algn="l" defTabSz="914400" rtl="0" eaLnBrk="1" latinLnBrk="0" hangingPunct="1">
              <a:lnSpc>
                <a:spcPct val="100000"/>
              </a:lnSpc>
              <a:spcBef>
                <a:spcPts val="1000"/>
              </a:spcBef>
              <a:buFont typeface="Arial" panose="020B0604020202020204" pitchFamily="34" charset="0"/>
              <a:buChar char="•"/>
              <a:defRPr sz="1600" b="0" i="0" kern="1200">
                <a:solidFill>
                  <a:schemeClr val="tx1"/>
                </a:solidFill>
                <a:latin typeface="Pretendard" panose="02000503000000020004" pitchFamily="2" charset="-127"/>
                <a:ea typeface="Pretendard" panose="02000503000000020004" pitchFamily="2" charset="-127"/>
                <a:cs typeface="Pretendard" panose="02000503000000020004" pitchFamily="2" charset="-127"/>
              </a:defRPr>
            </a:lvl1pPr>
            <a:lvl2pPr marL="685800" indent="-228600" algn="l" defTabSz="914400" rtl="0" eaLnBrk="1" latinLnBrk="0" hangingPunct="1">
              <a:lnSpc>
                <a:spcPct val="100000"/>
              </a:lnSpc>
              <a:spcBef>
                <a:spcPts val="500"/>
              </a:spcBef>
              <a:buFont typeface="Arial" panose="020B0604020202020204" pitchFamily="34" charset="0"/>
              <a:buChar char="•"/>
              <a:defRPr sz="1400" b="0" i="0" kern="1200">
                <a:solidFill>
                  <a:schemeClr val="tx1"/>
                </a:solidFill>
                <a:latin typeface="Pretendard" panose="02000503000000020004" pitchFamily="2" charset="-127"/>
                <a:ea typeface="Pretendard" panose="02000503000000020004" pitchFamily="2" charset="-127"/>
                <a:cs typeface="Pretendard" panose="02000503000000020004" pitchFamily="2" charset="-127"/>
              </a:defRPr>
            </a:lvl2pPr>
            <a:lvl3pPr marL="1143000" indent="-228600" algn="l" defTabSz="914400" rtl="0" eaLnBrk="1" latinLnBrk="0" hangingPunct="1">
              <a:lnSpc>
                <a:spcPct val="100000"/>
              </a:lnSpc>
              <a:spcBef>
                <a:spcPts val="500"/>
              </a:spcBef>
              <a:buFont typeface="Arial" panose="020B0604020202020204" pitchFamily="34" charset="0"/>
              <a:buChar char="•"/>
              <a:defRPr sz="1200" b="0" i="0" kern="1200">
                <a:solidFill>
                  <a:schemeClr val="tx1"/>
                </a:solidFill>
                <a:latin typeface="Pretendard" panose="02000503000000020004" pitchFamily="2" charset="-127"/>
                <a:ea typeface="Pretendard" panose="02000503000000020004" pitchFamily="2" charset="-127"/>
                <a:cs typeface="Pretendard" panose="02000503000000020004" pitchFamily="2" charset="-127"/>
              </a:defRPr>
            </a:lvl3pPr>
            <a:lvl4pPr marL="1600200" indent="-228600" algn="l" defTabSz="914400" rtl="0" eaLnBrk="1" latinLnBrk="0" hangingPunct="1">
              <a:lnSpc>
                <a:spcPct val="100000"/>
              </a:lnSpc>
              <a:spcBef>
                <a:spcPts val="500"/>
              </a:spcBef>
              <a:buFont typeface="Arial" panose="020B0604020202020204" pitchFamily="34" charset="0"/>
              <a:buChar char="•"/>
              <a:defRPr sz="1100" b="0" i="0" kern="1200">
                <a:solidFill>
                  <a:schemeClr val="tx1"/>
                </a:solidFill>
                <a:latin typeface="Pretendard" panose="02000503000000020004" pitchFamily="2" charset="-127"/>
                <a:ea typeface="Pretendard" panose="02000503000000020004" pitchFamily="2" charset="-127"/>
                <a:cs typeface="Pretendard" panose="02000503000000020004" pitchFamily="2" charset="-127"/>
              </a:defRPr>
            </a:lvl4pPr>
            <a:lvl5pPr marL="2057400" indent="-228600" algn="l" defTabSz="914400" rtl="0" eaLnBrk="1" latinLnBrk="0" hangingPunct="1">
              <a:lnSpc>
                <a:spcPct val="100000"/>
              </a:lnSpc>
              <a:spcBef>
                <a:spcPts val="500"/>
              </a:spcBef>
              <a:buFont typeface="Arial" panose="020B0604020202020204" pitchFamily="34" charset="0"/>
              <a:buChar char="•"/>
              <a:defRPr sz="1100" b="0" i="0" kern="1200">
                <a:solidFill>
                  <a:schemeClr val="tx1"/>
                </a:solidFill>
                <a:latin typeface="Pretendard" panose="02000503000000020004" pitchFamily="2" charset="-127"/>
                <a:ea typeface="Pretendard" panose="02000503000000020004" pitchFamily="2" charset="-127"/>
                <a:cs typeface="Pretendard" panose="02000503000000020004" pitchFamily="2" charset="-12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ko-KR" altLang="en-US" dirty="0"/>
              <a:t>기존 </a:t>
            </a:r>
            <a:r>
              <a:rPr lang="en-US" altLang="ko-KR" dirty="0" err="1"/>
              <a:t>EraseAnything</a:t>
            </a:r>
            <a:r>
              <a:rPr lang="en-US" altLang="ko-KR" dirty="0"/>
              <a:t> </a:t>
            </a:r>
            <a:r>
              <a:rPr lang="ko-KR" altLang="en-US" dirty="0"/>
              <a:t>방식의 문제</a:t>
            </a:r>
            <a:r>
              <a:rPr lang="en-US" altLang="ko-KR" dirty="0"/>
              <a:t>:</a:t>
            </a:r>
            <a:r>
              <a:rPr lang="ko-KR" altLang="en-US" dirty="0"/>
              <a:t> </a:t>
            </a:r>
            <a:r>
              <a:rPr lang="en-US" altLang="ko-KR" dirty="0"/>
              <a:t>Txt-txt</a:t>
            </a:r>
            <a:r>
              <a:rPr lang="ko-KR" altLang="en-US" dirty="0"/>
              <a:t>도 같이 줄어듦</a:t>
            </a:r>
            <a:endParaRPr lang="en-US" altLang="ko-KR" dirty="0"/>
          </a:p>
          <a:p>
            <a:pPr lvl="1"/>
            <a:r>
              <a:rPr lang="en-US" altLang="ko-KR" dirty="0"/>
              <a:t>FLUX</a:t>
            </a:r>
            <a:r>
              <a:rPr lang="ko-KR" altLang="en-US" dirty="0"/>
              <a:t>는 </a:t>
            </a:r>
            <a:r>
              <a:rPr lang="en-US" altLang="ko-KR" dirty="0"/>
              <a:t>image generation-only</a:t>
            </a:r>
            <a:r>
              <a:rPr lang="ko-KR" altLang="en-US" dirty="0"/>
              <a:t>라 텍스트 생성 능력이 </a:t>
            </a:r>
            <a:r>
              <a:rPr lang="ko-KR" altLang="en-US" dirty="0" err="1"/>
              <a:t>필요없음</a:t>
            </a:r>
            <a:endParaRPr lang="en-US" altLang="ko-KR" dirty="0"/>
          </a:p>
          <a:p>
            <a:pPr lvl="1"/>
            <a:r>
              <a:rPr lang="en-US" altLang="ko-KR" dirty="0"/>
              <a:t>BAGEL</a:t>
            </a:r>
            <a:r>
              <a:rPr lang="ko-KR" altLang="en-US" dirty="0"/>
              <a:t> 모델은 </a:t>
            </a:r>
            <a:r>
              <a:rPr lang="en-US" altLang="ko-KR" dirty="0"/>
              <a:t>txt-txt attn </a:t>
            </a:r>
            <a:r>
              <a:rPr lang="ko-KR" altLang="en-US" dirty="0"/>
              <a:t>부분이 </a:t>
            </a:r>
            <a:r>
              <a:rPr lang="en-US" altLang="ko-KR" dirty="0"/>
              <a:t>reasoning backbone </a:t>
            </a:r>
            <a:r>
              <a:rPr lang="ko-KR" altLang="en-US" dirty="0"/>
              <a:t>역할</a:t>
            </a:r>
            <a:r>
              <a:rPr lang="en-US" altLang="ko-KR" dirty="0"/>
              <a:t>.</a:t>
            </a:r>
            <a:r>
              <a:rPr lang="ko-KR" altLang="en-US" dirty="0"/>
              <a:t> 그대로 갖다 쓰면</a:t>
            </a:r>
            <a:r>
              <a:rPr lang="en-US" altLang="ko-KR" dirty="0"/>
              <a:t> text-generation task</a:t>
            </a:r>
            <a:r>
              <a:rPr lang="ko-KR" altLang="en-US" dirty="0"/>
              <a:t>에서 </a:t>
            </a:r>
            <a:r>
              <a:rPr lang="en-US" altLang="ko-KR" dirty="0"/>
              <a:t>catastrophic unlearning</a:t>
            </a:r>
            <a:r>
              <a:rPr lang="ko-KR" altLang="en-US" dirty="0"/>
              <a:t> 위험</a:t>
            </a:r>
            <a:r>
              <a:rPr lang="en-US" altLang="ko-KR" dirty="0"/>
              <a:t>?</a:t>
            </a:r>
            <a:r>
              <a:rPr lang="ko-KR" altLang="en-US" dirty="0"/>
              <a:t> </a:t>
            </a:r>
            <a:endParaRPr lang="en-US" altLang="ko-KR" dirty="0"/>
          </a:p>
          <a:p>
            <a:pPr lvl="1"/>
            <a:endParaRPr lang="en-US" altLang="ko-KR" dirty="0"/>
          </a:p>
        </p:txBody>
      </p:sp>
      <p:cxnSp>
        <p:nvCxnSpPr>
          <p:cNvPr id="15" name="Straight Connector 14">
            <a:extLst>
              <a:ext uri="{FF2B5EF4-FFF2-40B4-BE49-F238E27FC236}">
                <a16:creationId xmlns:a16="http://schemas.microsoft.com/office/drawing/2014/main" id="{374B9EF6-C5A4-CE86-D1ED-3F379B01A6E0}"/>
              </a:ext>
            </a:extLst>
          </p:cNvPr>
          <p:cNvCxnSpPr>
            <a:cxnSpLocks/>
          </p:cNvCxnSpPr>
          <p:nvPr/>
        </p:nvCxnSpPr>
        <p:spPr>
          <a:xfrm>
            <a:off x="5233017" y="3816854"/>
            <a:ext cx="4407290" cy="0"/>
          </a:xfrm>
          <a:prstGeom prst="line">
            <a:avLst/>
          </a:prstGeom>
          <a:ln w="12700"/>
        </p:spPr>
        <p:style>
          <a:lnRef idx="2">
            <a:schemeClr val="dk1"/>
          </a:lnRef>
          <a:fillRef idx="0">
            <a:schemeClr val="dk1"/>
          </a:fillRef>
          <a:effectRef idx="1">
            <a:schemeClr val="dk1"/>
          </a:effectRef>
          <a:fontRef idx="minor">
            <a:schemeClr val="tx1"/>
          </a:fontRef>
        </p:style>
      </p:cxnSp>
      <p:cxnSp>
        <p:nvCxnSpPr>
          <p:cNvPr id="17" name="Straight Connector 16">
            <a:extLst>
              <a:ext uri="{FF2B5EF4-FFF2-40B4-BE49-F238E27FC236}">
                <a16:creationId xmlns:a16="http://schemas.microsoft.com/office/drawing/2014/main" id="{652A0A84-39DC-9C38-5F43-4C1E2C1EE360}"/>
              </a:ext>
            </a:extLst>
          </p:cNvPr>
          <p:cNvCxnSpPr>
            <a:cxnSpLocks/>
          </p:cNvCxnSpPr>
          <p:nvPr/>
        </p:nvCxnSpPr>
        <p:spPr>
          <a:xfrm>
            <a:off x="5233017" y="4993658"/>
            <a:ext cx="4407290" cy="0"/>
          </a:xfrm>
          <a:prstGeom prst="line">
            <a:avLst/>
          </a:prstGeom>
          <a:ln w="12700"/>
        </p:spPr>
        <p:style>
          <a:lnRef idx="2">
            <a:schemeClr val="dk1"/>
          </a:lnRef>
          <a:fillRef idx="0">
            <a:schemeClr val="dk1"/>
          </a:fillRef>
          <a:effectRef idx="1">
            <a:schemeClr val="dk1"/>
          </a:effectRef>
          <a:fontRef idx="minor">
            <a:schemeClr val="tx1"/>
          </a:fontRef>
        </p:style>
      </p:cxnSp>
      <p:cxnSp>
        <p:nvCxnSpPr>
          <p:cNvPr id="18" name="Straight Connector 17">
            <a:extLst>
              <a:ext uri="{FF2B5EF4-FFF2-40B4-BE49-F238E27FC236}">
                <a16:creationId xmlns:a16="http://schemas.microsoft.com/office/drawing/2014/main" id="{241313DA-8B79-2761-6ADC-4266BFED6802}"/>
              </a:ext>
            </a:extLst>
          </p:cNvPr>
          <p:cNvCxnSpPr>
            <a:cxnSpLocks/>
          </p:cNvCxnSpPr>
          <p:nvPr/>
        </p:nvCxnSpPr>
        <p:spPr>
          <a:xfrm>
            <a:off x="7525952" y="2390649"/>
            <a:ext cx="0" cy="2684366"/>
          </a:xfrm>
          <a:prstGeom prst="line">
            <a:avLst/>
          </a:prstGeom>
          <a:ln w="12700"/>
        </p:spPr>
        <p:style>
          <a:lnRef idx="2">
            <a:schemeClr val="dk1"/>
          </a:lnRef>
          <a:fillRef idx="0">
            <a:schemeClr val="dk1"/>
          </a:fillRef>
          <a:effectRef idx="1">
            <a:schemeClr val="dk1"/>
          </a:effectRef>
          <a:fontRef idx="minor">
            <a:schemeClr val="tx1"/>
          </a:fontRef>
        </p:style>
      </p:cxnSp>
      <p:cxnSp>
        <p:nvCxnSpPr>
          <p:cNvPr id="21" name="Straight Connector 20">
            <a:extLst>
              <a:ext uri="{FF2B5EF4-FFF2-40B4-BE49-F238E27FC236}">
                <a16:creationId xmlns:a16="http://schemas.microsoft.com/office/drawing/2014/main" id="{936F8EC0-FEE6-4D59-DC6A-F6CAC0F705C3}"/>
              </a:ext>
            </a:extLst>
          </p:cNvPr>
          <p:cNvCxnSpPr>
            <a:cxnSpLocks/>
          </p:cNvCxnSpPr>
          <p:nvPr/>
        </p:nvCxnSpPr>
        <p:spPr>
          <a:xfrm>
            <a:off x="9569029" y="2390649"/>
            <a:ext cx="0" cy="2684366"/>
          </a:xfrm>
          <a:prstGeom prst="line">
            <a:avLst/>
          </a:prstGeom>
          <a:ln w="12700"/>
        </p:spPr>
        <p:style>
          <a:lnRef idx="2">
            <a:schemeClr val="dk1"/>
          </a:lnRef>
          <a:fillRef idx="0">
            <a:schemeClr val="dk1"/>
          </a:fillRef>
          <a:effectRef idx="1">
            <a:schemeClr val="dk1"/>
          </a:effectRef>
          <a:fontRef idx="minor">
            <a:schemeClr val="tx1"/>
          </a:fontRef>
        </p:style>
      </p:cxnSp>
      <p:pic>
        <p:nvPicPr>
          <p:cNvPr id="3" name="Picture 2">
            <a:extLst>
              <a:ext uri="{FF2B5EF4-FFF2-40B4-BE49-F238E27FC236}">
                <a16:creationId xmlns:a16="http://schemas.microsoft.com/office/drawing/2014/main" id="{96D50D7E-1F86-80A4-4EC1-D3697EE7A741}"/>
              </a:ext>
            </a:extLst>
          </p:cNvPr>
          <p:cNvPicPr>
            <a:picLocks noChangeAspect="1"/>
          </p:cNvPicPr>
          <p:nvPr/>
        </p:nvPicPr>
        <p:blipFill>
          <a:blip r:embed="rId2"/>
          <a:srcRect l="26119" t="65484" r="30013"/>
          <a:stretch>
            <a:fillRect/>
          </a:stretch>
        </p:blipFill>
        <p:spPr>
          <a:xfrm>
            <a:off x="1075361" y="3365501"/>
            <a:ext cx="2276217" cy="888955"/>
          </a:xfrm>
          <a:prstGeom prst="rect">
            <a:avLst/>
          </a:prstGeom>
        </p:spPr>
      </p:pic>
      <p:sp>
        <p:nvSpPr>
          <p:cNvPr id="12" name="Rectangle 11">
            <a:extLst>
              <a:ext uri="{FF2B5EF4-FFF2-40B4-BE49-F238E27FC236}">
                <a16:creationId xmlns:a16="http://schemas.microsoft.com/office/drawing/2014/main" id="{36C45CCF-F3B0-59B6-B6C8-B69F2A11A4F4}"/>
              </a:ext>
            </a:extLst>
          </p:cNvPr>
          <p:cNvSpPr/>
          <p:nvPr/>
        </p:nvSpPr>
        <p:spPr>
          <a:xfrm>
            <a:off x="5513902" y="3721104"/>
            <a:ext cx="103986" cy="1353912"/>
          </a:xfrm>
          <a:prstGeom prst="rect">
            <a:avLst/>
          </a:prstGeom>
          <a:solidFill>
            <a:srgbClr val="C00000"/>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14" name="Rectangle 13">
            <a:extLst>
              <a:ext uri="{FF2B5EF4-FFF2-40B4-BE49-F238E27FC236}">
                <a16:creationId xmlns:a16="http://schemas.microsoft.com/office/drawing/2014/main" id="{4CD3B44E-9218-198A-A521-C5C2791846CB}"/>
              </a:ext>
            </a:extLst>
          </p:cNvPr>
          <p:cNvSpPr/>
          <p:nvPr/>
        </p:nvSpPr>
        <p:spPr>
          <a:xfrm>
            <a:off x="5605727" y="3721104"/>
            <a:ext cx="103985" cy="1353911"/>
          </a:xfrm>
          <a:prstGeom prst="rect">
            <a:avLst/>
          </a:prstGeom>
          <a:solidFill>
            <a:srgbClr val="C00000"/>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16" name="TextBox 15">
            <a:extLst>
              <a:ext uri="{FF2B5EF4-FFF2-40B4-BE49-F238E27FC236}">
                <a16:creationId xmlns:a16="http://schemas.microsoft.com/office/drawing/2014/main" id="{D5937EBE-1959-C677-379C-DF7ED16A8284}"/>
              </a:ext>
            </a:extLst>
          </p:cNvPr>
          <p:cNvSpPr txBox="1"/>
          <p:nvPr/>
        </p:nvSpPr>
        <p:spPr>
          <a:xfrm>
            <a:off x="4655718" y="5383323"/>
            <a:ext cx="1292662" cy="307777"/>
          </a:xfrm>
          <a:prstGeom prst="rect">
            <a:avLst/>
          </a:prstGeom>
          <a:noFill/>
        </p:spPr>
        <p:txBody>
          <a:bodyPr wrap="none" rtlCol="0">
            <a:spAutoFit/>
          </a:bodyPr>
          <a:lstStyle/>
          <a:p>
            <a:r>
              <a:rPr lang="en-US" sz="1400" i="1" u="sng" dirty="0">
                <a:solidFill>
                  <a:srgbClr val="C00000"/>
                </a:solidFill>
              </a:rPr>
              <a:t>Mickey</a:t>
            </a:r>
            <a:r>
              <a:rPr lang="en-US" sz="1400" i="1" dirty="0">
                <a:solidFill>
                  <a:srgbClr val="C00000"/>
                </a:solidFill>
              </a:rPr>
              <a:t> </a:t>
            </a:r>
            <a:r>
              <a:rPr lang="en-US" sz="1400" i="1" u="sng" dirty="0">
                <a:solidFill>
                  <a:srgbClr val="C00000"/>
                </a:solidFill>
              </a:rPr>
              <a:t>mouse</a:t>
            </a:r>
            <a:endParaRPr lang="en-KR" sz="1400" i="1" u="sng" dirty="0">
              <a:solidFill>
                <a:srgbClr val="C00000"/>
              </a:solidFill>
            </a:endParaRPr>
          </a:p>
        </p:txBody>
      </p:sp>
      <p:cxnSp>
        <p:nvCxnSpPr>
          <p:cNvPr id="19" name="Straight Connector 18">
            <a:extLst>
              <a:ext uri="{FF2B5EF4-FFF2-40B4-BE49-F238E27FC236}">
                <a16:creationId xmlns:a16="http://schemas.microsoft.com/office/drawing/2014/main" id="{FA0CDF70-981C-2402-2B45-697AA58F5A65}"/>
              </a:ext>
            </a:extLst>
          </p:cNvPr>
          <p:cNvCxnSpPr>
            <a:cxnSpLocks/>
          </p:cNvCxnSpPr>
          <p:nvPr/>
        </p:nvCxnSpPr>
        <p:spPr>
          <a:xfrm flipH="1">
            <a:off x="5021338" y="5075014"/>
            <a:ext cx="538477" cy="369333"/>
          </a:xfrm>
          <a:prstGeom prst="line">
            <a:avLst/>
          </a:prstGeom>
          <a:ln w="12700"/>
        </p:spPr>
        <p:style>
          <a:lnRef idx="2">
            <a:schemeClr val="dk1"/>
          </a:lnRef>
          <a:fillRef idx="0">
            <a:schemeClr val="dk1"/>
          </a:fillRef>
          <a:effectRef idx="1">
            <a:schemeClr val="dk1"/>
          </a:effectRef>
          <a:fontRef idx="minor">
            <a:schemeClr val="tx1"/>
          </a:fontRef>
        </p:style>
      </p:cxnSp>
      <p:cxnSp>
        <p:nvCxnSpPr>
          <p:cNvPr id="23" name="Straight Connector 22">
            <a:extLst>
              <a:ext uri="{FF2B5EF4-FFF2-40B4-BE49-F238E27FC236}">
                <a16:creationId xmlns:a16="http://schemas.microsoft.com/office/drawing/2014/main" id="{5EE91E68-BD30-9943-4B57-5D3CA46540CE}"/>
              </a:ext>
            </a:extLst>
          </p:cNvPr>
          <p:cNvCxnSpPr>
            <a:cxnSpLocks/>
          </p:cNvCxnSpPr>
          <p:nvPr/>
        </p:nvCxnSpPr>
        <p:spPr>
          <a:xfrm>
            <a:off x="5651641" y="5085179"/>
            <a:ext cx="7331" cy="359168"/>
          </a:xfrm>
          <a:prstGeom prst="line">
            <a:avLst/>
          </a:prstGeom>
          <a:ln w="12700"/>
        </p:spPr>
        <p:style>
          <a:lnRef idx="2">
            <a:schemeClr val="dk1"/>
          </a:lnRef>
          <a:fillRef idx="0">
            <a:schemeClr val="dk1"/>
          </a:fillRef>
          <a:effectRef idx="1">
            <a:schemeClr val="dk1"/>
          </a:effectRef>
          <a:fontRef idx="minor">
            <a:schemeClr val="tx1"/>
          </a:fontRef>
        </p:style>
      </p:cxnSp>
      <p:sp>
        <p:nvSpPr>
          <p:cNvPr id="26" name="Rectangle 25">
            <a:extLst>
              <a:ext uri="{FF2B5EF4-FFF2-40B4-BE49-F238E27FC236}">
                <a16:creationId xmlns:a16="http://schemas.microsoft.com/office/drawing/2014/main" id="{691DB445-9C18-5F5A-D5DD-96B2EA7F09C7}"/>
              </a:ext>
            </a:extLst>
          </p:cNvPr>
          <p:cNvSpPr/>
          <p:nvPr/>
        </p:nvSpPr>
        <p:spPr>
          <a:xfrm>
            <a:off x="5515154" y="2380485"/>
            <a:ext cx="103986" cy="1353912"/>
          </a:xfrm>
          <a:prstGeom prst="rect">
            <a:avLst/>
          </a:prstGeom>
          <a:solidFill>
            <a:srgbClr val="F1C6C3"/>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R">
              <a:solidFill>
                <a:srgbClr val="F1C6C3"/>
              </a:solidFill>
            </a:endParaRPr>
          </a:p>
        </p:txBody>
      </p:sp>
      <p:sp>
        <p:nvSpPr>
          <p:cNvPr id="27" name="Rectangle 26">
            <a:extLst>
              <a:ext uri="{FF2B5EF4-FFF2-40B4-BE49-F238E27FC236}">
                <a16:creationId xmlns:a16="http://schemas.microsoft.com/office/drawing/2014/main" id="{5B519789-0C6F-4B8B-A10F-2077222F3C99}"/>
              </a:ext>
            </a:extLst>
          </p:cNvPr>
          <p:cNvSpPr/>
          <p:nvPr/>
        </p:nvSpPr>
        <p:spPr>
          <a:xfrm>
            <a:off x="5606979" y="2380485"/>
            <a:ext cx="103985" cy="1353911"/>
          </a:xfrm>
          <a:prstGeom prst="rect">
            <a:avLst/>
          </a:prstGeom>
          <a:solidFill>
            <a:srgbClr val="F1C6C3"/>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R">
              <a:solidFill>
                <a:srgbClr val="F1C6C3"/>
              </a:solidFill>
            </a:endParaRPr>
          </a:p>
        </p:txBody>
      </p:sp>
    </p:spTree>
    <p:extLst>
      <p:ext uri="{BB962C8B-B14F-4D97-AF65-F5344CB8AC3E}">
        <p14:creationId xmlns:p14="http://schemas.microsoft.com/office/powerpoint/2010/main" val="11678654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12FBF-E6D0-42DB-E6E9-04BDAC8B40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393771-3382-A2B5-B5EB-B2CCB5E4627A}"/>
              </a:ext>
            </a:extLst>
          </p:cNvPr>
          <p:cNvSpPr>
            <a:spLocks noGrp="1"/>
          </p:cNvSpPr>
          <p:nvPr>
            <p:ph type="title"/>
          </p:nvPr>
        </p:nvSpPr>
        <p:spPr/>
        <p:txBody>
          <a:bodyPr/>
          <a:lstStyle/>
          <a:p>
            <a:r>
              <a:rPr lang="en-KR" dirty="0"/>
              <a:t>Hypothesis</a:t>
            </a:r>
            <a:r>
              <a:rPr lang="ko-KR" altLang="en-US" dirty="0"/>
              <a:t> </a:t>
            </a:r>
            <a:r>
              <a:rPr lang="en-US" altLang="ko-KR" dirty="0"/>
              <a:t>2</a:t>
            </a:r>
            <a:endParaRPr lang="en-KR" dirty="0"/>
          </a:p>
        </p:txBody>
      </p:sp>
      <p:graphicFrame>
        <p:nvGraphicFramePr>
          <p:cNvPr id="4" name="Content Placeholder 3">
            <a:extLst>
              <a:ext uri="{FF2B5EF4-FFF2-40B4-BE49-F238E27FC236}">
                <a16:creationId xmlns:a16="http://schemas.microsoft.com/office/drawing/2014/main" id="{F90B312F-262A-E5B2-BC7F-766DC8F11454}"/>
              </a:ext>
            </a:extLst>
          </p:cNvPr>
          <p:cNvGraphicFramePr>
            <a:graphicFrameLocks noGrp="1"/>
          </p:cNvGraphicFramePr>
          <p:nvPr>
            <p:ph idx="1"/>
          </p:nvPr>
        </p:nvGraphicFramePr>
        <p:xfrm>
          <a:off x="5233017" y="2390649"/>
          <a:ext cx="4407290" cy="2684366"/>
        </p:xfrm>
        <a:graphic>
          <a:graphicData uri="http://schemas.openxmlformats.org/drawingml/2006/table">
            <a:tbl>
              <a:tblPr firstRow="1" bandRow="1">
                <a:tableStyleId>{5940675A-B579-460E-94D1-54222C63F5DA}</a:tableStyleId>
              </a:tblPr>
              <a:tblGrid>
                <a:gridCol w="2203645">
                  <a:extLst>
                    <a:ext uri="{9D8B030D-6E8A-4147-A177-3AD203B41FA5}">
                      <a16:colId xmlns:a16="http://schemas.microsoft.com/office/drawing/2014/main" val="1276286053"/>
                    </a:ext>
                  </a:extLst>
                </a:gridCol>
                <a:gridCol w="2203645">
                  <a:extLst>
                    <a:ext uri="{9D8B030D-6E8A-4147-A177-3AD203B41FA5}">
                      <a16:colId xmlns:a16="http://schemas.microsoft.com/office/drawing/2014/main" val="226945541"/>
                    </a:ext>
                  </a:extLst>
                </a:gridCol>
              </a:tblGrid>
              <a:tr h="1342183">
                <a:tc>
                  <a:txBody>
                    <a:bodyPr/>
                    <a:lstStyle/>
                    <a:p>
                      <a:endParaRPr lang="en-KR" dirty="0"/>
                    </a:p>
                  </a:txBody>
                  <a:tcPr>
                    <a:solidFill>
                      <a:schemeClr val="bg1">
                        <a:lumMod val="95000"/>
                      </a:schemeClr>
                    </a:solidFill>
                  </a:tcPr>
                </a:tc>
                <a:tc>
                  <a:txBody>
                    <a:bodyPr/>
                    <a:lstStyle/>
                    <a:p>
                      <a:endParaRPr lang="en-KR" dirty="0"/>
                    </a:p>
                  </a:txBody>
                  <a:tcPr>
                    <a:solidFill>
                      <a:schemeClr val="tx2">
                        <a:lumMod val="10000"/>
                        <a:lumOff val="90000"/>
                      </a:schemeClr>
                    </a:solidFill>
                  </a:tcPr>
                </a:tc>
                <a:extLst>
                  <a:ext uri="{0D108BD9-81ED-4DB2-BD59-A6C34878D82A}">
                    <a16:rowId xmlns:a16="http://schemas.microsoft.com/office/drawing/2014/main" val="1767675453"/>
                  </a:ext>
                </a:extLst>
              </a:tr>
              <a:tr h="1342183">
                <a:tc>
                  <a:txBody>
                    <a:bodyPr/>
                    <a:lstStyle/>
                    <a:p>
                      <a:endParaRPr lang="en-KR" dirty="0"/>
                    </a:p>
                  </a:txBody>
                  <a:tcPr>
                    <a:solidFill>
                      <a:schemeClr val="accent2">
                        <a:lumMod val="20000"/>
                        <a:lumOff val="80000"/>
                      </a:schemeClr>
                    </a:solidFill>
                  </a:tcPr>
                </a:tc>
                <a:tc>
                  <a:txBody>
                    <a:bodyPr/>
                    <a:lstStyle/>
                    <a:p>
                      <a:endParaRPr lang="en-KR" dirty="0"/>
                    </a:p>
                  </a:txBody>
                  <a:tcPr>
                    <a:solidFill>
                      <a:schemeClr val="bg1">
                        <a:lumMod val="95000"/>
                      </a:schemeClr>
                    </a:solidFill>
                  </a:tcPr>
                </a:tc>
                <a:extLst>
                  <a:ext uri="{0D108BD9-81ED-4DB2-BD59-A6C34878D82A}">
                    <a16:rowId xmlns:a16="http://schemas.microsoft.com/office/drawing/2014/main" val="3046388620"/>
                  </a:ext>
                </a:extLst>
              </a:tr>
            </a:tbl>
          </a:graphicData>
        </a:graphic>
      </p:graphicFrame>
      <p:sp>
        <p:nvSpPr>
          <p:cNvPr id="5" name="TextBox 4">
            <a:extLst>
              <a:ext uri="{FF2B5EF4-FFF2-40B4-BE49-F238E27FC236}">
                <a16:creationId xmlns:a16="http://schemas.microsoft.com/office/drawing/2014/main" id="{B7187EFB-A211-0AE8-F72D-CD722B0ED3FC}"/>
              </a:ext>
            </a:extLst>
          </p:cNvPr>
          <p:cNvSpPr txBox="1"/>
          <p:nvPr/>
        </p:nvSpPr>
        <p:spPr>
          <a:xfrm>
            <a:off x="4723255" y="2902455"/>
            <a:ext cx="437940" cy="369332"/>
          </a:xfrm>
          <a:prstGeom prst="rect">
            <a:avLst/>
          </a:prstGeom>
          <a:noFill/>
        </p:spPr>
        <p:txBody>
          <a:bodyPr wrap="none" rtlCol="0">
            <a:spAutoFit/>
          </a:bodyPr>
          <a:lstStyle/>
          <a:p>
            <a:r>
              <a:rPr lang="en-US" dirty="0"/>
              <a:t>txt</a:t>
            </a:r>
            <a:endParaRPr lang="en-KR" dirty="0"/>
          </a:p>
        </p:txBody>
      </p:sp>
      <p:sp>
        <p:nvSpPr>
          <p:cNvPr id="6" name="TextBox 5">
            <a:extLst>
              <a:ext uri="{FF2B5EF4-FFF2-40B4-BE49-F238E27FC236}">
                <a16:creationId xmlns:a16="http://schemas.microsoft.com/office/drawing/2014/main" id="{BF8E4891-5EBF-0A8A-C5A2-447C76CA72AE}"/>
              </a:ext>
            </a:extLst>
          </p:cNvPr>
          <p:cNvSpPr txBox="1"/>
          <p:nvPr/>
        </p:nvSpPr>
        <p:spPr>
          <a:xfrm>
            <a:off x="4723255" y="4234662"/>
            <a:ext cx="548548" cy="369332"/>
          </a:xfrm>
          <a:prstGeom prst="rect">
            <a:avLst/>
          </a:prstGeom>
          <a:noFill/>
        </p:spPr>
        <p:txBody>
          <a:bodyPr wrap="none" rtlCol="0">
            <a:spAutoFit/>
          </a:bodyPr>
          <a:lstStyle/>
          <a:p>
            <a:r>
              <a:rPr lang="en-KR" dirty="0"/>
              <a:t>img</a:t>
            </a:r>
          </a:p>
        </p:txBody>
      </p:sp>
      <p:sp>
        <p:nvSpPr>
          <p:cNvPr id="7" name="TextBox 6">
            <a:extLst>
              <a:ext uri="{FF2B5EF4-FFF2-40B4-BE49-F238E27FC236}">
                <a16:creationId xmlns:a16="http://schemas.microsoft.com/office/drawing/2014/main" id="{F53AF62A-6EC0-7A98-E731-AE8BBEBF7796}"/>
              </a:ext>
            </a:extLst>
          </p:cNvPr>
          <p:cNvSpPr txBox="1"/>
          <p:nvPr/>
        </p:nvSpPr>
        <p:spPr>
          <a:xfrm>
            <a:off x="6098292" y="5075015"/>
            <a:ext cx="437940" cy="369332"/>
          </a:xfrm>
          <a:prstGeom prst="rect">
            <a:avLst/>
          </a:prstGeom>
          <a:noFill/>
        </p:spPr>
        <p:txBody>
          <a:bodyPr wrap="none" rtlCol="0">
            <a:spAutoFit/>
          </a:bodyPr>
          <a:lstStyle/>
          <a:p>
            <a:r>
              <a:rPr lang="en-KR" dirty="0"/>
              <a:t>txt</a:t>
            </a:r>
          </a:p>
        </p:txBody>
      </p:sp>
      <p:sp>
        <p:nvSpPr>
          <p:cNvPr id="8" name="TextBox 7">
            <a:extLst>
              <a:ext uri="{FF2B5EF4-FFF2-40B4-BE49-F238E27FC236}">
                <a16:creationId xmlns:a16="http://schemas.microsoft.com/office/drawing/2014/main" id="{8591EC6D-2934-FD0B-A4E5-93A0F7EE4AB0}"/>
              </a:ext>
            </a:extLst>
          </p:cNvPr>
          <p:cNvSpPr txBox="1"/>
          <p:nvPr/>
        </p:nvSpPr>
        <p:spPr>
          <a:xfrm>
            <a:off x="8257100" y="5075015"/>
            <a:ext cx="548548" cy="369332"/>
          </a:xfrm>
          <a:prstGeom prst="rect">
            <a:avLst/>
          </a:prstGeom>
          <a:noFill/>
        </p:spPr>
        <p:txBody>
          <a:bodyPr wrap="none" rtlCol="0">
            <a:spAutoFit/>
          </a:bodyPr>
          <a:lstStyle/>
          <a:p>
            <a:r>
              <a:rPr lang="en-KR" dirty="0"/>
              <a:t>img</a:t>
            </a:r>
          </a:p>
        </p:txBody>
      </p:sp>
      <p:sp>
        <p:nvSpPr>
          <p:cNvPr id="13" name="Content Placeholder 2">
            <a:extLst>
              <a:ext uri="{FF2B5EF4-FFF2-40B4-BE49-F238E27FC236}">
                <a16:creationId xmlns:a16="http://schemas.microsoft.com/office/drawing/2014/main" id="{F46081A8-C412-502C-5121-B0157EA9613C}"/>
              </a:ext>
            </a:extLst>
          </p:cNvPr>
          <p:cNvSpPr txBox="1">
            <a:spLocks/>
          </p:cNvSpPr>
          <p:nvPr/>
        </p:nvSpPr>
        <p:spPr>
          <a:xfrm>
            <a:off x="365126" y="1137958"/>
            <a:ext cx="11416878" cy="1521475"/>
          </a:xfrm>
          <a:prstGeom prst="rect">
            <a:avLst/>
          </a:prstGeom>
        </p:spPr>
        <p:txBody>
          <a:bodyPr>
            <a:normAutofit/>
          </a:bodyPr>
          <a:lstStyle>
            <a:lvl1pPr marL="228600" indent="-228600" algn="l" defTabSz="914400" rtl="0" eaLnBrk="1" latinLnBrk="0" hangingPunct="1">
              <a:lnSpc>
                <a:spcPct val="100000"/>
              </a:lnSpc>
              <a:spcBef>
                <a:spcPts val="1000"/>
              </a:spcBef>
              <a:buFont typeface="Arial" panose="020B0604020202020204" pitchFamily="34" charset="0"/>
              <a:buChar char="•"/>
              <a:defRPr sz="1600" b="0" i="0" kern="1200">
                <a:solidFill>
                  <a:schemeClr val="tx1"/>
                </a:solidFill>
                <a:latin typeface="Pretendard" panose="02000503000000020004" pitchFamily="2" charset="-127"/>
                <a:ea typeface="Pretendard" panose="02000503000000020004" pitchFamily="2" charset="-127"/>
                <a:cs typeface="Pretendard" panose="02000503000000020004" pitchFamily="2" charset="-127"/>
              </a:defRPr>
            </a:lvl1pPr>
            <a:lvl2pPr marL="685800" indent="-228600" algn="l" defTabSz="914400" rtl="0" eaLnBrk="1" latinLnBrk="0" hangingPunct="1">
              <a:lnSpc>
                <a:spcPct val="100000"/>
              </a:lnSpc>
              <a:spcBef>
                <a:spcPts val="500"/>
              </a:spcBef>
              <a:buFont typeface="Arial" panose="020B0604020202020204" pitchFamily="34" charset="0"/>
              <a:buChar char="•"/>
              <a:defRPr sz="1400" b="0" i="0" kern="1200">
                <a:solidFill>
                  <a:schemeClr val="tx1"/>
                </a:solidFill>
                <a:latin typeface="Pretendard" panose="02000503000000020004" pitchFamily="2" charset="-127"/>
                <a:ea typeface="Pretendard" panose="02000503000000020004" pitchFamily="2" charset="-127"/>
                <a:cs typeface="Pretendard" panose="02000503000000020004" pitchFamily="2" charset="-127"/>
              </a:defRPr>
            </a:lvl2pPr>
            <a:lvl3pPr marL="1143000" indent="-228600" algn="l" defTabSz="914400" rtl="0" eaLnBrk="1" latinLnBrk="0" hangingPunct="1">
              <a:lnSpc>
                <a:spcPct val="100000"/>
              </a:lnSpc>
              <a:spcBef>
                <a:spcPts val="500"/>
              </a:spcBef>
              <a:buFont typeface="Arial" panose="020B0604020202020204" pitchFamily="34" charset="0"/>
              <a:buChar char="•"/>
              <a:defRPr sz="1200" b="0" i="0" kern="1200">
                <a:solidFill>
                  <a:schemeClr val="tx1"/>
                </a:solidFill>
                <a:latin typeface="Pretendard" panose="02000503000000020004" pitchFamily="2" charset="-127"/>
                <a:ea typeface="Pretendard" panose="02000503000000020004" pitchFamily="2" charset="-127"/>
                <a:cs typeface="Pretendard" panose="02000503000000020004" pitchFamily="2" charset="-127"/>
              </a:defRPr>
            </a:lvl3pPr>
            <a:lvl4pPr marL="1600200" indent="-228600" algn="l" defTabSz="914400" rtl="0" eaLnBrk="1" latinLnBrk="0" hangingPunct="1">
              <a:lnSpc>
                <a:spcPct val="100000"/>
              </a:lnSpc>
              <a:spcBef>
                <a:spcPts val="500"/>
              </a:spcBef>
              <a:buFont typeface="Arial" panose="020B0604020202020204" pitchFamily="34" charset="0"/>
              <a:buChar char="•"/>
              <a:defRPr sz="1100" b="0" i="0" kern="1200">
                <a:solidFill>
                  <a:schemeClr val="tx1"/>
                </a:solidFill>
                <a:latin typeface="Pretendard" panose="02000503000000020004" pitchFamily="2" charset="-127"/>
                <a:ea typeface="Pretendard" panose="02000503000000020004" pitchFamily="2" charset="-127"/>
                <a:cs typeface="Pretendard" panose="02000503000000020004" pitchFamily="2" charset="-127"/>
              </a:defRPr>
            </a:lvl4pPr>
            <a:lvl5pPr marL="2057400" indent="-228600" algn="l" defTabSz="914400" rtl="0" eaLnBrk="1" latinLnBrk="0" hangingPunct="1">
              <a:lnSpc>
                <a:spcPct val="100000"/>
              </a:lnSpc>
              <a:spcBef>
                <a:spcPts val="500"/>
              </a:spcBef>
              <a:buFont typeface="Arial" panose="020B0604020202020204" pitchFamily="34" charset="0"/>
              <a:buChar char="•"/>
              <a:defRPr sz="1100" b="0" i="0" kern="1200">
                <a:solidFill>
                  <a:schemeClr val="tx1"/>
                </a:solidFill>
                <a:latin typeface="Pretendard" panose="02000503000000020004" pitchFamily="2" charset="-127"/>
                <a:ea typeface="Pretendard" panose="02000503000000020004" pitchFamily="2" charset="-127"/>
                <a:cs typeface="Pretendard" panose="02000503000000020004" pitchFamily="2" charset="-12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ko-KR" altLang="en-US" dirty="0"/>
              <a:t>기존 </a:t>
            </a:r>
            <a:r>
              <a:rPr lang="en-US" altLang="ko-KR" dirty="0" err="1"/>
              <a:t>EraseAnything</a:t>
            </a:r>
            <a:r>
              <a:rPr lang="en-US" altLang="ko-KR" dirty="0"/>
              <a:t> </a:t>
            </a:r>
            <a:r>
              <a:rPr lang="ko-KR" altLang="en-US" dirty="0"/>
              <a:t>방식의 문제</a:t>
            </a:r>
            <a:r>
              <a:rPr lang="en-US" altLang="ko-KR" dirty="0"/>
              <a:t>:</a:t>
            </a:r>
            <a:r>
              <a:rPr lang="ko-KR" altLang="en-US" dirty="0"/>
              <a:t> </a:t>
            </a:r>
            <a:r>
              <a:rPr lang="en-US" altLang="ko-KR" dirty="0"/>
              <a:t>Txt-txt</a:t>
            </a:r>
            <a:r>
              <a:rPr lang="ko-KR" altLang="en-US" dirty="0"/>
              <a:t>도 같이 줄어듦</a:t>
            </a:r>
            <a:endParaRPr lang="en-US" altLang="ko-KR" dirty="0"/>
          </a:p>
          <a:p>
            <a:pPr lvl="1"/>
            <a:r>
              <a:rPr lang="en-US" altLang="ko-KR" dirty="0"/>
              <a:t>FLUX</a:t>
            </a:r>
            <a:r>
              <a:rPr lang="ko-KR" altLang="en-US" dirty="0"/>
              <a:t>는 </a:t>
            </a:r>
            <a:r>
              <a:rPr lang="en-US" altLang="ko-KR" dirty="0"/>
              <a:t>image generation-only</a:t>
            </a:r>
            <a:r>
              <a:rPr lang="ko-KR" altLang="en-US" dirty="0"/>
              <a:t>라 텍스트 생성 능력이 </a:t>
            </a:r>
            <a:r>
              <a:rPr lang="ko-KR" altLang="en-US" dirty="0" err="1"/>
              <a:t>필요없음</a:t>
            </a:r>
            <a:endParaRPr lang="en-US" altLang="ko-KR" dirty="0"/>
          </a:p>
          <a:p>
            <a:pPr lvl="1"/>
            <a:r>
              <a:rPr lang="en-US" altLang="ko-KR" dirty="0"/>
              <a:t>BAGEL</a:t>
            </a:r>
            <a:r>
              <a:rPr lang="ko-KR" altLang="en-US" dirty="0"/>
              <a:t> 모델은 </a:t>
            </a:r>
            <a:r>
              <a:rPr lang="en-US" altLang="ko-KR" dirty="0"/>
              <a:t>txt-txt attn </a:t>
            </a:r>
            <a:r>
              <a:rPr lang="ko-KR" altLang="en-US" dirty="0"/>
              <a:t>부분이 </a:t>
            </a:r>
            <a:r>
              <a:rPr lang="en-US" altLang="ko-KR" dirty="0"/>
              <a:t>reasoning backbone </a:t>
            </a:r>
            <a:r>
              <a:rPr lang="ko-KR" altLang="en-US" dirty="0"/>
              <a:t>역할</a:t>
            </a:r>
            <a:r>
              <a:rPr lang="en-US" altLang="ko-KR" dirty="0"/>
              <a:t>.</a:t>
            </a:r>
            <a:r>
              <a:rPr lang="ko-KR" altLang="en-US" dirty="0"/>
              <a:t> 그대로 갖다 쓰면</a:t>
            </a:r>
            <a:r>
              <a:rPr lang="en-US" altLang="ko-KR" dirty="0"/>
              <a:t> text-generation task</a:t>
            </a:r>
            <a:r>
              <a:rPr lang="ko-KR" altLang="en-US" dirty="0"/>
              <a:t>에서 </a:t>
            </a:r>
            <a:r>
              <a:rPr lang="en-US" altLang="ko-KR" dirty="0"/>
              <a:t>catastrophic unlearning</a:t>
            </a:r>
            <a:r>
              <a:rPr lang="ko-KR" altLang="en-US" dirty="0"/>
              <a:t> 위험</a:t>
            </a:r>
            <a:r>
              <a:rPr lang="en-US" altLang="ko-KR" dirty="0"/>
              <a:t>?</a:t>
            </a:r>
            <a:r>
              <a:rPr lang="ko-KR" altLang="en-US" dirty="0"/>
              <a:t> </a:t>
            </a:r>
            <a:endParaRPr lang="en-US" altLang="ko-KR" dirty="0"/>
          </a:p>
          <a:p>
            <a:pPr lvl="1"/>
            <a:endParaRPr lang="en-US" altLang="ko-KR" dirty="0"/>
          </a:p>
        </p:txBody>
      </p:sp>
      <p:cxnSp>
        <p:nvCxnSpPr>
          <p:cNvPr id="15" name="Straight Connector 14">
            <a:extLst>
              <a:ext uri="{FF2B5EF4-FFF2-40B4-BE49-F238E27FC236}">
                <a16:creationId xmlns:a16="http://schemas.microsoft.com/office/drawing/2014/main" id="{007A4B98-1DDC-47D0-D300-ED69F05AA7E2}"/>
              </a:ext>
            </a:extLst>
          </p:cNvPr>
          <p:cNvCxnSpPr>
            <a:cxnSpLocks/>
          </p:cNvCxnSpPr>
          <p:nvPr/>
        </p:nvCxnSpPr>
        <p:spPr>
          <a:xfrm>
            <a:off x="5233017" y="3816854"/>
            <a:ext cx="4407290" cy="0"/>
          </a:xfrm>
          <a:prstGeom prst="line">
            <a:avLst/>
          </a:prstGeom>
          <a:ln w="12700"/>
        </p:spPr>
        <p:style>
          <a:lnRef idx="2">
            <a:schemeClr val="dk1"/>
          </a:lnRef>
          <a:fillRef idx="0">
            <a:schemeClr val="dk1"/>
          </a:fillRef>
          <a:effectRef idx="1">
            <a:schemeClr val="dk1"/>
          </a:effectRef>
          <a:fontRef idx="minor">
            <a:schemeClr val="tx1"/>
          </a:fontRef>
        </p:style>
      </p:cxnSp>
      <p:cxnSp>
        <p:nvCxnSpPr>
          <p:cNvPr id="17" name="Straight Connector 16">
            <a:extLst>
              <a:ext uri="{FF2B5EF4-FFF2-40B4-BE49-F238E27FC236}">
                <a16:creationId xmlns:a16="http://schemas.microsoft.com/office/drawing/2014/main" id="{05A171BB-CD9D-33E4-4327-D8558A1F33B3}"/>
              </a:ext>
            </a:extLst>
          </p:cNvPr>
          <p:cNvCxnSpPr>
            <a:cxnSpLocks/>
          </p:cNvCxnSpPr>
          <p:nvPr/>
        </p:nvCxnSpPr>
        <p:spPr>
          <a:xfrm>
            <a:off x="5233017" y="4993658"/>
            <a:ext cx="4407290" cy="0"/>
          </a:xfrm>
          <a:prstGeom prst="line">
            <a:avLst/>
          </a:prstGeom>
          <a:ln w="12700"/>
        </p:spPr>
        <p:style>
          <a:lnRef idx="2">
            <a:schemeClr val="dk1"/>
          </a:lnRef>
          <a:fillRef idx="0">
            <a:schemeClr val="dk1"/>
          </a:fillRef>
          <a:effectRef idx="1">
            <a:schemeClr val="dk1"/>
          </a:effectRef>
          <a:fontRef idx="minor">
            <a:schemeClr val="tx1"/>
          </a:fontRef>
        </p:style>
      </p:cxnSp>
      <p:cxnSp>
        <p:nvCxnSpPr>
          <p:cNvPr id="18" name="Straight Connector 17">
            <a:extLst>
              <a:ext uri="{FF2B5EF4-FFF2-40B4-BE49-F238E27FC236}">
                <a16:creationId xmlns:a16="http://schemas.microsoft.com/office/drawing/2014/main" id="{8EE73726-F8A2-F687-28B4-272F40BE0039}"/>
              </a:ext>
            </a:extLst>
          </p:cNvPr>
          <p:cNvCxnSpPr>
            <a:cxnSpLocks/>
          </p:cNvCxnSpPr>
          <p:nvPr/>
        </p:nvCxnSpPr>
        <p:spPr>
          <a:xfrm>
            <a:off x="7525952" y="2390649"/>
            <a:ext cx="0" cy="2684366"/>
          </a:xfrm>
          <a:prstGeom prst="line">
            <a:avLst/>
          </a:prstGeom>
          <a:ln w="12700"/>
        </p:spPr>
        <p:style>
          <a:lnRef idx="2">
            <a:schemeClr val="dk1"/>
          </a:lnRef>
          <a:fillRef idx="0">
            <a:schemeClr val="dk1"/>
          </a:fillRef>
          <a:effectRef idx="1">
            <a:schemeClr val="dk1"/>
          </a:effectRef>
          <a:fontRef idx="minor">
            <a:schemeClr val="tx1"/>
          </a:fontRef>
        </p:style>
      </p:cxnSp>
      <p:cxnSp>
        <p:nvCxnSpPr>
          <p:cNvPr id="21" name="Straight Connector 20">
            <a:extLst>
              <a:ext uri="{FF2B5EF4-FFF2-40B4-BE49-F238E27FC236}">
                <a16:creationId xmlns:a16="http://schemas.microsoft.com/office/drawing/2014/main" id="{33D57FDC-866C-ECA7-E63B-5E74258C9E64}"/>
              </a:ext>
            </a:extLst>
          </p:cNvPr>
          <p:cNvCxnSpPr>
            <a:cxnSpLocks/>
          </p:cNvCxnSpPr>
          <p:nvPr/>
        </p:nvCxnSpPr>
        <p:spPr>
          <a:xfrm>
            <a:off x="9569029" y="2390649"/>
            <a:ext cx="0" cy="2684366"/>
          </a:xfrm>
          <a:prstGeom prst="line">
            <a:avLst/>
          </a:prstGeom>
          <a:ln w="12700"/>
        </p:spPr>
        <p:style>
          <a:lnRef idx="2">
            <a:schemeClr val="dk1"/>
          </a:lnRef>
          <a:fillRef idx="0">
            <a:schemeClr val="dk1"/>
          </a:fillRef>
          <a:effectRef idx="1">
            <a:schemeClr val="dk1"/>
          </a:effectRef>
          <a:fontRef idx="minor">
            <a:schemeClr val="tx1"/>
          </a:fontRef>
        </p:style>
      </p:cxnSp>
      <p:pic>
        <p:nvPicPr>
          <p:cNvPr id="3" name="Picture 2">
            <a:extLst>
              <a:ext uri="{FF2B5EF4-FFF2-40B4-BE49-F238E27FC236}">
                <a16:creationId xmlns:a16="http://schemas.microsoft.com/office/drawing/2014/main" id="{2DB94F48-0A9A-558C-2E98-830043689F1D}"/>
              </a:ext>
            </a:extLst>
          </p:cNvPr>
          <p:cNvPicPr>
            <a:picLocks noChangeAspect="1"/>
          </p:cNvPicPr>
          <p:nvPr/>
        </p:nvPicPr>
        <p:blipFill>
          <a:blip r:embed="rId2"/>
          <a:srcRect l="26119" t="65484" r="30013"/>
          <a:stretch>
            <a:fillRect/>
          </a:stretch>
        </p:blipFill>
        <p:spPr>
          <a:xfrm>
            <a:off x="1075361" y="3365501"/>
            <a:ext cx="2276217" cy="888955"/>
          </a:xfrm>
          <a:prstGeom prst="rect">
            <a:avLst/>
          </a:prstGeom>
        </p:spPr>
      </p:pic>
      <p:sp>
        <p:nvSpPr>
          <p:cNvPr id="12" name="Rectangle 11">
            <a:extLst>
              <a:ext uri="{FF2B5EF4-FFF2-40B4-BE49-F238E27FC236}">
                <a16:creationId xmlns:a16="http://schemas.microsoft.com/office/drawing/2014/main" id="{995C7AD5-17FD-2483-1E33-DEECF4F8FD7E}"/>
              </a:ext>
            </a:extLst>
          </p:cNvPr>
          <p:cNvSpPr/>
          <p:nvPr/>
        </p:nvSpPr>
        <p:spPr>
          <a:xfrm>
            <a:off x="5513902" y="3721104"/>
            <a:ext cx="103986" cy="1353912"/>
          </a:xfrm>
          <a:prstGeom prst="rect">
            <a:avLst/>
          </a:prstGeom>
          <a:solidFill>
            <a:srgbClr val="C00000"/>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14" name="Rectangle 13">
            <a:extLst>
              <a:ext uri="{FF2B5EF4-FFF2-40B4-BE49-F238E27FC236}">
                <a16:creationId xmlns:a16="http://schemas.microsoft.com/office/drawing/2014/main" id="{6F148512-2D14-E564-D92A-974556A516D7}"/>
              </a:ext>
            </a:extLst>
          </p:cNvPr>
          <p:cNvSpPr/>
          <p:nvPr/>
        </p:nvSpPr>
        <p:spPr>
          <a:xfrm>
            <a:off x="5605727" y="3721104"/>
            <a:ext cx="103985" cy="1353911"/>
          </a:xfrm>
          <a:prstGeom prst="rect">
            <a:avLst/>
          </a:prstGeom>
          <a:solidFill>
            <a:srgbClr val="C00000"/>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16" name="TextBox 15">
            <a:extLst>
              <a:ext uri="{FF2B5EF4-FFF2-40B4-BE49-F238E27FC236}">
                <a16:creationId xmlns:a16="http://schemas.microsoft.com/office/drawing/2014/main" id="{EBD37504-9133-672E-5FFE-2B864D648B52}"/>
              </a:ext>
            </a:extLst>
          </p:cNvPr>
          <p:cNvSpPr txBox="1"/>
          <p:nvPr/>
        </p:nvSpPr>
        <p:spPr>
          <a:xfrm>
            <a:off x="4655718" y="5383323"/>
            <a:ext cx="1292662" cy="307777"/>
          </a:xfrm>
          <a:prstGeom prst="rect">
            <a:avLst/>
          </a:prstGeom>
          <a:noFill/>
        </p:spPr>
        <p:txBody>
          <a:bodyPr wrap="none" rtlCol="0">
            <a:spAutoFit/>
          </a:bodyPr>
          <a:lstStyle/>
          <a:p>
            <a:r>
              <a:rPr lang="en-US" sz="1400" i="1" u="sng" dirty="0">
                <a:solidFill>
                  <a:srgbClr val="C00000"/>
                </a:solidFill>
              </a:rPr>
              <a:t>Mickey</a:t>
            </a:r>
            <a:r>
              <a:rPr lang="en-US" sz="1400" i="1" dirty="0">
                <a:solidFill>
                  <a:srgbClr val="C00000"/>
                </a:solidFill>
              </a:rPr>
              <a:t> </a:t>
            </a:r>
            <a:r>
              <a:rPr lang="en-US" sz="1400" i="1" u="sng" dirty="0">
                <a:solidFill>
                  <a:srgbClr val="C00000"/>
                </a:solidFill>
              </a:rPr>
              <a:t>mouse</a:t>
            </a:r>
            <a:endParaRPr lang="en-KR" sz="1400" i="1" u="sng" dirty="0">
              <a:solidFill>
                <a:srgbClr val="C00000"/>
              </a:solidFill>
            </a:endParaRPr>
          </a:p>
        </p:txBody>
      </p:sp>
      <p:cxnSp>
        <p:nvCxnSpPr>
          <p:cNvPr id="19" name="Straight Connector 18">
            <a:extLst>
              <a:ext uri="{FF2B5EF4-FFF2-40B4-BE49-F238E27FC236}">
                <a16:creationId xmlns:a16="http://schemas.microsoft.com/office/drawing/2014/main" id="{294E82C2-D178-B5FD-28AA-654EB03069B0}"/>
              </a:ext>
            </a:extLst>
          </p:cNvPr>
          <p:cNvCxnSpPr>
            <a:cxnSpLocks/>
          </p:cNvCxnSpPr>
          <p:nvPr/>
        </p:nvCxnSpPr>
        <p:spPr>
          <a:xfrm flipH="1">
            <a:off x="5021338" y="5075014"/>
            <a:ext cx="538477" cy="369333"/>
          </a:xfrm>
          <a:prstGeom prst="line">
            <a:avLst/>
          </a:prstGeom>
          <a:ln w="12700"/>
        </p:spPr>
        <p:style>
          <a:lnRef idx="2">
            <a:schemeClr val="dk1"/>
          </a:lnRef>
          <a:fillRef idx="0">
            <a:schemeClr val="dk1"/>
          </a:fillRef>
          <a:effectRef idx="1">
            <a:schemeClr val="dk1"/>
          </a:effectRef>
          <a:fontRef idx="minor">
            <a:schemeClr val="tx1"/>
          </a:fontRef>
        </p:style>
      </p:cxnSp>
      <p:cxnSp>
        <p:nvCxnSpPr>
          <p:cNvPr id="23" name="Straight Connector 22">
            <a:extLst>
              <a:ext uri="{FF2B5EF4-FFF2-40B4-BE49-F238E27FC236}">
                <a16:creationId xmlns:a16="http://schemas.microsoft.com/office/drawing/2014/main" id="{BA91503D-8366-76E2-FC71-EBDFA2570E75}"/>
              </a:ext>
            </a:extLst>
          </p:cNvPr>
          <p:cNvCxnSpPr>
            <a:cxnSpLocks/>
          </p:cNvCxnSpPr>
          <p:nvPr/>
        </p:nvCxnSpPr>
        <p:spPr>
          <a:xfrm>
            <a:off x="5651641" y="5085179"/>
            <a:ext cx="7331" cy="359168"/>
          </a:xfrm>
          <a:prstGeom prst="line">
            <a:avLst/>
          </a:prstGeom>
          <a:ln w="12700"/>
        </p:spPr>
        <p:style>
          <a:lnRef idx="2">
            <a:schemeClr val="dk1"/>
          </a:lnRef>
          <a:fillRef idx="0">
            <a:schemeClr val="dk1"/>
          </a:fillRef>
          <a:effectRef idx="1">
            <a:schemeClr val="dk1"/>
          </a:effectRef>
          <a:fontRef idx="minor">
            <a:schemeClr val="tx1"/>
          </a:fontRef>
        </p:style>
      </p:cxnSp>
      <p:sp>
        <p:nvSpPr>
          <p:cNvPr id="26" name="Rectangle 25">
            <a:extLst>
              <a:ext uri="{FF2B5EF4-FFF2-40B4-BE49-F238E27FC236}">
                <a16:creationId xmlns:a16="http://schemas.microsoft.com/office/drawing/2014/main" id="{E31A7777-A028-FBDA-73C8-C2A1C5354C9E}"/>
              </a:ext>
            </a:extLst>
          </p:cNvPr>
          <p:cNvSpPr/>
          <p:nvPr/>
        </p:nvSpPr>
        <p:spPr>
          <a:xfrm>
            <a:off x="5515154" y="2380485"/>
            <a:ext cx="103986" cy="1353912"/>
          </a:xfrm>
          <a:prstGeom prst="rect">
            <a:avLst/>
          </a:prstGeom>
          <a:solidFill>
            <a:srgbClr val="F1C6C3"/>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R">
              <a:solidFill>
                <a:srgbClr val="F1C6C3"/>
              </a:solidFill>
            </a:endParaRPr>
          </a:p>
        </p:txBody>
      </p:sp>
      <p:sp>
        <p:nvSpPr>
          <p:cNvPr id="27" name="Rectangle 26">
            <a:extLst>
              <a:ext uri="{FF2B5EF4-FFF2-40B4-BE49-F238E27FC236}">
                <a16:creationId xmlns:a16="http://schemas.microsoft.com/office/drawing/2014/main" id="{96A93992-A4A9-C893-D0C5-DE5C7C62D9BE}"/>
              </a:ext>
            </a:extLst>
          </p:cNvPr>
          <p:cNvSpPr/>
          <p:nvPr/>
        </p:nvSpPr>
        <p:spPr>
          <a:xfrm>
            <a:off x="5606979" y="2380485"/>
            <a:ext cx="103985" cy="1353911"/>
          </a:xfrm>
          <a:prstGeom prst="rect">
            <a:avLst/>
          </a:prstGeom>
          <a:solidFill>
            <a:srgbClr val="F1C6C3"/>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R">
              <a:solidFill>
                <a:srgbClr val="F1C6C3"/>
              </a:solidFill>
            </a:endParaRPr>
          </a:p>
        </p:txBody>
      </p:sp>
    </p:spTree>
    <p:extLst>
      <p:ext uri="{BB962C8B-B14F-4D97-AF65-F5344CB8AC3E}">
        <p14:creationId xmlns:p14="http://schemas.microsoft.com/office/powerpoint/2010/main" val="31601552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E8C64-F911-0C13-563C-1F1CC472B60E}"/>
              </a:ext>
            </a:extLst>
          </p:cNvPr>
          <p:cNvSpPr>
            <a:spLocks noGrp="1"/>
          </p:cNvSpPr>
          <p:nvPr>
            <p:ph type="title"/>
          </p:nvPr>
        </p:nvSpPr>
        <p:spPr/>
        <p:txBody>
          <a:bodyPr/>
          <a:lstStyle/>
          <a:p>
            <a:r>
              <a:rPr lang="en-US" altLang="ko-KR" dirty="0"/>
              <a:t>Hypothesis</a:t>
            </a:r>
            <a:endParaRPr lang="en-KR" dirty="0"/>
          </a:p>
        </p:txBody>
      </p:sp>
      <p:sp>
        <p:nvSpPr>
          <p:cNvPr id="3" name="Content Placeholder 2">
            <a:extLst>
              <a:ext uri="{FF2B5EF4-FFF2-40B4-BE49-F238E27FC236}">
                <a16:creationId xmlns:a16="http://schemas.microsoft.com/office/drawing/2014/main" id="{0993ECEC-F610-678E-5EFA-515966129C43}"/>
              </a:ext>
            </a:extLst>
          </p:cNvPr>
          <p:cNvSpPr>
            <a:spLocks noGrp="1"/>
          </p:cNvSpPr>
          <p:nvPr>
            <p:ph idx="1"/>
          </p:nvPr>
        </p:nvSpPr>
        <p:spPr/>
        <p:txBody>
          <a:bodyPr/>
          <a:lstStyle/>
          <a:p>
            <a:r>
              <a:rPr lang="ko-KR" altLang="en-US" dirty="0"/>
              <a:t>일반 모드에서 특정 개념을 지웠다면</a:t>
            </a:r>
            <a:r>
              <a:rPr lang="en-US" altLang="ko-KR" dirty="0"/>
              <a:t>,</a:t>
            </a:r>
            <a:r>
              <a:rPr lang="ko-KR" altLang="en-US" dirty="0"/>
              <a:t> </a:t>
            </a:r>
            <a:r>
              <a:rPr lang="en-US" altLang="ko-KR" dirty="0"/>
              <a:t>Think</a:t>
            </a:r>
            <a:r>
              <a:rPr lang="ko-KR" altLang="en-US" dirty="0"/>
              <a:t> 모드에서 복원하여 생성될까</a:t>
            </a:r>
            <a:r>
              <a:rPr lang="en-US" altLang="ko-KR" dirty="0"/>
              <a:t>?</a:t>
            </a:r>
          </a:p>
          <a:p>
            <a:pPr lvl="1"/>
            <a:r>
              <a:rPr lang="ko-KR" altLang="en-US" dirty="0"/>
              <a:t>“</a:t>
            </a:r>
            <a:r>
              <a:rPr lang="en-US" dirty="0"/>
              <a:t>Mickey Mouse”</a:t>
            </a:r>
            <a:r>
              <a:rPr lang="ko-KR" altLang="en-US" dirty="0"/>
              <a:t> </a:t>
            </a:r>
            <a:r>
              <a:rPr lang="en-US" altLang="ko-KR" dirty="0"/>
              <a:t>think </a:t>
            </a:r>
            <a:r>
              <a:rPr lang="ko-KR" altLang="en-US" dirty="0"/>
              <a:t>예시</a:t>
            </a:r>
            <a:endParaRPr lang="en-US" dirty="0"/>
          </a:p>
          <a:p>
            <a:pPr lvl="1"/>
            <a:endParaRPr lang="en-US" dirty="0"/>
          </a:p>
          <a:p>
            <a:pPr lvl="1"/>
            <a:endParaRPr lang="en-US" dirty="0"/>
          </a:p>
          <a:p>
            <a:pPr lvl="1"/>
            <a:endParaRPr lang="en-US" dirty="0"/>
          </a:p>
          <a:p>
            <a:pPr lvl="1"/>
            <a:endParaRPr lang="en-US" dirty="0"/>
          </a:p>
          <a:p>
            <a:pPr lvl="1"/>
            <a:r>
              <a:rPr lang="en-US" dirty="0"/>
              <a:t>Self-attention </a:t>
            </a:r>
            <a:r>
              <a:rPr lang="ko-KR" altLang="en-US" dirty="0"/>
              <a:t>단계에서 이 개념을 지운다면</a:t>
            </a:r>
            <a:r>
              <a:rPr lang="en-US" altLang="ko-KR" dirty="0"/>
              <a:t>,</a:t>
            </a:r>
            <a:r>
              <a:rPr lang="ko-KR" altLang="en-US" dirty="0"/>
              <a:t> </a:t>
            </a:r>
            <a:r>
              <a:rPr lang="en-US" altLang="ko-KR" dirty="0"/>
              <a:t>shared </a:t>
            </a:r>
            <a:r>
              <a:rPr lang="ko-KR" altLang="en-US" dirty="0"/>
              <a:t>구조이기 때문에 추정 자체를 지울 때 </a:t>
            </a:r>
            <a:r>
              <a:rPr lang="en-US" altLang="ko-KR" dirty="0"/>
              <a:t>target</a:t>
            </a:r>
            <a:r>
              <a:rPr lang="ko-KR" altLang="en-US" dirty="0" err="1"/>
              <a:t>으로</a:t>
            </a:r>
            <a:r>
              <a:rPr lang="ko-KR" altLang="en-US" dirty="0"/>
              <a:t> 한 </a:t>
            </a:r>
            <a:r>
              <a:rPr lang="en-US" altLang="ko-KR" dirty="0"/>
              <a:t>concept </a:t>
            </a:r>
            <a:r>
              <a:rPr lang="ko-KR" altLang="en-US" dirty="0"/>
              <a:t>방향으로 진행하는가</a:t>
            </a:r>
            <a:r>
              <a:rPr lang="en-US" altLang="ko-KR" dirty="0"/>
              <a:t>?</a:t>
            </a:r>
            <a:r>
              <a:rPr lang="ko-KR" altLang="en-US" dirty="0"/>
              <a:t> 혹은 구체적 개념까지는 </a:t>
            </a:r>
            <a:r>
              <a:rPr lang="en-US" altLang="ko-KR" dirty="0"/>
              <a:t>erasing</a:t>
            </a:r>
            <a:r>
              <a:rPr lang="ko-KR" altLang="en-US" dirty="0"/>
              <a:t>되지 못해서 살아날까</a:t>
            </a:r>
            <a:r>
              <a:rPr lang="en-US" altLang="ko-KR" dirty="0"/>
              <a:t>?</a:t>
            </a:r>
          </a:p>
          <a:p>
            <a:pPr lvl="2"/>
            <a:r>
              <a:rPr lang="ko-KR" altLang="en-US" dirty="0"/>
              <a:t>되살아난다면</a:t>
            </a:r>
            <a:r>
              <a:rPr lang="en-US" altLang="ko-KR" dirty="0"/>
              <a:t>, </a:t>
            </a:r>
            <a:r>
              <a:rPr lang="ko-KR" altLang="en-US" dirty="0"/>
              <a:t>하나의 개념을 </a:t>
            </a:r>
            <a:r>
              <a:rPr lang="en-US" altLang="ko-KR" dirty="0"/>
              <a:t>UMM </a:t>
            </a:r>
            <a:r>
              <a:rPr lang="ko-KR" altLang="en-US" dirty="0"/>
              <a:t>모델의 개념 공간에서 </a:t>
            </a:r>
            <a:r>
              <a:rPr lang="en-US" altLang="ko-KR" dirty="0"/>
              <a:t>task </a:t>
            </a:r>
            <a:r>
              <a:rPr lang="ko-KR" altLang="en-US" dirty="0"/>
              <a:t>측면에서</a:t>
            </a:r>
            <a:r>
              <a:rPr lang="en-US" altLang="ko-KR" dirty="0"/>
              <a:t>, </a:t>
            </a:r>
            <a:r>
              <a:rPr lang="ko-KR" altLang="en-US" dirty="0"/>
              <a:t>개념 측면에서 </a:t>
            </a:r>
            <a:r>
              <a:rPr lang="en-US" altLang="ko-KR" dirty="0"/>
              <a:t>entangle</a:t>
            </a:r>
            <a:r>
              <a:rPr lang="ko-KR" altLang="en-US" dirty="0"/>
              <a:t>하는 것이 연구 목표가 될 것</a:t>
            </a:r>
            <a:endParaRPr lang="en-US" altLang="ko-KR" dirty="0"/>
          </a:p>
          <a:p>
            <a:pPr lvl="1"/>
            <a:r>
              <a:rPr lang="en-US" altLang="ko-KR" dirty="0"/>
              <a:t>(SPEED</a:t>
            </a:r>
            <a:r>
              <a:rPr lang="ko-KR" altLang="en-US" dirty="0"/>
              <a:t>에서도 </a:t>
            </a:r>
            <a:r>
              <a:rPr lang="en-US" altLang="ko-KR" dirty="0"/>
              <a:t>“Mickey Mouse”</a:t>
            </a:r>
            <a:r>
              <a:rPr lang="ko-KR" altLang="en-US" dirty="0"/>
              <a:t>의 </a:t>
            </a:r>
            <a:r>
              <a:rPr lang="en-US" altLang="ko-KR" dirty="0"/>
              <a:t>“summary token”</a:t>
            </a:r>
            <a:r>
              <a:rPr lang="ko-KR" altLang="en-US" dirty="0"/>
              <a:t>을 가지고 지움</a:t>
            </a:r>
            <a:r>
              <a:rPr lang="en-US" altLang="ko-KR" dirty="0"/>
              <a:t>. </a:t>
            </a:r>
            <a:r>
              <a:rPr lang="ko-KR" altLang="en-US" dirty="0" err="1"/>
              <a:t>계산량</a:t>
            </a:r>
            <a:r>
              <a:rPr lang="en-US" altLang="ko-KR" dirty="0"/>
              <a:t>/</a:t>
            </a:r>
            <a:r>
              <a:rPr lang="ko-KR" altLang="en-US" dirty="0"/>
              <a:t>표현력 이슈로 모든 단어 토큰의 합</a:t>
            </a:r>
            <a:r>
              <a:rPr lang="en-US" altLang="ko-KR" dirty="0"/>
              <a:t>/</a:t>
            </a:r>
            <a:r>
              <a:rPr lang="ko-KR" altLang="en-US" dirty="0"/>
              <a:t>평균을 사용하지 않음</a:t>
            </a:r>
            <a:r>
              <a:rPr lang="en-US" altLang="ko-KR" dirty="0"/>
              <a:t>)</a:t>
            </a:r>
          </a:p>
          <a:p>
            <a:pPr lvl="1"/>
            <a:endParaRPr lang="en-US" altLang="ko-KR" dirty="0"/>
          </a:p>
          <a:p>
            <a:r>
              <a:rPr lang="en-US" dirty="0" err="1">
                <a:solidFill>
                  <a:schemeClr val="bg1">
                    <a:lumMod val="85000"/>
                  </a:schemeClr>
                </a:solidFill>
              </a:rPr>
              <a:t>어떤</a:t>
            </a:r>
            <a:r>
              <a:rPr lang="en-US" dirty="0">
                <a:solidFill>
                  <a:schemeClr val="bg1">
                    <a:lumMod val="85000"/>
                  </a:schemeClr>
                </a:solidFill>
              </a:rPr>
              <a:t> </a:t>
            </a:r>
            <a:r>
              <a:rPr lang="en-US" dirty="0" err="1">
                <a:solidFill>
                  <a:schemeClr val="bg1">
                    <a:lumMod val="85000"/>
                  </a:schemeClr>
                </a:solidFill>
              </a:rPr>
              <a:t>모듈이</a:t>
            </a:r>
            <a:r>
              <a:rPr lang="en-US" dirty="0">
                <a:solidFill>
                  <a:schemeClr val="bg1">
                    <a:lumMod val="85000"/>
                  </a:schemeClr>
                </a:solidFill>
              </a:rPr>
              <a:t> </a:t>
            </a:r>
            <a:r>
              <a:rPr lang="en-US" dirty="0" err="1">
                <a:solidFill>
                  <a:schemeClr val="bg1">
                    <a:lumMod val="85000"/>
                  </a:schemeClr>
                </a:solidFill>
              </a:rPr>
              <a:t>최적의</a:t>
            </a:r>
            <a:r>
              <a:rPr lang="en-US" dirty="0">
                <a:solidFill>
                  <a:schemeClr val="bg1">
                    <a:lumMod val="85000"/>
                  </a:schemeClr>
                </a:solidFill>
              </a:rPr>
              <a:t> </a:t>
            </a:r>
            <a:r>
              <a:rPr lang="en-US" dirty="0" err="1">
                <a:solidFill>
                  <a:schemeClr val="bg1">
                    <a:lumMod val="85000"/>
                  </a:schemeClr>
                </a:solidFill>
              </a:rPr>
              <a:t>수정</a:t>
            </a:r>
            <a:r>
              <a:rPr lang="en-US" dirty="0">
                <a:solidFill>
                  <a:schemeClr val="bg1">
                    <a:lumMod val="85000"/>
                  </a:schemeClr>
                </a:solidFill>
              </a:rPr>
              <a:t> </a:t>
            </a:r>
            <a:r>
              <a:rPr lang="en-US" dirty="0" err="1">
                <a:solidFill>
                  <a:schemeClr val="bg1">
                    <a:lumMod val="85000"/>
                  </a:schemeClr>
                </a:solidFill>
              </a:rPr>
              <a:t>지점인가</a:t>
            </a:r>
            <a:endParaRPr lang="en-US" dirty="0">
              <a:solidFill>
                <a:schemeClr val="bg1">
                  <a:lumMod val="85000"/>
                </a:schemeClr>
              </a:solidFill>
            </a:endParaRPr>
          </a:p>
          <a:p>
            <a:pPr lvl="1"/>
            <a:r>
              <a:rPr lang="en-US" dirty="0">
                <a:solidFill>
                  <a:schemeClr val="bg1">
                    <a:lumMod val="85000"/>
                  </a:schemeClr>
                </a:solidFill>
              </a:rPr>
              <a:t>Self-Attention </a:t>
            </a:r>
            <a:r>
              <a:rPr lang="en-US" dirty="0" err="1">
                <a:solidFill>
                  <a:schemeClr val="bg1">
                    <a:lumMod val="85000"/>
                  </a:schemeClr>
                </a:solidFill>
              </a:rPr>
              <a:t>단계의</a:t>
            </a:r>
            <a:r>
              <a:rPr lang="en-US" dirty="0">
                <a:solidFill>
                  <a:schemeClr val="bg1">
                    <a:lumMod val="85000"/>
                  </a:schemeClr>
                </a:solidFill>
              </a:rPr>
              <a:t> </a:t>
            </a:r>
            <a:r>
              <a:rPr lang="en-US" dirty="0" err="1">
                <a:solidFill>
                  <a:schemeClr val="bg1">
                    <a:lumMod val="85000"/>
                  </a:schemeClr>
                </a:solidFill>
              </a:rPr>
              <a:t>W_k</a:t>
            </a:r>
            <a:r>
              <a:rPr lang="en-US" altLang="ko-KR" dirty="0">
                <a:solidFill>
                  <a:schemeClr val="bg1">
                    <a:lumMod val="85000"/>
                  </a:schemeClr>
                </a:solidFill>
              </a:rPr>
              <a:t>, </a:t>
            </a:r>
            <a:r>
              <a:rPr lang="en-US" altLang="ko-KR" dirty="0" err="1">
                <a:solidFill>
                  <a:schemeClr val="bg1">
                    <a:lumMod val="85000"/>
                  </a:schemeClr>
                </a:solidFill>
              </a:rPr>
              <a:t>W_v</a:t>
            </a:r>
            <a:endParaRPr lang="en-US" altLang="ko-KR" dirty="0">
              <a:solidFill>
                <a:schemeClr val="bg1">
                  <a:lumMod val="85000"/>
                </a:schemeClr>
              </a:solidFill>
            </a:endParaRPr>
          </a:p>
          <a:p>
            <a:pPr lvl="1"/>
            <a:r>
              <a:rPr lang="en-US" dirty="0">
                <a:solidFill>
                  <a:schemeClr val="bg1">
                    <a:lumMod val="85000"/>
                  </a:schemeClr>
                </a:solidFill>
              </a:rPr>
              <a:t>FFN </a:t>
            </a:r>
            <a:r>
              <a:rPr lang="en-US" altLang="ko-KR" dirty="0">
                <a:solidFill>
                  <a:schemeClr val="bg1">
                    <a:lumMod val="85000"/>
                  </a:schemeClr>
                </a:solidFill>
                <a:sym typeface="Wingdings" pitchFamily="2" charset="2"/>
              </a:rPr>
              <a:t> (Transformer Feed-Forward Layers Are Key-Value Memories, ACL 2021)</a:t>
            </a:r>
          </a:p>
          <a:p>
            <a:pPr lvl="2"/>
            <a:r>
              <a:rPr lang="en-US" altLang="ko-KR" dirty="0">
                <a:solidFill>
                  <a:schemeClr val="bg1">
                    <a:lumMod val="85000"/>
                  </a:schemeClr>
                </a:solidFill>
              </a:rPr>
              <a:t>[ </a:t>
            </a:r>
            <a:r>
              <a:rPr lang="ko-KR" altLang="en-US" dirty="0">
                <a:solidFill>
                  <a:schemeClr val="bg1">
                    <a:lumMod val="85000"/>
                  </a:schemeClr>
                </a:solidFill>
              </a:rPr>
              <a:t>전체 모델</a:t>
            </a:r>
            <a:r>
              <a:rPr lang="en-US" altLang="ko-KR" dirty="0">
                <a:solidFill>
                  <a:schemeClr val="bg1">
                    <a:lumMod val="85000"/>
                  </a:schemeClr>
                </a:solidFill>
              </a:rPr>
              <a:t>(</a:t>
            </a:r>
            <a:r>
              <a:rPr lang="en-US" dirty="0">
                <a:solidFill>
                  <a:schemeClr val="bg1">
                    <a:lumMod val="85000"/>
                  </a:schemeClr>
                </a:solidFill>
              </a:rPr>
              <a:t>BAGEL)</a:t>
            </a:r>
            <a:r>
              <a:rPr lang="ko-KR" altLang="en-US" dirty="0">
                <a:solidFill>
                  <a:schemeClr val="bg1">
                    <a:lumMod val="85000"/>
                  </a:schemeClr>
                </a:solidFill>
              </a:rPr>
              <a:t>에서의 비율 </a:t>
            </a:r>
            <a:r>
              <a:rPr lang="en-US" altLang="ko-KR" dirty="0">
                <a:solidFill>
                  <a:schemeClr val="bg1">
                    <a:lumMod val="85000"/>
                  </a:schemeClr>
                </a:solidFill>
              </a:rPr>
              <a:t>(</a:t>
            </a:r>
            <a:r>
              <a:rPr lang="en-US" dirty="0">
                <a:solidFill>
                  <a:schemeClr val="bg1">
                    <a:lumMod val="85000"/>
                  </a:schemeClr>
                </a:solidFill>
              </a:rPr>
              <a:t>only GEN or UNG / both side) ]</a:t>
            </a:r>
          </a:p>
          <a:p>
            <a:pPr lvl="3"/>
            <a:r>
              <a:rPr lang="en-US" dirty="0">
                <a:solidFill>
                  <a:schemeClr val="bg1">
                    <a:lumMod val="85000"/>
                  </a:schemeClr>
                </a:solidFill>
              </a:rPr>
              <a:t>(A) Attention </a:t>
            </a:r>
            <a:r>
              <a:rPr lang="ko-KR" altLang="en-US" dirty="0">
                <a:solidFill>
                  <a:schemeClr val="bg1">
                    <a:lumMod val="85000"/>
                  </a:schemeClr>
                </a:solidFill>
              </a:rPr>
              <a:t>전체 비율 </a:t>
            </a:r>
            <a:r>
              <a:rPr lang="en-US" altLang="ko-KR" dirty="0">
                <a:solidFill>
                  <a:schemeClr val="bg1">
                    <a:lumMod val="85000"/>
                  </a:schemeClr>
                </a:solidFill>
              </a:rPr>
              <a:t>: 0.05 % / 0.10 %</a:t>
            </a:r>
          </a:p>
          <a:p>
            <a:pPr lvl="3"/>
            <a:r>
              <a:rPr lang="en-US" altLang="ko-KR" b="1" dirty="0">
                <a:solidFill>
                  <a:schemeClr val="bg1">
                    <a:lumMod val="85000"/>
                  </a:schemeClr>
                </a:solidFill>
              </a:rPr>
              <a:t>(</a:t>
            </a:r>
            <a:r>
              <a:rPr lang="en-US" b="1" dirty="0">
                <a:solidFill>
                  <a:schemeClr val="bg1">
                    <a:lumMod val="85000"/>
                  </a:schemeClr>
                </a:solidFill>
              </a:rPr>
              <a:t>B) </a:t>
            </a:r>
            <a:r>
              <a:rPr lang="en-US" b="1" dirty="0" err="1">
                <a:solidFill>
                  <a:schemeClr val="bg1">
                    <a:lumMod val="85000"/>
                  </a:schemeClr>
                </a:solidFill>
              </a:rPr>
              <a:t>k_proj</a:t>
            </a:r>
            <a:r>
              <a:rPr lang="en-US" b="1" dirty="0">
                <a:solidFill>
                  <a:schemeClr val="bg1">
                    <a:lumMod val="85000"/>
                  </a:schemeClr>
                </a:solidFill>
              </a:rPr>
              <a:t> + </a:t>
            </a:r>
            <a:r>
              <a:rPr lang="en-US" b="1" dirty="0" err="1">
                <a:solidFill>
                  <a:schemeClr val="bg1">
                    <a:lumMod val="85000"/>
                  </a:schemeClr>
                </a:solidFill>
              </a:rPr>
              <a:t>v_proj</a:t>
            </a:r>
            <a:r>
              <a:rPr lang="en-US" b="1" dirty="0">
                <a:solidFill>
                  <a:schemeClr val="bg1">
                    <a:lumMod val="85000"/>
                  </a:schemeClr>
                </a:solidFill>
              </a:rPr>
              <a:t> </a:t>
            </a:r>
            <a:r>
              <a:rPr lang="ko-KR" altLang="en-US" b="1" dirty="0">
                <a:solidFill>
                  <a:schemeClr val="bg1">
                    <a:lumMod val="85000"/>
                  </a:schemeClr>
                </a:solidFill>
              </a:rPr>
              <a:t>비율 </a:t>
            </a:r>
            <a:r>
              <a:rPr lang="en-US" altLang="ko-KR" b="1" dirty="0">
                <a:solidFill>
                  <a:schemeClr val="bg1">
                    <a:lumMod val="85000"/>
                  </a:schemeClr>
                </a:solidFill>
              </a:rPr>
              <a:t>: 0.007 % / 0.014 %</a:t>
            </a:r>
          </a:p>
          <a:p>
            <a:pPr lvl="3"/>
            <a:r>
              <a:rPr lang="en-US" altLang="ko-KR" dirty="0">
                <a:solidFill>
                  <a:schemeClr val="bg1">
                    <a:lumMod val="85000"/>
                  </a:schemeClr>
                </a:solidFill>
              </a:rPr>
              <a:t>(</a:t>
            </a:r>
            <a:r>
              <a:rPr lang="en-US" dirty="0">
                <a:solidFill>
                  <a:schemeClr val="bg1">
                    <a:lumMod val="85000"/>
                  </a:schemeClr>
                </a:solidFill>
              </a:rPr>
              <a:t>C) </a:t>
            </a:r>
            <a:r>
              <a:rPr lang="en-US" dirty="0" err="1">
                <a:solidFill>
                  <a:schemeClr val="bg1">
                    <a:lumMod val="85000"/>
                  </a:schemeClr>
                </a:solidFill>
              </a:rPr>
              <a:t>v_proj</a:t>
            </a:r>
            <a:r>
              <a:rPr lang="en-US" dirty="0">
                <a:solidFill>
                  <a:schemeClr val="bg1">
                    <a:lumMod val="85000"/>
                  </a:schemeClr>
                </a:solidFill>
              </a:rPr>
              <a:t> </a:t>
            </a:r>
            <a:r>
              <a:rPr lang="ko-KR" altLang="en-US" dirty="0">
                <a:solidFill>
                  <a:schemeClr val="bg1">
                    <a:lumMod val="85000"/>
                  </a:schemeClr>
                </a:solidFill>
              </a:rPr>
              <a:t>비율 </a:t>
            </a:r>
            <a:r>
              <a:rPr lang="en-US" altLang="ko-KR" dirty="0">
                <a:solidFill>
                  <a:schemeClr val="bg1">
                    <a:lumMod val="85000"/>
                  </a:schemeClr>
                </a:solidFill>
              </a:rPr>
              <a:t>: 0.0036 % / 0.007 %</a:t>
            </a:r>
          </a:p>
          <a:p>
            <a:pPr lvl="3"/>
            <a:r>
              <a:rPr lang="en-US" altLang="ko-KR" dirty="0">
                <a:solidFill>
                  <a:schemeClr val="bg1">
                    <a:lumMod val="85000"/>
                  </a:schemeClr>
                </a:solidFill>
              </a:rPr>
              <a:t>(</a:t>
            </a:r>
            <a:r>
              <a:rPr lang="en-US" b="1" dirty="0">
                <a:solidFill>
                  <a:schemeClr val="bg1">
                    <a:lumMod val="85000"/>
                  </a:schemeClr>
                </a:solidFill>
              </a:rPr>
              <a:t>D) FFN </a:t>
            </a:r>
            <a:r>
              <a:rPr lang="ko-KR" altLang="en-US" b="1" dirty="0">
                <a:solidFill>
                  <a:schemeClr val="bg1">
                    <a:lumMod val="85000"/>
                  </a:schemeClr>
                </a:solidFill>
              </a:rPr>
              <a:t>전체 비율 </a:t>
            </a:r>
            <a:r>
              <a:rPr lang="en-US" altLang="ko-KR" b="1" dirty="0">
                <a:solidFill>
                  <a:schemeClr val="bg1">
                    <a:lumMod val="85000"/>
                  </a:schemeClr>
                </a:solidFill>
              </a:rPr>
              <a:t>: 0.4 % / 0.8 %</a:t>
            </a:r>
          </a:p>
          <a:p>
            <a:pPr lvl="3"/>
            <a:r>
              <a:rPr lang="en-US" altLang="ko-KR" dirty="0">
                <a:solidFill>
                  <a:schemeClr val="bg1">
                    <a:lumMod val="85000"/>
                  </a:schemeClr>
                </a:solidFill>
              </a:rPr>
              <a:t>(</a:t>
            </a:r>
            <a:r>
              <a:rPr lang="en-US" dirty="0">
                <a:solidFill>
                  <a:schemeClr val="bg1">
                    <a:lumMod val="85000"/>
                  </a:schemeClr>
                </a:solidFill>
              </a:rPr>
              <a:t>E) FFN </a:t>
            </a:r>
            <a:r>
              <a:rPr lang="en-US" dirty="0" err="1">
                <a:solidFill>
                  <a:schemeClr val="bg1">
                    <a:lumMod val="85000"/>
                  </a:schemeClr>
                </a:solidFill>
              </a:rPr>
              <a:t>down_proj</a:t>
            </a:r>
            <a:r>
              <a:rPr lang="en-US" dirty="0">
                <a:solidFill>
                  <a:schemeClr val="bg1">
                    <a:lumMod val="85000"/>
                  </a:schemeClr>
                </a:solidFill>
              </a:rPr>
              <a:t> </a:t>
            </a:r>
            <a:r>
              <a:rPr lang="ko-KR" altLang="en-US" dirty="0">
                <a:solidFill>
                  <a:schemeClr val="bg1">
                    <a:lumMod val="85000"/>
                  </a:schemeClr>
                </a:solidFill>
              </a:rPr>
              <a:t>비율 </a:t>
            </a:r>
            <a:r>
              <a:rPr lang="en-US" altLang="ko-KR" dirty="0">
                <a:solidFill>
                  <a:schemeClr val="bg1">
                    <a:lumMod val="85000"/>
                  </a:schemeClr>
                </a:solidFill>
              </a:rPr>
              <a:t>: 0.134 % / 0.26 %</a:t>
            </a:r>
            <a:endParaRPr lang="en-KR" dirty="0">
              <a:solidFill>
                <a:schemeClr val="bg1">
                  <a:lumMod val="85000"/>
                </a:schemeClr>
              </a:solidFill>
            </a:endParaRPr>
          </a:p>
        </p:txBody>
      </p:sp>
      <p:sp>
        <p:nvSpPr>
          <p:cNvPr id="4" name="TextBox 3">
            <a:extLst>
              <a:ext uri="{FF2B5EF4-FFF2-40B4-BE49-F238E27FC236}">
                <a16:creationId xmlns:a16="http://schemas.microsoft.com/office/drawing/2014/main" id="{458E49CA-1B45-E2D6-10D2-EDF08CFA1C98}"/>
              </a:ext>
            </a:extLst>
          </p:cNvPr>
          <p:cNvSpPr txBox="1"/>
          <p:nvPr/>
        </p:nvSpPr>
        <p:spPr>
          <a:xfrm>
            <a:off x="1117662" y="1700914"/>
            <a:ext cx="10542520" cy="1061829"/>
          </a:xfrm>
          <a:prstGeom prst="rect">
            <a:avLst/>
          </a:prstGeom>
          <a:noFill/>
        </p:spPr>
        <p:txBody>
          <a:bodyPr wrap="square" rtlCol="0">
            <a:spAutoFit/>
          </a:bodyPr>
          <a:lstStyle/>
          <a:p>
            <a:r>
              <a:rPr lang="en-US" sz="1050" dirty="0"/>
              <a:t>Thinking: &lt;think&gt;</a:t>
            </a:r>
          </a:p>
          <a:p>
            <a:r>
              <a:rPr lang="en-US" sz="1050" dirty="0"/>
              <a:t>The model should generate an image of Mickey Mouse</a:t>
            </a:r>
            <a:r>
              <a:rPr lang="en-US" sz="1050" b="1" u="sng" dirty="0"/>
              <a:t>, a famous cartoon character with large round ears, a cheerful expression, and a red bow tie.</a:t>
            </a:r>
          </a:p>
          <a:p>
            <a:r>
              <a:rPr lang="en-US" sz="1050" dirty="0"/>
              <a:t>Here’s the full, detailed prompt: A vibrant and cheerful depiction of Mickey Mouse, featuring his iconic large round ears, a bright and friendly expression, and a classic red bow tie. The image should be highly detailed and colorful, with a clean and polished cartoon style, set against a simple white background to emphasize the character. The lighting is soft and even, creating a warm and inviting atmosphere, with no distractions or additional elements in the scene.</a:t>
            </a:r>
          </a:p>
          <a:p>
            <a:r>
              <a:rPr lang="en-US" sz="1050" dirty="0"/>
              <a:t>&lt;/think&gt;</a:t>
            </a:r>
            <a:endParaRPr lang="en-KR" sz="1050" dirty="0"/>
          </a:p>
        </p:txBody>
      </p:sp>
    </p:spTree>
    <p:extLst>
      <p:ext uri="{BB962C8B-B14F-4D97-AF65-F5344CB8AC3E}">
        <p14:creationId xmlns:p14="http://schemas.microsoft.com/office/powerpoint/2010/main" val="25593645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9A784-A8F8-AB63-D2D4-AB25F0A371E6}"/>
              </a:ext>
            </a:extLst>
          </p:cNvPr>
          <p:cNvSpPr>
            <a:spLocks noGrp="1"/>
          </p:cNvSpPr>
          <p:nvPr>
            <p:ph type="title"/>
          </p:nvPr>
        </p:nvSpPr>
        <p:spPr/>
        <p:txBody>
          <a:bodyPr/>
          <a:lstStyle/>
          <a:p>
            <a:r>
              <a:rPr lang="en-KR" dirty="0"/>
              <a:t>On-going Implementation</a:t>
            </a:r>
          </a:p>
        </p:txBody>
      </p:sp>
      <p:graphicFrame>
        <p:nvGraphicFramePr>
          <p:cNvPr id="11" name="Content Placeholder 10">
            <a:extLst>
              <a:ext uri="{FF2B5EF4-FFF2-40B4-BE49-F238E27FC236}">
                <a16:creationId xmlns:a16="http://schemas.microsoft.com/office/drawing/2014/main" id="{FCBBBA84-FD61-D623-D1FE-625C0C9A9A24}"/>
              </a:ext>
            </a:extLst>
          </p:cNvPr>
          <p:cNvGraphicFramePr>
            <a:graphicFrameLocks noGrp="1"/>
          </p:cNvGraphicFramePr>
          <p:nvPr>
            <p:ph idx="1"/>
            <p:extLst>
              <p:ext uri="{D42A27DB-BD31-4B8C-83A1-F6EECF244321}">
                <p14:modId xmlns:p14="http://schemas.microsoft.com/office/powerpoint/2010/main" val="2288965546"/>
              </p:ext>
            </p:extLst>
          </p:nvPr>
        </p:nvGraphicFramePr>
        <p:xfrm>
          <a:off x="3314580" y="4368271"/>
          <a:ext cx="4612509" cy="502920"/>
        </p:xfrm>
        <a:graphic>
          <a:graphicData uri="http://schemas.openxmlformats.org/drawingml/2006/table">
            <a:tbl>
              <a:tblPr firstRow="1" bandRow="1">
                <a:tableStyleId>{5940675A-B579-460E-94D1-54222C63F5DA}</a:tableStyleId>
              </a:tblPr>
              <a:tblGrid>
                <a:gridCol w="2501829">
                  <a:extLst>
                    <a:ext uri="{9D8B030D-6E8A-4147-A177-3AD203B41FA5}">
                      <a16:colId xmlns:a16="http://schemas.microsoft.com/office/drawing/2014/main" val="3349858543"/>
                    </a:ext>
                  </a:extLst>
                </a:gridCol>
                <a:gridCol w="527670">
                  <a:extLst>
                    <a:ext uri="{9D8B030D-6E8A-4147-A177-3AD203B41FA5}">
                      <a16:colId xmlns:a16="http://schemas.microsoft.com/office/drawing/2014/main" val="3324918346"/>
                    </a:ext>
                  </a:extLst>
                </a:gridCol>
                <a:gridCol w="527670">
                  <a:extLst>
                    <a:ext uri="{9D8B030D-6E8A-4147-A177-3AD203B41FA5}">
                      <a16:colId xmlns:a16="http://schemas.microsoft.com/office/drawing/2014/main" val="3602151612"/>
                    </a:ext>
                  </a:extLst>
                </a:gridCol>
                <a:gridCol w="527670">
                  <a:extLst>
                    <a:ext uri="{9D8B030D-6E8A-4147-A177-3AD203B41FA5}">
                      <a16:colId xmlns:a16="http://schemas.microsoft.com/office/drawing/2014/main" val="735876634"/>
                    </a:ext>
                  </a:extLst>
                </a:gridCol>
                <a:gridCol w="527670">
                  <a:extLst>
                    <a:ext uri="{9D8B030D-6E8A-4147-A177-3AD203B41FA5}">
                      <a16:colId xmlns:a16="http://schemas.microsoft.com/office/drawing/2014/main" val="2874875606"/>
                    </a:ext>
                  </a:extLst>
                </a:gridCol>
              </a:tblGrid>
              <a:tr h="2009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t>BAGEL Generation With Think</a:t>
                      </a:r>
                    </a:p>
                  </a:txBody>
                  <a:tcPr/>
                </a:tc>
                <a:tc>
                  <a:txBody>
                    <a:bodyPr/>
                    <a:lstStyle/>
                    <a:p>
                      <a:endParaRPr lang="en-KR" sz="1050" dirty="0"/>
                    </a:p>
                  </a:txBody>
                  <a:tcPr/>
                </a:tc>
                <a:tc>
                  <a:txBody>
                    <a:bodyPr/>
                    <a:lstStyle/>
                    <a:p>
                      <a:endParaRPr lang="en-KR" sz="1050" dirty="0"/>
                    </a:p>
                  </a:txBody>
                  <a:tcPr/>
                </a:tc>
                <a:tc>
                  <a:txBody>
                    <a:bodyPr/>
                    <a:lstStyle/>
                    <a:p>
                      <a:endParaRPr lang="en-KR" sz="1050" dirty="0"/>
                    </a:p>
                  </a:txBody>
                  <a:tcPr/>
                </a:tc>
                <a:tc>
                  <a:txBody>
                    <a:bodyPr/>
                    <a:lstStyle/>
                    <a:p>
                      <a:endParaRPr lang="en-KR" sz="1050" dirty="0"/>
                    </a:p>
                  </a:txBody>
                  <a:tcPr/>
                </a:tc>
                <a:extLst>
                  <a:ext uri="{0D108BD9-81ED-4DB2-BD59-A6C34878D82A}">
                    <a16:rowId xmlns:a16="http://schemas.microsoft.com/office/drawing/2014/main" val="2751205458"/>
                  </a:ext>
                </a:extLst>
              </a:tr>
              <a:tr h="2009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t>BAGEL Generation </a:t>
                      </a:r>
                      <a:r>
                        <a:rPr lang="en-KR" sz="1050" dirty="0"/>
                        <a:t>Without Think</a:t>
                      </a:r>
                    </a:p>
                  </a:txBody>
                  <a:tcPr/>
                </a:tc>
                <a:tc>
                  <a:txBody>
                    <a:bodyPr/>
                    <a:lstStyle/>
                    <a:p>
                      <a:endParaRPr lang="en-KR" sz="1050"/>
                    </a:p>
                  </a:txBody>
                  <a:tcPr/>
                </a:tc>
                <a:tc>
                  <a:txBody>
                    <a:bodyPr/>
                    <a:lstStyle/>
                    <a:p>
                      <a:endParaRPr lang="en-KR" sz="1050"/>
                    </a:p>
                  </a:txBody>
                  <a:tcPr/>
                </a:tc>
                <a:tc>
                  <a:txBody>
                    <a:bodyPr/>
                    <a:lstStyle/>
                    <a:p>
                      <a:endParaRPr lang="en-KR" sz="1050"/>
                    </a:p>
                  </a:txBody>
                  <a:tcPr/>
                </a:tc>
                <a:tc>
                  <a:txBody>
                    <a:bodyPr/>
                    <a:lstStyle/>
                    <a:p>
                      <a:endParaRPr lang="en-KR" sz="1050" dirty="0"/>
                    </a:p>
                  </a:txBody>
                  <a:tcPr/>
                </a:tc>
                <a:extLst>
                  <a:ext uri="{0D108BD9-81ED-4DB2-BD59-A6C34878D82A}">
                    <a16:rowId xmlns:a16="http://schemas.microsoft.com/office/drawing/2014/main" val="1010569878"/>
                  </a:ext>
                </a:extLst>
              </a:tr>
            </a:tbl>
          </a:graphicData>
        </a:graphic>
      </p:graphicFrame>
      <p:pic>
        <p:nvPicPr>
          <p:cNvPr id="7" name="Picture 6">
            <a:extLst>
              <a:ext uri="{FF2B5EF4-FFF2-40B4-BE49-F238E27FC236}">
                <a16:creationId xmlns:a16="http://schemas.microsoft.com/office/drawing/2014/main" id="{EE522632-1941-0893-0460-79E4FF49A5B7}"/>
              </a:ext>
            </a:extLst>
          </p:cNvPr>
          <p:cNvPicPr>
            <a:picLocks noChangeAspect="1"/>
          </p:cNvPicPr>
          <p:nvPr/>
        </p:nvPicPr>
        <p:blipFill>
          <a:blip r:embed="rId2"/>
          <a:stretch>
            <a:fillRect/>
          </a:stretch>
        </p:blipFill>
        <p:spPr>
          <a:xfrm>
            <a:off x="2831718" y="1759769"/>
            <a:ext cx="6528564" cy="2122169"/>
          </a:xfrm>
          <a:prstGeom prst="rect">
            <a:avLst/>
          </a:prstGeom>
        </p:spPr>
      </p:pic>
      <p:sp>
        <p:nvSpPr>
          <p:cNvPr id="8" name="TextBox 7">
            <a:extLst>
              <a:ext uri="{FF2B5EF4-FFF2-40B4-BE49-F238E27FC236}">
                <a16:creationId xmlns:a16="http://schemas.microsoft.com/office/drawing/2014/main" id="{3DA5D463-96B2-67FD-73B4-0D223EC2AEBA}"/>
              </a:ext>
            </a:extLst>
          </p:cNvPr>
          <p:cNvSpPr txBox="1"/>
          <p:nvPr/>
        </p:nvSpPr>
        <p:spPr>
          <a:xfrm>
            <a:off x="3203838" y="3751133"/>
            <a:ext cx="5214889" cy="253916"/>
          </a:xfrm>
          <a:prstGeom prst="rect">
            <a:avLst/>
          </a:prstGeom>
          <a:noFill/>
        </p:spPr>
        <p:txBody>
          <a:bodyPr wrap="none" rtlCol="0">
            <a:spAutoFit/>
          </a:bodyPr>
          <a:lstStyle/>
          <a:p>
            <a:r>
              <a:rPr lang="en-US" sz="1050" i="1" dirty="0">
                <a:solidFill>
                  <a:schemeClr val="bg1">
                    <a:lumMod val="75000"/>
                  </a:schemeClr>
                </a:solidFill>
              </a:rPr>
              <a:t>* </a:t>
            </a:r>
            <a:r>
              <a:rPr lang="en-US" sz="1050" i="1" dirty="0" err="1">
                <a:solidFill>
                  <a:schemeClr val="bg1">
                    <a:lumMod val="75000"/>
                  </a:schemeClr>
                </a:solidFill>
              </a:rPr>
              <a:t>EraseAnything</a:t>
            </a:r>
            <a:r>
              <a:rPr lang="en-US" sz="1050" i="1" dirty="0">
                <a:solidFill>
                  <a:schemeClr val="bg1">
                    <a:lumMod val="75000"/>
                  </a:schemeClr>
                </a:solidFill>
              </a:rPr>
              <a:t>: Enabling Concept Erasure in Rectified Flow Transformers (ICML, 2025)</a:t>
            </a:r>
          </a:p>
        </p:txBody>
      </p:sp>
    </p:spTree>
    <p:extLst>
      <p:ext uri="{BB962C8B-B14F-4D97-AF65-F5344CB8AC3E}">
        <p14:creationId xmlns:p14="http://schemas.microsoft.com/office/powerpoint/2010/main" val="21678585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2B1D3-7454-3111-4E4C-26C6498A0F89}"/>
              </a:ext>
            </a:extLst>
          </p:cNvPr>
          <p:cNvSpPr>
            <a:spLocks noGrp="1"/>
          </p:cNvSpPr>
          <p:nvPr>
            <p:ph type="title"/>
          </p:nvPr>
        </p:nvSpPr>
        <p:spPr/>
        <p:txBody>
          <a:bodyPr/>
          <a:lstStyle/>
          <a:p>
            <a:r>
              <a:rPr lang="en-KR" dirty="0"/>
              <a:t>* Plan</a:t>
            </a:r>
          </a:p>
        </p:txBody>
      </p:sp>
      <p:sp>
        <p:nvSpPr>
          <p:cNvPr id="3" name="Content Placeholder 2">
            <a:extLst>
              <a:ext uri="{FF2B5EF4-FFF2-40B4-BE49-F238E27FC236}">
                <a16:creationId xmlns:a16="http://schemas.microsoft.com/office/drawing/2014/main" id="{2AB6EC5F-0FC1-0FB9-D3E7-89F3ED22BB37}"/>
              </a:ext>
            </a:extLst>
          </p:cNvPr>
          <p:cNvSpPr>
            <a:spLocks noGrp="1"/>
          </p:cNvSpPr>
          <p:nvPr>
            <p:ph idx="1"/>
          </p:nvPr>
        </p:nvSpPr>
        <p:spPr>
          <a:xfrm>
            <a:off x="365126" y="1137958"/>
            <a:ext cx="5730874" cy="5354917"/>
          </a:xfrm>
        </p:spPr>
        <p:txBody>
          <a:bodyPr>
            <a:normAutofit/>
          </a:bodyPr>
          <a:lstStyle/>
          <a:p>
            <a:r>
              <a:rPr lang="en-KR" dirty="0"/>
              <a:t>Memorization</a:t>
            </a:r>
          </a:p>
          <a:p>
            <a:pPr marL="800100" lvl="1" indent="-342900">
              <a:buFont typeface="+mj-lt"/>
              <a:buAutoNum type="arabicPeriod"/>
            </a:pPr>
            <a:r>
              <a:rPr lang="en-KR" dirty="0">
                <a:solidFill>
                  <a:schemeClr val="bg1">
                    <a:lumMod val="85000"/>
                  </a:schemeClr>
                </a:solidFill>
              </a:rPr>
              <a:t>Previous Works cannot resolve this phenomenon?</a:t>
            </a:r>
          </a:p>
          <a:p>
            <a:pPr marL="800100" lvl="1" indent="-342900">
              <a:buFont typeface="+mj-lt"/>
              <a:buAutoNum type="arabicPeriod"/>
            </a:pPr>
            <a:r>
              <a:rPr lang="en-KR" dirty="0">
                <a:solidFill>
                  <a:schemeClr val="bg1">
                    <a:lumMod val="85000"/>
                  </a:schemeClr>
                </a:solidFill>
              </a:rPr>
              <a:t>More Training Experiments on More Classes/Instances</a:t>
            </a:r>
          </a:p>
          <a:p>
            <a:pPr lvl="2"/>
            <a:r>
              <a:rPr lang="en-KR" dirty="0">
                <a:solidFill>
                  <a:schemeClr val="bg1">
                    <a:lumMod val="85000"/>
                  </a:schemeClr>
                </a:solidFill>
              </a:rPr>
              <a:t>‘dvddog’</a:t>
            </a:r>
          </a:p>
          <a:p>
            <a:pPr marL="800100" lvl="1" indent="-342900">
              <a:buFont typeface="+mj-lt"/>
              <a:buAutoNum type="arabicPeriod"/>
            </a:pPr>
            <a:r>
              <a:rPr lang="en-KR" dirty="0">
                <a:solidFill>
                  <a:schemeClr val="bg1">
                    <a:lumMod val="85000"/>
                  </a:schemeClr>
                </a:solidFill>
              </a:rPr>
              <a:t>Temporal Analysis</a:t>
            </a:r>
          </a:p>
          <a:p>
            <a:pPr lvl="2"/>
            <a:r>
              <a:rPr lang="en-KR" dirty="0">
                <a:solidFill>
                  <a:schemeClr val="bg1">
                    <a:lumMod val="85000"/>
                  </a:schemeClr>
                </a:solidFill>
              </a:rPr>
              <a:t>Compared btw ‘Dominating’ and ‘Others’</a:t>
            </a:r>
          </a:p>
          <a:p>
            <a:pPr lvl="2"/>
            <a:r>
              <a:rPr lang="en-KR" dirty="0">
                <a:solidFill>
                  <a:schemeClr val="bg1">
                    <a:lumMod val="85000"/>
                  </a:schemeClr>
                </a:solidFill>
              </a:rPr>
              <a:t>Should be Compared btw ‘Dominanting’ and ‘Dominated’</a:t>
            </a:r>
          </a:p>
          <a:p>
            <a:pPr marL="800100" lvl="1" indent="-342900">
              <a:buFont typeface="+mj-lt"/>
              <a:buAutoNum type="arabicPeriod"/>
            </a:pPr>
            <a:r>
              <a:rPr lang="en-KR" dirty="0">
                <a:solidFill>
                  <a:schemeClr val="bg1">
                    <a:lumMod val="85000"/>
                  </a:schemeClr>
                </a:solidFill>
              </a:rPr>
              <a:t>Additional Experiments on SD2.1 (All Analysis P</a:t>
            </a:r>
            <a:r>
              <a:rPr lang="en-US" dirty="0">
                <a:solidFill>
                  <a:schemeClr val="bg1">
                    <a:lumMod val="85000"/>
                  </a:schemeClr>
                </a:solidFill>
              </a:rPr>
              <a:t>a</a:t>
            </a:r>
            <a:r>
              <a:rPr lang="en-KR" dirty="0">
                <a:solidFill>
                  <a:schemeClr val="bg1">
                    <a:lumMod val="85000"/>
                  </a:schemeClr>
                </a:solidFill>
              </a:rPr>
              <a:t>rt)</a:t>
            </a:r>
          </a:p>
          <a:p>
            <a:pPr lvl="2"/>
            <a:r>
              <a:rPr lang="en-US" dirty="0">
                <a:solidFill>
                  <a:schemeClr val="bg1">
                    <a:lumMod val="85000"/>
                  </a:schemeClr>
                </a:solidFill>
              </a:rPr>
              <a:t>F</a:t>
            </a:r>
            <a:r>
              <a:rPr lang="en-KR" dirty="0">
                <a:solidFill>
                  <a:schemeClr val="bg1">
                    <a:lumMod val="85000"/>
                  </a:schemeClr>
                </a:solidFill>
              </a:rPr>
              <a:t>ine-tuning experiment</a:t>
            </a:r>
          </a:p>
          <a:p>
            <a:pPr lvl="2"/>
            <a:r>
              <a:rPr lang="en-US" dirty="0">
                <a:solidFill>
                  <a:schemeClr val="bg1">
                    <a:lumMod val="85000"/>
                  </a:schemeClr>
                </a:solidFill>
              </a:rPr>
              <a:t>F</a:t>
            </a:r>
            <a:r>
              <a:rPr lang="en-KR" dirty="0">
                <a:solidFill>
                  <a:schemeClr val="bg1">
                    <a:lumMod val="85000"/>
                  </a:schemeClr>
                </a:solidFill>
              </a:rPr>
              <a:t>ocus score</a:t>
            </a:r>
          </a:p>
          <a:p>
            <a:pPr lvl="2"/>
            <a:r>
              <a:rPr lang="en-KR" dirty="0">
                <a:solidFill>
                  <a:schemeClr val="bg1">
                    <a:lumMod val="85000"/>
                  </a:schemeClr>
                </a:solidFill>
              </a:rPr>
              <a:t>Temporal Analysis</a:t>
            </a:r>
          </a:p>
          <a:p>
            <a:pPr lvl="2"/>
            <a:r>
              <a:rPr lang="en-KR" dirty="0">
                <a:solidFill>
                  <a:schemeClr val="bg1">
                    <a:lumMod val="85000"/>
                  </a:schemeClr>
                </a:solidFill>
              </a:rPr>
              <a:t>Head Ablation</a:t>
            </a:r>
          </a:p>
          <a:p>
            <a:pPr marL="800100" lvl="1" indent="-342900">
              <a:buFont typeface="+mj-lt"/>
              <a:buAutoNum type="arabicPeriod"/>
            </a:pPr>
            <a:r>
              <a:rPr lang="en-KR" dirty="0">
                <a:solidFill>
                  <a:schemeClr val="bg1">
                    <a:lumMod val="85000"/>
                  </a:schemeClr>
                </a:solidFill>
              </a:rPr>
              <a:t>Strengthen the minor argument</a:t>
            </a:r>
          </a:p>
          <a:p>
            <a:r>
              <a:rPr lang="en-US" dirty="0"/>
              <a:t>Concept Erasing in UMM</a:t>
            </a:r>
            <a:endParaRPr lang="en-KR" dirty="0"/>
          </a:p>
          <a:p>
            <a:pPr lvl="1"/>
            <a:r>
              <a:rPr lang="en-KR" dirty="0"/>
              <a:t>Apply baseline Methods: SPEED, EraseAnything, …</a:t>
            </a:r>
          </a:p>
          <a:p>
            <a:pPr lvl="1"/>
            <a:r>
              <a:rPr lang="en-KR" dirty="0"/>
              <a:t>Discover “Think” mode</a:t>
            </a:r>
          </a:p>
        </p:txBody>
      </p:sp>
      <p:sp>
        <p:nvSpPr>
          <p:cNvPr id="4" name="Content Placeholder 2">
            <a:extLst>
              <a:ext uri="{FF2B5EF4-FFF2-40B4-BE49-F238E27FC236}">
                <a16:creationId xmlns:a16="http://schemas.microsoft.com/office/drawing/2014/main" id="{E111E667-7B9E-0813-4285-8D05BEA3DB60}"/>
              </a:ext>
            </a:extLst>
          </p:cNvPr>
          <p:cNvSpPr txBox="1">
            <a:spLocks/>
          </p:cNvSpPr>
          <p:nvPr/>
        </p:nvSpPr>
        <p:spPr>
          <a:xfrm>
            <a:off x="6073565" y="1137957"/>
            <a:ext cx="5730874" cy="5354917"/>
          </a:xfrm>
          <a:prstGeom prst="rect">
            <a:avLst/>
          </a:prstGeom>
        </p:spPr>
        <p:txBody>
          <a:bodyPr>
            <a:normAutofit/>
          </a:bodyPr>
          <a:lstStyle>
            <a:lvl1pPr marL="228600" indent="-228600" algn="l" defTabSz="914400" rtl="0" eaLnBrk="1" latinLnBrk="0" hangingPunct="1">
              <a:lnSpc>
                <a:spcPct val="100000"/>
              </a:lnSpc>
              <a:spcBef>
                <a:spcPts val="1000"/>
              </a:spcBef>
              <a:buFont typeface="Arial" panose="020B0604020202020204" pitchFamily="34" charset="0"/>
              <a:buChar char="•"/>
              <a:defRPr sz="1600" b="0" i="0" kern="1200">
                <a:solidFill>
                  <a:schemeClr val="tx1"/>
                </a:solidFill>
                <a:latin typeface="Pretendard" panose="02000503000000020004" pitchFamily="2" charset="-127"/>
                <a:ea typeface="Pretendard" panose="02000503000000020004" pitchFamily="2" charset="-127"/>
                <a:cs typeface="Pretendard" panose="02000503000000020004" pitchFamily="2" charset="-127"/>
              </a:defRPr>
            </a:lvl1pPr>
            <a:lvl2pPr marL="685800" indent="-228600" algn="l" defTabSz="914400" rtl="0" eaLnBrk="1" latinLnBrk="0" hangingPunct="1">
              <a:lnSpc>
                <a:spcPct val="100000"/>
              </a:lnSpc>
              <a:spcBef>
                <a:spcPts val="500"/>
              </a:spcBef>
              <a:buFont typeface="Arial" panose="020B0604020202020204" pitchFamily="34" charset="0"/>
              <a:buChar char="•"/>
              <a:defRPr sz="1400" b="0" i="0" kern="1200">
                <a:solidFill>
                  <a:schemeClr val="tx1"/>
                </a:solidFill>
                <a:latin typeface="Pretendard" panose="02000503000000020004" pitchFamily="2" charset="-127"/>
                <a:ea typeface="Pretendard" panose="02000503000000020004" pitchFamily="2" charset="-127"/>
                <a:cs typeface="Pretendard" panose="02000503000000020004" pitchFamily="2" charset="-127"/>
              </a:defRPr>
            </a:lvl2pPr>
            <a:lvl3pPr marL="1143000" indent="-228600" algn="l" defTabSz="914400" rtl="0" eaLnBrk="1" latinLnBrk="0" hangingPunct="1">
              <a:lnSpc>
                <a:spcPct val="100000"/>
              </a:lnSpc>
              <a:spcBef>
                <a:spcPts val="500"/>
              </a:spcBef>
              <a:buFont typeface="Arial" panose="020B0604020202020204" pitchFamily="34" charset="0"/>
              <a:buChar char="•"/>
              <a:defRPr sz="1200" b="0" i="0" kern="1200">
                <a:solidFill>
                  <a:schemeClr val="tx1"/>
                </a:solidFill>
                <a:latin typeface="Pretendard" panose="02000503000000020004" pitchFamily="2" charset="-127"/>
                <a:ea typeface="Pretendard" panose="02000503000000020004" pitchFamily="2" charset="-127"/>
                <a:cs typeface="Pretendard" panose="02000503000000020004" pitchFamily="2" charset="-127"/>
              </a:defRPr>
            </a:lvl3pPr>
            <a:lvl4pPr marL="1600200" indent="-228600" algn="l" defTabSz="914400" rtl="0" eaLnBrk="1" latinLnBrk="0" hangingPunct="1">
              <a:lnSpc>
                <a:spcPct val="100000"/>
              </a:lnSpc>
              <a:spcBef>
                <a:spcPts val="500"/>
              </a:spcBef>
              <a:buFont typeface="Arial" panose="020B0604020202020204" pitchFamily="34" charset="0"/>
              <a:buChar char="•"/>
              <a:defRPr sz="1100" b="0" i="0" kern="1200">
                <a:solidFill>
                  <a:schemeClr val="tx1"/>
                </a:solidFill>
                <a:latin typeface="Pretendard" panose="02000503000000020004" pitchFamily="2" charset="-127"/>
                <a:ea typeface="Pretendard" panose="02000503000000020004" pitchFamily="2" charset="-127"/>
                <a:cs typeface="Pretendard" panose="02000503000000020004" pitchFamily="2" charset="-127"/>
              </a:defRPr>
            </a:lvl4pPr>
            <a:lvl5pPr marL="2057400" indent="-228600" algn="l" defTabSz="914400" rtl="0" eaLnBrk="1" latinLnBrk="0" hangingPunct="1">
              <a:lnSpc>
                <a:spcPct val="100000"/>
              </a:lnSpc>
              <a:spcBef>
                <a:spcPts val="500"/>
              </a:spcBef>
              <a:buFont typeface="Arial" panose="020B0604020202020204" pitchFamily="34" charset="0"/>
              <a:buChar char="•"/>
              <a:defRPr sz="1100" b="0" i="0" kern="1200">
                <a:solidFill>
                  <a:schemeClr val="tx1"/>
                </a:solidFill>
                <a:latin typeface="Pretendard" panose="02000503000000020004" pitchFamily="2" charset="-127"/>
                <a:ea typeface="Pretendard" panose="02000503000000020004" pitchFamily="2" charset="-127"/>
                <a:cs typeface="Pretendard" panose="02000503000000020004" pitchFamily="2" charset="-12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KR" dirty="0"/>
              <a:t>Milestone</a:t>
            </a:r>
          </a:p>
          <a:p>
            <a:pPr lvl="1"/>
            <a:r>
              <a:rPr lang="en-KR" dirty="0"/>
              <a:t>Rebuttal (Jan, 22, 2026) – </a:t>
            </a:r>
            <a:r>
              <a:rPr lang="en-US" altLang="ko-KR" dirty="0"/>
              <a:t>3</a:t>
            </a:r>
            <a:r>
              <a:rPr lang="en-KR" dirty="0"/>
              <a:t> weeks</a:t>
            </a:r>
          </a:p>
          <a:p>
            <a:pPr lvl="1"/>
            <a:r>
              <a:rPr lang="en-KR" dirty="0"/>
              <a:t>Concept Erasing in UMM</a:t>
            </a:r>
          </a:p>
        </p:txBody>
      </p:sp>
      <p:sp>
        <p:nvSpPr>
          <p:cNvPr id="6" name="TextBox 5">
            <a:extLst>
              <a:ext uri="{FF2B5EF4-FFF2-40B4-BE49-F238E27FC236}">
                <a16:creationId xmlns:a16="http://schemas.microsoft.com/office/drawing/2014/main" id="{B9ACC5AF-3DED-5E68-FD49-6649E655C0E8}"/>
              </a:ext>
            </a:extLst>
          </p:cNvPr>
          <p:cNvSpPr txBox="1"/>
          <p:nvPr/>
        </p:nvSpPr>
        <p:spPr>
          <a:xfrm>
            <a:off x="6087315" y="2234436"/>
            <a:ext cx="1213666" cy="307777"/>
          </a:xfrm>
          <a:prstGeom prst="rect">
            <a:avLst/>
          </a:prstGeom>
          <a:noFill/>
        </p:spPr>
        <p:txBody>
          <a:bodyPr wrap="none" rtlCol="0">
            <a:spAutoFit/>
          </a:bodyPr>
          <a:lstStyle/>
          <a:p>
            <a:r>
              <a:rPr lang="en-KR" sz="1400" dirty="0">
                <a:solidFill>
                  <a:srgbClr val="C00000"/>
                </a:solidFill>
              </a:rPr>
              <a:t>* scholarship</a:t>
            </a:r>
          </a:p>
        </p:txBody>
      </p:sp>
    </p:spTree>
    <p:extLst>
      <p:ext uri="{BB962C8B-B14F-4D97-AF65-F5344CB8AC3E}">
        <p14:creationId xmlns:p14="http://schemas.microsoft.com/office/powerpoint/2010/main" val="13123713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8EA0EFB-474E-AF34-EBB1-CFC7CB1F52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3B1659-C65F-CBC8-658B-ED8C76A2E4DA}"/>
              </a:ext>
            </a:extLst>
          </p:cNvPr>
          <p:cNvSpPr>
            <a:spLocks noGrp="1"/>
          </p:cNvSpPr>
          <p:nvPr>
            <p:ph type="title"/>
          </p:nvPr>
        </p:nvSpPr>
        <p:spPr/>
        <p:txBody>
          <a:bodyPr/>
          <a:lstStyle/>
          <a:p>
            <a:r>
              <a:rPr lang="en-KR" dirty="0"/>
              <a:t>CVPR 2026 Submission</a:t>
            </a:r>
          </a:p>
        </p:txBody>
      </p:sp>
      <p:sp>
        <p:nvSpPr>
          <p:cNvPr id="3" name="Content Placeholder 2">
            <a:extLst>
              <a:ext uri="{FF2B5EF4-FFF2-40B4-BE49-F238E27FC236}">
                <a16:creationId xmlns:a16="http://schemas.microsoft.com/office/drawing/2014/main" id="{1932419F-BBCB-1426-C869-0BCA76CA2BEC}"/>
              </a:ext>
            </a:extLst>
          </p:cNvPr>
          <p:cNvSpPr>
            <a:spLocks noGrp="1"/>
          </p:cNvSpPr>
          <p:nvPr>
            <p:ph idx="1"/>
          </p:nvPr>
        </p:nvSpPr>
        <p:spPr/>
        <p:txBody>
          <a:bodyPr/>
          <a:lstStyle/>
          <a:p>
            <a:pPr marL="342900" indent="-342900">
              <a:buFont typeface="+mj-lt"/>
              <a:buAutoNum type="arabicPeriod"/>
            </a:pPr>
            <a:r>
              <a:rPr lang="en-KR" strike="sngStrike" dirty="0"/>
              <a:t>Previous Works cannot resolve this phenomenon?</a:t>
            </a:r>
            <a:endParaRPr lang="en-KR" dirty="0"/>
          </a:p>
          <a:p>
            <a:pPr marL="342900" indent="-342900">
              <a:buFont typeface="+mj-lt"/>
              <a:buAutoNum type="arabicPeriod"/>
            </a:pPr>
            <a:r>
              <a:rPr lang="en-KR" dirty="0"/>
              <a:t>More Training Experiments on More Classes/Instances</a:t>
            </a:r>
          </a:p>
          <a:p>
            <a:pPr lvl="1"/>
            <a:r>
              <a:rPr lang="en-KR" dirty="0"/>
              <a:t>‘dvddog’ and more</a:t>
            </a:r>
          </a:p>
          <a:p>
            <a:pPr lvl="1"/>
            <a:r>
              <a:rPr lang="en-KR" dirty="0"/>
              <a:t>Does size of the content in training data matters?</a:t>
            </a:r>
          </a:p>
          <a:p>
            <a:pPr marL="342900" indent="-342900">
              <a:buFont typeface="+mj-lt"/>
              <a:buAutoNum type="arabicPeriod"/>
            </a:pPr>
            <a:r>
              <a:rPr lang="en-KR" strike="sngStrike" dirty="0"/>
              <a:t>Temporal Analysis</a:t>
            </a:r>
          </a:p>
          <a:p>
            <a:pPr lvl="1"/>
            <a:r>
              <a:rPr lang="en-KR" strike="sngStrike" dirty="0"/>
              <a:t>Compared btw ‘Dominating’ and ‘Others’</a:t>
            </a:r>
          </a:p>
          <a:p>
            <a:pPr lvl="1"/>
            <a:r>
              <a:rPr lang="en-KR" strike="sngStrike" dirty="0"/>
              <a:t>Should be Compared btw ‘Dominanting’ and ‘Dominated’</a:t>
            </a:r>
          </a:p>
          <a:p>
            <a:pPr marL="342900" indent="-342900">
              <a:buFont typeface="+mj-lt"/>
              <a:buAutoNum type="arabicPeriod"/>
            </a:pPr>
            <a:r>
              <a:rPr lang="en-KR" dirty="0"/>
              <a:t>Additional Experiments on SD2.1 (All Analysis P</a:t>
            </a:r>
            <a:r>
              <a:rPr lang="en-US" dirty="0"/>
              <a:t>a</a:t>
            </a:r>
            <a:r>
              <a:rPr lang="en-KR" dirty="0"/>
              <a:t>rt)</a:t>
            </a:r>
          </a:p>
          <a:p>
            <a:pPr lvl="1"/>
            <a:r>
              <a:rPr lang="en-US" dirty="0"/>
              <a:t>F</a:t>
            </a:r>
            <a:r>
              <a:rPr lang="en-KR" dirty="0"/>
              <a:t>ine-tuning experiment</a:t>
            </a:r>
          </a:p>
          <a:p>
            <a:pPr lvl="1"/>
            <a:r>
              <a:rPr lang="en-US" dirty="0"/>
              <a:t>F</a:t>
            </a:r>
            <a:r>
              <a:rPr lang="en-KR" dirty="0"/>
              <a:t>ocus score</a:t>
            </a:r>
          </a:p>
          <a:p>
            <a:pPr lvl="1"/>
            <a:r>
              <a:rPr lang="en-KR" dirty="0"/>
              <a:t>Temporal Analysis</a:t>
            </a:r>
          </a:p>
          <a:p>
            <a:pPr lvl="1"/>
            <a:r>
              <a:rPr lang="en-KR" dirty="0"/>
              <a:t>Head Ablation</a:t>
            </a:r>
          </a:p>
          <a:p>
            <a:pPr marL="342900" indent="-342900">
              <a:buFont typeface="+mj-lt"/>
              <a:buAutoNum type="arabicPeriod"/>
            </a:pPr>
            <a:r>
              <a:rPr lang="en-KR" dirty="0"/>
              <a:t>Strengthen the minor argument</a:t>
            </a:r>
          </a:p>
          <a:p>
            <a:pPr lvl="1"/>
            <a:r>
              <a:rPr lang="en-US" dirty="0">
                <a:solidFill>
                  <a:srgbClr val="0070C0"/>
                </a:solidFill>
              </a:rPr>
              <a:t>intra-category cosine distances – Try more training images</a:t>
            </a:r>
          </a:p>
          <a:p>
            <a:pPr lvl="1"/>
            <a:r>
              <a:rPr lang="en-US" dirty="0"/>
              <a:t>Head ablation - Others </a:t>
            </a:r>
            <a:r>
              <a:rPr lang="ko-KR" altLang="en-US" dirty="0"/>
              <a:t>카테고리에 대한 추가 분석</a:t>
            </a:r>
            <a:endParaRPr lang="en-KR" dirty="0"/>
          </a:p>
          <a:p>
            <a:pPr lvl="1"/>
            <a:r>
              <a:rPr lang="en-US" dirty="0">
                <a:solidFill>
                  <a:srgbClr val="0070C0"/>
                </a:solidFill>
              </a:rPr>
              <a:t>Dominated Token</a:t>
            </a:r>
            <a:r>
              <a:rPr lang="ko-KR" altLang="en-US" dirty="0" err="1">
                <a:solidFill>
                  <a:srgbClr val="0070C0"/>
                </a:solidFill>
              </a:rPr>
              <a:t>에</a:t>
            </a:r>
            <a:r>
              <a:rPr lang="ko-KR" altLang="en-US" dirty="0">
                <a:solidFill>
                  <a:srgbClr val="0070C0"/>
                </a:solidFill>
              </a:rPr>
              <a:t> 대해서 </a:t>
            </a:r>
            <a:r>
              <a:rPr lang="en-US" dirty="0">
                <a:solidFill>
                  <a:srgbClr val="0070C0"/>
                </a:solidFill>
              </a:rPr>
              <a:t>Layer 7</a:t>
            </a:r>
            <a:r>
              <a:rPr lang="ko-KR" altLang="en-US" dirty="0" err="1">
                <a:solidFill>
                  <a:srgbClr val="0070C0"/>
                </a:solidFill>
              </a:rPr>
              <a:t>를</a:t>
            </a:r>
            <a:r>
              <a:rPr lang="ko-KR" altLang="en-US" dirty="0">
                <a:solidFill>
                  <a:srgbClr val="0070C0"/>
                </a:solidFill>
              </a:rPr>
              <a:t> 추적하는 이유</a:t>
            </a:r>
            <a:endParaRPr lang="en-KR" altLang="ko-KR" dirty="0">
              <a:solidFill>
                <a:srgbClr val="0070C0"/>
              </a:solidFill>
            </a:endParaRPr>
          </a:p>
          <a:p>
            <a:pPr lvl="1"/>
            <a:r>
              <a:rPr lang="en-KR" dirty="0"/>
              <a:t>Ablation Study (epsilon, LPIPS/SSCD threshold)</a:t>
            </a:r>
          </a:p>
        </p:txBody>
      </p:sp>
    </p:spTree>
    <p:extLst>
      <p:ext uri="{BB962C8B-B14F-4D97-AF65-F5344CB8AC3E}">
        <p14:creationId xmlns:p14="http://schemas.microsoft.com/office/powerpoint/2010/main" val="39320262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158ECF49-9510-284B-8608-77DD3AF33700}" vid="{D7FC2EE1-7D83-D345-BC33-911F7B4FB8D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9843</TotalTime>
  <Words>1390</Words>
  <Application>Microsoft Macintosh PowerPoint</Application>
  <PresentationFormat>Widescreen</PresentationFormat>
  <Paragraphs>160</Paragraphs>
  <Slides>16</Slides>
  <Notes>0</Notes>
  <HiddenSlides>3</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Pretendard</vt:lpstr>
      <vt:lpstr>Pretendard Medium</vt:lpstr>
      <vt:lpstr>Pretendard SemiBold</vt:lpstr>
      <vt:lpstr>Aptos</vt:lpstr>
      <vt:lpstr>Arial</vt:lpstr>
      <vt:lpstr>Wingdings</vt:lpstr>
      <vt:lpstr>Office Theme</vt:lpstr>
      <vt:lpstr>Weekly Update Concept Erasing on UMM</vt:lpstr>
      <vt:lpstr>Table of Contents</vt:lpstr>
      <vt:lpstr>What BAGEL can do?</vt:lpstr>
      <vt:lpstr>Concept Erasing</vt:lpstr>
      <vt:lpstr>Concept Erasing</vt:lpstr>
      <vt:lpstr>Experiment</vt:lpstr>
      <vt:lpstr>Experiment</vt:lpstr>
      <vt:lpstr>Experiment Results</vt:lpstr>
      <vt:lpstr>Experiment Results</vt:lpstr>
      <vt:lpstr>Hypothesis 1</vt:lpstr>
      <vt:lpstr>Hypothesis 1</vt:lpstr>
      <vt:lpstr>Hypothesis 2</vt:lpstr>
      <vt:lpstr>Hypothesis</vt:lpstr>
      <vt:lpstr>On-going Implementation</vt:lpstr>
      <vt:lpstr>* Plan</vt:lpstr>
      <vt:lpstr>CVPR 2026 Submission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정하연</dc:creator>
  <cp:lastModifiedBy>정하연</cp:lastModifiedBy>
  <cp:revision>212</cp:revision>
  <dcterms:created xsi:type="dcterms:W3CDTF">2025-07-25T04:06:09Z</dcterms:created>
  <dcterms:modified xsi:type="dcterms:W3CDTF">2026-01-02T02:45:18Z</dcterms:modified>
</cp:coreProperties>
</file>