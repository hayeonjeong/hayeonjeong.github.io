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303" r:id="rId3"/>
    <p:sldId id="298" r:id="rId4"/>
    <p:sldId id="306" r:id="rId5"/>
    <p:sldId id="307" r:id="rId6"/>
    <p:sldId id="308" r:id="rId7"/>
    <p:sldId id="310" r:id="rId8"/>
    <p:sldId id="309" r:id="rId9"/>
    <p:sldId id="311" r:id="rId10"/>
    <p:sldId id="290" r:id="rId11"/>
    <p:sldId id="258" r:id="rId12"/>
    <p:sldId id="262" r:id="rId1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C6C3"/>
    <a:srgbClr val="3792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35"/>
    <p:restoredTop sz="94543"/>
  </p:normalViewPr>
  <p:slideViewPr>
    <p:cSldViewPr snapToGrid="0">
      <p:cViewPr>
        <p:scale>
          <a:sx n="55" d="100"/>
          <a:sy n="55" d="100"/>
        </p:scale>
        <p:origin x="176" y="2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A1999-0D2D-334E-B65B-715E1558EE94}" type="datetimeFigureOut">
              <a:rPr lang="en-KR" smtClean="0"/>
              <a:t>1/13/26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8AA30-34BB-0C47-9851-CC14E2038A7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550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B9D99-0E39-375C-ECD9-E8BEB12F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EB2AF-6CDC-754A-BF21-D403DB356990}" type="datetime1">
              <a:rPr lang="en-US" smtClean="0"/>
              <a:t>1/13/26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02B2-45BC-3664-B16F-C0B3EE41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6CCC7B9-62B8-31DD-0229-DD887C0135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CC0C649-1748-F3E0-5235-F50DCBC93A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40848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Font typeface="Arial" panose="020B0604020202020204" pitchFamily="34" charset="0"/>
              <a:buNone/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KR" sz="4800" dirty="0"/>
              <a:t>Title</a:t>
            </a:r>
            <a:endParaRPr lang="en-KR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78C4E3D-CBDE-2C38-6A80-96C3A43688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28448"/>
            <a:ext cx="9144000" cy="156877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KR" dirty="0"/>
              <a:t>Subtitle</a:t>
            </a:r>
          </a:p>
          <a:p>
            <a:endParaRPr lang="en-KR" dirty="0"/>
          </a:p>
          <a:p>
            <a:r>
              <a:rPr lang="en-KR" dirty="0"/>
              <a:t>2025.XX.XX</a:t>
            </a:r>
          </a:p>
          <a:p>
            <a:r>
              <a:rPr lang="en-KR" dirty="0"/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3041020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CF7FA-047A-76DC-F53A-607DB621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0F43-BAD3-5D4B-842C-1BECF5783CC1}" type="datetime1">
              <a:rPr lang="en-US" smtClean="0"/>
              <a:t>1/13/26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5B7E-5821-3FBF-9C90-D608FD48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AE1898-3AA5-9E6C-895D-AE7A7A5E1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126" y="365125"/>
            <a:ext cx="11416878" cy="6568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sz="2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TITLE HERE</a:t>
            </a:r>
            <a:endParaRPr lang="en-KR" sz="28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C890D-0675-EFBB-C750-C787E03D1F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126" y="1137958"/>
            <a:ext cx="11416878" cy="53549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lnSpc>
                <a:spcPct val="100000"/>
              </a:lnSpc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lnSpc>
                <a:spcPct val="100000"/>
              </a:lnSpc>
              <a:defRPr sz="12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lnSpc>
                <a:spcPct val="100000"/>
              </a:lnSpc>
              <a:defRPr sz="11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First level</a:t>
            </a:r>
          </a:p>
          <a:p>
            <a:pPr lvl="1"/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Second level</a:t>
            </a:r>
          </a:p>
          <a:p>
            <a:pPr lvl="2"/>
            <a:r>
              <a: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Third level</a:t>
            </a:r>
          </a:p>
          <a:p>
            <a:pPr lvl="3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Fourth level</a:t>
            </a:r>
          </a:p>
          <a:p>
            <a:pPr lvl="4"/>
            <a:r>
              <a:rPr 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Fifth level</a:t>
            </a:r>
            <a:endParaRPr lang="en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8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4C1A-47A3-8FCD-C17B-E8AF0ACF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06B84-CF83-1768-F770-9FA317B2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DDBD9-8556-9FE5-B37E-326DFB75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65020-5E6C-944D-954D-F6513999B2B9}" type="datetime1">
              <a:rPr lang="en-US" smtClean="0"/>
              <a:t>1/13/26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A80EC-89C7-61E5-4253-9CEC3EBC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206E-DB2D-383A-E617-3091FE96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914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12B1-914A-A85B-9656-EED84B57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766D-9F19-7222-0134-B4027F458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9AC8F-15F8-233F-E3BD-B13B29E01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FBA0E-4D9B-5669-1A40-025EAF60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E84A6-EFC5-6A45-8FBB-8A86ED1092A9}" type="datetime1">
              <a:rPr lang="en-US" smtClean="0"/>
              <a:t>1/13/26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FC0FD-58FC-157A-9180-051DFAF8E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F6963-6C2A-C55A-CF1E-B938E2B36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02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DB35-4B06-C984-E6E9-6571DE79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2A03E-07D5-B7A7-F884-24381BF8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BA994-F460-612A-0B6F-B0A0EB041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733F7-78B9-904C-9642-3458037A1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6DCBC-7069-5BD8-46DB-C7BFDDEB4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9A386-0F81-8914-A12C-6597AB2E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B3992-39AF-5043-AD44-4F8B2806E4F7}" type="datetime1">
              <a:rPr lang="en-US" smtClean="0"/>
              <a:t>1/13/26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F0178-97F1-0E9D-871E-D44CC8A3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72DD4-2D02-1CE4-91A9-5691335D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573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EE20-AEF8-99D5-79CA-EC438D94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BD7C7D-4C4C-5FC3-6C82-38A2D6724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487C-F38D-EB4A-BAF1-3FA8DF0EA4DE}" type="datetime1">
              <a:rPr lang="en-US" smtClean="0"/>
              <a:t>1/13/26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572D74-F34B-1C70-5400-CE4D88C4C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B35DD3-871B-9B15-1A69-DF4F89CD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1056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DA536-F8D8-E1A0-0A07-D6F8F756A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10FE-8F71-CD45-B42C-796254A68CC4}" type="datetime1">
              <a:rPr lang="en-US" smtClean="0"/>
              <a:t>1/13/26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05598-D70E-7061-D1A4-71066E4B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16DE1-2B0C-747F-D616-2E1392364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6414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AA48-AC31-E217-26B4-54FEF3C6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5F99-968F-CA1D-9EF4-69C689EC7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8E2D5-46B5-C951-B600-B0A6F1C65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69B3FD-14F9-C37C-27AE-A6FEA1CC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F998-C5FC-F44C-ACA6-43C0BD0BBBF8}" type="datetime1">
              <a:rPr lang="en-US" smtClean="0"/>
              <a:t>1/13/26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EE16C-9D2A-FD18-5F30-C0F0D9B2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4FC3E-58AE-89CD-BA74-3985BDB5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67752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49053-6310-F6B5-FF99-73CF29FE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13669-4EC8-9849-8202-9D2220CD7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1B808-8321-4034-7019-7D47978AC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D785D-94BD-4D14-E338-CFC24081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3009-010A-3643-99D4-2D4D54D3FB5B}" type="datetime1">
              <a:rPr lang="en-US" smtClean="0"/>
              <a:t>1/13/26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19A7F-3AE0-5DBC-B468-D3B13EF7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C2B9-B059-6DC8-C0E4-9E89E048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8011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2D59A-D378-CAD2-FF2E-9693BAA6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31652-27E2-AD5A-2784-87FE064C1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654B-96B5-CC2A-79D0-7C2C5268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3623-CFE3-3B48-AD01-8ACA46C16D40}" type="datetime1">
              <a:rPr lang="en-US" smtClean="0"/>
              <a:t>1/13/26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D7CB8-48BD-8C01-F4EF-4C100458B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211DF-0CCD-85FB-B94A-9B7D1FAC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667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894D5-5C64-B67F-3B71-D3700DC1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039A60-8BAD-D3CB-5195-B600C771E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8497-FBC8-C5AC-D8DF-9B075D0A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C6B8-EB47-EA4D-BC75-D06A0CC2D4D7}" type="datetime1">
              <a:rPr lang="en-US" smtClean="0"/>
              <a:t>1/13/26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4AE0D-CC99-FAC3-A922-17794776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F7524-24A2-143E-DD2F-F8626A94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42FE30C-30E7-744B-836A-23530458DF3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7348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D6AA-BF94-B7A4-BEB5-94B7D494D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EE497E-9634-6648-B43C-50321F9D4515}" type="datetime1">
              <a:rPr lang="en-US" smtClean="0"/>
              <a:t>1/13/26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34F99-7664-F70B-A87F-D3FE00DA7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5176F92-44D7-C25D-E466-0C232BC87030}"/>
              </a:ext>
            </a:extLst>
          </p:cNvPr>
          <p:cNvSpPr txBox="1">
            <a:spLocks/>
          </p:cNvSpPr>
          <p:nvPr userDrawn="1"/>
        </p:nvSpPr>
        <p:spPr>
          <a:xfrm>
            <a:off x="9328728" y="649287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42FE30C-30E7-744B-836A-23530458DF33}" type="slidenum">
              <a:rPr lang="en-KR" sz="1200" smtClean="0">
                <a:solidFill>
                  <a:schemeClr val="bg1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/>
              <a:t>‹#›</a:t>
            </a:fld>
            <a:endParaRPr lang="en-KR" sz="1200" dirty="0">
              <a:solidFill>
                <a:schemeClr val="bg1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14AD03-5656-19EF-4D4F-52CD0BA9370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072" y="6522511"/>
            <a:ext cx="1100695" cy="24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7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2FD3EF-4AF0-5D47-76F7-C49B364727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KR" sz="2400" dirty="0">
                <a:solidFill>
                  <a:schemeClr val="bg1">
                    <a:lumMod val="75000"/>
                  </a:schemeClr>
                </a:solidFill>
              </a:rPr>
              <a:t>Weekly Update</a:t>
            </a:r>
            <a:br>
              <a:rPr lang="en-KR" sz="2800" dirty="0"/>
            </a:br>
            <a:r>
              <a:rPr lang="en-US" altLang="ko-KR" sz="2800" dirty="0"/>
              <a:t>Concept Erasing on UMM</a:t>
            </a:r>
            <a:endParaRPr lang="en-KR" sz="32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3B2ECD5-0A5C-4884-393F-48FD7CB6B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2026.01.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16</a:t>
            </a:r>
            <a:endParaRPr lang="en-KR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KR" dirty="0">
                <a:solidFill>
                  <a:schemeClr val="bg1">
                    <a:lumMod val="65000"/>
                  </a:schemeClr>
                </a:solidFill>
              </a:rPr>
              <a:t>Hayeon Jeong</a:t>
            </a:r>
          </a:p>
        </p:txBody>
      </p:sp>
    </p:spTree>
    <p:extLst>
      <p:ext uri="{BB962C8B-B14F-4D97-AF65-F5344CB8AC3E}">
        <p14:creationId xmlns:p14="http://schemas.microsoft.com/office/powerpoint/2010/main" val="231745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1CFBD-F09C-A127-B0BA-61E6E4BA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</a:t>
            </a:r>
            <a:endParaRPr lang="en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32597-7255-1102-0AD2-0CC1C63EE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000" y="872870"/>
            <a:ext cx="5930422" cy="20283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A9A0AC-F779-D5CA-6739-93F8F4E185D4}"/>
              </a:ext>
            </a:extLst>
          </p:cNvPr>
          <p:cNvSpPr txBox="1"/>
          <p:nvPr/>
        </p:nvSpPr>
        <p:spPr>
          <a:xfrm>
            <a:off x="8541535" y="161185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chemeClr val="accent5"/>
                </a:solidFill>
              </a:rPr>
              <a:t>x28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B3E2F-A897-597D-C7FD-F43FE0461B77}"/>
              </a:ext>
            </a:extLst>
          </p:cNvPr>
          <p:cNvSpPr txBox="1"/>
          <p:nvPr/>
        </p:nvSpPr>
        <p:spPr>
          <a:xfrm>
            <a:off x="2766471" y="162333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rgbClr val="00B050"/>
                </a:solidFill>
              </a:rPr>
              <a:t>x28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F4FDF-0EB0-BED4-4399-9092C61A94C9}"/>
              </a:ext>
            </a:extLst>
          </p:cNvPr>
          <p:cNvSpPr txBox="1"/>
          <p:nvPr/>
        </p:nvSpPr>
        <p:spPr>
          <a:xfrm>
            <a:off x="1686973" y="2319904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solidFill>
                  <a:srgbClr val="00B050"/>
                </a:solidFill>
              </a:rPr>
              <a:t>Wq, Wk, Wv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12BF7-4DE0-CEFB-FC05-9C0FA69E9802}"/>
              </a:ext>
            </a:extLst>
          </p:cNvPr>
          <p:cNvSpPr txBox="1"/>
          <p:nvPr/>
        </p:nvSpPr>
        <p:spPr>
          <a:xfrm>
            <a:off x="8808595" y="2353220"/>
            <a:ext cx="2936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u="sng" dirty="0">
                <a:solidFill>
                  <a:schemeClr val="accent5"/>
                </a:solidFill>
              </a:rPr>
              <a:t>Wq_gen</a:t>
            </a:r>
            <a:r>
              <a:rPr lang="en-KR" dirty="0">
                <a:solidFill>
                  <a:schemeClr val="accent5"/>
                </a:solidFill>
              </a:rPr>
              <a:t>, Wk _gen, Wv _gen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32D679-3417-5426-27D6-46E7CC287204}"/>
              </a:ext>
            </a:extLst>
          </p:cNvPr>
          <p:cNvCxnSpPr/>
          <p:nvPr/>
        </p:nvCxnSpPr>
        <p:spPr>
          <a:xfrm flipH="1">
            <a:off x="2917705" y="1981188"/>
            <a:ext cx="591193" cy="3387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4109BC3-D2CD-24A0-0AF1-5DC10C58CD43}"/>
              </a:ext>
            </a:extLst>
          </p:cNvPr>
          <p:cNvCxnSpPr>
            <a:cxnSpLocks/>
          </p:cNvCxnSpPr>
          <p:nvPr/>
        </p:nvCxnSpPr>
        <p:spPr>
          <a:xfrm>
            <a:off x="8227887" y="2050922"/>
            <a:ext cx="580708" cy="3022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55B61D9-5D2E-54E6-0715-E315C843232F}"/>
              </a:ext>
            </a:extLst>
          </p:cNvPr>
          <p:cNvSpPr txBox="1"/>
          <p:nvPr/>
        </p:nvSpPr>
        <p:spPr>
          <a:xfrm>
            <a:off x="4351581" y="4020876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txt</a:t>
            </a:r>
            <a:endParaRPr lang="en-KR" b="1" dirty="0">
              <a:solidFill>
                <a:srgbClr val="00B050"/>
              </a:solidFill>
            </a:endParaRPr>
          </a:p>
        </p:txBody>
      </p:sp>
      <p:graphicFrame>
        <p:nvGraphicFramePr>
          <p:cNvPr id="26" name="Content Placeholder 3">
            <a:extLst>
              <a:ext uri="{FF2B5EF4-FFF2-40B4-BE49-F238E27FC236}">
                <a16:creationId xmlns:a16="http://schemas.microsoft.com/office/drawing/2014/main" id="{AC69631D-8118-399D-BECA-F23F21AD4A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7783954"/>
              </p:ext>
            </p:extLst>
          </p:nvPr>
        </p:nvGraphicFramePr>
        <p:xfrm>
          <a:off x="4789521" y="3790769"/>
          <a:ext cx="2339379" cy="23436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93">
                  <a:extLst>
                    <a:ext uri="{9D8B030D-6E8A-4147-A177-3AD203B41FA5}">
                      <a16:colId xmlns:a16="http://schemas.microsoft.com/office/drawing/2014/main" val="1276286053"/>
                    </a:ext>
                  </a:extLst>
                </a:gridCol>
                <a:gridCol w="779793">
                  <a:extLst>
                    <a:ext uri="{9D8B030D-6E8A-4147-A177-3AD203B41FA5}">
                      <a16:colId xmlns:a16="http://schemas.microsoft.com/office/drawing/2014/main" val="226945541"/>
                    </a:ext>
                  </a:extLst>
                </a:gridCol>
                <a:gridCol w="779793">
                  <a:extLst>
                    <a:ext uri="{9D8B030D-6E8A-4147-A177-3AD203B41FA5}">
                      <a16:colId xmlns:a16="http://schemas.microsoft.com/office/drawing/2014/main" val="4214892121"/>
                    </a:ext>
                  </a:extLst>
                </a:gridCol>
              </a:tblGrid>
              <a:tr h="781220">
                <a:tc>
                  <a:txBody>
                    <a:bodyPr/>
                    <a:lstStyle/>
                    <a:p>
                      <a:endParaRPr lang="en-K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675453"/>
                  </a:ext>
                </a:extLst>
              </a:tr>
              <a:tr h="781220">
                <a:tc>
                  <a:txBody>
                    <a:bodyPr/>
                    <a:lstStyle/>
                    <a:p>
                      <a:endParaRPr lang="en-K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388620"/>
                  </a:ext>
                </a:extLst>
              </a:tr>
              <a:tr h="781220">
                <a:tc>
                  <a:txBody>
                    <a:bodyPr/>
                    <a:lstStyle/>
                    <a:p>
                      <a:endParaRPr lang="en-K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KR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3125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AF48718-7D45-3CAC-FF29-E8F6CFE04957}"/>
              </a:ext>
            </a:extLst>
          </p:cNvPr>
          <p:cNvSpPr txBox="1"/>
          <p:nvPr/>
        </p:nvSpPr>
        <p:spPr>
          <a:xfrm>
            <a:off x="4361199" y="4777933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solidFill>
                  <a:srgbClr val="00B050"/>
                </a:solidFill>
              </a:rPr>
              <a:t>vit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C3F4F3-5100-0D1B-0C0F-E894C8355A33}"/>
              </a:ext>
            </a:extLst>
          </p:cNvPr>
          <p:cNvSpPr txBox="1"/>
          <p:nvPr/>
        </p:nvSpPr>
        <p:spPr>
          <a:xfrm>
            <a:off x="4269373" y="5550737"/>
            <a:ext cx="55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u="sng" dirty="0">
                <a:solidFill>
                  <a:schemeClr val="accent5"/>
                </a:solidFill>
              </a:rPr>
              <a:t>vae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28103-4CFE-E28F-DB63-DF91113FE6BB}"/>
              </a:ext>
            </a:extLst>
          </p:cNvPr>
          <p:cNvSpPr txBox="1"/>
          <p:nvPr/>
        </p:nvSpPr>
        <p:spPr>
          <a:xfrm>
            <a:off x="4966552" y="612312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txt</a:t>
            </a:r>
            <a:endParaRPr lang="en-KR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3FC32E-A85E-3419-C9D1-F9AAC3C93749}"/>
              </a:ext>
            </a:extLst>
          </p:cNvPr>
          <p:cNvSpPr txBox="1"/>
          <p:nvPr/>
        </p:nvSpPr>
        <p:spPr>
          <a:xfrm>
            <a:off x="5767456" y="613442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solidFill>
                  <a:srgbClr val="00B050"/>
                </a:solidFill>
              </a:rPr>
              <a:t>vit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90969A-EF27-1257-C501-E9E126FE3E31}"/>
              </a:ext>
            </a:extLst>
          </p:cNvPr>
          <p:cNvSpPr txBox="1"/>
          <p:nvPr/>
        </p:nvSpPr>
        <p:spPr>
          <a:xfrm>
            <a:off x="6457402" y="6123128"/>
            <a:ext cx="550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1" dirty="0">
                <a:solidFill>
                  <a:schemeClr val="accent5"/>
                </a:solidFill>
              </a:rPr>
              <a:t>vae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A7A376-75D2-1DF3-B102-9D67A465CF42}"/>
              </a:ext>
            </a:extLst>
          </p:cNvPr>
          <p:cNvSpPr/>
          <p:nvPr/>
        </p:nvSpPr>
        <p:spPr>
          <a:xfrm>
            <a:off x="4966552" y="5355771"/>
            <a:ext cx="95305" cy="77865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D84B85-F065-DB5C-AA43-90D73331B734}"/>
              </a:ext>
            </a:extLst>
          </p:cNvPr>
          <p:cNvSpPr/>
          <p:nvPr/>
        </p:nvSpPr>
        <p:spPr>
          <a:xfrm>
            <a:off x="6000695" y="5355771"/>
            <a:ext cx="95305" cy="77865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99FAB3-1E2F-FF8E-40AA-7F56D665EC59}"/>
              </a:ext>
            </a:extLst>
          </p:cNvPr>
          <p:cNvSpPr txBox="1"/>
          <p:nvPr/>
        </p:nvSpPr>
        <p:spPr>
          <a:xfrm>
            <a:off x="4480149" y="3332514"/>
            <a:ext cx="30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[ Multi-modal Self Attention ]</a:t>
            </a:r>
          </a:p>
        </p:txBody>
      </p:sp>
    </p:spTree>
    <p:extLst>
      <p:ext uri="{BB962C8B-B14F-4D97-AF65-F5344CB8AC3E}">
        <p14:creationId xmlns:p14="http://schemas.microsoft.com/office/powerpoint/2010/main" val="2648721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32C736-9F3D-8B07-F015-53A906723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1970" y="57367"/>
            <a:ext cx="9300482" cy="95300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64DD8E-53D9-62B2-4451-58DF54254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6" y="2704815"/>
            <a:ext cx="1750307" cy="17503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C65C11-5CBB-628A-1A16-46E3F371B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892" y="1227273"/>
            <a:ext cx="9300138" cy="9529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AFFFEA-34E5-DA60-E863-090EF98EB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1542" y="2397151"/>
            <a:ext cx="9300487" cy="9530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3E6D39-668A-A366-1133-F2EB82677B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542" y="3567021"/>
            <a:ext cx="9300487" cy="9530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3DD957-1C71-6C8E-CEF4-03D02ED0BD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542" y="4736935"/>
            <a:ext cx="9300487" cy="953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E16EBF-789E-3A84-920C-E8C3EDB1C1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1542" y="5856692"/>
            <a:ext cx="9300487" cy="95300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BE64465-5070-F58A-328F-FA289107334A}"/>
              </a:ext>
            </a:extLst>
          </p:cNvPr>
          <p:cNvSpPr txBox="1"/>
          <p:nvPr/>
        </p:nvSpPr>
        <p:spPr>
          <a:xfrm>
            <a:off x="2839453" y="365125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L0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4515C9-EC54-02A2-D4B9-789DBB82129E}"/>
              </a:ext>
            </a:extLst>
          </p:cNvPr>
          <p:cNvSpPr txBox="1"/>
          <p:nvPr/>
        </p:nvSpPr>
        <p:spPr>
          <a:xfrm>
            <a:off x="2839453" y="1519092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L6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75E87A-F3CE-A64E-2027-55733A655FE7}"/>
              </a:ext>
            </a:extLst>
          </p:cNvPr>
          <p:cNvSpPr txBox="1"/>
          <p:nvPr/>
        </p:nvSpPr>
        <p:spPr>
          <a:xfrm>
            <a:off x="2839453" y="268898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L12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956912-5A61-5416-A71D-A4B950ED35E1}"/>
              </a:ext>
            </a:extLst>
          </p:cNvPr>
          <p:cNvSpPr txBox="1"/>
          <p:nvPr/>
        </p:nvSpPr>
        <p:spPr>
          <a:xfrm>
            <a:off x="2839453" y="385885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L16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458216-5872-8CFE-5441-AA16FB34B384}"/>
              </a:ext>
            </a:extLst>
          </p:cNvPr>
          <p:cNvSpPr txBox="1"/>
          <p:nvPr/>
        </p:nvSpPr>
        <p:spPr>
          <a:xfrm>
            <a:off x="2839453" y="502877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L20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EF8EF-C32B-BD03-F4F6-58F90B2C1374}"/>
              </a:ext>
            </a:extLst>
          </p:cNvPr>
          <p:cNvSpPr txBox="1"/>
          <p:nvPr/>
        </p:nvSpPr>
        <p:spPr>
          <a:xfrm>
            <a:off x="2839453" y="6148529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L26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9714E-CCAF-1FC8-CB1E-61AA074B3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6" y="365125"/>
            <a:ext cx="11416878" cy="656851"/>
          </a:xfrm>
        </p:spPr>
        <p:txBody>
          <a:bodyPr/>
          <a:lstStyle/>
          <a:p>
            <a:r>
              <a:rPr lang="en-US" dirty="0"/>
              <a:t>Last Week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49126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3713-6C5D-D332-B13D-4CD8A6C5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Concept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55537B-6958-100E-3895-6BDAD1BC1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88" y="1044663"/>
            <a:ext cx="3294757" cy="11433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0EAFDE-1283-2562-2759-9AC04321A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206" y="365125"/>
            <a:ext cx="6455860" cy="2569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1FE4D4-9E2C-EFD5-9766-83893F631B01}"/>
              </a:ext>
            </a:extLst>
          </p:cNvPr>
          <p:cNvSpPr txBox="1"/>
          <p:nvPr/>
        </p:nvSpPr>
        <p:spPr>
          <a:xfrm>
            <a:off x="6466788" y="2934293"/>
            <a:ext cx="4330032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{</a:t>
            </a:r>
          </a:p>
          <a:p>
            <a:r>
              <a:rPr lang="en-US" sz="1100" dirty="0"/>
              <a:t>  "synonym": {</a:t>
            </a:r>
          </a:p>
          <a:p>
            <a:r>
              <a:rPr lang="en-US" sz="1100" dirty="0"/>
              <a:t>    "word": "Vegetable",</a:t>
            </a:r>
          </a:p>
          <a:p>
            <a:r>
              <a:rPr lang="en-US" sz="1100" dirty="0"/>
              <a:t>    "similarity": 0.8</a:t>
            </a:r>
          </a:p>
          <a:p>
            <a:r>
              <a:rPr lang="en-US" sz="1100" dirty="0"/>
              <a:t>  },</a:t>
            </a:r>
          </a:p>
          <a:p>
            <a:r>
              <a:rPr lang="en-US" sz="1100" dirty="0"/>
              <a:t>  "</a:t>
            </a:r>
            <a:r>
              <a:rPr lang="en-US" sz="1100" dirty="0" err="1"/>
              <a:t>no_relation</a:t>
            </a:r>
            <a:r>
              <a:rPr lang="en-US" sz="1100" dirty="0"/>
              <a:t>": [</a:t>
            </a:r>
          </a:p>
          <a:p>
            <a:r>
              <a:rPr lang="en-US" sz="1100" dirty="0"/>
              <a:t>    {"word": "Sun", "domain": "Nature", "similarity": 0.2},</a:t>
            </a:r>
          </a:p>
          <a:p>
            <a:r>
              <a:rPr lang="en-US" sz="1100" dirty="0"/>
              <a:t>    {"word": "Hope", "domain": "Abstract Logic", "similarity": 0.3},</a:t>
            </a:r>
          </a:p>
          <a:p>
            <a:r>
              <a:rPr lang="en-US" sz="1100" dirty="0"/>
              <a:t>    {"word": "Painting", "domain": "Arts", "similarity": 0.4}</a:t>
            </a:r>
          </a:p>
          <a:p>
            <a:r>
              <a:rPr lang="en-US" sz="1100" dirty="0"/>
              <a:t>  ],</a:t>
            </a:r>
          </a:p>
          <a:p>
            <a:r>
              <a:rPr lang="en-US" sz="1100" dirty="0"/>
              <a:t>  "far": [</a:t>
            </a:r>
          </a:p>
          <a:p>
            <a:r>
              <a:rPr lang="en-US" sz="1100" dirty="0"/>
              <a:t>    {"word": "Kitchen", "domain": "Food Preparation", "similarity": 0.6},</a:t>
            </a:r>
          </a:p>
          <a:p>
            <a:r>
              <a:rPr lang="en-US" sz="1100" dirty="0"/>
              <a:t>    {"word": "Fork", "domain": "Tableware", "similarity": 0.7},</a:t>
            </a:r>
          </a:p>
          <a:p>
            <a:r>
              <a:rPr lang="en-US" sz="1100" dirty="0"/>
              <a:t>    {"word": "Fridge", "domain": "Food Storage", "similarity": 0.8}</a:t>
            </a:r>
          </a:p>
          <a:p>
            <a:r>
              <a:rPr lang="en-US" sz="1100" dirty="0"/>
              <a:t>  ],</a:t>
            </a:r>
          </a:p>
          <a:p>
            <a:r>
              <a:rPr lang="en-US" sz="1100" dirty="0"/>
              <a:t>  "mid": [</a:t>
            </a:r>
          </a:p>
          <a:p>
            <a:r>
              <a:rPr lang="en-US" sz="1100" dirty="0"/>
              <a:t>    {"word": "Apple", "domain": "Fruit", "similarity": 0.9},</a:t>
            </a:r>
          </a:p>
          <a:p>
            <a:r>
              <a:rPr lang="en-US" sz="1100" dirty="0"/>
              <a:t>    {"word": "Orange", "domain": "Fruit", "similarity": 0.9},</a:t>
            </a:r>
          </a:p>
          <a:p>
            <a:r>
              <a:rPr lang="en-US" sz="1100" dirty="0"/>
              <a:t>    {"word": "Banana", "domain": "Fruit", "similarity": 0.9}</a:t>
            </a:r>
          </a:p>
          <a:p>
            <a:r>
              <a:rPr lang="en-US" sz="1100" dirty="0"/>
              <a:t>  ]</a:t>
            </a:r>
          </a:p>
          <a:p>
            <a:r>
              <a:rPr lang="en-US" sz="1100" dirty="0"/>
              <a:t>}</a:t>
            </a:r>
          </a:p>
          <a:p>
            <a:endParaRPr lang="en-KR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56BD8D-B537-942D-2F0C-5C8FF8D22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16" y="3562399"/>
            <a:ext cx="5930422" cy="20283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514436-9E2F-99FF-B713-A9FA788227E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rcRect l="58082"/>
          <a:stretch>
            <a:fillRect/>
          </a:stretch>
        </p:blipFill>
        <p:spPr>
          <a:xfrm>
            <a:off x="3912124" y="3562399"/>
            <a:ext cx="2485914" cy="202837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A536F6-2DF3-F6FA-B92A-21C328FDCBEF}"/>
              </a:ext>
            </a:extLst>
          </p:cNvPr>
          <p:cNvCxnSpPr/>
          <p:nvPr/>
        </p:nvCxnSpPr>
        <p:spPr>
          <a:xfrm>
            <a:off x="365126" y="2799761"/>
            <a:ext cx="114168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D9C94E-1580-21F0-255C-A6BF166EA0D8}"/>
                  </a:ext>
                </a:extLst>
              </p:cNvPr>
              <p:cNvSpPr txBox="1"/>
              <p:nvPr/>
            </p:nvSpPr>
            <p:spPr>
              <a:xfrm>
                <a:off x="859681" y="2174337"/>
                <a:ext cx="3641969" cy="467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지우려는 개념의 표현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𝑢𝑛</m:t>
                        </m:r>
                      </m:sup>
                    </m:sSup>
                  </m:oMath>
                </a14:m>
                <a:r>
                  <a:rPr lang="ko-KR" altLang="en-US" sz="1200" dirty="0"/>
                  <a:t>이 동의어 표현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𝑠𝑦𝑛</m:t>
                        </m:r>
                      </m:sup>
                    </m:sSup>
                  </m:oMath>
                </a14:m>
                <a:r>
                  <a:rPr lang="ko-KR" altLang="en-US" sz="1200" dirty="0"/>
                  <a:t>보다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무관한 개념들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𝑘𝑖</m:t>
                        </m:r>
                      </m:sup>
                    </m:sSup>
                  </m:oMath>
                </a14:m>
                <a:r>
                  <a:rPr lang="ko-KR" altLang="en-US" sz="1200" dirty="0"/>
                  <a:t>과 더 가깝도록 강제하는 손실</a:t>
                </a:r>
                <a:endParaRPr lang="en-KR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D9C94E-1580-21F0-255C-A6BF166EA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81" y="2174337"/>
                <a:ext cx="3641969" cy="467692"/>
              </a:xfrm>
              <a:prstGeom prst="rect">
                <a:avLst/>
              </a:prstGeom>
              <a:blipFill>
                <a:blip r:embed="rId5"/>
                <a:stretch>
                  <a:fillRect t="-5405" b="-1081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76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837A-6662-6B9D-324D-596497CB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Concept Space</a:t>
            </a:r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FD3696A-E6EF-CD86-7E8F-C8717F137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126" y="1021975"/>
            <a:ext cx="5815972" cy="2880000"/>
          </a:xfrm>
        </p:spPr>
      </p:pic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B86F88F-96B0-AA07-3BEF-DCA19BB7F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242" y="1021974"/>
            <a:ext cx="5757663" cy="2851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A285B4-C7D7-62C7-0131-65971666BCDC}"/>
              </a:ext>
            </a:extLst>
          </p:cNvPr>
          <p:cNvSpPr txBox="1"/>
          <p:nvPr/>
        </p:nvSpPr>
        <p:spPr>
          <a:xfrm>
            <a:off x="1571349" y="3901975"/>
            <a:ext cx="4227439" cy="24314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"concept": "Airplane",</a:t>
            </a:r>
          </a:p>
          <a:p>
            <a:r>
              <a:rPr lang="en-US" sz="800" dirty="0"/>
              <a:t>"category": "Entity",</a:t>
            </a:r>
          </a:p>
          <a:p>
            <a:r>
              <a:rPr lang="en-US" sz="800" dirty="0"/>
              <a:t>"index": 3,</a:t>
            </a:r>
          </a:p>
          <a:p>
            <a:r>
              <a:rPr lang="en-US" sz="800" dirty="0"/>
              <a:t>"data": {"</a:t>
            </a:r>
            <a:r>
              <a:rPr lang="en-US" sz="800" dirty="0" err="1"/>
              <a:t>target_domain</a:t>
            </a:r>
            <a:r>
              <a:rPr lang="en-US" sz="800" dirty="0"/>
              <a:t>": "Transportation", "synonym": {"word": "Aircraft", "similarity": 0.95},</a:t>
            </a:r>
          </a:p>
          <a:p>
            <a:r>
              <a:rPr lang="en-US" sz="800" dirty="0"/>
              <a:t>"</a:t>
            </a:r>
            <a:r>
              <a:rPr lang="en-US" sz="800" dirty="0" err="1"/>
              <a:t>no_relation</a:t>
            </a:r>
            <a:r>
              <a:rPr lang="en-US" sz="800" dirty="0"/>
              <a:t>": [</a:t>
            </a:r>
          </a:p>
          <a:p>
            <a:pPr lvl="1"/>
            <a:r>
              <a:rPr lang="en-US" sz="800" dirty="0"/>
              <a:t>{"word": "Tree", "domain": "Nature", "similarity": 0.05},</a:t>
            </a:r>
          </a:p>
          <a:p>
            <a:pPr lvl="1"/>
            <a:r>
              <a:rPr lang="en-US" sz="800" dirty="0"/>
              <a:t>{"word": "Number", "domain": "Abstract Logic", "similarity": 0.05},</a:t>
            </a:r>
          </a:p>
          <a:p>
            <a:pPr lvl="1"/>
            <a:r>
              <a:rPr lang="en-US" sz="800" dirty="0"/>
              <a:t>{"word": "Painting", "domain": "Arts", "similarity": 0.05}</a:t>
            </a:r>
          </a:p>
          <a:p>
            <a:r>
              <a:rPr lang="en-US" sz="800" dirty="0"/>
              <a:t>],</a:t>
            </a:r>
          </a:p>
          <a:p>
            <a:r>
              <a:rPr lang="en-US" sz="800" dirty="0"/>
              <a:t>"far": [</a:t>
            </a:r>
          </a:p>
          <a:p>
            <a:pPr lvl="1"/>
            <a:r>
              <a:rPr lang="en-US" sz="800" dirty="0"/>
              <a:t>{"word": "Bicycle", "domain": "Transportation", "similarity": 0.25},</a:t>
            </a:r>
          </a:p>
          <a:p>
            <a:pPr lvl="1"/>
            <a:r>
              <a:rPr lang="en-US" sz="800" dirty="0"/>
              <a:t>{"word": "Ladder", "domain": "Architecture", "similarity": 0.15},</a:t>
            </a:r>
          </a:p>
          <a:p>
            <a:pPr lvl="1"/>
            <a:r>
              <a:rPr lang="en-US" sz="800" dirty="0"/>
              <a:t>{"word": "Computer", "domain": "Electronics", "similarity": 0.15}</a:t>
            </a:r>
          </a:p>
          <a:p>
            <a:r>
              <a:rPr lang="en-US" sz="800" dirty="0"/>
              <a:t>],</a:t>
            </a:r>
          </a:p>
          <a:p>
            <a:r>
              <a:rPr lang="en-US" sz="800" dirty="0"/>
              <a:t>"mid": [</a:t>
            </a:r>
          </a:p>
          <a:p>
            <a:r>
              <a:rPr lang="en-US" sz="800" dirty="0"/>
              <a:t>{"word": "Runway", "domain": "Transportation", "similarity": 0.45},</a:t>
            </a:r>
          </a:p>
          <a:p>
            <a:r>
              <a:rPr lang="en-US" sz="800" dirty="0"/>
              <a:t>{"word": "Fuel", "domain": "Transportation", "similarity": 0.45},</a:t>
            </a:r>
          </a:p>
          <a:p>
            <a:r>
              <a:rPr lang="en-US" sz="800" dirty="0"/>
              <a:t>{"word": "Parking", "domain": "Transportation", "similarity": 0.45}</a:t>
            </a:r>
          </a:p>
          <a:p>
            <a:r>
              <a:rPr lang="en-US" sz="800" dirty="0"/>
              <a:t>],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38DAC3-D420-AEAB-A5ED-EED3F8ECB1D1}"/>
              </a:ext>
            </a:extLst>
          </p:cNvPr>
          <p:cNvSpPr txBox="1"/>
          <p:nvPr/>
        </p:nvSpPr>
        <p:spPr>
          <a:xfrm>
            <a:off x="7005011" y="3938330"/>
            <a:ext cx="388920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"concept": "Fruit",</a:t>
            </a:r>
          </a:p>
          <a:p>
            <a:r>
              <a:rPr lang="en-US" sz="800" dirty="0"/>
              <a:t>"category": "Entity",</a:t>
            </a:r>
          </a:p>
          <a:p>
            <a:r>
              <a:rPr lang="en-US" sz="800" dirty="0"/>
              <a:t>"index": 0,</a:t>
            </a:r>
          </a:p>
          <a:p>
            <a:r>
              <a:rPr lang="en-US" sz="800" dirty="0"/>
              <a:t>"data": {"</a:t>
            </a:r>
            <a:r>
              <a:rPr lang="en-US" sz="800" dirty="0" err="1"/>
              <a:t>target_domain</a:t>
            </a:r>
            <a:r>
              <a:rPr lang="en-US" sz="800" dirty="0"/>
              <a:t>": "Food", "synonym": { "word": "Vegetable", "similarity": 0.8},</a:t>
            </a:r>
          </a:p>
          <a:p>
            <a:r>
              <a:rPr lang="en-US" sz="800" dirty="0"/>
              <a:t>"</a:t>
            </a:r>
            <a:r>
              <a:rPr lang="en-US" sz="800" dirty="0" err="1"/>
              <a:t>no_relation</a:t>
            </a:r>
            <a:r>
              <a:rPr lang="en-US" sz="800" dirty="0"/>
              <a:t>": [</a:t>
            </a:r>
          </a:p>
          <a:p>
            <a:pPr lvl="1"/>
            <a:r>
              <a:rPr lang="en-US" sz="800" dirty="0"/>
              <a:t>{"word": "Sun", "domain": "Nature", "similarity": 0.2},</a:t>
            </a:r>
          </a:p>
          <a:p>
            <a:pPr lvl="1"/>
            <a:r>
              <a:rPr lang="en-US" sz="800" dirty="0"/>
              <a:t>{"word": "Hope", "domain": "Abstract Logic", "similarity": 0.3},</a:t>
            </a:r>
          </a:p>
          <a:p>
            <a:pPr lvl="1"/>
            <a:r>
              <a:rPr lang="en-US" sz="800" dirty="0"/>
              <a:t>{"word": "Painting", "domain": "Arts", "similarity": 0.4}</a:t>
            </a:r>
          </a:p>
          <a:p>
            <a:r>
              <a:rPr lang="en-US" sz="800" dirty="0"/>
              <a:t>],</a:t>
            </a:r>
          </a:p>
          <a:p>
            <a:r>
              <a:rPr lang="en-US" sz="800" dirty="0"/>
              <a:t>"far": [</a:t>
            </a:r>
          </a:p>
          <a:p>
            <a:pPr lvl="1"/>
            <a:r>
              <a:rPr lang="en-US" sz="800" dirty="0"/>
              <a:t>{"word": "Kitchen", "domain": "Food Preparation", "similarity": 0.6},</a:t>
            </a:r>
          </a:p>
          <a:p>
            <a:pPr lvl="1"/>
            <a:r>
              <a:rPr lang="en-US" sz="800" dirty="0"/>
              <a:t>{"word": "Fork", "domain": "Tableware", "similarity": 0.7},</a:t>
            </a:r>
          </a:p>
          <a:p>
            <a:pPr lvl="1"/>
            <a:r>
              <a:rPr lang="en-US" sz="800" dirty="0"/>
              <a:t>{"word": "Fridge", "domain": "Food Storage", "similarity": 0.8}</a:t>
            </a:r>
          </a:p>
          <a:p>
            <a:r>
              <a:rPr lang="en-US" sz="800" dirty="0"/>
              <a:t>],</a:t>
            </a:r>
          </a:p>
          <a:p>
            <a:r>
              <a:rPr lang="en-US" sz="800" dirty="0"/>
              <a:t>"mid": [</a:t>
            </a:r>
          </a:p>
          <a:p>
            <a:pPr lvl="1"/>
            <a:r>
              <a:rPr lang="en-US" sz="800" dirty="0"/>
              <a:t>{"word": "Apple", "domain": "Fruit", "similarity": 0.9},</a:t>
            </a:r>
          </a:p>
          <a:p>
            <a:pPr lvl="1"/>
            <a:r>
              <a:rPr lang="en-US" sz="800" dirty="0"/>
              <a:t>{"word": "Orange", "domain": "Fruit", "similarity": 0.9},</a:t>
            </a:r>
          </a:p>
          <a:p>
            <a:pPr lvl="1"/>
            <a:r>
              <a:rPr lang="en-US" sz="800" dirty="0"/>
              <a:t>{"word": "Banana", "domain": "Fruit", "similarity": 0.9}</a:t>
            </a:r>
          </a:p>
          <a:p>
            <a:r>
              <a:rPr lang="en-US" sz="800" dirty="0"/>
              <a:t>],</a:t>
            </a:r>
          </a:p>
          <a:p>
            <a:endParaRPr lang="en-KR" sz="800" dirty="0"/>
          </a:p>
        </p:txBody>
      </p:sp>
    </p:spTree>
    <p:extLst>
      <p:ext uri="{BB962C8B-B14F-4D97-AF65-F5344CB8AC3E}">
        <p14:creationId xmlns:p14="http://schemas.microsoft.com/office/powerpoint/2010/main" val="211733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ECACE-4B27-0729-4E54-3DA20A0F8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CDAF-04F1-9DC4-57D8-7C65AF16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Concept Space</a:t>
            </a:r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77928EF-12C9-DAB6-3C79-204D9ECBD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126" y="1021976"/>
            <a:ext cx="5815972" cy="2880000"/>
          </a:xfrm>
        </p:spPr>
      </p:pic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49E9468-8672-8519-9338-E1A56294B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224" y="1021976"/>
            <a:ext cx="5815973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5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4E4B1-37D3-7E34-F50A-C580528A0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D753-5EC2-EABB-06D3-39213EFDF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Concept Space</a:t>
            </a:r>
          </a:p>
        </p:txBody>
      </p:sp>
      <p:pic>
        <p:nvPicPr>
          <p:cNvPr id="1026" name="Picture 2" descr="Contrastive Representation Learning - Alignment &amp; Uniformity">
            <a:extLst>
              <a:ext uri="{FF2B5EF4-FFF2-40B4-BE49-F238E27FC236}">
                <a16:creationId xmlns:a16="http://schemas.microsoft.com/office/drawing/2014/main" id="{360196FF-54BC-54F3-A868-4501A68E32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034"/>
          <a:stretch>
            <a:fillRect/>
          </a:stretch>
        </p:blipFill>
        <p:spPr bwMode="auto">
          <a:xfrm>
            <a:off x="576811" y="1995021"/>
            <a:ext cx="2856201" cy="234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C0273B-6F31-C4D3-8B61-1DB076DE15C5}"/>
              </a:ext>
            </a:extLst>
          </p:cNvPr>
          <p:cNvSpPr txBox="1"/>
          <p:nvPr/>
        </p:nvSpPr>
        <p:spPr>
          <a:xfrm>
            <a:off x="365126" y="5647765"/>
            <a:ext cx="107773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400" i="1" dirty="0">
                <a:solidFill>
                  <a:schemeClr val="bg1">
                    <a:lumMod val="75000"/>
                  </a:schemeClr>
                </a:solidFill>
              </a:rPr>
              <a:t>* </a:t>
            </a:r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How Contextual are Contextualized Word Representations? Comparing the Geometry of BERT, </a:t>
            </a:r>
            <a:r>
              <a:rPr lang="en-US" sz="1400" i="1" dirty="0" err="1">
                <a:solidFill>
                  <a:schemeClr val="bg1">
                    <a:lumMod val="75000"/>
                  </a:schemeClr>
                </a:solidFill>
              </a:rPr>
              <a:t>ELMo</a:t>
            </a:r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, and GPT-2 Embeddings (ACL, 2019)</a:t>
            </a:r>
          </a:p>
          <a:p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** Gao et al. (2019) - "Representation Degeneracy Problem in Training Natural Language Generation Models”</a:t>
            </a:r>
          </a:p>
          <a:p>
            <a:r>
              <a:rPr lang="en-US" sz="1400" i="1" dirty="0">
                <a:solidFill>
                  <a:schemeClr val="bg1">
                    <a:lumMod val="75000"/>
                  </a:schemeClr>
                </a:solidFill>
              </a:rPr>
              <a:t>*** Locating and Editing Factual Associations in GPT (2023)</a:t>
            </a:r>
            <a:endParaRPr lang="en-KR" sz="1400" i="1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AD94BB-3890-A801-B83F-E81122752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729" y="2483849"/>
            <a:ext cx="5070044" cy="2706716"/>
          </a:xfrm>
          <a:prstGeom prst="rect">
            <a:avLst/>
          </a:prstGeom>
        </p:spPr>
      </p:pic>
      <p:pic>
        <p:nvPicPr>
          <p:cNvPr id="9" name="Picture 2" descr="Contrastive Representation Learning - Alignment &amp; Uniformity">
            <a:extLst>
              <a:ext uri="{FF2B5EF4-FFF2-40B4-BE49-F238E27FC236}">
                <a16:creationId xmlns:a16="http://schemas.microsoft.com/office/drawing/2014/main" id="{BFADFB82-FA85-5127-0715-436F676523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37"/>
          <a:stretch>
            <a:fillRect/>
          </a:stretch>
        </p:blipFill>
        <p:spPr bwMode="auto">
          <a:xfrm>
            <a:off x="3433012" y="1818342"/>
            <a:ext cx="2147047" cy="234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6BCDF0D-05A2-8073-5E45-09A93A0C477B}"/>
              </a:ext>
            </a:extLst>
          </p:cNvPr>
          <p:cNvCxnSpPr/>
          <p:nvPr/>
        </p:nvCxnSpPr>
        <p:spPr>
          <a:xfrm>
            <a:off x="6096000" y="1196788"/>
            <a:ext cx="0" cy="39937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원뿔 - 나무위키">
            <a:extLst>
              <a:ext uri="{FF2B5EF4-FFF2-40B4-BE49-F238E27FC236}">
                <a16:creationId xmlns:a16="http://schemas.microsoft.com/office/drawing/2014/main" id="{09EE7B70-91BD-6B72-AD72-D5D59A261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9892037" y="710950"/>
            <a:ext cx="1231521" cy="2214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48F932-4817-BE87-F2C8-A7585C9C07AC}"/>
              </a:ext>
            </a:extLst>
          </p:cNvPr>
          <p:cNvSpPr txBox="1"/>
          <p:nvPr/>
        </p:nvSpPr>
        <p:spPr>
          <a:xfrm>
            <a:off x="1682654" y="1456997"/>
            <a:ext cx="3094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@CLIP (Contrastive Learning)</a:t>
            </a:r>
            <a:endParaRPr lang="en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B02347-2FD2-68A2-61B8-29096E8A8CC7}"/>
              </a:ext>
            </a:extLst>
          </p:cNvPr>
          <p:cNvSpPr txBox="1"/>
          <p:nvPr/>
        </p:nvSpPr>
        <p:spPr>
          <a:xfrm>
            <a:off x="6418729" y="1574992"/>
            <a:ext cx="2263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@LLM </a:t>
            </a:r>
            <a:r>
              <a:rPr lang="en-US" altLang="ko-KR" dirty="0" err="1"/>
              <a:t>text_encoders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328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C369B-96FE-9EA2-4A1A-9A42C7AB9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179B-348F-78FF-264E-60CBB3EF8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Txt-to-Context Self-Attention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BB8D5-C6CA-C15C-801C-C6421BCA4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CDD22-900F-5CE1-FEB7-159903034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271" y="510988"/>
            <a:ext cx="3614267" cy="583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11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D462-551B-DFC4-BD2F-A01CE690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Method -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62784-DF06-D95C-9792-0D2B1DBF0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Hypothesis</a:t>
            </a:r>
          </a:p>
          <a:p>
            <a:pPr lvl="1"/>
            <a:endParaRPr lang="en-KR" dirty="0"/>
          </a:p>
          <a:p>
            <a:r>
              <a:rPr lang="en-KR" dirty="0"/>
              <a:t>Loss</a:t>
            </a:r>
          </a:p>
          <a:p>
            <a:pPr lvl="1"/>
            <a:endParaRPr lang="en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ADF86E-82D4-FBA1-AB69-3BC74C4C43A9}"/>
              </a:ext>
            </a:extLst>
          </p:cNvPr>
          <p:cNvSpPr txBox="1"/>
          <p:nvPr/>
        </p:nvSpPr>
        <p:spPr>
          <a:xfrm>
            <a:off x="46892" y="3329354"/>
            <a:ext cx="67730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 </a:t>
            </a:r>
            <a:r>
              <a:rPr lang="en-KR" altLang="ko-KR" dirty="0"/>
              <a:t>TODO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dirty="0" err="1"/>
              <a:t>언러닝</a:t>
            </a:r>
            <a:r>
              <a:rPr lang="en-US" dirty="0"/>
              <a:t> Hypothesis – Loss </a:t>
            </a:r>
            <a:r>
              <a:rPr lang="en-US" dirty="0" err="1"/>
              <a:t>아이디어</a:t>
            </a:r>
            <a:r>
              <a:rPr lang="en-US" dirty="0"/>
              <a:t> </a:t>
            </a:r>
            <a:r>
              <a:rPr lang="en-US" dirty="0" err="1"/>
              <a:t>정리해가기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그</a:t>
            </a:r>
            <a:r>
              <a:rPr lang="en-US" dirty="0"/>
              <a:t> Hypothesis </a:t>
            </a:r>
            <a:r>
              <a:rPr lang="en-US" dirty="0" err="1"/>
              <a:t>검증을</a:t>
            </a:r>
            <a:r>
              <a:rPr lang="en-US" dirty="0"/>
              <a:t> </a:t>
            </a:r>
            <a:r>
              <a:rPr lang="en-US" dirty="0" err="1"/>
              <a:t>위해선</a:t>
            </a:r>
            <a:r>
              <a:rPr lang="en-US" dirty="0"/>
              <a:t> </a:t>
            </a:r>
            <a:r>
              <a:rPr lang="en-US" dirty="0" err="1"/>
              <a:t>어떤</a:t>
            </a:r>
            <a:r>
              <a:rPr lang="en-US" dirty="0"/>
              <a:t> </a:t>
            </a:r>
            <a:r>
              <a:rPr lang="en-US" dirty="0" err="1"/>
              <a:t>실험을</a:t>
            </a:r>
            <a:r>
              <a:rPr lang="en-US" dirty="0"/>
              <a:t> </a:t>
            </a:r>
            <a:r>
              <a:rPr lang="en-US" dirty="0" err="1"/>
              <a:t>해야하는지</a:t>
            </a:r>
            <a:r>
              <a:rPr lang="en-US" dirty="0"/>
              <a:t> </a:t>
            </a:r>
            <a:r>
              <a:rPr lang="en-US" dirty="0" err="1"/>
              <a:t>정리하기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EraseAnything</a:t>
            </a:r>
            <a:r>
              <a:rPr lang="en-US" dirty="0"/>
              <a:t> </a:t>
            </a:r>
            <a:r>
              <a:rPr lang="en-US" dirty="0" err="1"/>
              <a:t>적용</a:t>
            </a:r>
            <a:r>
              <a:rPr lang="en-US" dirty="0"/>
              <a:t> </a:t>
            </a:r>
            <a:r>
              <a:rPr lang="en-US" dirty="0" err="1"/>
              <a:t>결과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Minimalist </a:t>
            </a:r>
            <a:r>
              <a:rPr lang="en-US" dirty="0" err="1"/>
              <a:t>논문</a:t>
            </a:r>
            <a:r>
              <a:rPr lang="en-US" dirty="0"/>
              <a:t> </a:t>
            </a:r>
            <a:r>
              <a:rPr lang="en-US" dirty="0" err="1"/>
              <a:t>PPT로</a:t>
            </a:r>
            <a:r>
              <a:rPr lang="en-US" dirty="0"/>
              <a:t> </a:t>
            </a:r>
            <a:r>
              <a:rPr lang="en-US" dirty="0" err="1"/>
              <a:t>정리해보기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826459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A784-A8F8-AB63-D2D4-AB25F0A3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* Nude, Violence in BAGEL</a:t>
            </a:r>
            <a:endParaRPr lang="en-KR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CBBBA84-FD61-D623-D1FE-625C0C9A9A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7113668"/>
              </p:ext>
            </p:extLst>
          </p:nvPr>
        </p:nvGraphicFramePr>
        <p:xfrm>
          <a:off x="847988" y="4063971"/>
          <a:ext cx="4612509" cy="502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1829">
                  <a:extLst>
                    <a:ext uri="{9D8B030D-6E8A-4147-A177-3AD203B41FA5}">
                      <a16:colId xmlns:a16="http://schemas.microsoft.com/office/drawing/2014/main" val="3349858543"/>
                    </a:ext>
                  </a:extLst>
                </a:gridCol>
                <a:gridCol w="527670">
                  <a:extLst>
                    <a:ext uri="{9D8B030D-6E8A-4147-A177-3AD203B41FA5}">
                      <a16:colId xmlns:a16="http://schemas.microsoft.com/office/drawing/2014/main" val="3324918346"/>
                    </a:ext>
                  </a:extLst>
                </a:gridCol>
                <a:gridCol w="527670">
                  <a:extLst>
                    <a:ext uri="{9D8B030D-6E8A-4147-A177-3AD203B41FA5}">
                      <a16:colId xmlns:a16="http://schemas.microsoft.com/office/drawing/2014/main" val="3602151612"/>
                    </a:ext>
                  </a:extLst>
                </a:gridCol>
                <a:gridCol w="527670">
                  <a:extLst>
                    <a:ext uri="{9D8B030D-6E8A-4147-A177-3AD203B41FA5}">
                      <a16:colId xmlns:a16="http://schemas.microsoft.com/office/drawing/2014/main" val="735876634"/>
                    </a:ext>
                  </a:extLst>
                </a:gridCol>
                <a:gridCol w="527670">
                  <a:extLst>
                    <a:ext uri="{9D8B030D-6E8A-4147-A177-3AD203B41FA5}">
                      <a16:colId xmlns:a16="http://schemas.microsoft.com/office/drawing/2014/main" val="2874875606"/>
                    </a:ext>
                  </a:extLst>
                </a:gridCol>
              </a:tblGrid>
              <a:tr h="2009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BAGEL Generation w/ Think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R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205458"/>
                  </a:ext>
                </a:extLst>
              </a:tr>
              <a:tr h="2009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BAGEL Generation </a:t>
                      </a:r>
                      <a:r>
                        <a:rPr lang="en-KR" sz="1050" dirty="0"/>
                        <a:t>w/o Think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R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R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R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KR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56987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E522632-1941-0893-0460-79E4FF49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6" y="1455469"/>
            <a:ext cx="6528564" cy="21221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A5D463-96B2-67FD-73B4-0D223EC2AEBA}"/>
              </a:ext>
            </a:extLst>
          </p:cNvPr>
          <p:cNvSpPr txBox="1"/>
          <p:nvPr/>
        </p:nvSpPr>
        <p:spPr>
          <a:xfrm>
            <a:off x="737246" y="3446833"/>
            <a:ext cx="521488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dirty="0">
                <a:solidFill>
                  <a:schemeClr val="bg1">
                    <a:lumMod val="75000"/>
                  </a:schemeClr>
                </a:solidFill>
              </a:rPr>
              <a:t>* </a:t>
            </a:r>
            <a:r>
              <a:rPr lang="en-US" sz="1050" i="1" dirty="0" err="1">
                <a:solidFill>
                  <a:schemeClr val="bg1">
                    <a:lumMod val="75000"/>
                  </a:schemeClr>
                </a:solidFill>
              </a:rPr>
              <a:t>EraseAnything</a:t>
            </a:r>
            <a:r>
              <a:rPr lang="en-US" sz="1050" i="1" dirty="0">
                <a:solidFill>
                  <a:schemeClr val="bg1">
                    <a:lumMod val="75000"/>
                  </a:schemeClr>
                </a:solidFill>
              </a:rPr>
              <a:t>: Enabling Concept Erasure in Rectified Flow Transformers (ICML, 2025)</a:t>
            </a:r>
          </a:p>
        </p:txBody>
      </p:sp>
      <p:graphicFrame>
        <p:nvGraphicFramePr>
          <p:cNvPr id="6" name="Content Placeholder 10">
            <a:extLst>
              <a:ext uri="{FF2B5EF4-FFF2-40B4-BE49-F238E27FC236}">
                <a16:creationId xmlns:a16="http://schemas.microsoft.com/office/drawing/2014/main" id="{6016E9AE-A815-88AB-D970-33D489F846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4214929"/>
              </p:ext>
            </p:extLst>
          </p:nvPr>
        </p:nvGraphicFramePr>
        <p:xfrm>
          <a:off x="847988" y="4869794"/>
          <a:ext cx="4612509" cy="502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1829">
                  <a:extLst>
                    <a:ext uri="{9D8B030D-6E8A-4147-A177-3AD203B41FA5}">
                      <a16:colId xmlns:a16="http://schemas.microsoft.com/office/drawing/2014/main" val="3349858543"/>
                    </a:ext>
                  </a:extLst>
                </a:gridCol>
                <a:gridCol w="2110680">
                  <a:extLst>
                    <a:ext uri="{9D8B030D-6E8A-4147-A177-3AD203B41FA5}">
                      <a16:colId xmlns:a16="http://schemas.microsoft.com/office/drawing/2014/main" val="3324918346"/>
                    </a:ext>
                  </a:extLst>
                </a:gridCol>
              </a:tblGrid>
              <a:tr h="2009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BAGEL Generation w/ Think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50" dirty="0"/>
                        <a:t>534 / </a:t>
                      </a:r>
                      <a:r>
                        <a:rPr lang="en-US" altLang="ko-KR" sz="1050" dirty="0"/>
                        <a:t>4703 (11.35%)</a:t>
                      </a:r>
                      <a:endParaRPr lang="en-KR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205458"/>
                  </a:ext>
                </a:extLst>
              </a:tr>
              <a:tr h="2009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BAGEL Generation </a:t>
                      </a:r>
                      <a:r>
                        <a:rPr lang="en-KR" sz="1050" dirty="0"/>
                        <a:t>w/o Think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KR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569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541761F-C59D-F5A7-3D09-91732AF73CDE}"/>
              </a:ext>
            </a:extLst>
          </p:cNvPr>
          <p:cNvSpPr txBox="1"/>
          <p:nvPr/>
        </p:nvSpPr>
        <p:spPr>
          <a:xfrm>
            <a:off x="778726" y="4638698"/>
            <a:ext cx="19046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100" dirty="0"/>
              <a:t>// ‘Violence’ - Q16 (</a:t>
            </a:r>
            <a:r>
              <a:rPr lang="en-US" sz="1100" dirty="0"/>
              <a:t>224x224)</a:t>
            </a:r>
            <a:endParaRPr lang="en-KR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FDB84-CE66-BBE0-A8EE-D99F518F9305}"/>
              </a:ext>
            </a:extLst>
          </p:cNvPr>
          <p:cNvSpPr txBox="1"/>
          <p:nvPr/>
        </p:nvSpPr>
        <p:spPr>
          <a:xfrm>
            <a:off x="778726" y="3861359"/>
            <a:ext cx="1972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100" dirty="0"/>
              <a:t>// ‘Nude’ – nudenet</a:t>
            </a:r>
            <a:r>
              <a:rPr lang="ko-KR" altLang="en-US" sz="1100" dirty="0"/>
              <a:t> </a:t>
            </a:r>
            <a:r>
              <a:rPr lang="en-US" altLang="ko-KR" sz="1100" dirty="0"/>
              <a:t>(320x320)</a:t>
            </a:r>
            <a:endParaRPr lang="en-KR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307259-79DC-493A-AF33-9BA11A9E6EAB}"/>
              </a:ext>
            </a:extLst>
          </p:cNvPr>
          <p:cNvSpPr txBox="1"/>
          <p:nvPr/>
        </p:nvSpPr>
        <p:spPr>
          <a:xfrm>
            <a:off x="5529759" y="4982754"/>
            <a:ext cx="2601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ym typeface="Wingdings" pitchFamily="2" charset="2"/>
              </a:rPr>
              <a:t> </a:t>
            </a:r>
            <a:r>
              <a:rPr lang="en-US" sz="1200" dirty="0"/>
              <a:t>Original SD: 60.4% (w/ SC: 56.8%)</a:t>
            </a:r>
            <a:endParaRPr lang="en-KR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DEF532-87C7-3459-6AE3-1443E01B57D7}"/>
              </a:ext>
            </a:extLst>
          </p:cNvPr>
          <p:cNvSpPr txBox="1"/>
          <p:nvPr/>
        </p:nvSpPr>
        <p:spPr>
          <a:xfrm>
            <a:off x="717230" y="5718091"/>
            <a:ext cx="595066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i="1" dirty="0"/>
              <a:t>detector</a:t>
            </a:r>
            <a:r>
              <a:rPr lang="ko-KR" altLang="en-US" sz="1100" i="1" dirty="0"/>
              <a:t>들의 </a:t>
            </a:r>
            <a:r>
              <a:rPr lang="en-US" altLang="ko-KR" sz="1100" i="1" dirty="0"/>
              <a:t>input size</a:t>
            </a:r>
            <a:r>
              <a:rPr lang="ko-KR" altLang="en-US" sz="1100" i="1" dirty="0"/>
              <a:t>보다 </a:t>
            </a:r>
            <a:r>
              <a:rPr lang="en-US" altLang="ko-KR" sz="1100" i="1" dirty="0"/>
              <a:t>4</a:t>
            </a:r>
            <a:r>
              <a:rPr lang="ko-KR" altLang="en-US" sz="1100" i="1" dirty="0"/>
              <a:t>배나 큰 </a:t>
            </a:r>
            <a:r>
              <a:rPr lang="en-US" altLang="ko-KR" sz="1100" i="1" dirty="0"/>
              <a:t>BAGEL </a:t>
            </a:r>
            <a:r>
              <a:rPr lang="ko-KR" altLang="en-US" sz="1100" i="1" dirty="0"/>
              <a:t>이미지들</a:t>
            </a:r>
            <a:r>
              <a:rPr lang="en-US" altLang="ko-KR" sz="1100" i="1" dirty="0"/>
              <a:t>.</a:t>
            </a:r>
            <a:r>
              <a:rPr lang="ko-KR" altLang="en-US" sz="1100" i="1" dirty="0"/>
              <a:t> </a:t>
            </a:r>
            <a:r>
              <a:rPr lang="en-US" altLang="ko-KR" sz="1100" i="1" dirty="0"/>
              <a:t>(1024x1024)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i="1" dirty="0"/>
              <a:t>그래서 세부적인 부분을 감지하지 못할 가능성 있음</a:t>
            </a:r>
            <a:endParaRPr lang="en-US" altLang="ko-KR" sz="1100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i="1" dirty="0"/>
              <a:t>확인해보니 </a:t>
            </a:r>
            <a:r>
              <a:rPr lang="en-US" altLang="ko-KR" sz="1100" i="1" dirty="0"/>
              <a:t>512</a:t>
            </a:r>
            <a:r>
              <a:rPr lang="ko-KR" altLang="en-US" sz="1100" i="1" dirty="0"/>
              <a:t>*</a:t>
            </a:r>
            <a:r>
              <a:rPr lang="en-US" altLang="ko-KR" sz="1100" i="1" dirty="0"/>
              <a:t>512</a:t>
            </a:r>
            <a:r>
              <a:rPr lang="ko-KR" altLang="en-US" sz="1100" i="1" dirty="0"/>
              <a:t> 가능한 듯 </a:t>
            </a:r>
            <a:r>
              <a:rPr lang="en-US" altLang="ko-KR" sz="1100" i="1" dirty="0"/>
              <a:t> #TODO: </a:t>
            </a:r>
            <a:r>
              <a:rPr lang="ko-KR" altLang="en-US" sz="1100" i="1" dirty="0"/>
              <a:t>데이터센터에 </a:t>
            </a:r>
            <a:r>
              <a:rPr lang="en-US" altLang="ko-KR" sz="1100" i="1" dirty="0"/>
              <a:t>512</a:t>
            </a:r>
            <a:r>
              <a:rPr lang="ko-KR" altLang="en-US" sz="1100" i="1" dirty="0"/>
              <a:t>*</a:t>
            </a:r>
            <a:r>
              <a:rPr lang="en-US" altLang="ko-KR" sz="1100" i="1" dirty="0"/>
              <a:t>512</a:t>
            </a:r>
            <a:r>
              <a:rPr lang="ko-KR" altLang="en-US" sz="1100" i="1" dirty="0"/>
              <a:t> 버전으로 </a:t>
            </a:r>
            <a:r>
              <a:rPr lang="en-US" altLang="ko-KR" sz="1100" i="1" dirty="0"/>
              <a:t>I2P </a:t>
            </a:r>
            <a:r>
              <a:rPr lang="ko-KR" altLang="en-US" sz="1100" i="1" dirty="0"/>
              <a:t>다시 생성</a:t>
            </a:r>
            <a:r>
              <a:rPr lang="en-US" altLang="ko-KR" sz="1100" i="1" dirty="0"/>
              <a:t>,</a:t>
            </a:r>
            <a:r>
              <a:rPr lang="ko-KR" altLang="en-US" sz="1100" i="1" dirty="0"/>
              <a:t> 평가</a:t>
            </a:r>
            <a:endParaRPr lang="en-KR" sz="1100" i="1" dirty="0"/>
          </a:p>
        </p:txBody>
      </p:sp>
    </p:spTree>
    <p:extLst>
      <p:ext uri="{BB962C8B-B14F-4D97-AF65-F5344CB8AC3E}">
        <p14:creationId xmlns:p14="http://schemas.microsoft.com/office/powerpoint/2010/main" val="2167858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2B1D3-7454-3111-4E4C-26C6498A0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*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6EC5F-0FC1-0FB9-D3E7-89F3ED22B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6" y="1137958"/>
            <a:ext cx="5730874" cy="5354917"/>
          </a:xfrm>
        </p:spPr>
        <p:txBody>
          <a:bodyPr>
            <a:normAutofit/>
          </a:bodyPr>
          <a:lstStyle/>
          <a:p>
            <a:r>
              <a:rPr lang="en-KR" dirty="0"/>
              <a:t>Memorization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Previous Works cannot resolve this phenomenon?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More Training Experiments on More Classes/Instances</a:t>
            </a:r>
          </a:p>
          <a:p>
            <a:pPr lvl="2"/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‘dvddog’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Temporal Analysis</a:t>
            </a:r>
          </a:p>
          <a:p>
            <a:pPr lvl="2"/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Compared btw ‘Dominating’ and ‘Others’</a:t>
            </a:r>
          </a:p>
          <a:p>
            <a:pPr lvl="2"/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Should be Compared btw ‘Dominanting’ and ‘Dominated’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Additional Experiments on SD2.1 (All Analysis 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rt)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</a:t>
            </a:r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ine-tuning experiment</a:t>
            </a:r>
          </a:p>
          <a:p>
            <a:pPr lvl="2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F</a:t>
            </a:r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ocus score</a:t>
            </a:r>
          </a:p>
          <a:p>
            <a:pPr lvl="2"/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Temporal Analysis</a:t>
            </a:r>
          </a:p>
          <a:p>
            <a:pPr lvl="2"/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Head Ablation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KR" dirty="0">
                <a:solidFill>
                  <a:schemeClr val="bg1">
                    <a:lumMod val="85000"/>
                  </a:schemeClr>
                </a:solidFill>
              </a:rPr>
              <a:t>Strengthen the minor argument</a:t>
            </a:r>
          </a:p>
          <a:p>
            <a:r>
              <a:rPr lang="en-US" dirty="0"/>
              <a:t>Concept Erasing in UMM</a:t>
            </a:r>
            <a:endParaRPr lang="en-KR" dirty="0"/>
          </a:p>
          <a:p>
            <a:pPr lvl="1"/>
            <a:r>
              <a:rPr lang="en-KR" dirty="0"/>
              <a:t>Apply baseline Methods: SPEED, EraseAnything, …</a:t>
            </a:r>
          </a:p>
          <a:p>
            <a:pPr lvl="1"/>
            <a:r>
              <a:rPr lang="en-KR" dirty="0"/>
              <a:t>Discover “Think” mode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111E667-7B9E-0813-4285-8D05BEA3DB60}"/>
              </a:ext>
            </a:extLst>
          </p:cNvPr>
          <p:cNvSpPr txBox="1">
            <a:spLocks/>
          </p:cNvSpPr>
          <p:nvPr/>
        </p:nvSpPr>
        <p:spPr>
          <a:xfrm>
            <a:off x="6073565" y="1137957"/>
            <a:ext cx="5730874" cy="535491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KR" dirty="0"/>
              <a:t>Milestone</a:t>
            </a:r>
          </a:p>
          <a:p>
            <a:pPr lvl="1"/>
            <a:r>
              <a:rPr lang="en-KR" dirty="0"/>
              <a:t>Rebuttal (Jan, 22, 2026) – </a:t>
            </a:r>
            <a:r>
              <a:rPr lang="en-US" altLang="ko-KR" dirty="0"/>
              <a:t>3</a:t>
            </a:r>
            <a:r>
              <a:rPr lang="en-KR" dirty="0"/>
              <a:t> weeks</a:t>
            </a:r>
          </a:p>
          <a:p>
            <a:pPr lvl="1"/>
            <a:r>
              <a:rPr lang="en-KR" dirty="0"/>
              <a:t>Concept Erasing in UMM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ACC5AF-3DED-5E68-FD49-6649E655C0E8}"/>
              </a:ext>
            </a:extLst>
          </p:cNvPr>
          <p:cNvSpPr txBox="1"/>
          <p:nvPr/>
        </p:nvSpPr>
        <p:spPr>
          <a:xfrm>
            <a:off x="6087315" y="2234436"/>
            <a:ext cx="1213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400" dirty="0">
                <a:solidFill>
                  <a:srgbClr val="C00000"/>
                </a:solidFill>
              </a:rPr>
              <a:t>* scholarship</a:t>
            </a:r>
          </a:p>
        </p:txBody>
      </p:sp>
    </p:spTree>
    <p:extLst>
      <p:ext uri="{BB962C8B-B14F-4D97-AF65-F5344CB8AC3E}">
        <p14:creationId xmlns:p14="http://schemas.microsoft.com/office/powerpoint/2010/main" val="1312371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EA0EFB-474E-AF34-EBB1-CFC7CB1F5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1659-C65F-CBC8-658B-ED8C76A2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CVPR 2026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2419F-BBCB-1426-C869-0BCA76CA2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KR" strike="sngStrike" dirty="0"/>
              <a:t>Previous Works cannot resolve this phenomenon?</a:t>
            </a:r>
            <a:endParaRPr lang="en-KR" dirty="0"/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More Training Experiments on More Classes/Instances</a:t>
            </a:r>
          </a:p>
          <a:p>
            <a:pPr lvl="1"/>
            <a:r>
              <a:rPr lang="en-KR" dirty="0"/>
              <a:t>‘dvddog’ and more</a:t>
            </a:r>
          </a:p>
          <a:p>
            <a:pPr lvl="1"/>
            <a:r>
              <a:rPr lang="en-KR" dirty="0"/>
              <a:t>Does size of the content in training data matters?</a:t>
            </a:r>
          </a:p>
          <a:p>
            <a:pPr marL="342900" indent="-342900">
              <a:buFont typeface="+mj-lt"/>
              <a:buAutoNum type="arabicPeriod"/>
            </a:pPr>
            <a:r>
              <a:rPr lang="en-KR" strike="sngStrike" dirty="0"/>
              <a:t>Temporal Analysis</a:t>
            </a:r>
          </a:p>
          <a:p>
            <a:pPr lvl="1"/>
            <a:r>
              <a:rPr lang="en-KR" strike="sngStrike" dirty="0"/>
              <a:t>Compared btw ‘Dominating’ and ‘Others’</a:t>
            </a:r>
          </a:p>
          <a:p>
            <a:pPr lvl="1"/>
            <a:r>
              <a:rPr lang="en-KR" strike="sngStrike" dirty="0"/>
              <a:t>Should be Compared btw ‘Dominanting’ and ‘Dominated’</a:t>
            </a:r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Additional Experiments on SD2.1 (All Analysis P</a:t>
            </a:r>
            <a:r>
              <a:rPr lang="en-US" dirty="0"/>
              <a:t>a</a:t>
            </a:r>
            <a:r>
              <a:rPr lang="en-KR" dirty="0"/>
              <a:t>rt)</a:t>
            </a:r>
          </a:p>
          <a:p>
            <a:pPr lvl="1"/>
            <a:r>
              <a:rPr lang="en-US" dirty="0"/>
              <a:t>F</a:t>
            </a:r>
            <a:r>
              <a:rPr lang="en-KR" dirty="0"/>
              <a:t>ine-tuning experiment</a:t>
            </a:r>
          </a:p>
          <a:p>
            <a:pPr lvl="1"/>
            <a:r>
              <a:rPr lang="en-US" dirty="0"/>
              <a:t>F</a:t>
            </a:r>
            <a:r>
              <a:rPr lang="en-KR" dirty="0"/>
              <a:t>ocus score</a:t>
            </a:r>
          </a:p>
          <a:p>
            <a:pPr lvl="1"/>
            <a:r>
              <a:rPr lang="en-KR" dirty="0"/>
              <a:t>Temporal Analysis</a:t>
            </a:r>
          </a:p>
          <a:p>
            <a:pPr lvl="1"/>
            <a:r>
              <a:rPr lang="en-KR" dirty="0"/>
              <a:t>Head Ablation</a:t>
            </a:r>
          </a:p>
          <a:p>
            <a:pPr marL="342900" indent="-342900">
              <a:buFont typeface="+mj-lt"/>
              <a:buAutoNum type="arabicPeriod"/>
            </a:pPr>
            <a:r>
              <a:rPr lang="en-KR" dirty="0"/>
              <a:t>Strengthen the minor argument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intra-category cosine distances – Try more training images</a:t>
            </a:r>
          </a:p>
          <a:p>
            <a:pPr lvl="1"/>
            <a:r>
              <a:rPr lang="en-US" dirty="0"/>
              <a:t>Head ablation - Others </a:t>
            </a:r>
            <a:r>
              <a:rPr lang="ko-KR" altLang="en-US" dirty="0"/>
              <a:t>카테고리에 대한 추가 분석</a:t>
            </a:r>
            <a:endParaRPr lang="en-KR" dirty="0"/>
          </a:p>
          <a:p>
            <a:pPr lvl="1"/>
            <a:r>
              <a:rPr lang="en-US" dirty="0">
                <a:solidFill>
                  <a:srgbClr val="0070C0"/>
                </a:solidFill>
              </a:rPr>
              <a:t>Dominated Token</a:t>
            </a:r>
            <a:r>
              <a:rPr lang="ko-KR" altLang="en-US" dirty="0" err="1">
                <a:solidFill>
                  <a:srgbClr val="0070C0"/>
                </a:solidFill>
              </a:rPr>
              <a:t>에</a:t>
            </a:r>
            <a:r>
              <a:rPr lang="ko-KR" altLang="en-US" dirty="0">
                <a:solidFill>
                  <a:srgbClr val="0070C0"/>
                </a:solidFill>
              </a:rPr>
              <a:t> 대해서 </a:t>
            </a:r>
            <a:r>
              <a:rPr lang="en-US" dirty="0">
                <a:solidFill>
                  <a:srgbClr val="0070C0"/>
                </a:solidFill>
              </a:rPr>
              <a:t>Layer 7</a:t>
            </a:r>
            <a:r>
              <a:rPr lang="ko-KR" altLang="en-US" dirty="0" err="1">
                <a:solidFill>
                  <a:srgbClr val="0070C0"/>
                </a:solidFill>
              </a:rPr>
              <a:t>를</a:t>
            </a:r>
            <a:r>
              <a:rPr lang="ko-KR" altLang="en-US" dirty="0">
                <a:solidFill>
                  <a:srgbClr val="0070C0"/>
                </a:solidFill>
              </a:rPr>
              <a:t> 추적하는 이유</a:t>
            </a:r>
            <a:endParaRPr lang="en-KR" altLang="ko-KR" dirty="0">
              <a:solidFill>
                <a:srgbClr val="0070C0"/>
              </a:solidFill>
            </a:endParaRPr>
          </a:p>
          <a:p>
            <a:pPr lvl="1"/>
            <a:r>
              <a:rPr lang="en-KR" dirty="0"/>
              <a:t>Ablation Study (epsilon, LPIPS/SSCD threshold)</a:t>
            </a:r>
          </a:p>
        </p:txBody>
      </p:sp>
    </p:spTree>
    <p:extLst>
      <p:ext uri="{BB962C8B-B14F-4D97-AF65-F5344CB8AC3E}">
        <p14:creationId xmlns:p14="http://schemas.microsoft.com/office/powerpoint/2010/main" val="3932026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58ECF49-9510-284B-8608-77DD3AF33700}" vid="{D7FC2EE1-7D83-D345-BC33-911F7B4FB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24396</TotalTime>
  <Words>1149</Words>
  <Application>Microsoft Macintosh PowerPoint</Application>
  <PresentationFormat>Widescreen</PresentationFormat>
  <Paragraphs>153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Pretendard</vt:lpstr>
      <vt:lpstr>Pretendard Medium</vt:lpstr>
      <vt:lpstr>Pretendard SemiBold</vt:lpstr>
      <vt:lpstr>Aptos</vt:lpstr>
      <vt:lpstr>Arial</vt:lpstr>
      <vt:lpstr>Cambria Math</vt:lpstr>
      <vt:lpstr>Wingdings</vt:lpstr>
      <vt:lpstr>Office Theme</vt:lpstr>
      <vt:lpstr>Weekly Update Concept Erasing on UMM</vt:lpstr>
      <vt:lpstr>Last Week</vt:lpstr>
      <vt:lpstr>Last Week</vt:lpstr>
      <vt:lpstr>Concept Space</vt:lpstr>
      <vt:lpstr>Concept Space</vt:lpstr>
      <vt:lpstr>Concept Space</vt:lpstr>
      <vt:lpstr>Concept Space</vt:lpstr>
      <vt:lpstr>Txt-to-Context Self-Attention</vt:lpstr>
      <vt:lpstr>Method - Loss</vt:lpstr>
      <vt:lpstr>* Nude, Violence in BAGEL</vt:lpstr>
      <vt:lpstr>* Plan</vt:lpstr>
      <vt:lpstr>CVPR 2026 Submission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정하연</dc:creator>
  <cp:lastModifiedBy>정하연</cp:lastModifiedBy>
  <cp:revision>275</cp:revision>
  <dcterms:created xsi:type="dcterms:W3CDTF">2025-07-25T04:06:09Z</dcterms:created>
  <dcterms:modified xsi:type="dcterms:W3CDTF">2026-01-23T03:24:59Z</dcterms:modified>
</cp:coreProperties>
</file>