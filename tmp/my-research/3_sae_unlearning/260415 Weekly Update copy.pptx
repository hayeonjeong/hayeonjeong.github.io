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358" r:id="rId4"/>
    <p:sldId id="359" r:id="rId5"/>
    <p:sldId id="360" r:id="rId6"/>
    <p:sldId id="361" r:id="rId7"/>
    <p:sldId id="368" r:id="rId8"/>
    <p:sldId id="258" r:id="rId9"/>
    <p:sldId id="259" r:id="rId10"/>
    <p:sldId id="260" r:id="rId11"/>
    <p:sldId id="366" r:id="rId12"/>
    <p:sldId id="364" r:id="rId13"/>
    <p:sldId id="362" r:id="rId14"/>
    <p:sldId id="363" r:id="rId15"/>
    <p:sldId id="367" r:id="rId16"/>
    <p:sldId id="365" r:id="rId17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3E00BF-5D40-8E89-F5F2-4B0618AD9405}" name="정하연" initials="정" userId="S::hayeon.jeong@o365.yonsei.ac.kr::e95db288-6b69-43e1-a5d2-7b2a41a97e8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FAC"/>
    <a:srgbClr val="DEDF00"/>
    <a:srgbClr val="BF4959"/>
    <a:srgbClr val="FB8682"/>
    <a:srgbClr val="66C8F5"/>
    <a:srgbClr val="88D6F5"/>
    <a:srgbClr val="FBA4A3"/>
    <a:srgbClr val="FBA6A1"/>
    <a:srgbClr val="FBCECB"/>
    <a:srgbClr val="F1C6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50"/>
    <p:restoredTop sz="96966"/>
  </p:normalViewPr>
  <p:slideViewPr>
    <p:cSldViewPr snapToGrid="0">
      <p:cViewPr>
        <p:scale>
          <a:sx n="155" d="100"/>
          <a:sy n="155" d="100"/>
        </p:scale>
        <p:origin x="116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516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A1999-0D2D-334E-B65B-715E1558EE94}" type="datetimeFigureOut">
              <a:rPr lang="en-KR" smtClean="0"/>
              <a:t>4/21/26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18AA30-34BB-0C47-9851-CC14E2038A7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9550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B9D99-0E39-375C-ECD9-E8BEB12F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EB2AF-6CDC-754A-BF21-D403DB356990}" type="datetime1">
              <a:rPr lang="en-US" smtClean="0"/>
              <a:t>4/21/26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02B2-45BC-3664-B16F-C0B3EE41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6CCC7B9-62B8-31DD-0229-DD887C0135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072" y="6522511"/>
            <a:ext cx="1100695" cy="2422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CC0C649-1748-F3E0-5235-F50DCBC93A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40848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KR" sz="4800" dirty="0"/>
              <a:t>Title</a:t>
            </a:r>
            <a:endParaRPr lang="en-KR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78C4E3D-CBDE-2C38-6A80-96C3A43688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28448"/>
            <a:ext cx="9144000" cy="156877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KR" dirty="0"/>
              <a:t>Subtitle</a:t>
            </a:r>
          </a:p>
          <a:p>
            <a:endParaRPr lang="en-KR" dirty="0"/>
          </a:p>
          <a:p>
            <a:r>
              <a:rPr lang="en-KR" dirty="0"/>
              <a:t>2025.XX.XX</a:t>
            </a:r>
          </a:p>
          <a:p>
            <a:r>
              <a:rPr lang="en-KR" dirty="0"/>
              <a:t>Hayeon Jeong</a:t>
            </a:r>
          </a:p>
        </p:txBody>
      </p:sp>
    </p:spTree>
    <p:extLst>
      <p:ext uri="{BB962C8B-B14F-4D97-AF65-F5344CB8AC3E}">
        <p14:creationId xmlns:p14="http://schemas.microsoft.com/office/powerpoint/2010/main" val="3041020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CF7FA-047A-76DC-F53A-607DB621F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0F43-BAD3-5D4B-842C-1BECF5783CC1}" type="datetime1">
              <a:rPr lang="en-US" smtClean="0"/>
              <a:t>4/21/26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25B7E-5821-3FBF-9C90-D608FD48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7AE1898-3AA5-9E6C-895D-AE7A7A5E1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 i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TITLE HERE</a:t>
            </a:r>
            <a:endParaRPr lang="en-KR" sz="2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AC890D-0675-EFBB-C750-C787E03D1F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lnSpc>
                <a:spcPct val="100000"/>
              </a:lnSpc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lnSpc>
                <a:spcPct val="100000"/>
              </a:lnSpc>
              <a:defRPr sz="12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lnSpc>
                <a:spcPct val="100000"/>
              </a:lnSpc>
              <a:defRPr sz="11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lnSpc>
                <a:spcPct val="100000"/>
              </a:lnSpc>
              <a:defRPr sz="11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First level</a:t>
            </a:r>
          </a:p>
          <a:p>
            <a:pPr lvl="1"/>
            <a:r>
              <a:rPr 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Second level</a:t>
            </a:r>
          </a:p>
          <a:p>
            <a:pPr lvl="2"/>
            <a:r>
              <a:rPr 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Third level</a:t>
            </a:r>
          </a:p>
          <a:p>
            <a:pPr lvl="3"/>
            <a:r>
              <a: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Fourth level</a:t>
            </a:r>
          </a:p>
          <a:p>
            <a:pPr lvl="4"/>
            <a:r>
              <a: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Fifth level</a:t>
            </a:r>
            <a:endParaRPr lang="en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78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C4C1A-47A3-8FCD-C17B-E8AF0ACFD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06B84-CF83-1768-F770-9FA317B27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DDBD9-8556-9FE5-B37E-326DFB751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5020-5E6C-944D-954D-F6513999B2B9}" type="datetime1">
              <a:rPr lang="en-US" smtClean="0"/>
              <a:t>4/21/26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A80EC-89C7-61E5-4253-9CEC3EBC8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C206E-DB2D-383A-E617-3091FE96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9914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12B1-914A-A85B-9656-EED84B57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766D-9F19-7222-0134-B4027F4588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9AC8F-15F8-233F-E3BD-B13B29E01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FBA0E-4D9B-5669-1A40-025EAF60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84A6-EFC5-6A45-8FBB-8A86ED1092A9}" type="datetime1">
              <a:rPr lang="en-US" smtClean="0"/>
              <a:t>4/21/26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FC0FD-58FC-157A-9180-051DFAF8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F6963-6C2A-C55A-CF1E-B938E2B3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902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DB35-4B06-C984-E6E9-6571DE79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2A03E-07D5-B7A7-F884-24381BF8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BA994-F460-612A-0B6F-B0A0EB041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C733F7-78B9-904C-9642-3458037A17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6DCBC-7069-5BD8-46DB-C7BFDDEB4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29A386-0F81-8914-A12C-6597AB2E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3992-39AF-5043-AD44-4F8B2806E4F7}" type="datetime1">
              <a:rPr lang="en-US" smtClean="0"/>
              <a:t>4/21/26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F0178-97F1-0E9D-871E-D44CC8A37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72DD4-2D02-1CE4-91A9-5691335D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85730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EE20-AEF8-99D5-79CA-EC438D941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BD7C7D-4C4C-5FC3-6C82-38A2D6724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487C-F38D-EB4A-BAF1-3FA8DF0EA4DE}" type="datetime1">
              <a:rPr lang="en-US" smtClean="0"/>
              <a:t>4/21/26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572D74-F34B-1C70-5400-CE4D88C4C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35DD3-871B-9B15-1A69-DF4F89CD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1056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6DA536-F8D8-E1A0-0A07-D6F8F756A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10FE-8F71-CD45-B42C-796254A68CC4}" type="datetime1">
              <a:rPr lang="en-US" smtClean="0"/>
              <a:t>4/21/26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05598-D70E-7061-D1A4-71066E4B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16DE1-2B0C-747F-D616-2E139236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64147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1AA48-AC31-E217-26B4-54FEF3C6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D5F99-968F-CA1D-9EF4-69C689EC7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8E2D5-46B5-C951-B600-B0A6F1C65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9B3FD-14F9-C37C-27AE-A6FEA1CC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F998-C5FC-F44C-ACA6-43C0BD0BBBF8}" type="datetime1">
              <a:rPr lang="en-US" smtClean="0"/>
              <a:t>4/21/26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EE16C-9D2A-FD18-5F30-C0F0D9B2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4FC3E-58AE-89CD-BA74-3985BDB5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67752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49053-6310-F6B5-FF99-73CF29FE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B13669-4EC8-9849-8202-9D2220CD7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1B808-8321-4034-7019-7D47978A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D785D-94BD-4D14-E338-CFC240816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3009-010A-3643-99D4-2D4D54D3FB5B}" type="datetime1">
              <a:rPr lang="en-US" smtClean="0"/>
              <a:t>4/21/26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19A7F-3AE0-5DBC-B468-D3B13EF7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C2B9-B059-6DC8-C0E4-9E89E048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80117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2D59A-D378-CAD2-FF2E-9693BAA65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31652-27E2-AD5A-2784-87FE064C1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C654B-96B5-CC2A-79D0-7C2C5268B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3623-CFE3-3B48-AD01-8ACA46C16D40}" type="datetime1">
              <a:rPr lang="en-US" smtClean="0"/>
              <a:t>4/21/26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D7CB8-48BD-8C01-F4EF-4C100458B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211DF-0CCD-85FB-B94A-9B7D1FAC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8667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894D5-5C64-B67F-3B71-D3700DC1A0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39A60-8BAD-D3CB-5195-B600C771E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F8497-FBC8-C5AC-D8DF-9B075D0A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C6B8-EB47-EA4D-BC75-D06A0CC2D4D7}" type="datetime1">
              <a:rPr lang="en-US" smtClean="0"/>
              <a:t>4/21/26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4AE0D-CC99-FAC3-A922-17794776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F7524-24A2-143E-DD2F-F8626A94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7348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8D6AA-BF94-B7A4-BEB5-94B7D494D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E497E-9634-6648-B43C-50321F9D4515}" type="datetime1">
              <a:rPr lang="en-US" smtClean="0"/>
              <a:t>4/21/26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34F99-7664-F70B-A87F-D3FE00DA7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5176F92-44D7-C25D-E466-0C232BC87030}"/>
              </a:ext>
            </a:extLst>
          </p:cNvPr>
          <p:cNvSpPr txBox="1">
            <a:spLocks/>
          </p:cNvSpPr>
          <p:nvPr userDrawn="1"/>
        </p:nvSpPr>
        <p:spPr>
          <a:xfrm>
            <a:off x="9328728" y="649287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42FE30C-30E7-744B-836A-23530458DF33}" type="slidenum">
              <a:rPr lang="en-KR" sz="1200" smtClean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/>
              <a:t>‹#›</a:t>
            </a:fld>
            <a:endParaRPr lang="en-KR" sz="12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14AD03-5656-19EF-4D4F-52CD0BA937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0072" y="6522511"/>
            <a:ext cx="1100695" cy="24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7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8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2FD3EF-4AF0-5D47-76F7-C49B36472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454060"/>
            <a:ext cx="10363200" cy="2387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KR" sz="1800" dirty="0">
                <a:solidFill>
                  <a:schemeClr val="bg1">
                    <a:lumMod val="75000"/>
                  </a:schemeClr>
                </a:solidFill>
              </a:rPr>
              <a:t>UMM Unlearning</a:t>
            </a:r>
            <a:br>
              <a:rPr lang="en-KR" sz="2800" dirty="0"/>
            </a:br>
            <a:r>
              <a:rPr lang="en-US" altLang="ko-KR" sz="2400" dirty="0"/>
              <a:t>Knows But Can't Draw: Toward Modality-Selective Concept Suppression</a:t>
            </a:r>
            <a:br>
              <a:rPr lang="en-US" altLang="ko-KR" sz="2400" dirty="0"/>
            </a:br>
            <a:r>
              <a:rPr lang="en-US" altLang="ko-KR" sz="2400" dirty="0"/>
              <a:t>in Unified Multimodal Models</a:t>
            </a:r>
            <a:endParaRPr lang="en-KR" sz="32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3B2ECD5-0A5C-4884-393F-48FD7CB6B3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2026.0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4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.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15</a:t>
            </a:r>
            <a:endParaRPr lang="en-KR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KR" dirty="0">
                <a:solidFill>
                  <a:schemeClr val="bg1">
                    <a:lumMod val="65000"/>
                  </a:schemeClr>
                </a:solidFill>
              </a:rPr>
              <a:t>Hayeon Jeong</a:t>
            </a:r>
          </a:p>
        </p:txBody>
      </p:sp>
    </p:spTree>
    <p:extLst>
      <p:ext uri="{BB962C8B-B14F-4D97-AF65-F5344CB8AC3E}">
        <p14:creationId xmlns:p14="http://schemas.microsoft.com/office/powerpoint/2010/main" val="231745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C57A-1D36-68AE-E856-11F30DAFC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5251D-AF8D-1401-5A3E-FF99811A3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KR" dirty="0"/>
              <a:t>Recap: Loss</a:t>
            </a:r>
          </a:p>
          <a:p>
            <a:pPr marL="342900" indent="-342900">
              <a:buFont typeface="+mj-lt"/>
              <a:buAutoNum type="arabicPeriod"/>
            </a:pPr>
            <a:r>
              <a:rPr lang="en-KR" dirty="0"/>
              <a:t>Experiments</a:t>
            </a:r>
          </a:p>
          <a:p>
            <a:pPr lvl="1"/>
            <a:r>
              <a:rPr lang="en-KR" dirty="0"/>
              <a:t>Settings</a:t>
            </a:r>
          </a:p>
          <a:p>
            <a:pPr lvl="1"/>
            <a:r>
              <a:rPr lang="en-US" altLang="ko-KR" dirty="0"/>
              <a:t>fixed 3 bundles</a:t>
            </a:r>
          </a:p>
          <a:p>
            <a:pPr lvl="1"/>
            <a:r>
              <a:rPr lang="en-US" altLang="ko-KR" dirty="0"/>
              <a:t>safe </a:t>
            </a:r>
            <a:r>
              <a:rPr lang="en-US" altLang="ko-KR" dirty="0" err="1"/>
              <a:t>SAEmnesia</a:t>
            </a:r>
            <a:r>
              <a:rPr lang="en-US" altLang="ko-KR" dirty="0"/>
              <a:t> top1</a:t>
            </a:r>
          </a:p>
          <a:p>
            <a:pPr lvl="1"/>
            <a:r>
              <a:rPr lang="en-US" altLang="ko-KR" dirty="0"/>
              <a:t>safe </a:t>
            </a:r>
            <a:r>
              <a:rPr lang="en-US" altLang="ko-KR" dirty="0" err="1"/>
              <a:t>SAEmnesia</a:t>
            </a:r>
            <a:r>
              <a:rPr lang="en-US" altLang="ko-KR" dirty="0"/>
              <a:t> top3</a:t>
            </a:r>
            <a:endParaRPr lang="en-KR" dirty="0"/>
          </a:p>
          <a:p>
            <a:pPr marL="342900" indent="-342900">
              <a:buFont typeface="+mj-lt"/>
              <a:buAutoNum type="arabicPeriod"/>
            </a:pPr>
            <a:r>
              <a:rPr lang="en-KR" dirty="0"/>
              <a:t>Generalization</a:t>
            </a:r>
          </a:p>
          <a:p>
            <a:pPr lvl="1"/>
            <a:r>
              <a:rPr lang="en-KR" dirty="0"/>
              <a:t>Transfusion</a:t>
            </a:r>
          </a:p>
          <a:p>
            <a:pPr lvl="1"/>
            <a:r>
              <a:rPr lang="en-KR" dirty="0"/>
              <a:t>Show-o</a:t>
            </a:r>
          </a:p>
          <a:p>
            <a:pPr marL="342900" indent="-342900">
              <a:buFont typeface="+mj-lt"/>
              <a:buAutoNum type="arabicPeriod"/>
            </a:pPr>
            <a:r>
              <a:rPr lang="en-KR" dirty="0"/>
              <a:t>Extension to Image Editing</a:t>
            </a:r>
          </a:p>
          <a:p>
            <a:pPr lvl="1"/>
            <a:r>
              <a:rPr lang="en-KR" dirty="0"/>
              <a:t>Datasets</a:t>
            </a:r>
          </a:p>
        </p:txBody>
      </p:sp>
    </p:spTree>
    <p:extLst>
      <p:ext uri="{BB962C8B-B14F-4D97-AF65-F5344CB8AC3E}">
        <p14:creationId xmlns:p14="http://schemas.microsoft.com/office/powerpoint/2010/main" val="1363921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4D7AA-690A-94DD-8FFA-2C04EC682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Recap: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F4BB66-A681-74B1-6260-9FE6018114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5126" y="1137959"/>
                <a:ext cx="11416878" cy="1822956"/>
              </a:xfrm>
            </p:spPr>
            <p:txBody>
              <a:bodyPr>
                <a:normAutofit/>
              </a:bodyPr>
              <a:lstStyle/>
              <a:p>
                <a:r>
                  <a:rPr lang="en-KR" dirty="0"/>
                  <a:t>VAE-only SAE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𝑢𝑛𝑠𝑢𝑝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𝑏𝑖𝑛𝑑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𝑟𝑜𝑢𝑡𝑒</m:t>
                        </m:r>
                      </m:sub>
                    </m:sSub>
                  </m:oMath>
                </a14:m>
                <a:endParaRPr lang="en-KR"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𝑢𝑛𝑠𝑢𝑝</m:t>
                        </m:r>
                      </m:sub>
                    </m:sSub>
                  </m:oMath>
                </a14:m>
                <a:r>
                  <a:rPr lang="en-KR" sz="1200" dirty="0"/>
                  <a:t>로 SAE를 먼저 학습한다</a:t>
                </a:r>
                <a:r>
                  <a:rPr lang="en-US" altLang="ko-KR" sz="1200" dirty="0"/>
                  <a:t>.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sz="1200" dirty="0"/>
                  <a:t>Route-aware score matrix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1200" dirty="0"/>
                  <a:t>를 계산한다</a:t>
                </a:r>
                <a:r>
                  <a:rPr lang="en-US" altLang="ko-KR" sz="1200" dirty="0"/>
                  <a:t>.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1200" dirty="0"/>
                  <a:t>를 사용해 concept-to-latent assignment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KR" sz="1200" dirty="0"/>
                  <a:t> 또는 bundle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KR" sz="1200" dirty="0"/>
                  <a:t>를 만든다</a:t>
                </a:r>
                <a:r>
                  <a:rPr lang="en-US" altLang="ko-KR" sz="1200" dirty="0"/>
                  <a:t>.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sz="1200" dirty="0" err="1"/>
                  <a:t>그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assignment를</a:t>
                </a:r>
                <a:r>
                  <a:rPr lang="en-US" sz="1200" dirty="0"/>
                  <a:t> </a:t>
                </a:r>
                <a:r>
                  <a:rPr lang="en-US" sz="1200" dirty="0" err="1"/>
                  <a:t>고정한</a:t>
                </a:r>
                <a:r>
                  <a:rPr lang="en-US" sz="1200" dirty="0"/>
                  <a:t> </a:t>
                </a:r>
                <a:r>
                  <a:rPr lang="en-US" sz="1200" dirty="0" err="1"/>
                  <a:t>뒤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𝑏𝑖𝑛𝑑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𝑟𝑜𝑢𝑡𝑒</m:t>
                        </m:r>
                      </m:sub>
                    </m:sSub>
                  </m:oMath>
                </a14:m>
                <a:r>
                  <a:rPr lang="en-US" altLang="ko-KR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𝑛𝑒𝑔</m:t>
                        </m:r>
                      </m:sub>
                    </m:sSub>
                  </m:oMath>
                </a14:m>
                <a:r>
                  <a:rPr lang="en-KR" sz="1200" dirty="0"/>
                  <a:t>로 supervised shaping을 수행한다</a:t>
                </a:r>
                <a:r>
                  <a:rPr lang="en-US" altLang="ko-KR" sz="1200" dirty="0"/>
                  <a:t>.</a:t>
                </a:r>
              </a:p>
              <a:p>
                <a:pPr lvl="1"/>
                <a:endParaRPr lang="en-K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F4BB66-A681-74B1-6260-9FE6018114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5126" y="1137959"/>
                <a:ext cx="11416878" cy="1822956"/>
              </a:xfrm>
              <a:blipFill>
                <a:blip r:embed="rId2"/>
                <a:stretch>
                  <a:fillRect l="-222" t="-69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4B0A0FE-EBE4-0B39-F1A5-CD1EDF806F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5126" y="3171410"/>
                <a:ext cx="7254874" cy="182295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b="0" i="0" kern="120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b="0" i="0" kern="120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100" b="0" i="0" kern="120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100" b="0" i="0" kern="120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𝑢𝑛𝑠𝑢𝑝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𝑎𝑢𝑥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 : reconstruction error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𝑎𝑢𝑥</m:t>
                        </m:r>
                      </m:sub>
                    </m:sSub>
                  </m:oMath>
                </a14:m>
                <a:r>
                  <a:rPr lang="en-US" altLang="ko-KR" dirty="0"/>
                  <a:t>  : reconstruction error using only the largest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𝑎𝑢𝑥</m:t>
                        </m:r>
                      </m:sub>
                    </m:sSub>
                  </m:oMath>
                </a14:m>
                <a:r>
                  <a:rPr lang="en-US" altLang="ko-KR" dirty="0"/>
                  <a:t> feature activations that have not fired on a large number of training samples, so-called dead </a:t>
                </a:r>
                <a:r>
                  <a:rPr lang="en-US" altLang="ko-KR" dirty="0" err="1"/>
                  <a:t>latents</a:t>
                </a:r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4B0A0FE-EBE4-0B39-F1A5-CD1EDF806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26" y="3171410"/>
                <a:ext cx="7254874" cy="1822956"/>
              </a:xfrm>
              <a:prstGeom prst="rect">
                <a:avLst/>
              </a:prstGeom>
              <a:blipFill>
                <a:blip r:embed="rId3"/>
                <a:stretch>
                  <a:fillRect l="-3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EDF5F1-C743-E875-0F8B-CE691EC2CB79}"/>
              </a:ext>
            </a:extLst>
          </p:cNvPr>
          <p:cNvCxnSpPr>
            <a:cxnSpLocks/>
          </p:cNvCxnSpPr>
          <p:nvPr/>
        </p:nvCxnSpPr>
        <p:spPr>
          <a:xfrm>
            <a:off x="365126" y="3048000"/>
            <a:ext cx="69936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C8F049-99C6-1F6A-F063-C18E127EB966}"/>
                  </a:ext>
                </a:extLst>
              </p:cNvPr>
              <p:cNvSpPr txBox="1"/>
              <p:nvPr/>
            </p:nvSpPr>
            <p:spPr>
              <a:xfrm>
                <a:off x="8938930" y="169751"/>
                <a:ext cx="3253070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𝑢𝑛𝑠𝑢𝑝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𝑏𝑖𝑛𝑑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𝑟𝑜𝑢𝑡𝑒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C8F049-99C6-1F6A-F063-C18E127EB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930" y="169751"/>
                <a:ext cx="3253070" cy="390748"/>
              </a:xfrm>
              <a:prstGeom prst="rect">
                <a:avLst/>
              </a:prstGeom>
              <a:blipFill>
                <a:blip r:embed="rId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CDBAC361-656A-1157-2D9B-B67437E2CE6A}"/>
              </a:ext>
            </a:extLst>
          </p:cNvPr>
          <p:cNvGrpSpPr/>
          <p:nvPr/>
        </p:nvGrpSpPr>
        <p:grpSpPr>
          <a:xfrm>
            <a:off x="9052814" y="1029219"/>
            <a:ext cx="3219838" cy="3053669"/>
            <a:chOff x="419820" y="1332013"/>
            <a:chExt cx="5434184" cy="479274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61CE939-AA1B-4E33-7DC4-0B69C5413192}"/>
                </a:ext>
              </a:extLst>
            </p:cNvPr>
            <p:cNvSpPr/>
            <p:nvPr/>
          </p:nvSpPr>
          <p:spPr>
            <a:xfrm>
              <a:off x="419820" y="2028110"/>
              <a:ext cx="4807784" cy="40966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C26A24D-BD12-EEC4-8D53-CD0CCF322163}"/>
                </a:ext>
              </a:extLst>
            </p:cNvPr>
            <p:cNvSpPr/>
            <p:nvPr/>
          </p:nvSpPr>
          <p:spPr>
            <a:xfrm>
              <a:off x="914400" y="1332013"/>
              <a:ext cx="3812875" cy="5571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Same Sequence (Packed)</a:t>
              </a:r>
            </a:p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 </a:t>
              </a:r>
              <a:r>
                <a:rPr lang="en-US" altLang="ko-KR" sz="800" dirty="0">
                  <a:solidFill>
                    <a:sysClr val="windowText" lastClr="000000"/>
                  </a:solidFill>
                </a:rPr>
                <a:t>+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8DDDF6-34C4-2F40-1D10-1747D96DC610}"/>
                </a:ext>
              </a:extLst>
            </p:cNvPr>
            <p:cNvSpPr/>
            <p:nvPr/>
          </p:nvSpPr>
          <p:spPr>
            <a:xfrm>
              <a:off x="546282" y="2334882"/>
              <a:ext cx="1998512" cy="4200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E1C2555-C61D-978C-3D7C-27331EE5AEC5}"/>
                </a:ext>
              </a:extLst>
            </p:cNvPr>
            <p:cNvSpPr/>
            <p:nvPr/>
          </p:nvSpPr>
          <p:spPr>
            <a:xfrm>
              <a:off x="3079573" y="2334882"/>
              <a:ext cx="1998512" cy="4200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F57DBB4-0094-D465-3EF3-2B8B6E10DE6C}"/>
                    </a:ext>
                  </a:extLst>
                </p:cNvPr>
                <p:cNvSpPr/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F57DBB4-0094-D465-3EF3-2B8B6E10DE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93E2274-EF3D-451F-0276-06751B43E606}"/>
                    </a:ext>
                  </a:extLst>
                </p:cNvPr>
                <p:cNvSpPr/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571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93E2274-EF3D-451F-0276-06751B43E6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57150"/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9B6D144-D18D-AFC3-8FB6-8F91DC3A9A69}"/>
                </a:ext>
              </a:extLst>
            </p:cNvPr>
            <p:cNvSpPr/>
            <p:nvPr/>
          </p:nvSpPr>
          <p:spPr>
            <a:xfrm>
              <a:off x="546282" y="3843751"/>
              <a:ext cx="1998512" cy="3416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Text Q, K, V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4720014-3256-6680-40EC-107DFE038E5C}"/>
                </a:ext>
              </a:extLst>
            </p:cNvPr>
            <p:cNvSpPr/>
            <p:nvPr/>
          </p:nvSpPr>
          <p:spPr>
            <a:xfrm>
              <a:off x="3079573" y="3833939"/>
              <a:ext cx="1998512" cy="34167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VAE Q, K, V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41C133E-8D95-BEC4-2CD0-253922166D0F}"/>
                </a:ext>
              </a:extLst>
            </p:cNvPr>
            <p:cNvCxnSpPr>
              <a:cxnSpLocks/>
              <a:stCxn id="15" idx="2"/>
              <a:endCxn id="17" idx="0"/>
            </p:cNvCxnSpPr>
            <p:nvPr/>
          </p:nvCxnSpPr>
          <p:spPr>
            <a:xfrm>
              <a:off x="1545538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657BFF8-C7E2-4D4C-5A26-8F1FD1483888}"/>
                </a:ext>
              </a:extLst>
            </p:cNvPr>
            <p:cNvCxnSpPr>
              <a:cxnSpLocks/>
              <a:stCxn id="16" idx="2"/>
              <a:endCxn id="18" idx="0"/>
            </p:cNvCxnSpPr>
            <p:nvPr/>
          </p:nvCxnSpPr>
          <p:spPr>
            <a:xfrm>
              <a:off x="4078829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42BEB34-448C-FEC7-C957-094CFBAC7A07}"/>
                </a:ext>
              </a:extLst>
            </p:cNvPr>
            <p:cNvCxnSpPr>
              <a:cxnSpLocks/>
              <a:stCxn id="17" idx="2"/>
              <a:endCxn id="19" idx="0"/>
            </p:cNvCxnSpPr>
            <p:nvPr/>
          </p:nvCxnSpPr>
          <p:spPr>
            <a:xfrm>
              <a:off x="1545538" y="3643474"/>
              <a:ext cx="0" cy="2002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120B8BC-ADAA-0E47-0F96-ECEBB9967D69}"/>
                </a:ext>
              </a:extLst>
            </p:cNvPr>
            <p:cNvCxnSpPr>
              <a:cxnSpLocks/>
              <a:stCxn id="18" idx="2"/>
              <a:endCxn id="20" idx="0"/>
            </p:cNvCxnSpPr>
            <p:nvPr/>
          </p:nvCxnSpPr>
          <p:spPr>
            <a:xfrm>
              <a:off x="4078829" y="3643474"/>
              <a:ext cx="0" cy="1904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58C536A-0DEB-5F29-AA6D-3207C57E3D35}"/>
                </a:ext>
              </a:extLst>
            </p:cNvPr>
            <p:cNvCxnSpPr>
              <a:cxnSpLocks/>
            </p:cNvCxnSpPr>
            <p:nvPr/>
          </p:nvCxnSpPr>
          <p:spPr>
            <a:xfrm>
              <a:off x="2820838" y="4422263"/>
              <a:ext cx="0" cy="2528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1328BEA-B04D-3B21-C891-BFE6B65EEC30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2130725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C5D59AE-F497-D9CA-BD0D-A398B9E79D5E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212641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DA44247-B13D-D36B-B229-3E5E9E485D12}"/>
                </a:ext>
              </a:extLst>
            </p:cNvPr>
            <p:cNvCxnSpPr/>
            <p:nvPr/>
          </p:nvCxnSpPr>
          <p:spPr>
            <a:xfrm>
              <a:off x="1545538" y="2126411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EA8AD01-257F-E72B-AD96-08E924D62A98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4422334"/>
              <a:ext cx="254338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3497458-A0A1-56C1-35AB-DBDC62D45CDF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>
              <a:off x="1545538" y="4185423"/>
              <a:ext cx="0" cy="23691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77B353F-0607-1536-F2A6-8E92B0873CE9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4078829" y="4175611"/>
              <a:ext cx="0" cy="2466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0D36803-05F0-379C-8519-0A2431A77DA3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2820838" y="1889185"/>
              <a:ext cx="0" cy="2372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CEBA27D-E5E6-5BDD-3F18-295F8B871FF9}"/>
                </a:ext>
              </a:extLst>
            </p:cNvPr>
            <p:cNvSpPr/>
            <p:nvPr/>
          </p:nvSpPr>
          <p:spPr>
            <a:xfrm>
              <a:off x="1821580" y="4669058"/>
              <a:ext cx="1998512" cy="3047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Self-Attention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7AD6A289-BED9-3D36-CB11-C37033E11EEB}"/>
                    </a:ext>
                  </a:extLst>
                </p:cNvPr>
                <p:cNvSpPr/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7AD6A289-BED9-3D36-CB11-C37033E11E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E011FFD-00FF-0CBC-91A5-4CEE332D4A0C}"/>
                    </a:ext>
                  </a:extLst>
                </p:cNvPr>
                <p:cNvSpPr/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E011FFD-00FF-0CBC-91A5-4CEE332D4A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D8A0BF8-E70F-7DBB-A680-071E059158C9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515572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AB5F46AC-6A49-943A-9D17-2C8D4318B015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5151407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F02CBCB-FFBB-ABD3-6F27-0FABBEF6571D}"/>
                </a:ext>
              </a:extLst>
            </p:cNvPr>
            <p:cNvCxnSpPr/>
            <p:nvPr/>
          </p:nvCxnSpPr>
          <p:spPr>
            <a:xfrm>
              <a:off x="1545538" y="5151407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48BDEC0-DD4F-7A33-AD75-4BA685EA0E9E}"/>
                </a:ext>
              </a:extLst>
            </p:cNvPr>
            <p:cNvCxnSpPr>
              <a:cxnSpLocks/>
              <a:stCxn id="33" idx="2"/>
            </p:cNvCxnSpPr>
            <p:nvPr/>
          </p:nvCxnSpPr>
          <p:spPr>
            <a:xfrm>
              <a:off x="2820836" y="4973799"/>
              <a:ext cx="2" cy="1776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3409D07-7C92-E0DC-3D2B-A47B2A178A1E}"/>
                </a:ext>
              </a:extLst>
            </p:cNvPr>
            <p:cNvSpPr txBox="1"/>
            <p:nvPr/>
          </p:nvSpPr>
          <p:spPr>
            <a:xfrm>
              <a:off x="5147349" y="1941746"/>
              <a:ext cx="706655" cy="386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/>
                <a:t>X 28</a:t>
              </a:r>
            </a:p>
          </p:txBody>
        </p:sp>
      </p:grpSp>
      <p:sp>
        <p:nvSpPr>
          <p:cNvPr id="50" name="Trapezoid 49">
            <a:extLst>
              <a:ext uri="{FF2B5EF4-FFF2-40B4-BE49-F238E27FC236}">
                <a16:creationId xmlns:a16="http://schemas.microsoft.com/office/drawing/2014/main" id="{9351783C-7F45-2FBC-D8FA-7BAF81736689}"/>
              </a:ext>
            </a:extLst>
          </p:cNvPr>
          <p:cNvSpPr/>
          <p:nvPr/>
        </p:nvSpPr>
        <p:spPr>
          <a:xfrm rot="10800000" flipV="1">
            <a:off x="10737068" y="4478286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428E6FA-AEF8-E951-48C9-36BAE96B04EE}"/>
                  </a:ext>
                </a:extLst>
              </p:cNvPr>
              <p:cNvSpPr txBox="1"/>
              <p:nvPr/>
            </p:nvSpPr>
            <p:spPr>
              <a:xfrm>
                <a:off x="10903806" y="4466960"/>
                <a:ext cx="6460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𝑒𝑛𝑐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428E6FA-AEF8-E951-48C9-36BAE96B0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3806" y="4466960"/>
                <a:ext cx="6460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31F1102-DA1B-4216-DDCC-5914149B8CC7}"/>
                  </a:ext>
                </a:extLst>
              </p:cNvPr>
              <p:cNvSpPr txBox="1"/>
              <p:nvPr/>
            </p:nvSpPr>
            <p:spPr>
              <a:xfrm rot="16200000">
                <a:off x="9982400" y="5174340"/>
                <a:ext cx="9861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114688</m:t>
                          </m:r>
                        </m:sup>
                      </m:sSup>
                    </m:oMath>
                  </m:oMathPara>
                </a14:m>
                <a:endParaRPr lang="en-KR" sz="1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31F1102-DA1B-4216-DDCC-5914149B8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982400" y="5174340"/>
                <a:ext cx="986103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235B2085-72D8-0E9D-7E46-91D09E6009E4}"/>
              </a:ext>
            </a:extLst>
          </p:cNvPr>
          <p:cNvGraphicFramePr>
            <a:graphicFrameLocks noGrp="1"/>
          </p:cNvGraphicFramePr>
          <p:nvPr/>
        </p:nvGraphicFramePr>
        <p:xfrm>
          <a:off x="10628759" y="4171402"/>
          <a:ext cx="1249680" cy="17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</a:tbl>
          </a:graphicData>
        </a:graphic>
      </p:graphicFrame>
      <p:sp>
        <p:nvSpPr>
          <p:cNvPr id="61" name="Trapezoid 60">
            <a:extLst>
              <a:ext uri="{FF2B5EF4-FFF2-40B4-BE49-F238E27FC236}">
                <a16:creationId xmlns:a16="http://schemas.microsoft.com/office/drawing/2014/main" id="{4BEACA61-1828-A676-6A71-38F43B79D8B0}"/>
              </a:ext>
            </a:extLst>
          </p:cNvPr>
          <p:cNvSpPr/>
          <p:nvPr/>
        </p:nvSpPr>
        <p:spPr>
          <a:xfrm flipV="1">
            <a:off x="10757541" y="5810022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FFEA716-00C4-67A1-6553-309C9DE4D26C}"/>
                  </a:ext>
                </a:extLst>
              </p:cNvPr>
              <p:cNvSpPr txBox="1"/>
              <p:nvPr/>
            </p:nvSpPr>
            <p:spPr>
              <a:xfrm>
                <a:off x="10897993" y="5794585"/>
                <a:ext cx="6612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FFEA716-00C4-67A1-6553-309C9DE4D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7993" y="5794585"/>
                <a:ext cx="661207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5C9A40A2-4E0C-3814-84C8-229AA84D19A4}"/>
              </a:ext>
            </a:extLst>
          </p:cNvPr>
          <p:cNvGraphicFramePr>
            <a:graphicFrameLocks noGrp="1"/>
          </p:cNvGraphicFramePr>
          <p:nvPr/>
        </p:nvGraphicFramePr>
        <p:xfrm>
          <a:off x="10661203" y="6296404"/>
          <a:ext cx="1249680" cy="17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E8CB2BE-5E07-0018-79E2-5D4C94E40478}"/>
                  </a:ext>
                </a:extLst>
              </p:cNvPr>
              <p:cNvSpPr txBox="1"/>
              <p:nvPr/>
            </p:nvSpPr>
            <p:spPr>
              <a:xfrm>
                <a:off x="10328461" y="4055420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E8CB2BE-5E07-0018-79E2-5D4C94E40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8461" y="4055420"/>
                <a:ext cx="34336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0897C47-C804-D64D-3B4F-B48D848E0515}"/>
                  </a:ext>
                </a:extLst>
              </p:cNvPr>
              <p:cNvSpPr txBox="1"/>
              <p:nvPr/>
            </p:nvSpPr>
            <p:spPr>
              <a:xfrm>
                <a:off x="10369988" y="6184640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0897C47-C804-D64D-3B4F-B48D848E0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9988" y="6184640"/>
                <a:ext cx="34336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6D585961-7272-4A0C-7F64-A89B98C5955C}"/>
              </a:ext>
            </a:extLst>
          </p:cNvPr>
          <p:cNvGraphicFramePr>
            <a:graphicFrameLocks noGrp="1"/>
          </p:cNvGraphicFramePr>
          <p:nvPr/>
        </p:nvGraphicFramePr>
        <p:xfrm>
          <a:off x="10651820" y="4958794"/>
          <a:ext cx="1249680" cy="716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272750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922770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89416"/>
                  </a:ext>
                </a:extLst>
              </a:tr>
            </a:tbl>
          </a:graphicData>
        </a:graphic>
      </p:graphicFrame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FEF8C2C-B435-54A8-2D2B-BE84255797A2}"/>
              </a:ext>
            </a:extLst>
          </p:cNvPr>
          <p:cNvCxnSpPr>
            <a:cxnSpLocks/>
          </p:cNvCxnSpPr>
          <p:nvPr/>
        </p:nvCxnSpPr>
        <p:spPr>
          <a:xfrm>
            <a:off x="11214283" y="4350503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E951173-C49F-BF2E-9B89-A92AF41169CA}"/>
              </a:ext>
            </a:extLst>
          </p:cNvPr>
          <p:cNvCxnSpPr>
            <a:cxnSpLocks/>
          </p:cNvCxnSpPr>
          <p:nvPr/>
        </p:nvCxnSpPr>
        <p:spPr>
          <a:xfrm>
            <a:off x="11214283" y="4827699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A1E0207-8D9C-6836-8C96-9DAB5BD1DAE3}"/>
              </a:ext>
            </a:extLst>
          </p:cNvPr>
          <p:cNvCxnSpPr>
            <a:cxnSpLocks/>
          </p:cNvCxnSpPr>
          <p:nvPr/>
        </p:nvCxnSpPr>
        <p:spPr>
          <a:xfrm>
            <a:off x="11236193" y="5675198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6347E45-74A1-B2E2-366A-EA0D57A624E3}"/>
              </a:ext>
            </a:extLst>
          </p:cNvPr>
          <p:cNvCxnSpPr>
            <a:cxnSpLocks/>
          </p:cNvCxnSpPr>
          <p:nvPr/>
        </p:nvCxnSpPr>
        <p:spPr>
          <a:xfrm>
            <a:off x="11236193" y="6163860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799EEFE-3EEB-FE25-45E2-429E47BBB052}"/>
              </a:ext>
            </a:extLst>
          </p:cNvPr>
          <p:cNvCxnSpPr>
            <a:cxnSpLocks/>
          </p:cNvCxnSpPr>
          <p:nvPr/>
        </p:nvCxnSpPr>
        <p:spPr>
          <a:xfrm>
            <a:off x="11220833" y="4006355"/>
            <a:ext cx="0" cy="165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985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87FB4-D887-F2B7-6357-325254637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Recap: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015287-46B3-9C2C-59ED-A9AA762B17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5126" y="1021976"/>
                <a:ext cx="11416878" cy="564601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Concept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와 latent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의</a:t>
                </a:r>
                <a:r>
                  <a:rPr lang="en-US" dirty="0"/>
                  <a:t> </a:t>
                </a:r>
                <a:r>
                  <a:rPr lang="en-US" dirty="0" err="1"/>
                  <a:t>적합도</a:t>
                </a:r>
                <a:r>
                  <a:rPr lang="en-US" altLang="ko-KR" dirty="0"/>
                  <a:t>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bSup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nary>
                      </m:den>
                    </m:f>
                  </m:oMath>
                </a14:m>
                <a:endParaRPr lang="en-KR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altLang="ko-KR" sz="1200" dirty="0"/>
                  <a:t> : concept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200" dirty="0"/>
                  <a:t>가 present인 </a:t>
                </a:r>
                <a:r>
                  <a:rPr lang="en-US" sz="1200" dirty="0" err="1"/>
                  <a:t>sample들에서</a:t>
                </a:r>
                <a:r>
                  <a:rPr lang="en-US" sz="1200" dirty="0"/>
                  <a:t> latent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 err="1"/>
                  <a:t>의</a:t>
                </a:r>
                <a:r>
                  <a:rPr lang="en-US" sz="1200" dirty="0"/>
                  <a:t> </a:t>
                </a:r>
                <a:r>
                  <a:rPr lang="en-US" sz="1200" dirty="0" err="1"/>
                  <a:t>평균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반응</a:t>
                </a:r>
                <a:endParaRPr lang="en-KR" sz="12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sz="1200" dirty="0"/>
                  <a:t> </a:t>
                </a:r>
                <a:r>
                  <a:rPr lang="en-US" altLang="ko-KR" sz="1200" dirty="0"/>
                  <a:t>: concept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200" dirty="0"/>
                  <a:t>가 absent인 </a:t>
                </a:r>
                <a:r>
                  <a:rPr lang="en-US" sz="1200" dirty="0" err="1"/>
                  <a:t>sample들에서</a:t>
                </a:r>
                <a:r>
                  <a:rPr lang="en-US" sz="1200" dirty="0"/>
                  <a:t> latent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 err="1"/>
                  <a:t>의</a:t>
                </a:r>
                <a:r>
                  <a:rPr lang="en-US" sz="1200" dirty="0"/>
                  <a:t> </a:t>
                </a:r>
                <a:r>
                  <a:rPr lang="en-US" sz="1200" dirty="0" err="1"/>
                  <a:t>평균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반응</a:t>
                </a:r>
                <a:endParaRPr lang="en-US" sz="1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altLang="ko-KR" sz="1200" dirty="0"/>
                  <a:t>: SAE latent</a:t>
                </a:r>
                <a:r>
                  <a:rPr lang="ko-KR" altLang="en-US" sz="1200" dirty="0"/>
                  <a:t>의 총 개수</a:t>
                </a:r>
                <a:endParaRPr lang="en-US" sz="1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KR" sz="1200" dirty="0"/>
                  <a:t> </a:t>
                </a:r>
                <a:r>
                  <a:rPr lang="en-US" altLang="ko-KR" sz="1200" dirty="0"/>
                  <a:t>:</a:t>
                </a:r>
                <a:r>
                  <a:rPr lang="ko-KR" altLang="en-US" sz="1200" dirty="0"/>
                  <a:t> 분모나 </a:t>
                </a:r>
                <a:r>
                  <a:rPr lang="en-US" altLang="ko-KR" sz="1200" dirty="0"/>
                  <a:t>0</a:t>
                </a:r>
                <a:r>
                  <a:rPr lang="ko-KR" altLang="en-US" sz="1200" dirty="0" err="1"/>
                  <a:t>에</a:t>
                </a:r>
                <a:r>
                  <a:rPr lang="ko-KR" altLang="en-US" sz="1200" dirty="0"/>
                  <a:t> 가까워지는 것을 막는 작은 상수</a:t>
                </a:r>
                <a:endParaRPr lang="en-US" altLang="ko-KR" dirty="0"/>
              </a:p>
              <a:p>
                <a:r>
                  <a:rPr lang="ko-KR" altLang="en-US" dirty="0"/>
                  <a:t>이 </a:t>
                </a:r>
                <a:r>
                  <a:rPr lang="en-US" altLang="ko-KR" dirty="0"/>
                  <a:t>score</a:t>
                </a:r>
                <a:r>
                  <a:rPr lang="ko-KR" altLang="en-US" dirty="0" err="1"/>
                  <a:t>를</a:t>
                </a:r>
                <a:r>
                  <a:rPr lang="ko-KR" altLang="en-US" dirty="0"/>
                  <a:t> 기반으로 각 </a:t>
                </a:r>
                <a:r>
                  <a:rPr lang="en-US" altLang="ko-KR" dirty="0"/>
                  <a:t>concept</a:t>
                </a:r>
                <a:r>
                  <a:rPr lang="ko-KR" altLang="en-US" dirty="0" err="1"/>
                  <a:t>에</a:t>
                </a:r>
                <a:r>
                  <a:rPr lang="ko-KR" altLang="en-US" dirty="0"/>
                  <a:t> 대한 하나의 </a:t>
                </a:r>
                <a:r>
                  <a:rPr lang="en-US" altLang="ko-KR" dirty="0"/>
                  <a:t>latent</a:t>
                </a:r>
                <a:r>
                  <a:rPr lang="ko-KR" altLang="en-US" dirty="0" err="1"/>
                  <a:t>를</a:t>
                </a:r>
                <a:r>
                  <a:rPr lang="ko-KR" altLang="en-US" dirty="0"/>
                  <a:t> 할당함</a:t>
                </a:r>
                <a:endParaRPr lang="en-US" altLang="ko-KR" dirty="0"/>
              </a:p>
              <a:p>
                <a:pPr lvl="1"/>
                <a:r>
                  <a:rPr lang="en-US" sz="1200" dirty="0"/>
                  <a:t>positive</a:t>
                </a:r>
                <a:r>
                  <a:rPr lang="ko-KR" altLang="en-US" sz="1200" dirty="0"/>
                  <a:t>에서 강하고</a:t>
                </a:r>
              </a:p>
              <a:p>
                <a:pPr lvl="1"/>
                <a:r>
                  <a:rPr lang="en-US" sz="1200" dirty="0"/>
                  <a:t>negative</a:t>
                </a:r>
                <a:r>
                  <a:rPr lang="ko-KR" altLang="en-US" sz="1200" dirty="0"/>
                  <a:t>에서 약하고</a:t>
                </a:r>
              </a:p>
              <a:p>
                <a:pPr lvl="1"/>
                <a:r>
                  <a:rPr lang="ko-KR" altLang="en-US" sz="1200" dirty="0"/>
                  <a:t>같은 </a:t>
                </a:r>
                <a:r>
                  <a:rPr lang="en-US" sz="1200" dirty="0"/>
                  <a:t>concept </a:t>
                </a:r>
                <a:r>
                  <a:rPr lang="ko-KR" altLang="en-US" sz="1200" dirty="0"/>
                  <a:t>내부에서 상대적으로 비중이 크고</a:t>
                </a:r>
              </a:p>
              <a:p>
                <a:pPr lvl="1"/>
                <a:r>
                  <a:rPr lang="en-US" sz="1200" dirty="0"/>
                  <a:t>negative sample </a:t>
                </a:r>
                <a:r>
                  <a:rPr lang="ko-KR" altLang="en-US" sz="1200" dirty="0"/>
                  <a:t>쪽에서는 상대적으로 비중이 작은 </a:t>
                </a:r>
                <a:r>
                  <a:rPr lang="en-US" sz="1200" dirty="0"/>
                  <a:t>latent</a:t>
                </a:r>
              </a:p>
              <a:p>
                <a:pPr lvl="1"/>
                <a:endParaRPr lang="en-US" sz="5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𝑏𝑖𝑛𝑑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ℬ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nary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nary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sub>
                      <m:sup/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d>
                              </m:e>
                              <m: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𝑡𝑒𝑥𝑡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𝑣𝑎𝑒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𝑡𝑒𝑥𝑡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𝑖𝑚𝑔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𝑣𝑎𝑒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: route </a:t>
                </a:r>
                <a:r>
                  <a:rPr lang="en-US" dirty="0" err="1">
                    <a:solidFill>
                      <a:srgbClr val="00B0F0"/>
                    </a:solidFill>
                  </a:rPr>
                  <a:t>집합</a:t>
                </a:r>
                <a:endParaRPr lang="en-US" dirty="0">
                  <a:solidFill>
                    <a:srgbClr val="00B0F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ℬ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: route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에서의 mini-batch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ℬ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: route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에서의 batch </a:t>
                </a:r>
                <a:r>
                  <a:rPr lang="en-US" dirty="0" err="1"/>
                  <a:t>안</a:t>
                </a:r>
                <a:r>
                  <a:rPr lang="en-US" dirty="0"/>
                  <a:t> sample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/>
                  <a:t>: sample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에 </a:t>
                </a:r>
                <a:r>
                  <a:rPr lang="en-US" dirty="0" err="1"/>
                  <a:t>실제로</a:t>
                </a:r>
                <a:r>
                  <a:rPr lang="en-US" dirty="0"/>
                  <a:t> </a:t>
                </a:r>
                <a:r>
                  <a:rPr lang="en-US" dirty="0" err="1"/>
                  <a:t>포함된</a:t>
                </a:r>
                <a:r>
                  <a:rPr lang="en-US" dirty="0"/>
                  <a:t> positive concept </a:t>
                </a:r>
                <a:r>
                  <a:rPr lang="en-US" dirty="0" err="1"/>
                  <a:t>집합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00B0F0"/>
                    </a:solidFill>
                  </a:rPr>
                  <a:t>: concept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에 </a:t>
                </a:r>
                <a:r>
                  <a:rPr lang="en-US" dirty="0" err="1">
                    <a:solidFill>
                      <a:srgbClr val="00B0F0"/>
                    </a:solidFill>
                  </a:rPr>
                  <a:t>할당된</a:t>
                </a:r>
                <a:r>
                  <a:rPr lang="en-US" dirty="0">
                    <a:solidFill>
                      <a:srgbClr val="00B0F0"/>
                    </a:solidFill>
                  </a:rPr>
                  <a:t> latent index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: route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, sample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에서의 VAE-side pooled </a:t>
                </a:r>
                <a:r>
                  <a:rPr lang="en-US" dirty="0" err="1"/>
                  <a:t>preactivation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015287-46B3-9C2C-59ED-A9AA762B17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5126" y="1021976"/>
                <a:ext cx="11416878" cy="5646019"/>
              </a:xfrm>
              <a:blipFill>
                <a:blip r:embed="rId2"/>
                <a:stretch>
                  <a:fillRect l="-22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D6552A-1F70-5559-3E6A-DD273AA9003B}"/>
              </a:ext>
            </a:extLst>
          </p:cNvPr>
          <p:cNvCxnSpPr/>
          <p:nvPr/>
        </p:nvCxnSpPr>
        <p:spPr>
          <a:xfrm>
            <a:off x="365126" y="4084320"/>
            <a:ext cx="83260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9092E4-FEEE-3385-17D4-984EE00A16E4}"/>
                  </a:ext>
                </a:extLst>
              </p:cNvPr>
              <p:cNvSpPr txBox="1"/>
              <p:nvPr/>
            </p:nvSpPr>
            <p:spPr>
              <a:xfrm>
                <a:off x="8938930" y="169751"/>
                <a:ext cx="3253070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𝑢𝑛𝑠𝑢𝑝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𝑏𝑖𝑛𝑑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𝑟𝑜𝑢𝑡𝑒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9092E4-FEEE-3385-17D4-984EE00A1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930" y="169751"/>
                <a:ext cx="3253070" cy="390748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76E4BD1E-9EFF-0ADA-2372-FCDBACF4E89F}"/>
              </a:ext>
            </a:extLst>
          </p:cNvPr>
          <p:cNvGrpSpPr/>
          <p:nvPr/>
        </p:nvGrpSpPr>
        <p:grpSpPr>
          <a:xfrm>
            <a:off x="9052814" y="1029219"/>
            <a:ext cx="3219838" cy="3053669"/>
            <a:chOff x="419820" y="1332013"/>
            <a:chExt cx="5434184" cy="479274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B803776-FDCA-AA33-3A2C-46B6B24E379E}"/>
                </a:ext>
              </a:extLst>
            </p:cNvPr>
            <p:cNvSpPr/>
            <p:nvPr/>
          </p:nvSpPr>
          <p:spPr>
            <a:xfrm>
              <a:off x="419820" y="2028110"/>
              <a:ext cx="4807784" cy="40966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299801-02B6-4D12-FEE5-2CFC5EB64BEB}"/>
                </a:ext>
              </a:extLst>
            </p:cNvPr>
            <p:cNvSpPr/>
            <p:nvPr/>
          </p:nvSpPr>
          <p:spPr>
            <a:xfrm>
              <a:off x="914400" y="1332013"/>
              <a:ext cx="3812875" cy="5571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Same Sequence (Packed)</a:t>
              </a:r>
            </a:p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 </a:t>
              </a:r>
              <a:r>
                <a:rPr lang="en-US" altLang="ko-KR" sz="800" dirty="0">
                  <a:solidFill>
                    <a:sysClr val="windowText" lastClr="000000"/>
                  </a:solidFill>
                </a:rPr>
                <a:t>+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7884717-466D-3B8F-39A4-57B89C67843B}"/>
                </a:ext>
              </a:extLst>
            </p:cNvPr>
            <p:cNvSpPr/>
            <p:nvPr/>
          </p:nvSpPr>
          <p:spPr>
            <a:xfrm>
              <a:off x="546282" y="2334882"/>
              <a:ext cx="1998512" cy="4200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99BEB1E-BA82-C8B7-4B5B-E2899B271E92}"/>
                </a:ext>
              </a:extLst>
            </p:cNvPr>
            <p:cNvSpPr/>
            <p:nvPr/>
          </p:nvSpPr>
          <p:spPr>
            <a:xfrm>
              <a:off x="3079573" y="2334882"/>
              <a:ext cx="1998512" cy="4200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60C3328C-A06E-1D21-F6B5-793135A0D72B}"/>
                    </a:ext>
                  </a:extLst>
                </p:cNvPr>
                <p:cNvSpPr/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60C3328C-A06E-1D21-F6B5-793135A0D7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AD7C9AB8-55EB-942C-B371-51E8CD0DC34D}"/>
                    </a:ext>
                  </a:extLst>
                </p:cNvPr>
                <p:cNvSpPr/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571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AD7C9AB8-55EB-942C-B371-51E8CD0DC3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57150"/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C6EE7CF-9D73-F80C-1522-4131057F6B39}"/>
                </a:ext>
              </a:extLst>
            </p:cNvPr>
            <p:cNvSpPr/>
            <p:nvPr/>
          </p:nvSpPr>
          <p:spPr>
            <a:xfrm>
              <a:off x="546282" y="3843751"/>
              <a:ext cx="1998512" cy="3416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Text Q, K, V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C0FA779-2EBD-E2AF-E02F-402F79BC2F05}"/>
                </a:ext>
              </a:extLst>
            </p:cNvPr>
            <p:cNvSpPr/>
            <p:nvPr/>
          </p:nvSpPr>
          <p:spPr>
            <a:xfrm>
              <a:off x="3079573" y="3833939"/>
              <a:ext cx="1998512" cy="34167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VAE Q, K, V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194B37B-550D-7F7D-DBB5-A9908037A5EF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1545538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C82334F-59E0-23F7-9B70-DBBB782A694A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>
              <a:off x="4078829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99A6F8B-7D95-A24E-8941-747D04B10864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1545538" y="3643474"/>
              <a:ext cx="0" cy="2002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4DC109D-BF39-C2CF-AC38-40A5676FFDD0}"/>
                </a:ext>
              </a:extLst>
            </p:cNvPr>
            <p:cNvCxnSpPr>
              <a:cxnSpLocks/>
              <a:stCxn id="12" idx="2"/>
              <a:endCxn id="14" idx="0"/>
            </p:cNvCxnSpPr>
            <p:nvPr/>
          </p:nvCxnSpPr>
          <p:spPr>
            <a:xfrm>
              <a:off x="4078829" y="3643474"/>
              <a:ext cx="0" cy="1904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B4680CA-6861-907F-54C8-E176ACC3AC25}"/>
                </a:ext>
              </a:extLst>
            </p:cNvPr>
            <p:cNvCxnSpPr>
              <a:cxnSpLocks/>
            </p:cNvCxnSpPr>
            <p:nvPr/>
          </p:nvCxnSpPr>
          <p:spPr>
            <a:xfrm>
              <a:off x="2820838" y="4422263"/>
              <a:ext cx="0" cy="2528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D90F11A-BA95-7281-D801-9E897AE5A18E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2130725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1CDBB26-290C-7D1F-4EC9-0EC1643AC0B0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212641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898829C-D9EB-1D11-806C-35D6FAB0606B}"/>
                </a:ext>
              </a:extLst>
            </p:cNvPr>
            <p:cNvCxnSpPr/>
            <p:nvPr/>
          </p:nvCxnSpPr>
          <p:spPr>
            <a:xfrm>
              <a:off x="1545538" y="2126411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7386E8B-CAB5-0B54-108F-F0D9D32CAD41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4422334"/>
              <a:ext cx="254338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871820E-398A-85EE-7DBE-4B09C9C3679C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1545538" y="4185423"/>
              <a:ext cx="0" cy="23691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951ECA6-49C0-48CA-34B1-E1517AD978E2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4078829" y="4175611"/>
              <a:ext cx="0" cy="2466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465ACFF-995F-798C-EA9A-33202D353A45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2820838" y="1889185"/>
              <a:ext cx="0" cy="2372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30C6880-99B5-F53E-B654-8B6141EE471D}"/>
                </a:ext>
              </a:extLst>
            </p:cNvPr>
            <p:cNvSpPr/>
            <p:nvPr/>
          </p:nvSpPr>
          <p:spPr>
            <a:xfrm>
              <a:off x="1821580" y="4669058"/>
              <a:ext cx="1998512" cy="3047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Self-Attention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2B9E091E-71A4-ED24-46D0-CA4878AA11B5}"/>
                    </a:ext>
                  </a:extLst>
                </p:cNvPr>
                <p:cNvSpPr/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2B9E091E-71A4-ED24-46D0-CA4878AA11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65BF2381-364F-C197-B698-0910D9CCE015}"/>
                    </a:ext>
                  </a:extLst>
                </p:cNvPr>
                <p:cNvSpPr/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65BF2381-364F-C197-B698-0910D9CCE0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57F7D7A-00CE-8FC4-CB95-9F72123215E2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515572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750B93D-6AC2-8BEC-1EA0-32564310BF61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5151407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8DAE675-2DB0-9DC2-3A6B-CD8AE866BBEB}"/>
                </a:ext>
              </a:extLst>
            </p:cNvPr>
            <p:cNvCxnSpPr/>
            <p:nvPr/>
          </p:nvCxnSpPr>
          <p:spPr>
            <a:xfrm>
              <a:off x="1545538" y="5151407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E0BBB18-A497-14CB-B19A-F812426FCA26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2820836" y="4973799"/>
              <a:ext cx="2" cy="1776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554AD45-912C-87A1-BD25-DC20A521C500}"/>
                </a:ext>
              </a:extLst>
            </p:cNvPr>
            <p:cNvSpPr txBox="1"/>
            <p:nvPr/>
          </p:nvSpPr>
          <p:spPr>
            <a:xfrm>
              <a:off x="5147349" y="1941746"/>
              <a:ext cx="706655" cy="386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/>
                <a:t>X 28</a:t>
              </a:r>
            </a:p>
          </p:txBody>
        </p:sp>
      </p:grpSp>
      <p:sp>
        <p:nvSpPr>
          <p:cNvPr id="35" name="Trapezoid 34">
            <a:extLst>
              <a:ext uri="{FF2B5EF4-FFF2-40B4-BE49-F238E27FC236}">
                <a16:creationId xmlns:a16="http://schemas.microsoft.com/office/drawing/2014/main" id="{FD5F7243-865E-15FD-23C5-2C0C570E208F}"/>
              </a:ext>
            </a:extLst>
          </p:cNvPr>
          <p:cNvSpPr/>
          <p:nvPr/>
        </p:nvSpPr>
        <p:spPr>
          <a:xfrm rot="10800000" flipV="1">
            <a:off x="10737068" y="4478286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EEAACF8-CCBC-06AD-A62C-C5E94B0FE431}"/>
                  </a:ext>
                </a:extLst>
              </p:cNvPr>
              <p:cNvSpPr txBox="1"/>
              <p:nvPr/>
            </p:nvSpPr>
            <p:spPr>
              <a:xfrm>
                <a:off x="10903806" y="4466960"/>
                <a:ext cx="6460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𝑒𝑛𝑐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EEAACF8-CCBC-06AD-A62C-C5E94B0FE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3806" y="4466960"/>
                <a:ext cx="64601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3DFB6D-561C-E5CC-ACDA-691184FF1DB0}"/>
                  </a:ext>
                </a:extLst>
              </p:cNvPr>
              <p:cNvSpPr txBox="1"/>
              <p:nvPr/>
            </p:nvSpPr>
            <p:spPr>
              <a:xfrm rot="16200000">
                <a:off x="9982400" y="5174340"/>
                <a:ext cx="9861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114688</m:t>
                          </m:r>
                        </m:sup>
                      </m:sSup>
                    </m:oMath>
                  </m:oMathPara>
                </a14:m>
                <a:endParaRPr lang="en-KR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3DFB6D-561C-E5CC-ACDA-691184FF1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982400" y="5174340"/>
                <a:ext cx="986103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199AD5C1-03EF-251B-6A36-A33AFE83D98D}"/>
              </a:ext>
            </a:extLst>
          </p:cNvPr>
          <p:cNvGraphicFramePr>
            <a:graphicFrameLocks noGrp="1"/>
          </p:cNvGraphicFramePr>
          <p:nvPr/>
        </p:nvGraphicFramePr>
        <p:xfrm>
          <a:off x="10628759" y="4171402"/>
          <a:ext cx="1249680" cy="17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</a:tbl>
          </a:graphicData>
        </a:graphic>
      </p:graphicFrame>
      <p:sp>
        <p:nvSpPr>
          <p:cNvPr id="39" name="Trapezoid 38">
            <a:extLst>
              <a:ext uri="{FF2B5EF4-FFF2-40B4-BE49-F238E27FC236}">
                <a16:creationId xmlns:a16="http://schemas.microsoft.com/office/drawing/2014/main" id="{D402DB34-30B3-CCDE-E3DC-9C0C09809EB0}"/>
              </a:ext>
            </a:extLst>
          </p:cNvPr>
          <p:cNvSpPr/>
          <p:nvPr/>
        </p:nvSpPr>
        <p:spPr>
          <a:xfrm flipV="1">
            <a:off x="10757541" y="5810022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6BAD3F-743B-4E8E-1258-A450439EED01}"/>
                  </a:ext>
                </a:extLst>
              </p:cNvPr>
              <p:cNvSpPr txBox="1"/>
              <p:nvPr/>
            </p:nvSpPr>
            <p:spPr>
              <a:xfrm>
                <a:off x="10897993" y="5794585"/>
                <a:ext cx="6612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6BAD3F-743B-4E8E-1258-A450439EE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7993" y="5794585"/>
                <a:ext cx="66120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774A719C-77A5-E3C7-AC4A-30FDA69BA4D0}"/>
              </a:ext>
            </a:extLst>
          </p:cNvPr>
          <p:cNvGraphicFramePr>
            <a:graphicFrameLocks noGrp="1"/>
          </p:cNvGraphicFramePr>
          <p:nvPr/>
        </p:nvGraphicFramePr>
        <p:xfrm>
          <a:off x="10661203" y="6296404"/>
          <a:ext cx="1249680" cy="17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4F6C50C-3FB7-38DE-8216-BCCE63F20A54}"/>
                  </a:ext>
                </a:extLst>
              </p:cNvPr>
              <p:cNvSpPr txBox="1"/>
              <p:nvPr/>
            </p:nvSpPr>
            <p:spPr>
              <a:xfrm>
                <a:off x="10328461" y="4055420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4F6C50C-3FB7-38DE-8216-BCCE63F20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8461" y="4055420"/>
                <a:ext cx="34336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A478EC5-8E44-4C6E-E5AD-E4E04B12C204}"/>
                  </a:ext>
                </a:extLst>
              </p:cNvPr>
              <p:cNvSpPr txBox="1"/>
              <p:nvPr/>
            </p:nvSpPr>
            <p:spPr>
              <a:xfrm>
                <a:off x="10369988" y="6184640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A478EC5-8E44-4C6E-E5AD-E4E04B12C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9988" y="6184640"/>
                <a:ext cx="34336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0109A65F-F15A-2EA3-C4D9-46928C687536}"/>
              </a:ext>
            </a:extLst>
          </p:cNvPr>
          <p:cNvGraphicFramePr>
            <a:graphicFrameLocks noGrp="1"/>
          </p:cNvGraphicFramePr>
          <p:nvPr/>
        </p:nvGraphicFramePr>
        <p:xfrm>
          <a:off x="10651820" y="4958794"/>
          <a:ext cx="1249680" cy="716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272750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922770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89416"/>
                  </a:ext>
                </a:extLst>
              </a:tr>
            </a:tbl>
          </a:graphicData>
        </a:graphic>
      </p:graphicFrame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4E10C1B-5621-A230-656F-3617ADF759B4}"/>
              </a:ext>
            </a:extLst>
          </p:cNvPr>
          <p:cNvCxnSpPr>
            <a:cxnSpLocks/>
          </p:cNvCxnSpPr>
          <p:nvPr/>
        </p:nvCxnSpPr>
        <p:spPr>
          <a:xfrm>
            <a:off x="11214283" y="4350503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AB3EA24-8060-ECF1-A8A9-B46ECB5F39BB}"/>
              </a:ext>
            </a:extLst>
          </p:cNvPr>
          <p:cNvCxnSpPr>
            <a:cxnSpLocks/>
          </p:cNvCxnSpPr>
          <p:nvPr/>
        </p:nvCxnSpPr>
        <p:spPr>
          <a:xfrm>
            <a:off x="11214283" y="4827699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6C3DA8B-6BAF-26C1-9E22-73C6250838C9}"/>
              </a:ext>
            </a:extLst>
          </p:cNvPr>
          <p:cNvCxnSpPr>
            <a:cxnSpLocks/>
          </p:cNvCxnSpPr>
          <p:nvPr/>
        </p:nvCxnSpPr>
        <p:spPr>
          <a:xfrm>
            <a:off x="11236193" y="5675198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A5279EA-8B7D-6EC3-381F-EDB93C07FAEF}"/>
              </a:ext>
            </a:extLst>
          </p:cNvPr>
          <p:cNvCxnSpPr>
            <a:cxnSpLocks/>
          </p:cNvCxnSpPr>
          <p:nvPr/>
        </p:nvCxnSpPr>
        <p:spPr>
          <a:xfrm>
            <a:off x="11236193" y="6163860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26FFB08-840E-9763-E993-7886E2A55B42}"/>
              </a:ext>
            </a:extLst>
          </p:cNvPr>
          <p:cNvCxnSpPr>
            <a:cxnSpLocks/>
          </p:cNvCxnSpPr>
          <p:nvPr/>
        </p:nvCxnSpPr>
        <p:spPr>
          <a:xfrm>
            <a:off x="11220833" y="4006355"/>
            <a:ext cx="0" cy="165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968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09F0B-E04C-4465-1684-EB5A2A5B6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Recap: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00F336-B60F-C0C6-EAF3-EFB72B7A1E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𝑟𝑜𝑢𝑡𝑒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𝑡𝑒𝑥𝑡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𝑣𝑎𝑒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𝑡𝑒𝑥𝑡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𝑖𝑚𝑔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𝑣𝑎𝑒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KR" dirty="0"/>
                  <a:t>: 전체 concept 집합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KR" dirty="0"/>
                  <a:t>: route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KR" dirty="0"/>
                  <a:t>에서 concept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KR" dirty="0"/>
                  <a:t>의 assigned latent 평균 반응</a:t>
                </a:r>
              </a:p>
              <a:p>
                <a:pPr lvl="1"/>
                <a:r>
                  <a:rPr lang="en-KR" dirty="0"/>
                  <a:t>의미</a:t>
                </a:r>
              </a:p>
              <a:p>
                <a:pPr lvl="2"/>
                <a:r>
                  <a:rPr lang="en-KR" dirty="0"/>
                  <a:t>같은 concept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KR" dirty="0"/>
                  <a:t>가</a:t>
                </a:r>
              </a:p>
              <a:p>
                <a:pPr lvl="3"/>
                <a:r>
                  <a:rPr lang="en-US" dirty="0"/>
                  <a:t>T</a:t>
                </a:r>
                <a:r>
                  <a:rPr lang="en-KR" dirty="0"/>
                  <a:t>ext </a:t>
                </a:r>
                <a:r>
                  <a:rPr lang="en-KR" dirty="0">
                    <a:sym typeface="Wingdings" pitchFamily="2" charset="2"/>
                  </a:rPr>
                  <a:t> vae</a:t>
                </a:r>
              </a:p>
              <a:p>
                <a:pPr lvl="3"/>
                <a:r>
                  <a:rPr lang="en-US" dirty="0">
                    <a:sym typeface="Wingdings" pitchFamily="2" charset="2"/>
                  </a:rPr>
                  <a:t>T</a:t>
                </a:r>
                <a:r>
                  <a:rPr lang="en-KR" dirty="0">
                    <a:sym typeface="Wingdings" pitchFamily="2" charset="2"/>
                  </a:rPr>
                  <a:t>ext + img  vae 두 경로 중 어디로 들어오더라도</a:t>
                </a:r>
              </a:p>
              <a:p>
                <a:pPr lvl="2"/>
                <a:r>
                  <a:rPr lang="en-US" dirty="0">
                    <a:sym typeface="Wingdings" pitchFamily="2" charset="2"/>
                  </a:rPr>
                  <a:t>A</a:t>
                </a:r>
                <a:r>
                  <a:rPr lang="en-KR" dirty="0">
                    <a:sym typeface="Wingdings" pitchFamily="2" charset="2"/>
                  </a:rPr>
                  <a:t>ssigned latent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KR" dirty="0"/>
                  <a:t>의 VAE-side 반응이 비슷하도록 만든다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00F336-B60F-C0C6-EAF3-EFB72B7A1E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2" t="-4965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FE4903-D727-88F6-B848-5D489CB90640}"/>
                  </a:ext>
                </a:extLst>
              </p:cNvPr>
              <p:cNvSpPr txBox="1"/>
              <p:nvPr/>
            </p:nvSpPr>
            <p:spPr>
              <a:xfrm>
                <a:off x="8938930" y="169751"/>
                <a:ext cx="3253070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𝑢𝑛𝑠𝑢𝑝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𝑏𝑖𝑛𝑑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𝑟𝑜𝑢𝑡𝑒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FE4903-D727-88F6-B848-5D489CB90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930" y="169751"/>
                <a:ext cx="3253070" cy="390748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EF77EB5C-9370-3512-DAC0-1E8995D15AB2}"/>
              </a:ext>
            </a:extLst>
          </p:cNvPr>
          <p:cNvGrpSpPr/>
          <p:nvPr/>
        </p:nvGrpSpPr>
        <p:grpSpPr>
          <a:xfrm>
            <a:off x="9052814" y="1029219"/>
            <a:ext cx="3219838" cy="3053669"/>
            <a:chOff x="419820" y="1332013"/>
            <a:chExt cx="5434184" cy="479274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454C482-822D-2454-2F72-10AA5BE976B2}"/>
                </a:ext>
              </a:extLst>
            </p:cNvPr>
            <p:cNvSpPr/>
            <p:nvPr/>
          </p:nvSpPr>
          <p:spPr>
            <a:xfrm>
              <a:off x="419820" y="2028110"/>
              <a:ext cx="4807784" cy="40966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4BAF6F2-A214-80E2-A5D2-A170CA614238}"/>
                </a:ext>
              </a:extLst>
            </p:cNvPr>
            <p:cNvSpPr/>
            <p:nvPr/>
          </p:nvSpPr>
          <p:spPr>
            <a:xfrm>
              <a:off x="914400" y="1332013"/>
              <a:ext cx="3812875" cy="5571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Same Sequence (Packed)</a:t>
              </a:r>
            </a:p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 </a:t>
              </a:r>
              <a:r>
                <a:rPr lang="en-US" altLang="ko-KR" sz="800" dirty="0">
                  <a:solidFill>
                    <a:sysClr val="windowText" lastClr="000000"/>
                  </a:solidFill>
                </a:rPr>
                <a:t>+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430CAB0-E23F-D0D4-CE9C-38898CCCF080}"/>
                </a:ext>
              </a:extLst>
            </p:cNvPr>
            <p:cNvSpPr/>
            <p:nvPr/>
          </p:nvSpPr>
          <p:spPr>
            <a:xfrm>
              <a:off x="546282" y="2334882"/>
              <a:ext cx="1998512" cy="4200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ACB2344-BB8C-8066-79C8-A86BC10B5645}"/>
                </a:ext>
              </a:extLst>
            </p:cNvPr>
            <p:cNvSpPr/>
            <p:nvPr/>
          </p:nvSpPr>
          <p:spPr>
            <a:xfrm>
              <a:off x="3079573" y="2334882"/>
              <a:ext cx="1998512" cy="4200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13AF5DF-C41A-24C7-0A2A-5BA33351094D}"/>
                    </a:ext>
                  </a:extLst>
                </p:cNvPr>
                <p:cNvSpPr/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13AF5DF-C41A-24C7-0A2A-5BA3335109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6C41435-1D24-E48A-76F7-A9379FB17179}"/>
                    </a:ext>
                  </a:extLst>
                </p:cNvPr>
                <p:cNvSpPr/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571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6C41435-1D24-E48A-76F7-A9379FB171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57150"/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FA6F29D-BBF3-213F-0B07-CD627BDC7062}"/>
                </a:ext>
              </a:extLst>
            </p:cNvPr>
            <p:cNvSpPr/>
            <p:nvPr/>
          </p:nvSpPr>
          <p:spPr>
            <a:xfrm>
              <a:off x="546282" y="3843751"/>
              <a:ext cx="1998512" cy="3416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Text Q, K, V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C68F6D-E0D3-B0E5-4C33-D43650F43E42}"/>
                </a:ext>
              </a:extLst>
            </p:cNvPr>
            <p:cNvSpPr/>
            <p:nvPr/>
          </p:nvSpPr>
          <p:spPr>
            <a:xfrm>
              <a:off x="3079573" y="3833939"/>
              <a:ext cx="1998512" cy="34167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VAE Q, K, V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DA98FDE-FA36-D81D-CD70-49E891B4C430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>
              <a:off x="1545538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FC69C8D-4380-AD9B-A9AE-2973EBDE214F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4078829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CD1FA8E-96F7-F306-504C-E3B617802408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>
              <a:off x="1545538" y="3643474"/>
              <a:ext cx="0" cy="2002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AABFDFB-6D5D-C209-1248-A3BD8033A96F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4078829" y="3643474"/>
              <a:ext cx="0" cy="1904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5C84AB1-906B-666C-E5AB-FDA3037E3D39}"/>
                </a:ext>
              </a:extLst>
            </p:cNvPr>
            <p:cNvCxnSpPr>
              <a:cxnSpLocks/>
            </p:cNvCxnSpPr>
            <p:nvPr/>
          </p:nvCxnSpPr>
          <p:spPr>
            <a:xfrm>
              <a:off x="2820838" y="4422263"/>
              <a:ext cx="0" cy="2528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B8FB10C-78D7-2854-074D-24B169B2DDBF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2130725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3E748F1-BF95-CF3A-F5EB-114F0573ED5D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212641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85070A7-C31D-5987-6E6E-6E419BC002BB}"/>
                </a:ext>
              </a:extLst>
            </p:cNvPr>
            <p:cNvCxnSpPr/>
            <p:nvPr/>
          </p:nvCxnSpPr>
          <p:spPr>
            <a:xfrm>
              <a:off x="1545538" y="2126411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1A92EE-8753-5E2F-35CD-9DB4CDBDE287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4422334"/>
              <a:ext cx="254338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71FD6AE-7136-3E6D-CF5F-36D5E441FFE0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1545538" y="4185423"/>
              <a:ext cx="0" cy="23691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5CA0BDD-B19A-6723-70CE-3B6EEF6EBA05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4078829" y="4175611"/>
              <a:ext cx="0" cy="2466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192065B-2FF0-7CF0-21B2-20D83F24BDA5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2820838" y="1889185"/>
              <a:ext cx="0" cy="2372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4C207E8-0AC4-2417-0053-87B23A65D45E}"/>
                </a:ext>
              </a:extLst>
            </p:cNvPr>
            <p:cNvSpPr/>
            <p:nvPr/>
          </p:nvSpPr>
          <p:spPr>
            <a:xfrm>
              <a:off x="1821580" y="4669058"/>
              <a:ext cx="1998512" cy="3047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Self-Attention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05C55663-5AB2-D087-1B55-423A4009C911}"/>
                    </a:ext>
                  </a:extLst>
                </p:cNvPr>
                <p:cNvSpPr/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05C55663-5AB2-D087-1B55-423A4009C9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9C268376-0555-E62C-E40A-113A7A202810}"/>
                    </a:ext>
                  </a:extLst>
                </p:cNvPr>
                <p:cNvSpPr/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9C268376-0555-E62C-E40A-113A7A2028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8FCC7ED-4CD3-0FF4-2C3D-1A1CB1B56220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515572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A5641BB-3CE5-AB1D-B76C-8C84043E8171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5151407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9C3EA8D-32FB-CE94-BA1B-3504CB6502B9}"/>
                </a:ext>
              </a:extLst>
            </p:cNvPr>
            <p:cNvCxnSpPr/>
            <p:nvPr/>
          </p:nvCxnSpPr>
          <p:spPr>
            <a:xfrm>
              <a:off x="1545538" y="5151407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EBDEC41-2D9A-6458-9F1B-D689424E2367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>
              <a:off x="2820836" y="4973799"/>
              <a:ext cx="2" cy="1776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8EDCCEE-A913-316A-23C5-8E85D641E319}"/>
                </a:ext>
              </a:extLst>
            </p:cNvPr>
            <p:cNvSpPr txBox="1"/>
            <p:nvPr/>
          </p:nvSpPr>
          <p:spPr>
            <a:xfrm>
              <a:off x="5147349" y="1941746"/>
              <a:ext cx="706655" cy="386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/>
                <a:t>X 28</a:t>
              </a:r>
            </a:p>
          </p:txBody>
        </p:sp>
      </p:grpSp>
      <p:sp>
        <p:nvSpPr>
          <p:cNvPr id="34" name="Trapezoid 33">
            <a:extLst>
              <a:ext uri="{FF2B5EF4-FFF2-40B4-BE49-F238E27FC236}">
                <a16:creationId xmlns:a16="http://schemas.microsoft.com/office/drawing/2014/main" id="{3226D9C9-9A2A-18E2-7F67-5A584B97824A}"/>
              </a:ext>
            </a:extLst>
          </p:cNvPr>
          <p:cNvSpPr/>
          <p:nvPr/>
        </p:nvSpPr>
        <p:spPr>
          <a:xfrm rot="10800000" flipV="1">
            <a:off x="10737068" y="4478286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2F9BD87-698D-49C2-E9A6-68F6DA8DEA62}"/>
                  </a:ext>
                </a:extLst>
              </p:cNvPr>
              <p:cNvSpPr txBox="1"/>
              <p:nvPr/>
            </p:nvSpPr>
            <p:spPr>
              <a:xfrm>
                <a:off x="10903806" y="4466960"/>
                <a:ext cx="6460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𝑒𝑛𝑐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2F9BD87-698D-49C2-E9A6-68F6DA8DE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3806" y="4466960"/>
                <a:ext cx="64601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97F111-63BC-ABDE-34B9-55238A69EB79}"/>
                  </a:ext>
                </a:extLst>
              </p:cNvPr>
              <p:cNvSpPr txBox="1"/>
              <p:nvPr/>
            </p:nvSpPr>
            <p:spPr>
              <a:xfrm rot="16200000">
                <a:off x="9982400" y="5174340"/>
                <a:ext cx="9861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114688</m:t>
                          </m:r>
                        </m:sup>
                      </m:sSup>
                    </m:oMath>
                  </m:oMathPara>
                </a14:m>
                <a:endParaRPr lang="en-KR" sz="1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97F111-63BC-ABDE-34B9-55238A69E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982400" y="5174340"/>
                <a:ext cx="986103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B4ED17F-8C66-BA12-142C-6ABA65D0BC51}"/>
              </a:ext>
            </a:extLst>
          </p:cNvPr>
          <p:cNvGraphicFramePr>
            <a:graphicFrameLocks noGrp="1"/>
          </p:cNvGraphicFramePr>
          <p:nvPr/>
        </p:nvGraphicFramePr>
        <p:xfrm>
          <a:off x="10628759" y="4171402"/>
          <a:ext cx="1249680" cy="17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</a:tbl>
          </a:graphicData>
        </a:graphic>
      </p:graphicFrame>
      <p:sp>
        <p:nvSpPr>
          <p:cNvPr id="38" name="Trapezoid 37">
            <a:extLst>
              <a:ext uri="{FF2B5EF4-FFF2-40B4-BE49-F238E27FC236}">
                <a16:creationId xmlns:a16="http://schemas.microsoft.com/office/drawing/2014/main" id="{48CBEC9C-6676-F876-FAEB-D29B4B39FBB7}"/>
              </a:ext>
            </a:extLst>
          </p:cNvPr>
          <p:cNvSpPr/>
          <p:nvPr/>
        </p:nvSpPr>
        <p:spPr>
          <a:xfrm flipV="1">
            <a:off x="10757541" y="5810022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5C5ABBA-F683-BA2A-BC20-218013F934CE}"/>
                  </a:ext>
                </a:extLst>
              </p:cNvPr>
              <p:cNvSpPr txBox="1"/>
              <p:nvPr/>
            </p:nvSpPr>
            <p:spPr>
              <a:xfrm>
                <a:off x="10897993" y="5794585"/>
                <a:ext cx="6612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5C5ABBA-F683-BA2A-BC20-218013F93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7993" y="5794585"/>
                <a:ext cx="66120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D5508CD7-BEA8-15D3-F842-0C6C85B2DCD4}"/>
              </a:ext>
            </a:extLst>
          </p:cNvPr>
          <p:cNvGraphicFramePr>
            <a:graphicFrameLocks noGrp="1"/>
          </p:cNvGraphicFramePr>
          <p:nvPr/>
        </p:nvGraphicFramePr>
        <p:xfrm>
          <a:off x="10661203" y="6296404"/>
          <a:ext cx="1249680" cy="17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38DD9C5-7C5A-A488-1655-4BD43EE4B1B8}"/>
                  </a:ext>
                </a:extLst>
              </p:cNvPr>
              <p:cNvSpPr txBox="1"/>
              <p:nvPr/>
            </p:nvSpPr>
            <p:spPr>
              <a:xfrm>
                <a:off x="10328461" y="4055420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38DD9C5-7C5A-A488-1655-4BD43EE4B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8461" y="4055420"/>
                <a:ext cx="34336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5A26A2D-86E6-E618-0305-63F37C368651}"/>
                  </a:ext>
                </a:extLst>
              </p:cNvPr>
              <p:cNvSpPr txBox="1"/>
              <p:nvPr/>
            </p:nvSpPr>
            <p:spPr>
              <a:xfrm>
                <a:off x="10369988" y="6184640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5A26A2D-86E6-E618-0305-63F37C368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9988" y="6184640"/>
                <a:ext cx="34336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68C17C8E-7A0D-2669-99F2-08456CD30136}"/>
              </a:ext>
            </a:extLst>
          </p:cNvPr>
          <p:cNvGraphicFramePr>
            <a:graphicFrameLocks noGrp="1"/>
          </p:cNvGraphicFramePr>
          <p:nvPr/>
        </p:nvGraphicFramePr>
        <p:xfrm>
          <a:off x="10651820" y="4958794"/>
          <a:ext cx="1249680" cy="716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272750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922770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89416"/>
                  </a:ext>
                </a:extLst>
              </a:tr>
            </a:tbl>
          </a:graphicData>
        </a:graphic>
      </p:graphicFrame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EDDDEF0-8DC4-A360-627A-850546BD9C6B}"/>
              </a:ext>
            </a:extLst>
          </p:cNvPr>
          <p:cNvCxnSpPr>
            <a:cxnSpLocks/>
          </p:cNvCxnSpPr>
          <p:nvPr/>
        </p:nvCxnSpPr>
        <p:spPr>
          <a:xfrm>
            <a:off x="11214283" y="4350503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305646C-B3D2-EAC1-954F-BC6A4917169E}"/>
              </a:ext>
            </a:extLst>
          </p:cNvPr>
          <p:cNvCxnSpPr>
            <a:cxnSpLocks/>
          </p:cNvCxnSpPr>
          <p:nvPr/>
        </p:nvCxnSpPr>
        <p:spPr>
          <a:xfrm>
            <a:off x="11214283" y="4827699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CBE0D38-5397-93EB-3E05-AC23AACDB5EE}"/>
              </a:ext>
            </a:extLst>
          </p:cNvPr>
          <p:cNvCxnSpPr>
            <a:cxnSpLocks/>
          </p:cNvCxnSpPr>
          <p:nvPr/>
        </p:nvCxnSpPr>
        <p:spPr>
          <a:xfrm>
            <a:off x="11236193" y="5675198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6CA185A-3F02-6D6F-FA1B-20508798B5DF}"/>
              </a:ext>
            </a:extLst>
          </p:cNvPr>
          <p:cNvCxnSpPr>
            <a:cxnSpLocks/>
          </p:cNvCxnSpPr>
          <p:nvPr/>
        </p:nvCxnSpPr>
        <p:spPr>
          <a:xfrm>
            <a:off x="11236193" y="6163860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7EF13DA-2D2E-78AE-A20A-BA9207F6C203}"/>
              </a:ext>
            </a:extLst>
          </p:cNvPr>
          <p:cNvCxnSpPr>
            <a:cxnSpLocks/>
          </p:cNvCxnSpPr>
          <p:nvPr/>
        </p:nvCxnSpPr>
        <p:spPr>
          <a:xfrm>
            <a:off x="11220833" y="4006355"/>
            <a:ext cx="0" cy="165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008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42510-0D22-7EC9-EC29-4072D0679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Experiment (0)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8D62E-CBFB-5906-22F3-C9D272D51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b="1" dirty="0"/>
              <a:t>UnlearnCanvas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20 object classes</a:t>
            </a:r>
          </a:p>
          <a:p>
            <a:pPr marL="457200" lvl="1" indent="0">
              <a:buNone/>
            </a:pPr>
            <a:r>
              <a:rPr lang="en-US" dirty="0">
                <a:highlight>
                  <a:srgbClr val="FFFF00"/>
                </a:highlight>
              </a:rPr>
              <a:t>	× class</a:t>
            </a:r>
            <a:r>
              <a:rPr lang="ko-KR" altLang="en-US" dirty="0">
                <a:highlight>
                  <a:srgbClr val="FFFF00"/>
                </a:highlight>
              </a:rPr>
              <a:t>당 </a:t>
            </a:r>
            <a:r>
              <a:rPr lang="en-US" altLang="ko-KR" dirty="0">
                <a:highlight>
                  <a:srgbClr val="FFFF00"/>
                </a:highlight>
              </a:rPr>
              <a:t>80 </a:t>
            </a:r>
            <a:r>
              <a:rPr lang="en-US" dirty="0">
                <a:highlight>
                  <a:srgbClr val="FFFF00"/>
                </a:highlight>
              </a:rPr>
              <a:t>anchor prompts</a:t>
            </a:r>
          </a:p>
          <a:p>
            <a:pPr marL="457200" lvl="1" indent="0">
              <a:buNone/>
            </a:pPr>
            <a:r>
              <a:rPr lang="en-US" dirty="0"/>
              <a:t>	× (51 style postfix + 1 base prompt)</a:t>
            </a:r>
          </a:p>
          <a:p>
            <a:pPr marL="457200" lvl="1" indent="0">
              <a:buNone/>
            </a:pPr>
            <a:r>
              <a:rPr lang="en-US" dirty="0"/>
              <a:t>	= 83,200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F6116679-DECE-0502-5795-B7028BEA4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12" y="2683623"/>
            <a:ext cx="2202054" cy="3662176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6C7D09D8-1662-5169-4A14-C02B55A9ED3F}"/>
              </a:ext>
            </a:extLst>
          </p:cNvPr>
          <p:cNvSpPr txBox="1"/>
          <p:nvPr/>
        </p:nvSpPr>
        <p:spPr>
          <a:xfrm>
            <a:off x="5093212" y="1822775"/>
            <a:ext cx="264046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rgbClr val="C00000"/>
                </a:solidFill>
              </a:rPr>
              <a:t>A dog wearing aviator goggles piloting an airplane</a:t>
            </a:r>
          </a:p>
          <a:p>
            <a:r>
              <a:rPr lang="en-US" sz="700" dirty="0">
                <a:solidFill>
                  <a:srgbClr val="0070C0"/>
                </a:solidFill>
              </a:rPr>
              <a:t>A dachshund stretched out like a limousine</a:t>
            </a:r>
          </a:p>
          <a:p>
            <a:r>
              <a:rPr lang="en-US" sz="700" dirty="0">
                <a:solidFill>
                  <a:schemeClr val="accent6">
                    <a:lumMod val="75000"/>
                  </a:schemeClr>
                </a:solidFill>
              </a:rPr>
              <a:t>A poodle with an elaborate hairstyle as a florist</a:t>
            </a:r>
          </a:p>
          <a:p>
            <a:r>
              <a:rPr lang="en-US" sz="700" dirty="0">
                <a:solidFill>
                  <a:schemeClr val="accent2"/>
                </a:solidFill>
              </a:rPr>
              <a:t>A dog astronaut floating in space with a bone-shaped spaceship</a:t>
            </a:r>
          </a:p>
          <a:p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beagle detective with a magnifying glass</a:t>
            </a:r>
            <a:endParaRPr lang="en-KR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2F45B37-17E4-821B-8046-958FBB2E22C3}"/>
              </a:ext>
            </a:extLst>
          </p:cNvPr>
          <p:cNvCxnSpPr>
            <a:cxnSpLocks/>
          </p:cNvCxnSpPr>
          <p:nvPr/>
        </p:nvCxnSpPr>
        <p:spPr>
          <a:xfrm>
            <a:off x="6106546" y="2435429"/>
            <a:ext cx="0" cy="29260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288703F0-F6C3-76AF-453D-7B33EC8F0A1C}"/>
              </a:ext>
            </a:extLst>
          </p:cNvPr>
          <p:cNvSpPr/>
          <p:nvPr/>
        </p:nvSpPr>
        <p:spPr>
          <a:xfrm>
            <a:off x="6210559" y="4771887"/>
            <a:ext cx="816429" cy="118382"/>
          </a:xfrm>
          <a:prstGeom prst="rect">
            <a:avLst/>
          </a:prstGeom>
          <a:solidFill>
            <a:srgbClr val="BF4959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5" name="Left Brace 84">
            <a:extLst>
              <a:ext uri="{FF2B5EF4-FFF2-40B4-BE49-F238E27FC236}">
                <a16:creationId xmlns:a16="http://schemas.microsoft.com/office/drawing/2014/main" id="{D210A015-BB0F-1824-334D-A1765A840032}"/>
              </a:ext>
            </a:extLst>
          </p:cNvPr>
          <p:cNvSpPr/>
          <p:nvPr/>
        </p:nvSpPr>
        <p:spPr>
          <a:xfrm>
            <a:off x="5017013" y="1917187"/>
            <a:ext cx="76200" cy="42040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6" name="Left Brace 85">
            <a:extLst>
              <a:ext uri="{FF2B5EF4-FFF2-40B4-BE49-F238E27FC236}">
                <a16:creationId xmlns:a16="http://schemas.microsoft.com/office/drawing/2014/main" id="{83CC55EC-9433-2E25-7E9A-237F07B756E0}"/>
              </a:ext>
            </a:extLst>
          </p:cNvPr>
          <p:cNvSpPr/>
          <p:nvPr/>
        </p:nvSpPr>
        <p:spPr>
          <a:xfrm>
            <a:off x="7123027" y="4620875"/>
            <a:ext cx="76200" cy="42040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0B41AF6-84D3-71D2-12EE-6C73466FB757}"/>
              </a:ext>
            </a:extLst>
          </p:cNvPr>
          <p:cNvSpPr/>
          <p:nvPr/>
        </p:nvSpPr>
        <p:spPr>
          <a:xfrm>
            <a:off x="7218277" y="4586664"/>
            <a:ext cx="816429" cy="69136"/>
          </a:xfrm>
          <a:prstGeom prst="rect">
            <a:avLst/>
          </a:prstGeom>
          <a:solidFill>
            <a:srgbClr val="BF4959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4166E1C-2E40-5692-25A2-E849A7FEFE37}"/>
              </a:ext>
            </a:extLst>
          </p:cNvPr>
          <p:cNvSpPr/>
          <p:nvPr/>
        </p:nvSpPr>
        <p:spPr>
          <a:xfrm>
            <a:off x="7218277" y="4688430"/>
            <a:ext cx="816429" cy="69136"/>
          </a:xfrm>
          <a:prstGeom prst="rect">
            <a:avLst/>
          </a:prstGeom>
          <a:solidFill>
            <a:srgbClr val="0070C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C7A40D7-FD4E-8B10-CAAA-5C5BFF501F7F}"/>
              </a:ext>
            </a:extLst>
          </p:cNvPr>
          <p:cNvSpPr/>
          <p:nvPr/>
        </p:nvSpPr>
        <p:spPr>
          <a:xfrm>
            <a:off x="7218277" y="4790833"/>
            <a:ext cx="816429" cy="69136"/>
          </a:xfrm>
          <a:prstGeom prst="rect">
            <a:avLst/>
          </a:prstGeom>
          <a:solidFill>
            <a:schemeClr val="accent6">
              <a:lumMod val="60000"/>
              <a:lumOff val="40000"/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DD2BDA2-E450-D2B0-775B-81A3B7CDD737}"/>
              </a:ext>
            </a:extLst>
          </p:cNvPr>
          <p:cNvSpPr/>
          <p:nvPr/>
        </p:nvSpPr>
        <p:spPr>
          <a:xfrm>
            <a:off x="7218277" y="4892599"/>
            <a:ext cx="816429" cy="69136"/>
          </a:xfrm>
          <a:prstGeom prst="rect">
            <a:avLst/>
          </a:prstGeom>
          <a:solidFill>
            <a:schemeClr val="accent2">
              <a:lumMod val="60000"/>
              <a:lumOff val="40000"/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8115BDD-2893-F782-8B35-B6734C48A291}"/>
              </a:ext>
            </a:extLst>
          </p:cNvPr>
          <p:cNvSpPr/>
          <p:nvPr/>
        </p:nvSpPr>
        <p:spPr>
          <a:xfrm>
            <a:off x="7218277" y="5007070"/>
            <a:ext cx="816429" cy="69136"/>
          </a:xfrm>
          <a:prstGeom prst="rect">
            <a:avLst/>
          </a:prstGeom>
          <a:solidFill>
            <a:schemeClr val="tx1">
              <a:lumMod val="50000"/>
              <a:lumOff val="50000"/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D2B8DD4-3C91-6FC9-635C-9B3AED795AAB}"/>
              </a:ext>
            </a:extLst>
          </p:cNvPr>
          <p:cNvSpPr txBox="1"/>
          <p:nvPr/>
        </p:nvSpPr>
        <p:spPr>
          <a:xfrm>
            <a:off x="5405502" y="1137957"/>
            <a:ext cx="1366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600" b="1" dirty="0"/>
              <a:t>[ Collecting ]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A08B806-C936-1CD2-33B3-77B3561A8038}"/>
              </a:ext>
            </a:extLst>
          </p:cNvPr>
          <p:cNvSpPr txBox="1"/>
          <p:nvPr/>
        </p:nvSpPr>
        <p:spPr>
          <a:xfrm>
            <a:off x="10284122" y="1137957"/>
            <a:ext cx="7852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600" b="1" dirty="0"/>
              <a:t>[ Test ]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A547A0F8-4674-8EBB-3C22-AE5E6A7BA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302" y="2683623"/>
            <a:ext cx="2202054" cy="3662176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D88E2B51-1888-4FC4-9616-A9E5178057FA}"/>
              </a:ext>
            </a:extLst>
          </p:cNvPr>
          <p:cNvSpPr txBox="1"/>
          <p:nvPr/>
        </p:nvSpPr>
        <p:spPr>
          <a:xfrm>
            <a:off x="10050901" y="1762900"/>
            <a:ext cx="155363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An image of Dogs in {theme 1} style.</a:t>
            </a:r>
          </a:p>
          <a:p>
            <a:r>
              <a:rPr lang="en-US" sz="700" dirty="0"/>
              <a:t>An image of Dogs in {theme 2} style.</a:t>
            </a:r>
            <a:endParaRPr lang="en-KR" sz="700" dirty="0"/>
          </a:p>
          <a:p>
            <a:r>
              <a:rPr lang="en-US" sz="700" dirty="0"/>
              <a:t>An image of Dogs in {theme 3} style.</a:t>
            </a:r>
            <a:endParaRPr lang="en-KR" sz="700" dirty="0"/>
          </a:p>
          <a:p>
            <a:r>
              <a:rPr lang="en-US" sz="700" dirty="0"/>
              <a:t>An image of Dogs in {theme 4} style.</a:t>
            </a:r>
            <a:endParaRPr lang="en-KR" sz="700" dirty="0"/>
          </a:p>
          <a:p>
            <a:r>
              <a:rPr lang="en-US" sz="700" dirty="0"/>
              <a:t>An image of Dogs in {theme 5} style.</a:t>
            </a:r>
            <a:endParaRPr lang="en-KR" sz="700" dirty="0"/>
          </a:p>
          <a:p>
            <a:endParaRPr lang="en-KR" sz="700" dirty="0"/>
          </a:p>
        </p:txBody>
      </p:sp>
      <p:sp>
        <p:nvSpPr>
          <p:cNvPr id="99" name="Left Brace 98">
            <a:extLst>
              <a:ext uri="{FF2B5EF4-FFF2-40B4-BE49-F238E27FC236}">
                <a16:creationId xmlns:a16="http://schemas.microsoft.com/office/drawing/2014/main" id="{29926123-46E4-6B31-3C22-B7714081B2A3}"/>
              </a:ext>
            </a:extLst>
          </p:cNvPr>
          <p:cNvSpPr/>
          <p:nvPr/>
        </p:nvSpPr>
        <p:spPr>
          <a:xfrm>
            <a:off x="9974702" y="1857312"/>
            <a:ext cx="76200" cy="42040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BA3DBE4-6CA8-FA25-8F14-3E0AD7FB46B0}"/>
              </a:ext>
            </a:extLst>
          </p:cNvPr>
          <p:cNvCxnSpPr>
            <a:cxnSpLocks/>
          </p:cNvCxnSpPr>
          <p:nvPr/>
        </p:nvCxnSpPr>
        <p:spPr>
          <a:xfrm>
            <a:off x="10727471" y="2435429"/>
            <a:ext cx="0" cy="29260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4F7A6C8-D95A-BA49-4CF9-51A9E8D84A28}"/>
              </a:ext>
            </a:extLst>
          </p:cNvPr>
          <p:cNvSpPr/>
          <p:nvPr/>
        </p:nvSpPr>
        <p:spPr>
          <a:xfrm>
            <a:off x="10856496" y="5404987"/>
            <a:ext cx="818485" cy="112489"/>
          </a:xfrm>
          <a:prstGeom prst="rect">
            <a:avLst/>
          </a:prstGeom>
          <a:solidFill>
            <a:srgbClr val="BF4959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2503DA6-1349-2CDE-FA80-4B7DDD1C2CE1}"/>
              </a:ext>
            </a:extLst>
          </p:cNvPr>
          <p:cNvSpPr txBox="1"/>
          <p:nvPr/>
        </p:nvSpPr>
        <p:spPr>
          <a:xfrm>
            <a:off x="11615163" y="5322731"/>
            <a:ext cx="3513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050" dirty="0"/>
              <a:t>x 0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878E217-0704-5C52-5384-1CB059742EA2}"/>
              </a:ext>
            </a:extLst>
          </p:cNvPr>
          <p:cNvCxnSpPr/>
          <p:nvPr/>
        </p:nvCxnSpPr>
        <p:spPr>
          <a:xfrm>
            <a:off x="4410159" y="1137957"/>
            <a:ext cx="0" cy="525894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9FE211CF-0A3B-0FB7-74E4-7BB0F6107B3D}"/>
              </a:ext>
            </a:extLst>
          </p:cNvPr>
          <p:cNvCxnSpPr/>
          <p:nvPr/>
        </p:nvCxnSpPr>
        <p:spPr>
          <a:xfrm>
            <a:off x="8177024" y="1137957"/>
            <a:ext cx="0" cy="525894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6F190182-E4A0-27F3-B86C-B7CF0342B40A}"/>
              </a:ext>
            </a:extLst>
          </p:cNvPr>
          <p:cNvSpPr txBox="1"/>
          <p:nvPr/>
        </p:nvSpPr>
        <p:spPr>
          <a:xfrm>
            <a:off x="4414362" y="1369919"/>
            <a:ext cx="35114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dirty="0"/>
              <a:t>Took 10 hours to collect 1600 object class prompts</a:t>
            </a:r>
            <a:endParaRPr lang="en-KR" sz="1200" i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90F827B-9BA6-B900-F7F2-8539CFF370D8}"/>
              </a:ext>
            </a:extLst>
          </p:cNvPr>
          <p:cNvSpPr txBox="1"/>
          <p:nvPr/>
        </p:nvSpPr>
        <p:spPr>
          <a:xfrm>
            <a:off x="8397464" y="1382366"/>
            <a:ext cx="1024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Less than 2h</a:t>
            </a:r>
          </a:p>
          <a:p>
            <a:r>
              <a:rPr lang="en-US" sz="1200" i="1" dirty="0"/>
              <a:t>(10 epochs)</a:t>
            </a:r>
            <a:endParaRPr lang="en-KR" sz="1200" i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6F2605F-B069-607E-D166-C0FAEE55CBA0}"/>
              </a:ext>
            </a:extLst>
          </p:cNvPr>
          <p:cNvSpPr txBox="1"/>
          <p:nvPr/>
        </p:nvSpPr>
        <p:spPr>
          <a:xfrm>
            <a:off x="8481270" y="1118819"/>
            <a:ext cx="8570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600" b="1" dirty="0"/>
              <a:t>[ Train ]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166577B9-5320-D253-FF27-AB3844F83868}"/>
              </a:ext>
            </a:extLst>
          </p:cNvPr>
          <p:cNvCxnSpPr/>
          <p:nvPr/>
        </p:nvCxnSpPr>
        <p:spPr>
          <a:xfrm>
            <a:off x="9648426" y="1086852"/>
            <a:ext cx="0" cy="525894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C26FFAEC-DFFB-3FAE-C6F0-3CA9191CBC5D}"/>
                  </a:ext>
                </a:extLst>
              </p:cNvPr>
              <p:cNvSpPr txBox="1"/>
              <p:nvPr/>
            </p:nvSpPr>
            <p:spPr>
              <a:xfrm>
                <a:off x="8428213" y="1917187"/>
                <a:ext cx="922688" cy="1409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𝑢𝑛𝑠𝑢𝑝</m:t>
                          </m:r>
                        </m:sub>
                      </m:sSub>
                    </m:oMath>
                  </m:oMathPara>
                </a14:m>
                <a:endParaRPr lang="en-US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𝑏𝑖𝑛𝑑</m:t>
                          </m:r>
                        </m:sub>
                      </m:sSub>
                    </m:oMath>
                  </m:oMathPara>
                </a14:m>
                <a:endParaRPr lang="en-US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𝑟𝑜𝑢𝑡𝑒</m:t>
                          </m:r>
                        </m:sub>
                      </m:sSub>
                    </m:oMath>
                  </m:oMathPara>
                </a14:m>
                <a:endParaRPr lang="en-KR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C26FFAEC-DFFB-3FAE-C6F0-3CA9191CB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8213" y="1917187"/>
                <a:ext cx="922688" cy="14099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25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36FD2-AAB1-4D72-265C-0522F48B7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Experiments </a:t>
            </a:r>
            <a:r>
              <a:rPr lang="en-US" altLang="ko-KR" dirty="0"/>
              <a:t>(0) Settings – Collected Results</a:t>
            </a:r>
            <a:endParaRPr lang="en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91B65-ECF8-3CCB-00BD-219D96A71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6043"/>
            <a:ext cx="12192000" cy="407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9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E0E8-6FAA-125F-E1FD-DA566FFEC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Experiments </a:t>
            </a:r>
            <a:r>
              <a:rPr lang="en-US" altLang="ko-KR" dirty="0"/>
              <a:t>(1) fixed 3 bundles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CCD7B-5CF8-2B58-EB2F-3C34E341B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KR" dirty="0"/>
              <a:t>ommon 제거 없이 3개의 bundle을 고정하여</a:t>
            </a:r>
            <a:r>
              <a:rPr lang="en-US" altLang="ko-KR" dirty="0"/>
              <a:t>, </a:t>
            </a:r>
            <a:r>
              <a:rPr lang="ko-KR" altLang="en-US" dirty="0"/>
              <a:t>그 </a:t>
            </a:r>
            <a:r>
              <a:rPr lang="en-US" altLang="ko-KR" dirty="0"/>
              <a:t>3</a:t>
            </a:r>
            <a:r>
              <a:rPr lang="ko-KR" altLang="en-US" dirty="0"/>
              <a:t>개의 </a:t>
            </a:r>
            <a:r>
              <a:rPr lang="en-US" altLang="ko-KR" dirty="0"/>
              <a:t>activation </a:t>
            </a:r>
            <a:r>
              <a:rPr lang="ko-KR" altLang="en-US" dirty="0"/>
              <a:t>값이 높아지도록 함</a:t>
            </a:r>
            <a:endParaRPr lang="en-US" altLang="ko-KR" dirty="0"/>
          </a:p>
          <a:p>
            <a:endParaRPr lang="en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07DA4C-DFFE-26F8-4A75-03B022981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6" y="1480816"/>
            <a:ext cx="5904953" cy="52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53797D-2C6C-8D19-D582-CEAE2FC70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636" y="1711468"/>
            <a:ext cx="4666238" cy="42078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5D37C2-3019-55EC-6299-E10EF47A707E}"/>
              </a:ext>
            </a:extLst>
          </p:cNvPr>
          <p:cNvSpPr txBox="1"/>
          <p:nvPr/>
        </p:nvSpPr>
        <p:spPr>
          <a:xfrm rot="16200000">
            <a:off x="-852049" y="4012669"/>
            <a:ext cx="2270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어떤 </a:t>
            </a: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concept prompt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측정했는가</a:t>
            </a:r>
            <a:endParaRPr lang="en-KR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99BB2F-08E7-03D2-0E87-32D401D99F24}"/>
              </a:ext>
            </a:extLst>
          </p:cNvPr>
          <p:cNvSpPr txBox="1"/>
          <p:nvPr/>
        </p:nvSpPr>
        <p:spPr>
          <a:xfrm>
            <a:off x="1835412" y="6636493"/>
            <a:ext cx="2887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어떤 </a:t>
            </a:r>
            <a:r>
              <a:rPr 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concept</a:t>
            </a:r>
            <a:r>
              <a:rPr lang="ko-KR" altLang="en-US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배정된 </a:t>
            </a:r>
            <a:r>
              <a:rPr 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latent bundle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보고 있는가</a:t>
            </a:r>
            <a:endParaRPr lang="en-KR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5651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6D619-5FB2-B323-8A8E-56ED3378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Experiments </a:t>
            </a:r>
            <a:r>
              <a:rPr lang="en-US" altLang="ko-KR" dirty="0"/>
              <a:t>(2) safe </a:t>
            </a:r>
            <a:r>
              <a:rPr lang="en-US" altLang="ko-KR" dirty="0" err="1"/>
              <a:t>SAEmnesia</a:t>
            </a:r>
            <a:r>
              <a:rPr lang="en-US" altLang="ko-KR" dirty="0"/>
              <a:t> top1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B9670-43CC-B273-4808-3431AA3E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KR" dirty="0"/>
              <a:t>ommon 제거 후 </a:t>
            </a:r>
            <a:r>
              <a:rPr lang="en-US" altLang="ko-KR" dirty="0">
                <a:sym typeface="Wingdings" pitchFamily="2" charset="2"/>
              </a:rPr>
              <a:t> top1</a:t>
            </a:r>
            <a:r>
              <a:rPr lang="ko-KR" altLang="en-US" dirty="0">
                <a:sym typeface="Wingdings" pitchFamily="2" charset="2"/>
              </a:rPr>
              <a:t>을 선택하여 </a:t>
            </a:r>
            <a:r>
              <a:rPr lang="en-US" altLang="ko-KR" dirty="0">
                <a:sym typeface="Wingdings" pitchFamily="2" charset="2"/>
              </a:rPr>
              <a:t>activation</a:t>
            </a:r>
            <a:r>
              <a:rPr lang="ko-KR" altLang="en-US" dirty="0">
                <a:sym typeface="Wingdings" pitchFamily="2" charset="2"/>
              </a:rPr>
              <a:t>이 높아지도록 함</a:t>
            </a:r>
            <a:endParaRPr lang="en-US" altLang="ko-KR" dirty="0">
              <a:sym typeface="Wingdings" pitchFamily="2" charset="2"/>
            </a:endParaRPr>
          </a:p>
          <a:p>
            <a:endParaRPr lang="en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874F05-0215-8202-1C1F-AF2E59B92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6" y="1510077"/>
            <a:ext cx="5949020" cy="52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8B451B-9DF5-DAD1-5941-579337DDB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346" y="1510076"/>
            <a:ext cx="5103710" cy="4602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A4E9F3-A2CB-D31F-96BF-0F1B4A2DF1B1}"/>
              </a:ext>
            </a:extLst>
          </p:cNvPr>
          <p:cNvSpPr txBox="1"/>
          <p:nvPr/>
        </p:nvSpPr>
        <p:spPr>
          <a:xfrm rot="16200000">
            <a:off x="-852049" y="4012669"/>
            <a:ext cx="2270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어떤 </a:t>
            </a: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concept prompt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측정했는가</a:t>
            </a:r>
            <a:endParaRPr lang="en-KR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58604D-4615-EDE2-C6A4-962D8E1C38FA}"/>
              </a:ext>
            </a:extLst>
          </p:cNvPr>
          <p:cNvSpPr txBox="1"/>
          <p:nvPr/>
        </p:nvSpPr>
        <p:spPr>
          <a:xfrm>
            <a:off x="1835412" y="6636493"/>
            <a:ext cx="2887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어떤 </a:t>
            </a:r>
            <a:r>
              <a:rPr 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concept</a:t>
            </a:r>
            <a:r>
              <a:rPr lang="ko-KR" altLang="en-US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배정된 </a:t>
            </a:r>
            <a:r>
              <a:rPr 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latent bundle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보고 있는가</a:t>
            </a:r>
            <a:endParaRPr lang="en-KR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Rectangular Callout 9">
            <a:extLst>
              <a:ext uri="{FF2B5EF4-FFF2-40B4-BE49-F238E27FC236}">
                <a16:creationId xmlns:a16="http://schemas.microsoft.com/office/drawing/2014/main" id="{1F4F36D3-CB79-7A32-56B1-D44DAA176432}"/>
              </a:ext>
            </a:extLst>
          </p:cNvPr>
          <p:cNvSpPr/>
          <p:nvPr/>
        </p:nvSpPr>
        <p:spPr>
          <a:xfrm>
            <a:off x="8023481" y="25001"/>
            <a:ext cx="4117655" cy="1542849"/>
          </a:xfrm>
          <a:prstGeom prst="wedgeRectCallout">
            <a:avLst>
              <a:gd name="adj1" fmla="val 21380"/>
              <a:gd name="adj2" fmla="val 6356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94F441-1351-4635-C531-74FD2DDE74AC}"/>
              </a:ext>
            </a:extLst>
          </p:cNvPr>
          <p:cNvSpPr txBox="1"/>
          <p:nvPr/>
        </p:nvSpPr>
        <p:spPr>
          <a:xfrm>
            <a:off x="8052579" y="62877"/>
            <a:ext cx="1370888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strong-</a:t>
            </a:r>
            <a:r>
              <a:rPr lang="en-US" sz="1100" b="1" dirty="0" err="1"/>
              <a:t>ish</a:t>
            </a:r>
            <a:r>
              <a:rPr lang="en-US" sz="1100" b="1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Birds +36.7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Horses +22.6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Sandwiches +22.7</a:t>
            </a:r>
            <a:endParaRPr lang="en-US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C304B6-3AE0-A9F9-47BB-7D44C5C8872C}"/>
              </a:ext>
            </a:extLst>
          </p:cNvPr>
          <p:cNvSpPr txBox="1"/>
          <p:nvPr/>
        </p:nvSpPr>
        <p:spPr>
          <a:xfrm>
            <a:off x="9452565" y="49715"/>
            <a:ext cx="1399742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mid: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Architectures -5.8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Trees -5.5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Sea -9.1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Towers -9.6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Fishes -12.1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Jellyfish -14.9</a:t>
            </a:r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070466-FF01-5428-2EF3-7AA41D5E7737}"/>
              </a:ext>
            </a:extLst>
          </p:cNvPr>
          <p:cNvSpPr txBox="1"/>
          <p:nvPr/>
        </p:nvSpPr>
        <p:spPr>
          <a:xfrm>
            <a:off x="8084885" y="810626"/>
            <a:ext cx="1120820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usable/weak: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Human +16.7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Rabbits +10.4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Flowers +1.5</a:t>
            </a: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8D3CF3-8CB6-D26C-D3E1-46DC93CF59F7}"/>
              </a:ext>
            </a:extLst>
          </p:cNvPr>
          <p:cNvSpPr txBox="1"/>
          <p:nvPr/>
        </p:nvSpPr>
        <p:spPr>
          <a:xfrm>
            <a:off x="10786216" y="25001"/>
            <a:ext cx="1242648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bad: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Statues -21.0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Flame -23.2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Waterfalls -23.5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Dogs -32.7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Bears -33.1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Cats -39.3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Butterfly -45.6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Frogs -47.6</a:t>
            </a:r>
          </a:p>
          <a:p>
            <a:endParaRPr lang="en-KR" sz="11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9E64C7-BF28-9853-1005-951AAD73CDE6}"/>
              </a:ext>
            </a:extLst>
          </p:cNvPr>
          <p:cNvCxnSpPr/>
          <p:nvPr/>
        </p:nvCxnSpPr>
        <p:spPr>
          <a:xfrm>
            <a:off x="9394369" y="113682"/>
            <a:ext cx="0" cy="136548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7A0866A-13DD-BDE2-5A19-8A000B897902}"/>
              </a:ext>
            </a:extLst>
          </p:cNvPr>
          <p:cNvCxnSpPr/>
          <p:nvPr/>
        </p:nvCxnSpPr>
        <p:spPr>
          <a:xfrm>
            <a:off x="10786216" y="133979"/>
            <a:ext cx="0" cy="136548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756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F4622-60DE-B672-E979-C8B1B7AC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Experiments </a:t>
            </a:r>
            <a:r>
              <a:rPr lang="en-US" altLang="ko-KR" dirty="0"/>
              <a:t>(3) safe </a:t>
            </a:r>
            <a:r>
              <a:rPr lang="en-US" altLang="ko-KR" dirty="0" err="1"/>
              <a:t>SAEmnesia</a:t>
            </a:r>
            <a:r>
              <a:rPr lang="en-US" altLang="ko-KR" dirty="0"/>
              <a:t> top3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0AED4-3071-44BA-B4C3-EEC1D02C5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KR" dirty="0"/>
              <a:t>ommon 제거 후 </a:t>
            </a:r>
            <a:r>
              <a:rPr lang="en-US" altLang="ko-KR" dirty="0">
                <a:sym typeface="Wingdings" pitchFamily="2" charset="2"/>
              </a:rPr>
              <a:t> top3</a:t>
            </a:r>
            <a:r>
              <a:rPr lang="ko-KR" altLang="en-US" dirty="0" err="1">
                <a:sym typeface="Wingdings" pitchFamily="2" charset="2"/>
              </a:rPr>
              <a:t>를</a:t>
            </a:r>
            <a:r>
              <a:rPr lang="ko-KR" altLang="en-US" dirty="0">
                <a:sym typeface="Wingdings" pitchFamily="2" charset="2"/>
              </a:rPr>
              <a:t> 선택하여 </a:t>
            </a:r>
            <a:r>
              <a:rPr lang="en-US" altLang="ko-KR" dirty="0">
                <a:sym typeface="Wingdings" pitchFamily="2" charset="2"/>
              </a:rPr>
              <a:t>activation</a:t>
            </a:r>
            <a:r>
              <a:rPr lang="ko-KR" altLang="en-US" dirty="0">
                <a:sym typeface="Wingdings" pitchFamily="2" charset="2"/>
              </a:rPr>
              <a:t>이 높아지도록 함</a:t>
            </a:r>
            <a:endParaRPr lang="en-US" altLang="ko-KR" dirty="0">
              <a:sym typeface="Wingdings" pitchFamily="2" charset="2"/>
            </a:endParaRPr>
          </a:p>
          <a:p>
            <a:endParaRPr lang="en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5E7D89-CEB3-BC09-482D-CBC0F06C3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6" y="1457902"/>
            <a:ext cx="5904953" cy="52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F8B151-1345-FC8D-0F17-FA0A92759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079" y="1408959"/>
            <a:ext cx="5588976" cy="504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F725A1-192D-5005-A282-B19BBCAFC39A}"/>
              </a:ext>
            </a:extLst>
          </p:cNvPr>
          <p:cNvSpPr txBox="1"/>
          <p:nvPr/>
        </p:nvSpPr>
        <p:spPr>
          <a:xfrm rot="16200000">
            <a:off x="-852049" y="4012669"/>
            <a:ext cx="2270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어떤 </a:t>
            </a: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concept prompt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측정했는가</a:t>
            </a:r>
            <a:endParaRPr lang="en-KR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2B0A23-1913-34BA-2F47-E85411773F6D}"/>
              </a:ext>
            </a:extLst>
          </p:cNvPr>
          <p:cNvSpPr txBox="1"/>
          <p:nvPr/>
        </p:nvSpPr>
        <p:spPr>
          <a:xfrm>
            <a:off x="1835412" y="6636493"/>
            <a:ext cx="2887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어떤 </a:t>
            </a:r>
            <a:r>
              <a:rPr 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concept</a:t>
            </a:r>
            <a:r>
              <a:rPr lang="ko-KR" altLang="en-US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배정된 </a:t>
            </a:r>
            <a:r>
              <a:rPr 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latent bundle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보고 있는가</a:t>
            </a:r>
            <a:endParaRPr lang="en-KR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0213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08B78-7983-F77D-4E6E-AF09BD8C7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6EBCB-3811-FD15-03D6-09B74A4E4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Generalization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6C31E-0000-CE1D-93BD-3523F0703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적용가능성</a:t>
            </a:r>
            <a:r>
              <a:rPr lang="en-US" altLang="ko-KR" b="1" dirty="0"/>
              <a:t>/ </a:t>
            </a:r>
            <a:r>
              <a:rPr lang="ko-KR" altLang="en-US" b="1" dirty="0"/>
              <a:t>기준</a:t>
            </a:r>
            <a:endParaRPr lang="en-US" altLang="ko-KR" b="1" dirty="0"/>
          </a:p>
          <a:p>
            <a:pPr lvl="1"/>
            <a:r>
              <a:rPr lang="en-US" dirty="0"/>
              <a:t>Gen-side token/latent </a:t>
            </a:r>
            <a:r>
              <a:rPr lang="en-US" dirty="0" err="1"/>
              <a:t>분리</a:t>
            </a:r>
            <a:r>
              <a:rPr lang="en-US" dirty="0"/>
              <a:t> </a:t>
            </a:r>
            <a:r>
              <a:rPr lang="en-US" dirty="0" err="1"/>
              <a:t>가능한가</a:t>
            </a:r>
            <a:r>
              <a:rPr lang="en-US" altLang="ko-KR" dirty="0"/>
              <a:t>?</a:t>
            </a:r>
          </a:p>
          <a:p>
            <a:pPr lvl="1"/>
            <a:r>
              <a:rPr lang="en-US" dirty="0"/>
              <a:t>T</a:t>
            </a:r>
            <a:r>
              <a:rPr lang="en-KR" dirty="0"/>
              <a:t>ext와 shared context에서 만나나</a:t>
            </a:r>
            <a:r>
              <a:rPr lang="en-US" altLang="ko-KR" dirty="0"/>
              <a:t>?</a:t>
            </a:r>
          </a:p>
          <a:p>
            <a:pPr lvl="1"/>
            <a:r>
              <a:rPr lang="en-US" dirty="0"/>
              <a:t>Gen-</a:t>
            </a:r>
            <a:r>
              <a:rPr lang="en-US" dirty="0" err="1"/>
              <a:t>side에만</a:t>
            </a:r>
            <a:r>
              <a:rPr lang="en-US" dirty="0"/>
              <a:t> hook-intervention </a:t>
            </a:r>
            <a:r>
              <a:rPr lang="en-US" dirty="0" err="1"/>
              <a:t>가능한가</a:t>
            </a:r>
            <a:r>
              <a:rPr lang="en-US" altLang="ko-KR" dirty="0"/>
              <a:t>?</a:t>
            </a:r>
          </a:p>
          <a:p>
            <a:r>
              <a:rPr lang="en-US" b="1" dirty="0" err="1"/>
              <a:t>출시</a:t>
            </a:r>
            <a:r>
              <a:rPr lang="en-US" b="1" dirty="0"/>
              <a:t> </a:t>
            </a:r>
            <a:r>
              <a:rPr lang="en-US" b="1" dirty="0" err="1"/>
              <a:t>순서</a:t>
            </a:r>
            <a:r>
              <a:rPr lang="en-US" b="1" dirty="0"/>
              <a:t> </a:t>
            </a:r>
            <a:r>
              <a:rPr lang="en-US" b="1" dirty="0" err="1"/>
              <a:t>별</a:t>
            </a:r>
            <a:r>
              <a:rPr lang="en-US" b="1" dirty="0"/>
              <a:t> </a:t>
            </a:r>
            <a:r>
              <a:rPr lang="en-US" b="1" dirty="0" err="1"/>
              <a:t>모델</a:t>
            </a:r>
            <a:r>
              <a:rPr lang="en-US" b="1" dirty="0"/>
              <a:t> </a:t>
            </a:r>
            <a:r>
              <a:rPr lang="en-US" b="1" dirty="0" err="1"/>
              <a:t>및</a:t>
            </a:r>
            <a:r>
              <a:rPr lang="en-US" b="1" dirty="0"/>
              <a:t> </a:t>
            </a:r>
            <a:r>
              <a:rPr lang="en-US" b="1" dirty="0" err="1"/>
              <a:t>적용가능성</a:t>
            </a:r>
            <a:r>
              <a:rPr lang="en-US" b="1" dirty="0"/>
              <a:t> </a:t>
            </a:r>
            <a:r>
              <a:rPr lang="en-US" b="1" dirty="0" err="1"/>
              <a:t>판단</a:t>
            </a:r>
            <a:endParaRPr lang="en-US" b="1" dirty="0"/>
          </a:p>
          <a:p>
            <a:pPr lvl="1"/>
            <a:endParaRPr lang="en-KR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570850-EFF5-7655-1B97-DA0B47927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477574"/>
              </p:ext>
            </p:extLst>
          </p:nvPr>
        </p:nvGraphicFramePr>
        <p:xfrm>
          <a:off x="656354" y="2758859"/>
          <a:ext cx="10704864" cy="3413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1525">
                  <a:extLst>
                    <a:ext uri="{9D8B030D-6E8A-4147-A177-3AD203B41FA5}">
                      <a16:colId xmlns:a16="http://schemas.microsoft.com/office/drawing/2014/main" val="548007243"/>
                    </a:ext>
                  </a:extLst>
                </a:gridCol>
                <a:gridCol w="578581">
                  <a:extLst>
                    <a:ext uri="{9D8B030D-6E8A-4147-A177-3AD203B41FA5}">
                      <a16:colId xmlns:a16="http://schemas.microsoft.com/office/drawing/2014/main" val="2321952273"/>
                    </a:ext>
                  </a:extLst>
                </a:gridCol>
                <a:gridCol w="578581">
                  <a:extLst>
                    <a:ext uri="{9D8B030D-6E8A-4147-A177-3AD203B41FA5}">
                      <a16:colId xmlns:a16="http://schemas.microsoft.com/office/drawing/2014/main" val="3764824149"/>
                    </a:ext>
                  </a:extLst>
                </a:gridCol>
                <a:gridCol w="5850541">
                  <a:extLst>
                    <a:ext uri="{9D8B030D-6E8A-4147-A177-3AD203B41FA5}">
                      <a16:colId xmlns:a16="http://schemas.microsoft.com/office/drawing/2014/main" val="2444744357"/>
                    </a:ext>
                  </a:extLst>
                </a:gridCol>
                <a:gridCol w="728283">
                  <a:extLst>
                    <a:ext uri="{9D8B030D-6E8A-4147-A177-3AD203B41FA5}">
                      <a16:colId xmlns:a16="http://schemas.microsoft.com/office/drawing/2014/main" val="2184336415"/>
                    </a:ext>
                  </a:extLst>
                </a:gridCol>
                <a:gridCol w="1116701">
                  <a:extLst>
                    <a:ext uri="{9D8B030D-6E8A-4147-A177-3AD203B41FA5}">
                      <a16:colId xmlns:a16="http://schemas.microsoft.com/office/drawing/2014/main" val="692107295"/>
                    </a:ext>
                  </a:extLst>
                </a:gridCol>
                <a:gridCol w="760652">
                  <a:extLst>
                    <a:ext uri="{9D8B030D-6E8A-4147-A177-3AD203B41FA5}">
                      <a16:colId xmlns:a16="http://schemas.microsoft.com/office/drawing/2014/main" val="2815588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Model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적용</a:t>
                      </a:r>
                    </a:p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가능성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Github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논문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Citations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Release Date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Type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338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Transfusion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Transfusion: Predict the Next Token and Diffuse Images with One Multi-Modal Model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496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2024-08-20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88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Show-o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Show-o: One Single Transformer to Unify Multimodal Understanding and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631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2024-08-22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501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MonoFormer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MonoFormer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One Transformer for Both Diffusion and Autoregression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50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2024-09-24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322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JanusFlow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JanusFlow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Harmonizing Autoregression and Rectified Flow for Unified Multimodal Understanding and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2024-11-12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133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LMFusion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LMFusion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Adapting Pretrained Language Models for Multimodal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2024-12-19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658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Nexus-Gen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Nexus-Gen: Unified Image Understanding, Generation, and Editing via Prefilled Autoregression in Shared Embedding Space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2025-04-30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-related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96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Mogao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Mogao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An Omni Foundation Model for Interleaved Multi-Modal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2025-05-08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9232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BAGEL</a:t>
                      </a: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Emerging Properties in Unified Multimodal Pretraining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486</a:t>
                      </a: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2025-05-20</a:t>
                      </a: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-2</a:t>
                      </a: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581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692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4F47-5565-F615-2D17-C5DF761F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Generalization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AA60F-FDD2-6054-3F74-5C1CF4ADC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출시</a:t>
            </a:r>
            <a:r>
              <a:rPr lang="en-US" b="1" dirty="0"/>
              <a:t> </a:t>
            </a:r>
            <a:r>
              <a:rPr lang="en-US" b="1" dirty="0" err="1"/>
              <a:t>순서</a:t>
            </a:r>
            <a:r>
              <a:rPr lang="en-US" b="1" dirty="0"/>
              <a:t> </a:t>
            </a:r>
            <a:r>
              <a:rPr lang="en-US" b="1" dirty="0" err="1"/>
              <a:t>별</a:t>
            </a:r>
            <a:r>
              <a:rPr lang="en-US" b="1" dirty="0"/>
              <a:t> </a:t>
            </a:r>
            <a:r>
              <a:rPr lang="en-US" b="1" dirty="0" err="1"/>
              <a:t>모델</a:t>
            </a:r>
            <a:r>
              <a:rPr lang="en-US" b="1" dirty="0"/>
              <a:t> </a:t>
            </a:r>
            <a:r>
              <a:rPr lang="en-US" b="1" dirty="0" err="1"/>
              <a:t>및</a:t>
            </a:r>
            <a:r>
              <a:rPr lang="en-US" b="1" dirty="0"/>
              <a:t> </a:t>
            </a:r>
            <a:r>
              <a:rPr lang="en-US" b="1" dirty="0" err="1"/>
              <a:t>적용가능성</a:t>
            </a:r>
            <a:r>
              <a:rPr lang="en-US" b="1" dirty="0"/>
              <a:t> </a:t>
            </a:r>
            <a:r>
              <a:rPr lang="en-US" b="1" dirty="0" err="1"/>
              <a:t>판단</a:t>
            </a:r>
            <a:endParaRPr lang="en-US" b="1" dirty="0"/>
          </a:p>
          <a:p>
            <a:pPr lvl="1"/>
            <a:endParaRPr lang="en-K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A911A8-F479-59C0-D2AF-B9624299B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090079"/>
              </p:ext>
            </p:extLst>
          </p:nvPr>
        </p:nvGraphicFramePr>
        <p:xfrm>
          <a:off x="712998" y="1577427"/>
          <a:ext cx="10704864" cy="3068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1525">
                  <a:extLst>
                    <a:ext uri="{9D8B030D-6E8A-4147-A177-3AD203B41FA5}">
                      <a16:colId xmlns:a16="http://schemas.microsoft.com/office/drawing/2014/main" val="548007243"/>
                    </a:ext>
                  </a:extLst>
                </a:gridCol>
                <a:gridCol w="578581">
                  <a:extLst>
                    <a:ext uri="{9D8B030D-6E8A-4147-A177-3AD203B41FA5}">
                      <a16:colId xmlns:a16="http://schemas.microsoft.com/office/drawing/2014/main" val="2321952273"/>
                    </a:ext>
                  </a:extLst>
                </a:gridCol>
                <a:gridCol w="578581">
                  <a:extLst>
                    <a:ext uri="{9D8B030D-6E8A-4147-A177-3AD203B41FA5}">
                      <a16:colId xmlns:a16="http://schemas.microsoft.com/office/drawing/2014/main" val="3764824149"/>
                    </a:ext>
                  </a:extLst>
                </a:gridCol>
                <a:gridCol w="5850541">
                  <a:extLst>
                    <a:ext uri="{9D8B030D-6E8A-4147-A177-3AD203B41FA5}">
                      <a16:colId xmlns:a16="http://schemas.microsoft.com/office/drawing/2014/main" val="2444744357"/>
                    </a:ext>
                  </a:extLst>
                </a:gridCol>
                <a:gridCol w="728283">
                  <a:extLst>
                    <a:ext uri="{9D8B030D-6E8A-4147-A177-3AD203B41FA5}">
                      <a16:colId xmlns:a16="http://schemas.microsoft.com/office/drawing/2014/main" val="2184336415"/>
                    </a:ext>
                  </a:extLst>
                </a:gridCol>
                <a:gridCol w="1116701">
                  <a:extLst>
                    <a:ext uri="{9D8B030D-6E8A-4147-A177-3AD203B41FA5}">
                      <a16:colId xmlns:a16="http://schemas.microsoft.com/office/drawing/2014/main" val="692107295"/>
                    </a:ext>
                  </a:extLst>
                </a:gridCol>
                <a:gridCol w="760652">
                  <a:extLst>
                    <a:ext uri="{9D8B030D-6E8A-4147-A177-3AD203B41FA5}">
                      <a16:colId xmlns:a16="http://schemas.microsoft.com/office/drawing/2014/main" val="2815588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Model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적용</a:t>
                      </a:r>
                    </a:p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가능성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Github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논문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Citations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Release Date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Type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338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OpenUni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OpenUni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A Simple Baseline for Unified Multimodal Understanding and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2025-05-29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-related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88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Show-o2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Show-o2: Improved Native Unified Multimodal Models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2025-06-18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-related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1501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LightFusion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LightFusion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A Light-weighted, Double Fusion Framework for Unified Multimodal Understanding and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2025-10-27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-2-like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5322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HBridge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HBridge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H-Shape Bridging of Heterogeneous Experts for Unified Multimodal Understanding and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2025-11-25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-2-like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133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TUNA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TUNA: Taming Unified Visual Representations for Native Unified Multimodal Models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2025-12-01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-1-like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658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EMMA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EMMA: Efficient Multimodal Understanding, Generation, and Editing with a Unified Architecture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2025-12-04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-2-like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96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InternVL-U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InternVL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-U: Democratizing Unified Multimodal Models for Understanding, Reasoning, Generation and Editing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2026-03-10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adjacent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9232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841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1209F-6A08-E4D0-8D28-CC8C1414E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Generalization (1) Transfusion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EB926-0F21-ED06-40A6-C210D778B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57922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5D34A-7C63-A566-535D-3A0643BC9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0A96C-ABF6-5ECC-935B-C62782937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Generalization (2) Show-o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C3BD6-AE4A-C574-11CF-7B4A0F4A4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29587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8AA44-7E6D-4034-0119-56634C8CC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Generalization (3) MonoFormer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D7657-C00B-94E0-6980-C67C8573C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75754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B4CD3-3119-A04E-3A98-5F7286C89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Extension to Image Editing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EF719-4B0E-6A8F-EA30-524631E65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/>
            <a:r>
              <a:rPr lang="en-KR" dirty="0"/>
              <a:t>T2I</a:t>
            </a:r>
          </a:p>
          <a:p>
            <a:pPr marL="742950" lvl="1" indent="-285750"/>
            <a:r>
              <a:rPr lang="en-KR" dirty="0"/>
              <a:t>UnlearnCanvas</a:t>
            </a:r>
          </a:p>
          <a:p>
            <a:pPr marL="742950" lvl="1" indent="-285750"/>
            <a:r>
              <a:rPr lang="en-KR" dirty="0"/>
              <a:t>I2P</a:t>
            </a:r>
          </a:p>
          <a:p>
            <a:pPr marL="742950" lvl="1" indent="-285750"/>
            <a:r>
              <a:rPr lang="en-KR" dirty="0"/>
              <a:t>EMMA</a:t>
            </a:r>
          </a:p>
          <a:p>
            <a:pPr marL="742950" lvl="1" indent="-285750"/>
            <a:r>
              <a:rPr lang="en-KR" dirty="0"/>
              <a:t>HUB</a:t>
            </a:r>
          </a:p>
          <a:p>
            <a:pPr marL="285750" indent="-285750"/>
            <a:r>
              <a:rPr lang="en-KR" dirty="0"/>
              <a:t>I2I</a:t>
            </a:r>
          </a:p>
          <a:p>
            <a:pPr marL="742950" lvl="1" indent="-285750"/>
            <a:r>
              <a:rPr lang="en-KR" dirty="0"/>
              <a:t>MagicBrush</a:t>
            </a:r>
          </a:p>
          <a:p>
            <a:pPr marL="742950" lvl="1" indent="-285750"/>
            <a:r>
              <a:rPr lang="en-KR" dirty="0"/>
              <a:t>I2EBench</a:t>
            </a:r>
          </a:p>
          <a:p>
            <a:pPr marL="742950" lvl="1" indent="-285750"/>
            <a:r>
              <a:rPr lang="en-KR" dirty="0"/>
              <a:t>Pico-banana-400k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789822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158ECF49-9510-284B-8608-77DD3AF33700}" vid="{D7FC2EE1-7D83-D345-BC33-911F7B4FB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42530</TotalTime>
  <Words>1299</Words>
  <Application>Microsoft Macintosh PowerPoint</Application>
  <PresentationFormat>Widescreen</PresentationFormat>
  <Paragraphs>315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Pretendard</vt:lpstr>
      <vt:lpstr>Pretendard Medium</vt:lpstr>
      <vt:lpstr>Pretendard SemiBold</vt:lpstr>
      <vt:lpstr>Aptos</vt:lpstr>
      <vt:lpstr>Arial</vt:lpstr>
      <vt:lpstr>Cambria Math</vt:lpstr>
      <vt:lpstr>Wingdings</vt:lpstr>
      <vt:lpstr>Office Theme</vt:lpstr>
      <vt:lpstr>UMM Unlearning Knows But Can't Draw: Toward Modality-Selective Concept Suppression in Unified Multimodal Models</vt:lpstr>
      <vt:lpstr>Table of Contents</vt:lpstr>
      <vt:lpstr>Recap: Loss</vt:lpstr>
      <vt:lpstr>Recap: Loss</vt:lpstr>
      <vt:lpstr>Recap: Loss</vt:lpstr>
      <vt:lpstr>Experiment (0) Settings</vt:lpstr>
      <vt:lpstr>Experiments (0) Settings – Collected Results</vt:lpstr>
      <vt:lpstr>Experiments (1) fixed 3 bundles</vt:lpstr>
      <vt:lpstr>Experiments (2) safe SAEmnesia top1</vt:lpstr>
      <vt:lpstr>Experiments (3) safe SAEmnesia top3</vt:lpstr>
      <vt:lpstr>Generalization</vt:lpstr>
      <vt:lpstr>Generalization</vt:lpstr>
      <vt:lpstr>Generalization (1) Transfusion</vt:lpstr>
      <vt:lpstr>Generalization (2) Show-o</vt:lpstr>
      <vt:lpstr>Generalization (3) MonoFormer</vt:lpstr>
      <vt:lpstr>Extension to Image Editing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정하연</dc:creator>
  <cp:lastModifiedBy>정하연</cp:lastModifiedBy>
  <cp:revision>568</cp:revision>
  <dcterms:created xsi:type="dcterms:W3CDTF">2025-07-25T04:06:09Z</dcterms:created>
  <dcterms:modified xsi:type="dcterms:W3CDTF">2026-04-21T11:32:38Z</dcterms:modified>
</cp:coreProperties>
</file>