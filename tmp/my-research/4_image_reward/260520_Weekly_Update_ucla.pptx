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7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E00BF-5D40-8E89-F5F2-4B0618AD9405}" name="정하연" initials="정" userId="S::hayeon.jeong@o365.yonsei.ac.kr::e95db288-6b69-43e1-a5d2-7b2a41a97e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AC"/>
    <a:srgbClr val="DEDF00"/>
    <a:srgbClr val="BF4959"/>
    <a:srgbClr val="FB8682"/>
    <a:srgbClr val="66C8F5"/>
    <a:srgbClr val="88D6F5"/>
    <a:srgbClr val="FBA4A3"/>
    <a:srgbClr val="FBA6A1"/>
    <a:srgbClr val="FBCECB"/>
    <a:srgbClr val="F1C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2"/>
    <p:restoredTop sz="89774"/>
  </p:normalViewPr>
  <p:slideViewPr>
    <p:cSldViewPr snapToGrid="0">
      <p:cViewPr>
        <p:scale>
          <a:sx n="118" d="100"/>
          <a:sy n="118" d="100"/>
        </p:scale>
        <p:origin x="6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5/20/26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Tong, </a:t>
            </a:r>
            <a:r>
              <a:rPr lang="en-US" dirty="0" err="1"/>
              <a:t>Yuanhao</a:t>
            </a:r>
            <a:r>
              <a:rPr lang="en-US" dirty="0"/>
              <a:t>, Sohyun</a:t>
            </a:r>
            <a:r>
              <a:rPr lang="ko-KR" altLang="en-US" dirty="0"/>
              <a:t>하고 이야기를 나눠봤는데</a:t>
            </a:r>
            <a:r>
              <a:rPr lang="en-US" altLang="ko-KR" dirty="0"/>
              <a:t>,</a:t>
            </a:r>
            <a:r>
              <a:rPr lang="ko-KR" altLang="en-US" dirty="0"/>
              <a:t> 가장 </a:t>
            </a:r>
            <a:r>
              <a:rPr lang="ko-KR" altLang="en-US" dirty="0" err="1"/>
              <a:t>관심가는</a:t>
            </a:r>
            <a:r>
              <a:rPr lang="ko-KR" altLang="en-US" dirty="0"/>
              <a:t> 주제가 </a:t>
            </a:r>
            <a:r>
              <a:rPr lang="en-US" altLang="ko-KR" dirty="0"/>
              <a:t>image reward model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저는 </a:t>
            </a:r>
            <a:r>
              <a:rPr lang="en-US" altLang="ko-KR" dirty="0"/>
              <a:t>Image</a:t>
            </a:r>
            <a:r>
              <a:rPr lang="ko-KR" altLang="en-US" dirty="0"/>
              <a:t> </a:t>
            </a:r>
            <a:r>
              <a:rPr lang="en-US" altLang="ko-KR" dirty="0"/>
              <a:t>Reward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 err="1"/>
              <a:t>에</a:t>
            </a:r>
            <a:r>
              <a:rPr lang="ko-KR" altLang="en-US" dirty="0"/>
              <a:t> 대해 많이 알지 못해서 이 연구 분야가 어떻게 발전되어 왔는지 공부해봤습니다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</a:t>
            </a:r>
            <a:r>
              <a:rPr lang="en-US" altLang="ko-KR" dirty="0"/>
              <a:t>had</a:t>
            </a:r>
            <a:r>
              <a:rPr lang="ko-KR" altLang="en-US" dirty="0"/>
              <a:t> </a:t>
            </a:r>
            <a:r>
              <a:rPr lang="en-US" dirty="0"/>
              <a:t>discuss</a:t>
            </a:r>
            <a:r>
              <a:rPr lang="en-US" altLang="ko-KR" dirty="0"/>
              <a:t>ion</a:t>
            </a:r>
            <a:r>
              <a:rPr lang="en-US" dirty="0"/>
              <a:t> with Tong, </a:t>
            </a:r>
            <a:r>
              <a:rPr lang="en-US" dirty="0" err="1"/>
              <a:t>Yuanhao</a:t>
            </a:r>
            <a:r>
              <a:rPr lang="en-US" dirty="0"/>
              <a:t>, and Sohyun,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most</a:t>
            </a:r>
            <a:r>
              <a:rPr lang="ko-KR" altLang="en-US" dirty="0"/>
              <a:t> </a:t>
            </a:r>
            <a:r>
              <a:rPr lang="en-US" altLang="ko-KR" dirty="0"/>
              <a:t>interesting</a:t>
            </a:r>
            <a:r>
              <a:rPr lang="ko-KR" altLang="en-US" dirty="0"/>
              <a:t> </a:t>
            </a:r>
            <a:r>
              <a:rPr lang="en-US" altLang="ko-KR" dirty="0"/>
              <a:t>topic</a:t>
            </a:r>
            <a:r>
              <a:rPr lang="ko-KR" altLang="en-US" dirty="0"/>
              <a:t> </a:t>
            </a:r>
            <a:r>
              <a:rPr lang="en-US" dirty="0"/>
              <a:t>was the Image Reward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Since</a:t>
            </a:r>
            <a:r>
              <a:rPr lang="en-US" dirty="0"/>
              <a:t> I was </a:t>
            </a:r>
            <a:r>
              <a:rPr lang="en-US" b="1" u="sng" dirty="0"/>
              <a:t>not very familiar with </a:t>
            </a:r>
            <a:r>
              <a:rPr lang="en-US" dirty="0"/>
              <a:t>Image Reward Models, I </a:t>
            </a:r>
            <a:r>
              <a:rPr lang="en-US" b="1" u="sng" dirty="0"/>
              <a:t>looked into</a:t>
            </a:r>
            <a:r>
              <a:rPr lang="en-US" b="0" u="none" dirty="0"/>
              <a:t> </a:t>
            </a:r>
            <a:r>
              <a:rPr lang="en-US" dirty="0"/>
              <a:t>how </a:t>
            </a:r>
            <a:r>
              <a:rPr lang="en-US" b="1" u="sng" dirty="0"/>
              <a:t>this research field</a:t>
            </a:r>
            <a:r>
              <a:rPr lang="en-US" dirty="0"/>
              <a:t> </a:t>
            </a:r>
            <a:r>
              <a:rPr lang="en-US" b="1" u="sng" dirty="0"/>
              <a:t>has evolved</a:t>
            </a:r>
            <a:r>
              <a:rPr lang="en-US" dirty="0"/>
              <a:t> </a:t>
            </a:r>
            <a:r>
              <a:rPr lang="en-US" b="1" u="sng" dirty="0"/>
              <a:t>over time.</a:t>
            </a:r>
          </a:p>
          <a:p>
            <a:endParaRPr lang="en-US" dirty="0"/>
          </a:p>
          <a:p>
            <a:pPr marL="0" indent="0">
              <a:buFontTx/>
              <a:buNone/>
            </a:pPr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0746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교수님께서 저번 미팅에서 언급하셨던 논문이 </a:t>
            </a:r>
            <a:r>
              <a:rPr lang="en-US" altLang="ko-KR" dirty="0" err="1"/>
              <a:t>DiffusionNFT</a:t>
            </a:r>
            <a:r>
              <a:rPr lang="ko-KR" altLang="en-US" dirty="0"/>
              <a:t>였던 것 같은데 혹시 맞나요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이런 최근 </a:t>
            </a:r>
            <a:r>
              <a:rPr lang="en-US" altLang="ko-KR" dirty="0"/>
              <a:t>3</a:t>
            </a:r>
            <a:r>
              <a:rPr lang="ko-KR" altLang="en-US" dirty="0"/>
              <a:t>개의 연구들을 </a:t>
            </a:r>
            <a:r>
              <a:rPr lang="en-US" altLang="ko-KR" dirty="0"/>
              <a:t>anchor paper</a:t>
            </a:r>
            <a:r>
              <a:rPr lang="ko-KR" altLang="en-US" dirty="0"/>
              <a:t>로 정해서</a:t>
            </a:r>
            <a:r>
              <a:rPr lang="en-US" altLang="ko-KR" dirty="0"/>
              <a:t>, image reward</a:t>
            </a:r>
            <a:r>
              <a:rPr lang="ko-KR" altLang="en-US" dirty="0"/>
              <a:t> 모델부터 이 논문들을 이해하기 위한 전반적인 공부를 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dirty="0"/>
              <a:t>I think the paper you </a:t>
            </a:r>
            <a:r>
              <a:rPr lang="en-US" b="1" u="sng" dirty="0"/>
              <a:t>mentioned</a:t>
            </a:r>
            <a:r>
              <a:rPr lang="en-US" dirty="0"/>
              <a:t> in </a:t>
            </a:r>
            <a:r>
              <a:rPr lang="en-US" b="1" u="sng" dirty="0"/>
              <a:t>our previous meeting</a:t>
            </a:r>
            <a:r>
              <a:rPr lang="en-US" dirty="0"/>
              <a:t> was </a:t>
            </a:r>
            <a:r>
              <a:rPr lang="en-US" b="1" u="sng" dirty="0"/>
              <a:t>probably</a:t>
            </a:r>
            <a:r>
              <a:rPr lang="en-US" dirty="0"/>
              <a:t> </a:t>
            </a:r>
            <a:r>
              <a:rPr lang="en-US" i="1" dirty="0" err="1"/>
              <a:t>DiffusionNFT</a:t>
            </a:r>
            <a:r>
              <a:rPr lang="en-US" dirty="0"/>
              <a:t>.</a:t>
            </a:r>
          </a:p>
          <a:p>
            <a:r>
              <a:rPr lang="en-US" b="1" u="sng" dirty="0"/>
              <a:t>Was that the correct one?</a:t>
            </a:r>
          </a:p>
          <a:p>
            <a:r>
              <a:rPr lang="en-US" b="1" u="sng" dirty="0"/>
              <a:t>Using</a:t>
            </a:r>
            <a:r>
              <a:rPr lang="en-US" dirty="0"/>
              <a:t> these three recent papers </a:t>
            </a:r>
            <a:r>
              <a:rPr lang="en-US" b="1" u="sng" dirty="0"/>
              <a:t>as</a:t>
            </a:r>
            <a:r>
              <a:rPr lang="en-US" dirty="0"/>
              <a:t> anchor papers, I studied the </a:t>
            </a:r>
            <a:r>
              <a:rPr lang="en-US" b="1" u="sng" dirty="0"/>
              <a:t>broader</a:t>
            </a:r>
            <a:r>
              <a:rPr lang="en-US" dirty="0"/>
              <a:t> background that is needed to understand </a:t>
            </a:r>
            <a:r>
              <a:rPr lang="en-US" b="1" u="sng" dirty="0"/>
              <a:t>them</a:t>
            </a:r>
            <a:r>
              <a:rPr lang="en-US" dirty="0"/>
              <a:t>, </a:t>
            </a:r>
            <a:r>
              <a:rPr lang="en-US" b="1" u="sng" dirty="0"/>
              <a:t>starting from</a:t>
            </a:r>
            <a:r>
              <a:rPr lang="en-US" b="0" u="none" dirty="0"/>
              <a:t> </a:t>
            </a:r>
            <a:r>
              <a:rPr lang="en-US" dirty="0"/>
              <a:t>Image Reward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9168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근데 그 전에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Matching,</a:t>
            </a:r>
            <a:r>
              <a:rPr lang="ko-KR" altLang="en-US" dirty="0"/>
              <a:t> </a:t>
            </a:r>
            <a:r>
              <a:rPr lang="en-US" altLang="ko-KR" dirty="0"/>
              <a:t>Rectified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 등</a:t>
            </a:r>
            <a:endParaRPr lang="en-US" altLang="ko-KR" dirty="0"/>
          </a:p>
          <a:p>
            <a:r>
              <a:rPr lang="en-US" dirty="0"/>
              <a:t>Image reward model</a:t>
            </a:r>
            <a:r>
              <a:rPr lang="ko-KR" altLang="en-US" dirty="0"/>
              <a:t>에서 </a:t>
            </a:r>
            <a:r>
              <a:rPr lang="en-US" altLang="ko-KR" dirty="0"/>
              <a:t>base model</a:t>
            </a:r>
            <a:r>
              <a:rPr lang="ko-KR" altLang="en-US" dirty="0"/>
              <a:t>로 쓰이는 </a:t>
            </a:r>
            <a:r>
              <a:rPr lang="en-US" altLang="ko-KR" dirty="0"/>
              <a:t>SD3.5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복습했습니다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Before that, however, I </a:t>
            </a:r>
            <a:r>
              <a:rPr lang="en-US" b="1" u="sng" dirty="0"/>
              <a:t>reviewed</a:t>
            </a:r>
            <a:r>
              <a:rPr lang="en-US" dirty="0"/>
              <a:t> Flow Matching and Rectified Flow,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since</a:t>
            </a:r>
            <a:r>
              <a:rPr lang="en-US" dirty="0"/>
              <a:t> SD3.5 — </a:t>
            </a:r>
            <a:r>
              <a:rPr lang="en-US" b="1" u="sng" dirty="0"/>
              <a:t>which is used</a:t>
            </a:r>
            <a:r>
              <a:rPr lang="en-US" b="0" u="none" dirty="0"/>
              <a:t> </a:t>
            </a:r>
            <a:r>
              <a:rPr lang="en-US" b="1" u="sng" dirty="0"/>
              <a:t>as</a:t>
            </a:r>
            <a:r>
              <a:rPr lang="en-US" b="0" u="none" dirty="0"/>
              <a:t> </a:t>
            </a:r>
            <a:r>
              <a:rPr lang="en-US" dirty="0"/>
              <a:t>the base model in Image Reward Models — </a:t>
            </a:r>
            <a:r>
              <a:rPr lang="en-US" b="1" u="sng" dirty="0"/>
              <a:t>is built upon</a:t>
            </a:r>
            <a:r>
              <a:rPr lang="en-US" dirty="0"/>
              <a:t> </a:t>
            </a:r>
            <a:r>
              <a:rPr lang="en-US" b="1" u="sng" dirty="0"/>
              <a:t>those concepts</a:t>
            </a:r>
            <a:r>
              <a:rPr lang="en-US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45204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검색과 </a:t>
            </a:r>
            <a:r>
              <a:rPr lang="en-US" altLang="ko-KR" dirty="0"/>
              <a:t>GPT</a:t>
            </a:r>
            <a:r>
              <a:rPr lang="ko-KR" altLang="en-US" dirty="0" err="1"/>
              <a:t>를</a:t>
            </a:r>
            <a:r>
              <a:rPr lang="ko-KR" altLang="en-US" dirty="0"/>
              <a:t> 통해 </a:t>
            </a:r>
            <a:r>
              <a:rPr lang="en-US" altLang="ko-KR" dirty="0"/>
              <a:t>reward model</a:t>
            </a:r>
            <a:r>
              <a:rPr lang="ko-KR" altLang="en-US" dirty="0"/>
              <a:t>의 연구 종류엔 뭐가 있는지 알아봤습니다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크게 </a:t>
            </a:r>
            <a:r>
              <a:rPr lang="en-US" altLang="ko-KR" dirty="0"/>
              <a:t>3-4</a:t>
            </a:r>
            <a:r>
              <a:rPr lang="ko-KR" altLang="en-US" dirty="0"/>
              <a:t>가지가 있었는데</a:t>
            </a:r>
            <a:r>
              <a:rPr lang="en-US" altLang="ko-KR" dirty="0"/>
              <a:t>,</a:t>
            </a:r>
          </a:p>
          <a:p>
            <a:pPr marL="228600" indent="-228600">
              <a:buAutoNum type="arabicPeriod"/>
            </a:pPr>
            <a:r>
              <a:rPr lang="en-US" altLang="ko-KR" dirty="0"/>
              <a:t>Recent image reward research can </a:t>
            </a:r>
            <a:r>
              <a:rPr lang="en-US" altLang="ko-KR" b="1" u="sng" dirty="0"/>
              <a:t>be grouped into</a:t>
            </a:r>
            <a:r>
              <a:rPr lang="en-US" altLang="ko-KR" b="0" u="none" dirty="0"/>
              <a:t> </a:t>
            </a:r>
            <a:r>
              <a:rPr lang="en-US" altLang="ko-KR" b="1" u="sng" dirty="0"/>
              <a:t>several directions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dirty="0"/>
              <a:t>Some papers </a:t>
            </a:r>
            <a:r>
              <a:rPr lang="en-US" altLang="ko-KR" b="1" u="sng" dirty="0"/>
              <a:t>focus on</a:t>
            </a:r>
            <a:r>
              <a:rPr lang="en-US" altLang="ko-KR" b="0" u="none" dirty="0"/>
              <a:t> </a:t>
            </a:r>
            <a:r>
              <a:rPr lang="en-US" altLang="ko-KR" b="1" u="sng" dirty="0"/>
              <a:t>building</a:t>
            </a:r>
            <a:r>
              <a:rPr lang="en-US" altLang="ko-KR" dirty="0"/>
              <a:t> better reward models</a:t>
            </a:r>
            <a:r>
              <a:rPr lang="en-US" altLang="ko-KR" b="0" u="none" dirty="0"/>
              <a:t>, </a:t>
            </a:r>
            <a:r>
              <a:rPr lang="en-US" altLang="ko-KR" b="1" u="sng" dirty="0"/>
              <a:t>some use a single reward</a:t>
            </a:r>
            <a:r>
              <a:rPr lang="en-US" altLang="ko-KR" dirty="0"/>
              <a:t> to </a:t>
            </a:r>
            <a:r>
              <a:rPr lang="en-US" altLang="ko-KR" b="1" u="sng" dirty="0"/>
              <a:t>post-train a generator</a:t>
            </a:r>
            <a:r>
              <a:rPr lang="en-US" altLang="ko-KR" dirty="0"/>
              <a:t>, and others directly use </a:t>
            </a:r>
            <a:r>
              <a:rPr lang="en-US" altLang="ko-KR" b="1" u="sng" dirty="0"/>
              <a:t>preference pairs</a:t>
            </a:r>
            <a:r>
              <a:rPr lang="en-US" altLang="ko-KR" b="0" u="none" dirty="0"/>
              <a:t> </a:t>
            </a:r>
            <a:r>
              <a:rPr lang="en-US" altLang="ko-KR" dirty="0"/>
              <a:t>without an </a:t>
            </a:r>
            <a:r>
              <a:rPr lang="en-US" altLang="ko-KR" b="1" u="sng" dirty="0"/>
              <a:t>explicit reward mod</a:t>
            </a:r>
            <a:r>
              <a:rPr lang="en-US" altLang="ko-KR" dirty="0"/>
              <a:t>el.</a:t>
            </a:r>
          </a:p>
          <a:p>
            <a:pPr marL="228600" indent="-228600">
              <a:buAutoNum type="arabicPeriod"/>
            </a:pPr>
            <a:r>
              <a:rPr lang="en-US" altLang="ko-KR" dirty="0"/>
              <a:t>More recent work studies multi-reward optimization, expert merging or distillation, and reward hacking, which are </a:t>
            </a:r>
            <a:r>
              <a:rPr lang="en-US" altLang="ko-KR" b="1" u="sng" dirty="0"/>
              <a:t>especially</a:t>
            </a:r>
            <a:r>
              <a:rPr lang="en-US" altLang="ko-KR" dirty="0"/>
              <a:t> relevant to Flow-GRPO, </a:t>
            </a:r>
            <a:r>
              <a:rPr lang="en-US" altLang="ko-KR" dirty="0" err="1"/>
              <a:t>DiffusionNFT</a:t>
            </a:r>
            <a:r>
              <a:rPr lang="en-US" altLang="ko-KR" dirty="0"/>
              <a:t>, and Flow-OPD.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altLang="ko-KR" dirty="0"/>
              <a:t>--------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종합적으로</a:t>
            </a:r>
            <a:r>
              <a:rPr lang="en-US" altLang="ko-KR" dirty="0"/>
              <a:t>,</a:t>
            </a:r>
            <a:r>
              <a:rPr lang="ko-KR" altLang="en-US" dirty="0"/>
              <a:t> 이미 </a:t>
            </a:r>
            <a:r>
              <a:rPr lang="en-US" altLang="ko-KR" dirty="0"/>
              <a:t>single task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reward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을 이용해서 </a:t>
            </a:r>
            <a:r>
              <a:rPr lang="en-US" altLang="ko-KR" dirty="0"/>
              <a:t>post-training</a:t>
            </a:r>
            <a:r>
              <a:rPr lang="ko-KR" altLang="en-US" dirty="0"/>
              <a:t>을 하는 연구는 많이 있는 것으로 보였다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그래서 요즘엔 여러가지 </a:t>
            </a:r>
            <a:r>
              <a:rPr lang="en-US" altLang="ko-KR" dirty="0"/>
              <a:t>reward model</a:t>
            </a:r>
            <a:r>
              <a:rPr lang="ko-KR" altLang="en-US" dirty="0"/>
              <a:t>을 한 번에 이용하는 방법이 많이 연구되는 것 같다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b="1" u="sng" dirty="0"/>
              <a:t>it seemed that</a:t>
            </a:r>
            <a:r>
              <a:rPr lang="en-US" b="0" u="none" dirty="0"/>
              <a:t> </a:t>
            </a:r>
            <a:r>
              <a:rPr lang="en-US" dirty="0"/>
              <a:t>there has </a:t>
            </a:r>
            <a:r>
              <a:rPr lang="en-US" b="1" u="sng" dirty="0"/>
              <a:t>already</a:t>
            </a:r>
            <a:r>
              <a:rPr lang="en-US" dirty="0"/>
              <a:t> been </a:t>
            </a:r>
            <a:r>
              <a:rPr lang="en-US" b="1" u="sng" dirty="0"/>
              <a:t>substantial</a:t>
            </a:r>
            <a:r>
              <a:rPr lang="en-US" dirty="0"/>
              <a:t> work on </a:t>
            </a:r>
            <a:r>
              <a:rPr lang="en-US" b="1" u="sng" dirty="0"/>
              <a:t>post-training</a:t>
            </a:r>
            <a:r>
              <a:rPr 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dirty="0"/>
              <a:t>using reward models </a:t>
            </a:r>
            <a:r>
              <a:rPr lang="en-US" b="1" u="sng" dirty="0"/>
              <a:t>for single tasks.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As a result</a:t>
            </a:r>
            <a:r>
              <a:rPr lang="en-US" dirty="0"/>
              <a:t>, recent research </a:t>
            </a:r>
            <a:r>
              <a:rPr lang="en-US" b="1" u="sng" dirty="0"/>
              <a:t>appears to focus more on</a:t>
            </a:r>
            <a:r>
              <a:rPr lang="en-US" dirty="0"/>
              <a:t> how to </a:t>
            </a:r>
            <a:r>
              <a:rPr lang="en-US" b="1" u="sng" dirty="0"/>
              <a:t>utilize</a:t>
            </a:r>
            <a:r>
              <a:rPr lang="en-US" dirty="0"/>
              <a:t> multiple reward models </a:t>
            </a:r>
            <a:r>
              <a:rPr lang="en-US" b="1" u="sng" dirty="0"/>
              <a:t>simultaneously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9569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7648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그리고 </a:t>
            </a:r>
            <a:r>
              <a:rPr lang="en-US" altLang="ko-KR" dirty="0"/>
              <a:t>reward hacking</a:t>
            </a:r>
            <a:r>
              <a:rPr lang="ko-KR" altLang="en-US" dirty="0"/>
              <a:t> 문제도 많이 다뤄지고 있는 것 같아서 살펴보다가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Yunqi</a:t>
            </a:r>
            <a:r>
              <a:rPr lang="ko-KR" altLang="en-US" dirty="0"/>
              <a:t>가 쓴 논문도 </a:t>
            </a:r>
            <a:r>
              <a:rPr lang="ko-KR" altLang="en-US" dirty="0" err="1"/>
              <a:t>있는거</a:t>
            </a:r>
            <a:r>
              <a:rPr lang="ko-KR" altLang="en-US" dirty="0"/>
              <a:t> 발견했다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also seems that the reward hacking problem is </a:t>
            </a:r>
            <a:r>
              <a:rPr lang="en-US" b="1" u="sng" dirty="0"/>
              <a:t>receiving increasing attention</a:t>
            </a:r>
            <a:r>
              <a:rPr lang="en-US" dirty="0"/>
              <a:t>. I suddenly found a paper </a:t>
            </a:r>
            <a:r>
              <a:rPr lang="en-US" b="1" u="sng" dirty="0"/>
              <a:t>written by</a:t>
            </a:r>
            <a:r>
              <a:rPr lang="en-US" b="0" u="none" dirty="0"/>
              <a:t> </a:t>
            </a:r>
            <a:r>
              <a:rPr lang="en-US" dirty="0"/>
              <a:t>Yunqi related to this topic.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54181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 하나 생각이 드는 것은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reward hacking</a:t>
            </a:r>
            <a:r>
              <a:rPr lang="ko-KR" altLang="en-US" dirty="0"/>
              <a:t>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에는 이렇게 </a:t>
            </a:r>
            <a:r>
              <a:rPr lang="en-US" altLang="ko-KR" dirty="0"/>
              <a:t>reward hacking</a:t>
            </a:r>
            <a:r>
              <a:rPr lang="ko-KR" altLang="en-US" dirty="0"/>
              <a:t>을 </a:t>
            </a:r>
            <a:r>
              <a:rPr lang="en-US" altLang="ko-KR" dirty="0"/>
              <a:t>generation</a:t>
            </a:r>
            <a:r>
              <a:rPr lang="ko-KR" altLang="en-US" dirty="0"/>
              <a:t>이 다 끝나고 </a:t>
            </a:r>
            <a:r>
              <a:rPr lang="ko-KR" altLang="en-US" dirty="0" err="1"/>
              <a:t>판단하는게</a:t>
            </a:r>
            <a:r>
              <a:rPr lang="ko-KR" altLang="en-US" dirty="0"/>
              <a:t> 아니라 생성 과정에서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SAE</a:t>
            </a:r>
            <a:r>
              <a:rPr lang="ko-KR" altLang="en-US" dirty="0" err="1"/>
              <a:t>를</a:t>
            </a:r>
            <a:r>
              <a:rPr lang="ko-KR" altLang="en-US" dirty="0"/>
              <a:t> 활용해서 </a:t>
            </a:r>
            <a:r>
              <a:rPr lang="en-US" altLang="ko-KR" dirty="0"/>
              <a:t>/</a:t>
            </a:r>
            <a:r>
              <a:rPr lang="ko-KR" altLang="en-US" dirty="0"/>
              <a:t> 탐지할 수 있다는 논문이 있었다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근데 </a:t>
            </a:r>
            <a:r>
              <a:rPr lang="en-US" altLang="ko-KR" dirty="0"/>
              <a:t>T2I</a:t>
            </a:r>
            <a:r>
              <a:rPr lang="ko-KR" altLang="en-US" dirty="0"/>
              <a:t> 에는 그게 아직 없는 것 같다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T2I에서 “early/internal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output에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있다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연구들이 있더라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논문들을 완벽하게 읽은 건 아니라 그냥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brainstorming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수준이다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주제에 대해서 어떻게 생각하시나요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다음주에는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yunqi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랑 얘기해보고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논문도 더 자세히 읽어오겠다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</a:t>
            </a:r>
          </a:p>
          <a:p>
            <a:r>
              <a:rPr lang="en-US" dirty="0"/>
              <a:t>One idea I recently had is related </a:t>
            </a:r>
            <a:r>
              <a:rPr lang="en-US" b="1" u="sng" dirty="0"/>
              <a:t>to reward hacking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the LLM domain, there have been papers showing that reward hacking </a:t>
            </a:r>
            <a:r>
              <a:rPr lang="en-US" b="1" u="sng" dirty="0"/>
              <a:t>can be detected during the generation process </a:t>
            </a:r>
            <a:r>
              <a:rPr lang="en-US" dirty="0"/>
              <a:t>— for example, by monitoring internal activations or using SAE-based approaches — </a:t>
            </a:r>
            <a:r>
              <a:rPr lang="en-US" b="1" u="sng" dirty="0"/>
              <a:t>rather than</a:t>
            </a:r>
            <a:r>
              <a:rPr lang="en-US" dirty="0"/>
              <a:t> only evaluating the final output after generation is complete.</a:t>
            </a:r>
          </a:p>
          <a:p>
            <a:endParaRPr lang="en-US" dirty="0"/>
          </a:p>
          <a:p>
            <a:r>
              <a:rPr lang="en-US" dirty="0"/>
              <a:t>However, it seems that similar approaches </a:t>
            </a:r>
            <a:r>
              <a:rPr lang="en-US" b="1" u="sng" dirty="0"/>
              <a:t>have not really been explored yet</a:t>
            </a:r>
            <a:r>
              <a:rPr lang="en-US" dirty="0"/>
              <a:t> for T2I models.</a:t>
            </a:r>
            <a:br>
              <a:rPr lang="en-US" dirty="0"/>
            </a:br>
            <a:r>
              <a:rPr lang="en-US" dirty="0"/>
              <a:t>I found several works suggesting that early or intermediate activations in T2I models </a:t>
            </a:r>
            <a:r>
              <a:rPr lang="en-US" b="1" u="sng" dirty="0"/>
              <a:t>can already reveal information</a:t>
            </a:r>
            <a:r>
              <a:rPr lang="en-US" b="1" u="none" dirty="0"/>
              <a:t> </a:t>
            </a:r>
            <a:r>
              <a:rPr lang="en-US" dirty="0"/>
              <a:t>about the final generated output.</a:t>
            </a:r>
          </a:p>
          <a:p>
            <a:endParaRPr lang="en-US" dirty="0"/>
          </a:p>
          <a:p>
            <a:r>
              <a:rPr lang="en-US" dirty="0"/>
              <a:t>I have not finished reading all the papers in detail yet, so this is still at the brainstorming stage, but I was wondering what you think about this direction.</a:t>
            </a:r>
          </a:p>
          <a:p>
            <a:endParaRPr lang="en-US" dirty="0"/>
          </a:p>
          <a:p>
            <a:r>
              <a:rPr lang="en-US" dirty="0"/>
              <a:t>For next week, I will discuss this further with Yunqi and read the papers more carefully.</a:t>
            </a:r>
          </a:p>
          <a:p>
            <a:pPr marL="0" indent="0">
              <a:buFontTx/>
              <a:buNone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0600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5/20/26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5/20/26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5/20/26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5/20/26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5/20/26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5/20/26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5/20/26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416FE89-1A01-8113-1810-88E693C4B77F}"/>
              </a:ext>
            </a:extLst>
          </p:cNvPr>
          <p:cNvGrpSpPr/>
          <p:nvPr userDrawn="1"/>
        </p:nvGrpSpPr>
        <p:grpSpPr>
          <a:xfrm>
            <a:off x="1295385" y="6506523"/>
            <a:ext cx="922375" cy="271843"/>
            <a:chOff x="116897" y="6241468"/>
            <a:chExt cx="765162" cy="2359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4A174EB-1A82-432B-0C16-697A22C17BA5}"/>
                </a:ext>
              </a:extLst>
            </p:cNvPr>
            <p:cNvGrpSpPr/>
            <p:nvPr userDrawn="1"/>
          </p:nvGrpSpPr>
          <p:grpSpPr>
            <a:xfrm>
              <a:off x="116897" y="6241468"/>
              <a:ext cx="741838" cy="235985"/>
              <a:chOff x="4838700" y="1485900"/>
              <a:chExt cx="7879666" cy="254725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B029C1D-20FD-B4E0-29AF-2B23C5DEC29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b="34454"/>
              <a:stretch>
                <a:fillRect/>
              </a:stretch>
            </p:blipFill>
            <p:spPr>
              <a:xfrm>
                <a:off x="4838700" y="1485900"/>
                <a:ext cx="2514600" cy="254725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9A72C3-F457-786A-63CE-25A46D75741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t="70799" b="10827"/>
              <a:stretch>
                <a:fillRect/>
              </a:stretch>
            </p:blipFill>
            <p:spPr>
              <a:xfrm>
                <a:off x="6925260" y="1487292"/>
                <a:ext cx="5793106" cy="1645028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2C0EE7-84AC-3754-1583-52C466D1D3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rcRect t="87059"/>
            <a:stretch>
              <a:fillRect/>
            </a:stretch>
          </p:blipFill>
          <p:spPr>
            <a:xfrm>
              <a:off x="336662" y="6361948"/>
              <a:ext cx="545397" cy="1073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54060"/>
            <a:ext cx="103632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Image Reward Model</a:t>
            </a:r>
            <a:br>
              <a:rPr lang="en-KR" sz="2800"/>
            </a:br>
            <a:r>
              <a:rPr lang="en-US" sz="2400" dirty="0"/>
              <a:t>Background &amp; Related Works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May 20th, 2026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194D-D56F-C6A7-D91D-B7E4AE2B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0. Anchor Papers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6F88-E9C4-C771-265B-6D656C1C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22"/>
          <a:stretch>
            <a:fillRect/>
          </a:stretch>
        </p:blipFill>
        <p:spPr>
          <a:xfrm>
            <a:off x="365126" y="1290918"/>
            <a:ext cx="7772400" cy="382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2ECB-A0FD-429E-3099-13FEA8FE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Base Model: Diffusion to Flow Matching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4438-5744-468C-BEF7-FBE120420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11" r="3521"/>
          <a:stretch>
            <a:fillRect/>
          </a:stretch>
        </p:blipFill>
        <p:spPr>
          <a:xfrm>
            <a:off x="2982151" y="888321"/>
            <a:ext cx="6227697" cy="789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C05319-4E4E-C0B1-7850-6E0C8B9F1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82" y="1845113"/>
            <a:ext cx="5114280" cy="2234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F49A63-D539-26A2-C1A1-00A1CD57E2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990"/>
          <a:stretch>
            <a:fillRect/>
          </a:stretch>
        </p:blipFill>
        <p:spPr>
          <a:xfrm>
            <a:off x="127382" y="4112705"/>
            <a:ext cx="5114280" cy="1739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2105E-85E4-C963-3A0E-B8E7798E2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253" y="1845113"/>
            <a:ext cx="4590859" cy="2104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456B2-E097-210E-37CB-844FDD3881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9282"/>
          <a:stretch>
            <a:fillRect/>
          </a:stretch>
        </p:blipFill>
        <p:spPr>
          <a:xfrm>
            <a:off x="4306253" y="4119073"/>
            <a:ext cx="4321710" cy="2277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31A360-87DB-8AED-CB0A-E6A8DA78D6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2775" r="16332"/>
          <a:stretch>
            <a:fillRect/>
          </a:stretch>
        </p:blipFill>
        <p:spPr>
          <a:xfrm>
            <a:off x="8350949" y="2511734"/>
            <a:ext cx="3841052" cy="22530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FD6CB6-E8F7-D92F-B164-24548D5DDB51}"/>
              </a:ext>
            </a:extLst>
          </p:cNvPr>
          <p:cNvCxnSpPr/>
          <p:nvPr/>
        </p:nvCxnSpPr>
        <p:spPr>
          <a:xfrm>
            <a:off x="4269677" y="1845113"/>
            <a:ext cx="0" cy="4551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E57256-3103-A652-F8E2-879D9C48EC88}"/>
              </a:ext>
            </a:extLst>
          </p:cNvPr>
          <p:cNvCxnSpPr>
            <a:cxnSpLocks/>
          </p:cNvCxnSpPr>
          <p:nvPr/>
        </p:nvCxnSpPr>
        <p:spPr>
          <a:xfrm>
            <a:off x="8244269" y="2473001"/>
            <a:ext cx="0" cy="2291768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52232E-FABB-AA7F-EEB5-C78689F5AD70}"/>
              </a:ext>
            </a:extLst>
          </p:cNvPr>
          <p:cNvCxnSpPr>
            <a:cxnSpLocks/>
          </p:cNvCxnSpPr>
          <p:nvPr/>
        </p:nvCxnSpPr>
        <p:spPr>
          <a:xfrm>
            <a:off x="8908733" y="1821071"/>
            <a:ext cx="0" cy="65636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9FFDAC-1B5A-0553-38EE-173B6D7538CC}"/>
              </a:ext>
            </a:extLst>
          </p:cNvPr>
          <p:cNvCxnSpPr>
            <a:cxnSpLocks/>
          </p:cNvCxnSpPr>
          <p:nvPr/>
        </p:nvCxnSpPr>
        <p:spPr>
          <a:xfrm>
            <a:off x="8897112" y="4764769"/>
            <a:ext cx="0" cy="1535447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097DD9-AEC0-01F5-5650-9BB90BF306B7}"/>
              </a:ext>
            </a:extLst>
          </p:cNvPr>
          <p:cNvCxnSpPr>
            <a:cxnSpLocks/>
          </p:cNvCxnSpPr>
          <p:nvPr/>
        </p:nvCxnSpPr>
        <p:spPr>
          <a:xfrm flipH="1" flipV="1">
            <a:off x="8244269" y="4761721"/>
            <a:ext cx="652843" cy="3048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62B9DE-DA12-DF5E-895B-D33278151F2A}"/>
              </a:ext>
            </a:extLst>
          </p:cNvPr>
          <p:cNvCxnSpPr>
            <a:cxnSpLocks/>
          </p:cNvCxnSpPr>
          <p:nvPr/>
        </p:nvCxnSpPr>
        <p:spPr>
          <a:xfrm flipH="1" flipV="1">
            <a:off x="8244269" y="2468293"/>
            <a:ext cx="652843" cy="3048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9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2BC7-0815-5614-E662-08EF9B48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DC59-3672-E3EC-C098-3BEA293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Image Reward Models</a:t>
            </a:r>
            <a:br>
              <a:rPr lang="en-US" dirty="0"/>
            </a:br>
            <a:r>
              <a:rPr lang="en-US" dirty="0"/>
              <a:t>2.1. Taxonomy of recent papers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A95131-6EE0-EE74-F3F9-9DBDE76F0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25330"/>
              </p:ext>
            </p:extLst>
          </p:nvPr>
        </p:nvGraphicFramePr>
        <p:xfrm>
          <a:off x="530352" y="1600200"/>
          <a:ext cx="11027664" cy="44498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1847042519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3240616471"/>
                    </a:ext>
                  </a:extLst>
                </a:gridCol>
                <a:gridCol w="4334256">
                  <a:extLst>
                    <a:ext uri="{9D8B030D-6E8A-4147-A177-3AD203B41FA5}">
                      <a16:colId xmlns:a16="http://schemas.microsoft.com/office/drawing/2014/main" val="2217852129"/>
                    </a:ext>
                  </a:extLst>
                </a:gridCol>
                <a:gridCol w="3648456">
                  <a:extLst>
                    <a:ext uri="{9D8B030D-6E8A-4147-A177-3AD203B41FA5}">
                      <a16:colId xmlns:a16="http://schemas.microsoft.com/office/drawing/2014/main" val="4292361613"/>
                    </a:ext>
                  </a:extLst>
                </a:gridCol>
              </a:tblGrid>
              <a:tr h="214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Level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Category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Core question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Examples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68540087"/>
                  </a:ext>
                </a:extLst>
              </a:tr>
              <a:tr h="53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Reward model learning</a:t>
                      </a:r>
                      <a:endParaRPr lang="en-US" sz="110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How do we build a good image/prompt scorer?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ImageReward, PickScore, HPSv2, DeQA, UnifiedReward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160075153"/>
                  </a:ext>
                </a:extLst>
              </a:tr>
              <a:tr h="53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i="1" u="sng" dirty="0"/>
                        <a:t>Single-reward post-training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How do we improve a generator using one reward?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ReFL</a:t>
                      </a:r>
                      <a:r>
                        <a:rPr lang="en-US" sz="1100" dirty="0"/>
                        <a:t>, DDPO, DPOK, </a:t>
                      </a:r>
                      <a:r>
                        <a:rPr lang="en-US" sz="1100" b="1" i="1" u="sng" dirty="0"/>
                        <a:t>Flow-GRPO, </a:t>
                      </a:r>
                      <a:r>
                        <a:rPr lang="en-US" sz="1100" b="1" i="1" u="sng" dirty="0" err="1"/>
                        <a:t>DiffusionNFT</a:t>
                      </a:r>
                      <a:endParaRPr lang="en-US" sz="1100" b="1" i="1" u="sng" dirty="0"/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901124833"/>
                  </a:ext>
                </a:extLst>
              </a:tr>
              <a:tr h="85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Preference-pair direct alignment</a:t>
                      </a:r>
                      <a:endParaRPr lang="en-US" sz="110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Can we align the generator directly from preference pairs </a:t>
                      </a:r>
                      <a:r>
                        <a:rPr lang="en-US" sz="1100" u="sng" dirty="0"/>
                        <a:t>without an explicit reward model</a:t>
                      </a:r>
                      <a:r>
                        <a:rPr lang="en-US" sz="1100" dirty="0"/>
                        <a:t>?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Diffusion-DPO, DSPO, Dense Reward View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531373081"/>
                  </a:ext>
                </a:extLst>
              </a:tr>
              <a:tr h="53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Multi-reward optimization</a:t>
                      </a:r>
                      <a:endParaRPr lang="en-US" sz="1100" dirty="0"/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How do we optimize several reward axes without conflict?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Parrot, Rewards-in-Context, MixGRPO, GDPO, Flow-Multi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76367"/>
                  </a:ext>
                </a:extLst>
              </a:tr>
              <a:tr h="53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Expert merging / blending</a:t>
                      </a:r>
                      <a:endParaRPr lang="en-US" sz="1100" dirty="0"/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Can we train reward-specific experts and combine them later?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Rewarded Soups, Diffusion Soup, Bone Soups, Diffusion Blend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66452"/>
                  </a:ext>
                </a:extLst>
              </a:tr>
              <a:tr h="696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i="1" u="sng" dirty="0"/>
                        <a:t>Reward-trained teacher distillation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Can we transfer reward-specialized teacher abilities into one student?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u="sng" dirty="0"/>
                        <a:t>Flow-OPD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83637673"/>
                  </a:ext>
                </a:extLst>
              </a:tr>
              <a:tr h="53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7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Reward hacking / evaluation robustness</a:t>
                      </a:r>
                      <a:endParaRPr lang="en-US" sz="1100" dirty="0"/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How do we detect and reduce reward exploitation?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reward hacking analyses, MLLM judges, task-specific verifiers</a:t>
                      </a:r>
                    </a:p>
                  </a:txBody>
                  <a:tcPr marL="52426" marR="52426" marT="26213" marB="2621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6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51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D760E4-80EF-6D04-F120-41B782E3A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DFC9-F028-F088-E497-6ED7B5A9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2.1.1 How the Anchor Papers Use Image Rewards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AD6D1-9195-07F5-C16F-CD595A42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65" y="1085984"/>
            <a:ext cx="7772400" cy="525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5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C02E-3A14-281A-23AF-77A359C6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</a:t>
            </a:r>
            <a:r>
              <a:rPr lang="ko-KR" altLang="en-US" dirty="0"/>
              <a:t> </a:t>
            </a:r>
            <a:r>
              <a:rPr lang="en-US" altLang="ko-KR" dirty="0"/>
              <a:t>Taxonomy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Multi-Reward Models</a:t>
            </a:r>
            <a:r>
              <a:rPr lang="ko-KR" altLang="en-US" dirty="0"/>
              <a:t>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28577-62A9-592E-766E-A5160F185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8461"/>
              </p:ext>
            </p:extLst>
          </p:nvPr>
        </p:nvGraphicFramePr>
        <p:xfrm>
          <a:off x="365126" y="1307465"/>
          <a:ext cx="11416880" cy="47778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83376">
                  <a:extLst>
                    <a:ext uri="{9D8B030D-6E8A-4147-A177-3AD203B41FA5}">
                      <a16:colId xmlns:a16="http://schemas.microsoft.com/office/drawing/2014/main" val="2515215518"/>
                    </a:ext>
                  </a:extLst>
                </a:gridCol>
                <a:gridCol w="2283376">
                  <a:extLst>
                    <a:ext uri="{9D8B030D-6E8A-4147-A177-3AD203B41FA5}">
                      <a16:colId xmlns:a16="http://schemas.microsoft.com/office/drawing/2014/main" val="3827359290"/>
                    </a:ext>
                  </a:extLst>
                </a:gridCol>
                <a:gridCol w="2283376">
                  <a:extLst>
                    <a:ext uri="{9D8B030D-6E8A-4147-A177-3AD203B41FA5}">
                      <a16:colId xmlns:a16="http://schemas.microsoft.com/office/drawing/2014/main" val="432960525"/>
                    </a:ext>
                  </a:extLst>
                </a:gridCol>
                <a:gridCol w="2283376">
                  <a:extLst>
                    <a:ext uri="{9D8B030D-6E8A-4147-A177-3AD203B41FA5}">
                      <a16:colId xmlns:a16="http://schemas.microsoft.com/office/drawing/2014/main" val="2460922771"/>
                    </a:ext>
                  </a:extLst>
                </a:gridCol>
                <a:gridCol w="2283376">
                  <a:extLst>
                    <a:ext uri="{9D8B030D-6E8A-4147-A177-3AD203B41FA5}">
                      <a16:colId xmlns:a16="http://schemas.microsoft.com/office/drawing/2014/main" val="2700722042"/>
                    </a:ext>
                  </a:extLst>
                </a:gridCol>
              </a:tblGrid>
              <a:tr h="178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Category</a:t>
                      </a:r>
                    </a:p>
                  </a:txBody>
                  <a:tcPr marL="41050" marR="41050" marT="20525" marB="20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Intuition</a:t>
                      </a:r>
                    </a:p>
                  </a:txBody>
                  <a:tcPr marL="41050" marR="41050" marT="20525" marB="20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What is mixed?</a:t>
                      </a:r>
                    </a:p>
                  </a:txBody>
                  <a:tcPr marL="41050" marR="41050" marT="20525" marB="20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Final form</a:t>
                      </a:r>
                    </a:p>
                  </a:txBody>
                  <a:tcPr marL="41050" marR="41050" marT="20525" marB="20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Examples</a:t>
                      </a:r>
                    </a:p>
                  </a:txBody>
                  <a:tcPr marL="41050" marR="41050" marT="20525" marB="205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965515"/>
                  </a:ext>
                </a:extLst>
              </a:tr>
              <a:tr h="97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A. Multi-reward optimization during training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Mix rewards during training, but try to find a balanced trade-off.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reward scalars, advantages, reward-conditioned data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one trained model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Parrot (2024.01), Rewards-in-Context (2024.02), </a:t>
                      </a:r>
                      <a:r>
                        <a:rPr lang="en-US" sz="1200" dirty="0" err="1"/>
                        <a:t>MixGRPO</a:t>
                      </a:r>
                      <a:r>
                        <a:rPr lang="en-US" sz="1200" dirty="0"/>
                        <a:t> (2025.07), GDPO (2026.01), Flow-Multi (2026.02)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671063830"/>
                  </a:ext>
                </a:extLst>
              </a:tr>
              <a:tr h="71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B. Train reward-specific experts, then merge weights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Fine-tune separate models for each reward, then merge them in parameter space.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model weights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one merged model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Rewarded Soups (2023.06), Diffusion Soup (2024.06), Bone Soups (2025.02)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752252583"/>
                  </a:ext>
                </a:extLst>
              </a:tr>
              <a:tr h="84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C. Train reward-specific experts, then blend at inference time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Keep experts separate and combine their generation processes during inference.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denoising process, drift, LoRA/expert choice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inference-time ensemble/blend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Diffusion Blend (2025.05)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717826636"/>
                  </a:ext>
                </a:extLst>
              </a:tr>
              <a:tr h="71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D. Train reward-specific experts, then distill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Transfer the capabilities of multiple teachers into one student model.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teacher predictions, teacher velocity, trajectory signals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one distilled student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Flow-OPD (2026.05)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567922353"/>
                  </a:ext>
                </a:extLst>
              </a:tr>
              <a:tr h="579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E. Make the reward model multi-dimensional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Instead of one total score, output separate scores for different criteria.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reward dimensions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multi-dimensional scorer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VisionReward</a:t>
                      </a:r>
                      <a:r>
                        <a:rPr lang="en-US" sz="1200" b="0" dirty="0"/>
                        <a:t> (2026.03), multi-head/rubric-style reward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546536923"/>
                  </a:ext>
                </a:extLst>
              </a:tr>
              <a:tr h="71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F. Convert sparse reward into dense reward/supervision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Replace final scalar reward with timestep- or trajectory-level signals.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dense reward, timestep signals, velocity supervision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denser training signal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Dense Reward View (2024.02), Flow-OPD (2026.05)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19105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1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2306-426B-F606-C3B0-1B3685A8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</a:t>
            </a:r>
            <a:r>
              <a:rPr lang="en-US" altLang="ko-KR" dirty="0"/>
              <a:t>3</a:t>
            </a:r>
            <a:r>
              <a:rPr lang="en-US" dirty="0"/>
              <a:t> Limitation of Image Reward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CACF85-96D4-8D4F-7CE2-FF183022F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517167"/>
              </p:ext>
            </p:extLst>
          </p:nvPr>
        </p:nvGraphicFramePr>
        <p:xfrm>
          <a:off x="365126" y="1266386"/>
          <a:ext cx="11416878" cy="492715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70426">
                  <a:extLst>
                    <a:ext uri="{9D8B030D-6E8A-4147-A177-3AD203B41FA5}">
                      <a16:colId xmlns:a16="http://schemas.microsoft.com/office/drawing/2014/main" val="1119723722"/>
                    </a:ext>
                  </a:extLst>
                </a:gridCol>
                <a:gridCol w="7746452">
                  <a:extLst>
                    <a:ext uri="{9D8B030D-6E8A-4147-A177-3AD203B41FA5}">
                      <a16:colId xmlns:a16="http://schemas.microsoft.com/office/drawing/2014/main" val="3667691257"/>
                    </a:ext>
                  </a:extLst>
                </a:gridCol>
              </a:tblGrid>
              <a:tr h="31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Limitation</a:t>
                      </a:r>
                    </a:p>
                  </a:txBody>
                  <a:tcPr marL="71395" marR="71395" marT="35698" marB="3569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Meaning</a:t>
                      </a:r>
                    </a:p>
                  </a:txBody>
                  <a:tcPr marL="71395" marR="71395" marT="35698" marB="3569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43076"/>
                  </a:ext>
                </a:extLst>
              </a:tr>
              <a:tr h="1251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Limited human preference data</a:t>
                      </a:r>
                    </a:p>
                  </a:txBody>
                  <a:tcPr marL="71395" marR="71395" marT="35698" marB="35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ImageReward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PickScore</a:t>
                      </a:r>
                      <a:r>
                        <a:rPr lang="en-US" sz="1400" dirty="0"/>
                        <a:t>, and HPSv2 are trained with pairwise preferences, but they depend on the number of annotators, prompt distribution, and image generation model distribution. Generalization can become unstable for out-of-distribution prompts or images from new models.</a:t>
                      </a:r>
                    </a:p>
                  </a:txBody>
                  <a:tcPr marL="71395" marR="71395" marT="35698" marB="35698" anchor="ctr"/>
                </a:tc>
                <a:extLst>
                  <a:ext uri="{0D108BD9-81ED-4DB2-BD59-A6C34878D82A}">
                    <a16:rowId xmlns:a16="http://schemas.microsoft.com/office/drawing/2014/main" val="1764040925"/>
                  </a:ext>
                </a:extLst>
              </a:tr>
              <a:tr h="782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Too much compressed into one scalar score</a:t>
                      </a:r>
                    </a:p>
                  </a:txBody>
                  <a:tcPr marL="71395" marR="71395" marT="35698" marB="35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single score compresses many different criteria, such as aesthetics, prompt following, text rendering, object counting, and safety. This loses information.</a:t>
                      </a:r>
                    </a:p>
                  </a:txBody>
                  <a:tcPr marL="71395" marR="71395" marT="35698" marB="35698" anchor="ctr"/>
                </a:tc>
                <a:extLst>
                  <a:ext uri="{0D108BD9-81ED-4DB2-BD59-A6C34878D82A}">
                    <a16:rowId xmlns:a16="http://schemas.microsoft.com/office/drawing/2014/main" val="791022405"/>
                  </a:ext>
                </a:extLst>
              </a:tr>
              <a:tr h="10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Limited reward capability</a:t>
                      </a:r>
                    </a:p>
                  </a:txBody>
                  <a:tcPr marL="71395" marR="71395" marT="35698" marB="35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CLIP-based rewards can be weak at fine-grained counting, spatial relations, and OCR. VQA/MLLM judges are stronger but slower and more expensive. OCR rewards can check text, but they do not evaluate overall aesthetics.</a:t>
                      </a:r>
                    </a:p>
                  </a:txBody>
                  <a:tcPr marL="71395" marR="71395" marT="35698" marB="35698" anchor="ctr"/>
                </a:tc>
                <a:extLst>
                  <a:ext uri="{0D108BD9-81ED-4DB2-BD59-A6C34878D82A}">
                    <a16:rowId xmlns:a16="http://schemas.microsoft.com/office/drawing/2014/main" val="3258793248"/>
                  </a:ext>
                </a:extLst>
              </a:tr>
              <a:tr h="782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model exploits reward loopholes</a:t>
                      </a:r>
                    </a:p>
                  </a:txBody>
                  <a:tcPr marL="71395" marR="71395" marT="35698" marB="35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generator may shift toward colors, compositions, textures, or exaggerated sharpness that the reward prefers, or it may produce images that only satisfy the benchmark.</a:t>
                      </a:r>
                    </a:p>
                  </a:txBody>
                  <a:tcPr marL="71395" marR="71395" marT="35698" marB="35698" anchor="ctr"/>
                </a:tc>
                <a:extLst>
                  <a:ext uri="{0D108BD9-81ED-4DB2-BD59-A6C34878D82A}">
                    <a16:rowId xmlns:a16="http://schemas.microsoft.com/office/drawing/2014/main" val="1893534721"/>
                  </a:ext>
                </a:extLst>
              </a:tr>
              <a:tr h="782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Rewards can conflict with each other</a:t>
                      </a:r>
                    </a:p>
                  </a:txBody>
                  <a:tcPr marL="71395" marR="71395" marT="35698" marB="356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Improving OCR reward can reduce aesthetics, while improving aesthetic reward can hurt counting or spatial relations. This creates a seesaw effect.</a:t>
                      </a:r>
                    </a:p>
                  </a:txBody>
                  <a:tcPr marL="71395" marR="71395" marT="35698" marB="356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6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07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0CEC-BDB4-FD79-2D0B-1E16AF6F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</a:t>
            </a:r>
            <a:r>
              <a:rPr lang="en-US" altLang="ko-KR" dirty="0"/>
              <a:t>3</a:t>
            </a:r>
            <a:r>
              <a:rPr lang="en-US" dirty="0"/>
              <a:t>. Recent Research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8C634-CDFF-06DA-FCFC-230A05F6E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treat a single reward model as an absolute standard.</a:t>
            </a:r>
          </a:p>
          <a:p>
            <a:r>
              <a:rPr lang="en-US" dirty="0"/>
              <a:t>Use multiple rewards/verifiers together.</a:t>
            </a:r>
          </a:p>
          <a:p>
            <a:r>
              <a:rPr lang="en-US" dirty="0"/>
              <a:t>Look for dense supervision instead of relying only on scalar rewards.</a:t>
            </a:r>
          </a:p>
          <a:p>
            <a:r>
              <a:rPr lang="en-US" dirty="0"/>
              <a:t>Distill reward-trained teachers.</a:t>
            </a:r>
          </a:p>
          <a:p>
            <a:pPr lvl="1"/>
            <a:r>
              <a:rPr lang="en-US" altLang="ko-KR" dirty="0"/>
              <a:t>Flow-OPD</a:t>
            </a:r>
            <a:endParaRPr lang="en-US" dirty="0"/>
          </a:p>
          <a:p>
            <a:r>
              <a:rPr lang="en-US" dirty="0"/>
              <a:t>Use MLLM judges or task-specific verifiers as auxiliary evaluators.</a:t>
            </a:r>
          </a:p>
          <a:p>
            <a:r>
              <a:rPr lang="en-US" dirty="0"/>
              <a:t>Analyze </a:t>
            </a:r>
            <a:r>
              <a:rPr lang="en-US" u="sng" dirty="0"/>
              <a:t>reward hacking</a:t>
            </a:r>
            <a:r>
              <a:rPr lang="en-US" dirty="0"/>
              <a:t> separately.</a:t>
            </a:r>
          </a:p>
          <a:p>
            <a:pPr lvl="1"/>
            <a:r>
              <a:rPr lang="en-US" i="1" dirty="0"/>
              <a:t>Understanding Reward Hacking in Text-to-Image Reinforcement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D110-60A2-EC5B-12EB-33870595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Idea? Next Plan?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0A68-CC97-7EB3-786A-BCEE0064B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Detection</a:t>
            </a:r>
            <a:r>
              <a:rPr lang="ko-KR" altLang="en-US" dirty="0"/>
              <a:t> </a:t>
            </a:r>
            <a:r>
              <a:rPr lang="en-US" altLang="ko-KR" dirty="0"/>
              <a:t>of reward hacking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49212-E648-4ABC-BA55-8C1A9D0D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54"/>
          <a:stretch>
            <a:fillRect/>
          </a:stretch>
        </p:blipFill>
        <p:spPr>
          <a:xfrm>
            <a:off x="1073888" y="1499190"/>
            <a:ext cx="5709683" cy="4816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CB6E34-D323-6527-D8A6-604C42FA30B8}"/>
              </a:ext>
            </a:extLst>
          </p:cNvPr>
          <p:cNvSpPr txBox="1"/>
          <p:nvPr/>
        </p:nvSpPr>
        <p:spPr>
          <a:xfrm>
            <a:off x="6536750" y="1499190"/>
            <a:ext cx="51674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Diffusion Probe: Generated Image Result Prediction Using CNN Probes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Uses early cross-attention signals to predict final image quality before generation is finished.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Not All Diffusion Model Activations Have Been Evaluated as Discriminative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Shows that diffusion model activations can be useful features for downstream tasks like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TIDE: Temporal-Aware Sparse Autoencoders for Interpretable Diffusion Transformers in Image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Uses sparse autoencoders to interpret </a:t>
            </a:r>
            <a:r>
              <a:rPr lang="en-US" sz="1200" dirty="0" err="1"/>
              <a:t>DiT</a:t>
            </a:r>
            <a:r>
              <a:rPr lang="en-US" sz="1200" dirty="0"/>
              <a:t> activations across denoising timesteps.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 err="1"/>
              <a:t>eDiff</a:t>
            </a:r>
            <a:r>
              <a:rPr lang="en-US" sz="1200" b="1" i="1" dirty="0"/>
              <a:t>-I: Text-to-Image Diffusion Models with an Ensemble of Expert Denoisers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Shows that different denoising stages can play different roles in image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Text-to-Image Alignment in Denoising-Based Models through Step Selection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Studies how text-image alignment changes depending on which denoising steps are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Mechanistic Interpretability of Diffusion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Analyzes internal concepts, attention, and feature evolution inside diffusion models.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51937-F9CE-405A-05B4-681D43F0EB3D}"/>
              </a:ext>
            </a:extLst>
          </p:cNvPr>
          <p:cNvSpPr txBox="1"/>
          <p:nvPr/>
        </p:nvSpPr>
        <p:spPr>
          <a:xfrm>
            <a:off x="6550078" y="5835283"/>
            <a:ext cx="547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--&gt; Early/Intermediate </a:t>
            </a:r>
            <a:r>
              <a:rPr lang="en-US" sz="1400" i="1" dirty="0" err="1"/>
              <a:t>actiations</a:t>
            </a:r>
            <a:r>
              <a:rPr lang="en-US" sz="1400" i="1" dirty="0"/>
              <a:t> in T2I models can already reveal information about the final generated output</a:t>
            </a:r>
          </a:p>
        </p:txBody>
      </p:sp>
    </p:spTree>
    <p:extLst>
      <p:ext uri="{BB962C8B-B14F-4D97-AF65-F5344CB8AC3E}">
        <p14:creationId xmlns:p14="http://schemas.microsoft.com/office/powerpoint/2010/main" val="415366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46931</TotalTime>
  <Words>1562</Words>
  <Application>Microsoft Macintosh PowerPoint</Application>
  <PresentationFormat>Widescreen</PresentationFormat>
  <Paragraphs>166</Paragraphs>
  <Slides>9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Pretendard</vt:lpstr>
      <vt:lpstr>Pretendard Medium</vt:lpstr>
      <vt:lpstr>Pretendard SemiBold</vt:lpstr>
      <vt:lpstr>Aptos</vt:lpstr>
      <vt:lpstr>Arial</vt:lpstr>
      <vt:lpstr>Office Theme</vt:lpstr>
      <vt:lpstr>Image Reward Model Background &amp; Related Works</vt:lpstr>
      <vt:lpstr>0. Anchor Papers</vt:lpstr>
      <vt:lpstr>1. Base Model: Diffusion to Flow Matching</vt:lpstr>
      <vt:lpstr>2. Image Reward Models 2.1. Taxonomy of recent papers</vt:lpstr>
      <vt:lpstr>2.1.1 How the Anchor Papers Use Image Rewards</vt:lpstr>
      <vt:lpstr>2.2. Taxonomy of Multi-Reward Models </vt:lpstr>
      <vt:lpstr>2.3 Limitation of Image Reward Models</vt:lpstr>
      <vt:lpstr>2.3. Recent Research Trend</vt:lpstr>
      <vt:lpstr>Idea? Next Plan?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827</cp:revision>
  <cp:lastPrinted>2026-05-20T22:13:35Z</cp:lastPrinted>
  <dcterms:created xsi:type="dcterms:W3CDTF">2025-07-25T04:06:09Z</dcterms:created>
  <dcterms:modified xsi:type="dcterms:W3CDTF">2026-05-20T22:14:02Z</dcterms:modified>
</cp:coreProperties>
</file>